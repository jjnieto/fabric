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3" r:id="rId2"/>
    <p:sldId id="538" r:id="rId3"/>
    <p:sldId id="307" r:id="rId4"/>
    <p:sldId id="308" r:id="rId5"/>
    <p:sldId id="309" r:id="rId6"/>
    <p:sldId id="310" r:id="rId7"/>
    <p:sldId id="311" r:id="rId8"/>
    <p:sldId id="312" r:id="rId9"/>
    <p:sldId id="510" r:id="rId10"/>
    <p:sldId id="506" r:id="rId11"/>
    <p:sldId id="507" r:id="rId12"/>
    <p:sldId id="508" r:id="rId13"/>
    <p:sldId id="509" r:id="rId14"/>
    <p:sldId id="540" r:id="rId15"/>
    <p:sldId id="541" r:id="rId16"/>
    <p:sldId id="313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8" r:id="rId30"/>
    <p:sldId id="494" r:id="rId31"/>
    <p:sldId id="327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495" r:id="rId40"/>
    <p:sldId id="496" r:id="rId41"/>
    <p:sldId id="497" r:id="rId42"/>
    <p:sldId id="498" r:id="rId43"/>
    <p:sldId id="499" r:id="rId44"/>
    <p:sldId id="500" r:id="rId45"/>
    <p:sldId id="501" r:id="rId46"/>
    <p:sldId id="502" r:id="rId47"/>
    <p:sldId id="503" r:id="rId48"/>
    <p:sldId id="504" r:id="rId49"/>
    <p:sldId id="383" r:id="rId5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61C20-5FC6-9CE6-BDB0-B778ACBF6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C47B0F-13CA-A235-3F37-7021B9A9B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D61D50-E8FB-D905-B3D2-AF992600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441E25-7E90-F1B6-906B-AC638B02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2779B-6999-9A94-1637-2C51DF51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729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A89D1-10C8-0B0D-B1C0-64726D81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45D39D-B3A9-13A3-0B57-8886CBE86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7F5B80-4BCB-CD78-9CE6-1CE7F731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E25A0B-A571-EB25-F381-27318337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2EFC13-89BF-75E8-5494-B4829219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4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51FEF-74FB-BFDD-AD31-21A42336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FE2E4B-B25A-DD51-E75D-EE4E901F8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3E8BE2-F003-7899-45FA-C7B9E22E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C3A72E-A5A3-3AC7-1468-07CB82E9C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B44EB-D1C8-6C3B-40C8-B0CB3EC5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87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10AAB-AEBC-A360-6E03-3BA0D82F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78B03D-CB7A-7DAB-4077-E6A688403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B48D8B8-0CDD-A4AE-39E2-F7489BFF9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1C02BB-14F0-6C49-8C32-ADBE18C8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28650-AEEB-5947-C052-8FA368039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82C30B-FA90-0799-19E1-805641521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662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0FA32-55F2-D1E2-1C16-BA7833C94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5DEB33-1A4D-1947-D080-6860E5E11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64BBC3-D37D-D428-225B-F717147B1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01BBFE-9364-F661-BF4F-5544C8353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B0B877F-DF8E-F387-1356-BB47CA4EC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560A244-621D-F22A-67E6-91EBC0BF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331EAD9-DE03-3ECB-C24A-9A3454CE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179E4D-AA36-423F-FE5E-35393B9D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101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F0451-391B-A322-90BC-7BF9B80A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BB8995-69B2-6794-0D92-6436791E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95D9EA-B344-7C15-0309-A64DAD9E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6B2A6F-DF29-ACF7-65AE-FE69FBC4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928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BB8349-3E67-0E55-4A4D-D60EA0B8D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36ADB2-FBD5-A3B8-DC93-D28650ED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3FEBEE-BF7F-8FFE-26D4-CF99CBF41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439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95559-2035-FE05-D7C2-ACB12E16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4DC13E-AA35-A1CA-C5DE-ADE9443FE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C79C5E-350A-EA0C-4535-51F4CB2CF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20FCC8-9CA8-1906-B377-8EF57333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E9A2D2-98F0-FB7A-22AC-0A1D004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D8B159-E9E7-921C-0461-BE4145E0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4652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72D23-FDFB-9549-8E71-8C204A26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6C6BBA-ADD9-DB4D-7C36-4626C7371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05DE54-53B6-5682-A4D1-D261D68A8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2A6BB1-CDE6-BAD7-487D-234D4181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568433-4029-0E0D-FEE9-E2D60889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98DC8D-1A03-D1A0-20E1-0B71B9A3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4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85848-C006-22DE-2EA8-9E4F605F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106FCD-9795-9D05-09B8-021F87DE0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D2C29-EE98-E4E9-96EF-CB7423FB1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2FF5E-FF5A-4863-067C-9512F194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F96384-01DB-F7CB-BFBF-82860D55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730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AF4531-D17E-E87A-8C1F-86A92329C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C5A242-441D-77D6-0844-2F1E7E795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A480FF-AADD-C653-CFC9-43D08170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E1BB64-43E4-EC32-A204-03A63888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2F5DF-6222-919F-D0A6-F2E3B565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41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940125-7278-A8AF-C0EB-321FEC095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116FA1-D957-62F8-2A5E-13C5C6041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C0528B-F614-FDA7-3163-B7D9E4771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60910-5D4E-46AA-BF0C-99F5A1E64D40}" type="datetimeFigureOut">
              <a:rPr lang="es-ES" smtClean="0"/>
              <a:t>18/03/2026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81A68E-FF79-DC3C-C554-8A40BF1B6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757F6-684F-ADF5-D587-7682C9699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E24E7-837C-420A-AE79-F2D028119E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136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loud.google.com/application/web3/faucet/ethereum/sepolia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1201-3C1A-97A1-3FD5-E0C65604A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79E43-351E-D178-E490-555230CAF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Repaso Día 2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4DEA8C9-2F26-05D3-888A-E3FBCB2D0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76661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sz="2000" b="1"/>
              <a:t>Preguntas</a:t>
            </a:r>
          </a:p>
          <a:p>
            <a:r>
              <a:rPr lang="es-ES" sz="2000"/>
              <a:t>El hash se usa en blockchain para reducir el tamaño de la firma de las transacciones. ¿Verdadero o falso? Razona la respuesta.</a:t>
            </a:r>
          </a:p>
          <a:p>
            <a:r>
              <a:rPr lang="es-ES" sz="2000"/>
              <a:t>La calve privada encripta los hashes de cada bloque para que nadie pueda alterarlos. ¿Verdadero o falso? Razona la respuesta.</a:t>
            </a:r>
          </a:p>
          <a:p>
            <a:r>
              <a:rPr lang="es-ES" sz="2000"/>
              <a:t>En un servicio de red tradicional, por ejemplo, correo de Gmail, Google ofrece el servicio y los usuarios lo consumen. En una Red P2P, ¿Quién es el cliente y quien el servidor?</a:t>
            </a:r>
          </a:p>
          <a:p>
            <a:r>
              <a:rPr lang="es-ES" sz="2000"/>
              <a:t>¿Quien firma las transacciones que se envían a la red Blockchain y quién firma cada bloque de la red?</a:t>
            </a:r>
          </a:p>
          <a:p>
            <a:r>
              <a:rPr lang="es-ES" sz="2000"/>
              <a:t>¿Qué es el pool de transacciones?</a:t>
            </a:r>
          </a:p>
          <a:p>
            <a:r>
              <a:rPr lang="es-ES" sz="2000"/>
              <a:t>Describe el flujo de trabajo de una red blockchain, desde el envío de una transacción firmada hasta la adición de un nuevo bloque.</a:t>
            </a:r>
          </a:p>
          <a:p>
            <a:r>
              <a:rPr lang="es-ES" sz="2000"/>
              <a:t>Proof of Stake cambia el gasto en energía eléctrica por gasto en equipos caros. ¿Verdadero o falso? Razona la respuesta.</a:t>
            </a:r>
          </a:p>
          <a:p>
            <a:r>
              <a:rPr lang="es-ES" sz="2000"/>
              <a:t>El algoritmo de consenso sirve para solucionar el problema del orden de bloques y los ataques maliciosos su alteración de la cadena de bloques. ¿Verdadero o falso? Razona la respuesta.</a:t>
            </a:r>
          </a:p>
          <a:p>
            <a:r>
              <a:rPr lang="es-ES" sz="2000"/>
              <a:t>Nombra, al menos, tres algoritmos de consenso y explica en qué se basan.</a:t>
            </a:r>
          </a:p>
          <a:p>
            <a:r>
              <a:rPr lang="es-ES" sz="2000"/>
              <a:t>En una red que usa Proof of Authority, cualquiera puede conectarse y minar bloques. ¿Verdadero o falso? Razona la respuesta.</a:t>
            </a:r>
          </a:p>
        </p:txBody>
      </p:sp>
    </p:spTree>
    <p:extLst>
      <p:ext uri="{BB962C8B-B14F-4D97-AF65-F5344CB8AC3E}">
        <p14:creationId xmlns:p14="http://schemas.microsoft.com/office/powerpoint/2010/main" val="307952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64A27-D955-A6E9-39B7-12F6DD84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4520A-6E14-A788-B77C-EF24300A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Blockchain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606D05-439E-F948-CBDF-FDA721C2E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44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6600"/>
          </a:p>
          <a:p>
            <a:pPr marL="0" indent="0" algn="ctr">
              <a:buNone/>
            </a:pPr>
            <a:r>
              <a:rPr lang="es-ES" sz="8800"/>
              <a:t>Trilema de Blockchain</a:t>
            </a:r>
          </a:p>
          <a:p>
            <a:pPr marL="0" indent="0" algn="ctr">
              <a:buNone/>
            </a:pPr>
            <a:endParaRPr lang="es-ES" sz="8800"/>
          </a:p>
        </p:txBody>
      </p:sp>
    </p:spTree>
    <p:extLst>
      <p:ext uri="{BB962C8B-B14F-4D97-AF65-F5344CB8AC3E}">
        <p14:creationId xmlns:p14="http://schemas.microsoft.com/office/powerpoint/2010/main" val="1716223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4648-7465-E1B4-8B8F-8B38E4FD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61089-FE7B-2691-53FE-6D774FDF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El trilema de Blockchain</a:t>
            </a:r>
          </a:p>
        </p:txBody>
      </p:sp>
      <p:pic>
        <p:nvPicPr>
          <p:cNvPr id="5122" name="Picture 2" descr="What is the blockchain trilemma? - Electra Protocol">
            <a:extLst>
              <a:ext uri="{FF2B5EF4-FFF2-40B4-BE49-F238E27FC236}">
                <a16:creationId xmlns:a16="http://schemas.microsoft.com/office/drawing/2014/main" id="{77D4CB16-C995-F1CC-A146-8BB23AEDFF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13" y="1690688"/>
            <a:ext cx="724016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8223FA-9FD6-038B-058E-939BAB16DF24}"/>
              </a:ext>
            </a:extLst>
          </p:cNvPr>
          <p:cNvSpPr txBox="1">
            <a:spLocks/>
          </p:cNvSpPr>
          <p:nvPr/>
        </p:nvSpPr>
        <p:spPr>
          <a:xfrm>
            <a:off x="529590" y="1845308"/>
            <a:ext cx="67398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2400" b="1"/>
              <a:t>¿Qué es el trilema de Blockchain?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sz="2000" b="1"/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2000"/>
              <a:t>Propuesto por Vitalik Buterin (Ethereum).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2000"/>
              <a:t>Una blockchain busca tres propiedades: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Seguridad → resistente a ataques y fallos.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Escalabilidad → procesar muchas transacciones rápido y barato.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Descentralización → que cualquiera pueda participar como nodo sin barreras.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sz="2000"/>
              <a:t>Problema: en la práctica es muy difícil optimizar las tres al mismo tiempo.</a:t>
            </a:r>
          </a:p>
        </p:txBody>
      </p:sp>
    </p:spTree>
    <p:extLst>
      <p:ext uri="{BB962C8B-B14F-4D97-AF65-F5344CB8AC3E}">
        <p14:creationId xmlns:p14="http://schemas.microsoft.com/office/powerpoint/2010/main" val="399640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0FF94-8979-53EA-33ED-6B5DE512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01CF4-1DB9-6D60-9D17-D5868953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Actividad – Trilema de Blockchain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C961864-837A-E832-A45E-9ED97397B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" y="1845308"/>
            <a:ext cx="97666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Debatir entre los alumnos por qué si optimizas dos propiedades la otra decae</a:t>
            </a:r>
          </a:p>
          <a:p>
            <a:pPr marL="0" indent="0">
              <a:buNone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Alta descentralización y alta seguridad =&gt; Baja escalabilidad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Alta descentralización y alta escalabilidad =&gt; Baja seguridad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Alta seguridad y alta escalabilidad =&gt; Baja descentralización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endParaRPr lang="es-ES" sz="2000"/>
          </a:p>
        </p:txBody>
      </p:sp>
      <p:pic>
        <p:nvPicPr>
          <p:cNvPr id="3" name="Picture 2" descr="What is the blockchain trilemma? - Electra Protocol">
            <a:extLst>
              <a:ext uri="{FF2B5EF4-FFF2-40B4-BE49-F238E27FC236}">
                <a16:creationId xmlns:a16="http://schemas.microsoft.com/office/drawing/2014/main" id="{D64CF089-0D17-78C8-F78A-9E8D29993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13" y="1690688"/>
            <a:ext cx="724016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02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50D7-A077-94E5-C3AE-8FAE8502C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11CBB-4749-3000-3EBE-03465E9D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Actividad – Trilema de Blockchain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E68A0C7-022C-B390-FD92-1FCF26151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70" y="1468118"/>
            <a:ext cx="10728960" cy="46126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000" b="1"/>
              <a:t>Alta descentralización y alta seguridad =&gt; Baja escalabilidad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Validación redundante y pesada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En una red muy descentralizada cada nodo completo valida todas las transacciones.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Eso asegura máxima seguridad (todos comprueban todo), pero implica que la velocidad está limitada por el nodo más lento.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Resultado: pocas transacciones por segundo.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Bloques pequeños y tiempos largos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Para que cualquier nodo (incluso con conexión débil) participe, los bloques deben ser pequeños y espaciados en el tiempo.Seguridad y descentralización se mantienen, pero el sistema procesa muy poco volumen.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Ejemplo: Bitcoin (~7 TPS, bloques cada 10 minutos).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3. Coste de sincronización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Miles de nodos repartidos por el mundo necesitan recibir y verificar cada bloque.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Si aumentas la frecuencia o el tamaño, muchos nodos no podrían seguir el ritmo → perderías descentralización.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Para mantenerla, reduces velocidad.</a:t>
            </a:r>
          </a:p>
          <a:p>
            <a:pPr marL="0" indent="0">
              <a:buNone/>
            </a:pPr>
            <a:r>
              <a:rPr lang="es-ES" sz="1700" b="1"/>
              <a:t>Ejemplo Ethereum y Bitcoin</a:t>
            </a:r>
          </a:p>
          <a:p>
            <a:pPr marL="0" indent="0">
              <a:buNone/>
            </a:pPr>
            <a:r>
              <a:rPr lang="es-ES" sz="1700"/>
              <a:t>Ambas han precisado de sidechains o Layer 2 para agilizar y abaratar las transacciones sufriendo periodos de congestión</a:t>
            </a:r>
          </a:p>
        </p:txBody>
      </p:sp>
    </p:spTree>
    <p:extLst>
      <p:ext uri="{BB962C8B-B14F-4D97-AF65-F5344CB8AC3E}">
        <p14:creationId xmlns:p14="http://schemas.microsoft.com/office/powerpoint/2010/main" val="59006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3981-12B3-0D5E-B554-768A0FA2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FAB79-9479-5B29-959E-DCD9B0AE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Actividad – Trilema de Blockchain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EBE407-4264-48E1-EABB-531B15BAB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" y="1845308"/>
            <a:ext cx="97666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Alta descentralización y alta escalabilidad =&gt; Baja seguridad</a:t>
            </a:r>
            <a:endParaRPr lang="es-ES" sz="2000"/>
          </a:p>
          <a:p>
            <a:pPr marL="457200" indent="-457200">
              <a:buAutoNum type="arabicPeriod"/>
            </a:pPr>
            <a:r>
              <a:rPr lang="es-ES" sz="2000"/>
              <a:t>Muchos nodos pequeños y rápidos → difícil coordinar seguridad</a:t>
            </a:r>
          </a:p>
          <a:p>
            <a:pPr marL="914400" lvl="1" indent="-457200">
              <a:buAutoNum type="arabicPeriod"/>
            </a:pPr>
            <a:r>
              <a:rPr lang="es-ES" sz="1600"/>
              <a:t>Si cualquiera puede montar un nodo con pocos recursos (alta descentralización), y además la red procesa miles de transacciones por segundo (alta escalabilidad), cada nodo debe validar muy rápido y con poco coste.</a:t>
            </a:r>
          </a:p>
          <a:p>
            <a:pPr marL="914400" lvl="1" indent="-457200">
              <a:buAutoNum type="arabicPeriod"/>
            </a:pPr>
            <a:r>
              <a:rPr lang="es-ES" sz="1600"/>
              <a:t>Resultado: validaciones menos rigurosas o más superficiales → se abre la puerta a ataques (transacciones inválidas colándose, forks mal gestionados).</a:t>
            </a:r>
          </a:p>
          <a:p>
            <a:pPr marL="457200" indent="-457200">
              <a:buAutoNum type="arabicPeriod"/>
            </a:pPr>
            <a:r>
              <a:rPr lang="es-ES" sz="2000"/>
              <a:t>2. Hardware ligero → nodos vulnerables</a:t>
            </a:r>
          </a:p>
          <a:p>
            <a:pPr marL="914400" lvl="1" indent="-457200">
              <a:buAutoNum type="arabicPeriod"/>
            </a:pPr>
            <a:r>
              <a:rPr lang="es-ES" sz="1600"/>
              <a:t>Para escalar con miles de TPS, la red puede relajar requisitos de validación.</a:t>
            </a:r>
          </a:p>
          <a:p>
            <a:pPr marL="914400" lvl="1" indent="-457200">
              <a:buAutoNum type="arabicPeriod"/>
            </a:pPr>
            <a:r>
              <a:rPr lang="es-ES" sz="1600"/>
              <a:t>Eso sacrifica seguridad: basta comprometer pocos nodos “fuertes” para manipular la red</a:t>
            </a:r>
          </a:p>
          <a:p>
            <a:pPr marL="0" indent="0">
              <a:buNone/>
            </a:pPr>
            <a:endParaRPr lang="es-ES" sz="1800"/>
          </a:p>
          <a:p>
            <a:pPr marL="0" indent="0">
              <a:buNone/>
            </a:pPr>
            <a:r>
              <a:rPr lang="es-ES" sz="1800" b="1"/>
              <a:t>Ejemplo Solana (2021)</a:t>
            </a:r>
          </a:p>
          <a:p>
            <a:pPr marL="0" indent="0">
              <a:buNone/>
            </a:pPr>
            <a:r>
              <a:rPr lang="es-ES" sz="1800"/>
              <a:t>Buscaba escalabilidad alta (miles de TPS) y aumentar el número de nodos. Finalmente sufrió caídas de seguridad por saturación durante 17 horas al no ser capaz de eliminar un fork.</a:t>
            </a:r>
          </a:p>
        </p:txBody>
      </p:sp>
    </p:spTree>
    <p:extLst>
      <p:ext uri="{BB962C8B-B14F-4D97-AF65-F5344CB8AC3E}">
        <p14:creationId xmlns:p14="http://schemas.microsoft.com/office/powerpoint/2010/main" val="221872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F862-5FFC-15C6-4BC3-2B7C101F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5F876-C5B0-6AFA-3FFA-5BF00A45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Actividad – Trilema de Blockchain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B08C537-A653-530E-63CE-A793BFA58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" y="1845307"/>
            <a:ext cx="10328910" cy="46475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2000" b="1"/>
              <a:t>Alta seguridad y alta escalabilidad =&gt; Baja descentralización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Hardware exigente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Para procesar miles de transacciones por segundo de forma segura, cada nodo necesita gran capacidad de cómputo y ancho de banda.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Resultado: solo unos pocos actores con infraestructura potente pueden ser validadores. 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Coste de entrada alto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Cuanto más compleja y rápida es la validación, mayor es el coste de participar.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Esto excluye a nodos pequeños y reduce el número de participantes.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Consecuencia: red más centralizada en pocas manos.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/>
              <a:t>Riesgo de concentración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Aunque la red sea segura y rápida, si solo un grupo reducido de validadores controla el proceso, se compromete la descentralización.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1600"/>
              <a:t>Posibles efectos: censura de transacciones, colusión entre validadores, puntos únicos de fallo.</a:t>
            </a:r>
          </a:p>
          <a:p>
            <a:pPr marL="0" indent="0">
              <a:buNone/>
            </a:pPr>
            <a:r>
              <a:rPr lang="es-ES" sz="1900" b="1"/>
              <a:t>Ejemplo: Redes permissioned (empresariales)</a:t>
            </a:r>
          </a:p>
          <a:p>
            <a:pPr marL="0" indent="0">
              <a:buNone/>
            </a:pPr>
            <a:r>
              <a:rPr lang="es-ES" sz="1900"/>
              <a:t>Muy rápidas y seguras, pero solo un conjunto limitado de nodos autorizados participa.Seguridad y escalabilidad altas, pero descentralización sacrificada por diseño.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38214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9D34-35BC-C0C7-549A-E9394A7C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30378-2657-5BF6-47F1-00D8D5CB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 – Trilema de Blockchain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4D83A72-EC09-0F2F-9D9A-A7545C96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90" y="1851660"/>
            <a:ext cx="7105650" cy="434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Alta descentralización y alta seguridad =&gt; Baja escalabilidad</a:t>
            </a:r>
          </a:p>
          <a:p>
            <a:pPr marL="0" indent="0">
              <a:buNone/>
            </a:pPr>
            <a:r>
              <a:rPr lang="es-ES" sz="2000"/>
              <a:t>“Cuando quieres que muchos nodos distintos verifiquen cada detalle con la máxima seguridad, la red se vuelve lenta y cara: esa es la factura de combinar descentralización y seguridad.”</a:t>
            </a:r>
          </a:p>
          <a:p>
            <a:pPr marL="0" indent="0">
              <a:buNone/>
            </a:pPr>
            <a:r>
              <a:rPr lang="es-ES" sz="2000" b="1"/>
              <a:t>Alta descentralización y alta escalabilidad =&gt; Baja seguridad</a:t>
            </a:r>
          </a:p>
          <a:p>
            <a:pPr marL="0" indent="0">
              <a:buNone/>
            </a:pPr>
            <a:r>
              <a:rPr lang="es-ES" sz="2000"/>
              <a:t>“Si abres demasiado la red (cualquiera entra) y además la haces muy rápida (miles de transacciones), la validación se vuelve más débil y la seguridad baja. Se pierde control sobre quién valida y sobre la calidad de la validación.”</a:t>
            </a:r>
          </a:p>
          <a:p>
            <a:pPr marL="0" indent="0">
              <a:buNone/>
            </a:pPr>
            <a:r>
              <a:rPr lang="es-ES" sz="2000" b="1"/>
              <a:t>Alta seguridad y alta escalabilidad =&gt; Baja descentralización</a:t>
            </a:r>
          </a:p>
          <a:p>
            <a:pPr marL="0" indent="0">
              <a:buNone/>
            </a:pPr>
            <a:r>
              <a:rPr lang="es-ES" sz="2000"/>
              <a:t>“Si quieres seguridad fuerte y procesar miles de transacciones por segundo, la validación exige nodos potentes y caros. Eso concentra el control en pocos actores y reduce la descentralización.”</a:t>
            </a:r>
          </a:p>
        </p:txBody>
      </p:sp>
      <p:pic>
        <p:nvPicPr>
          <p:cNvPr id="3" name="Picture 2" descr="What is the blockchain trilemma? - Electra Protocol">
            <a:extLst>
              <a:ext uri="{FF2B5EF4-FFF2-40B4-BE49-F238E27FC236}">
                <a16:creationId xmlns:a16="http://schemas.microsoft.com/office/drawing/2014/main" id="{34E038BF-9E16-540D-2668-914CF9262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705" y="1851660"/>
            <a:ext cx="6315661" cy="379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01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5074-5892-CCE3-9B8A-BBF63AD4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BuQAK">
            <a:hlinkClick r:id="" action="ppaction://media"/>
            <a:extLst>
              <a:ext uri="{FF2B5EF4-FFF2-40B4-BE49-F238E27FC236}">
                <a16:creationId xmlns:a16="http://schemas.microsoft.com/office/drawing/2014/main" id="{0180B8E2-2A88-9E32-5D72-C31C37AB43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1745" y="716797"/>
            <a:ext cx="5121584" cy="3841188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B4B71-9AEA-A499-2293-9DFF7859E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63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8800"/>
          </a:p>
          <a:p>
            <a:pPr marL="0" indent="0" algn="ctr">
              <a:buNone/>
            </a:pPr>
            <a:endParaRPr lang="es-ES" sz="8800"/>
          </a:p>
          <a:p>
            <a:pPr marL="0" indent="0" algn="ctr">
              <a:buNone/>
            </a:pPr>
            <a:r>
              <a:rPr lang="es-ES" sz="6600"/>
              <a:t>♬</a:t>
            </a:r>
            <a:r>
              <a:rPr lang="es-ES" sz="8800"/>
              <a:t>Soy Minero</a:t>
            </a:r>
            <a:r>
              <a:rPr lang="es-ES" sz="7200"/>
              <a:t>♫</a:t>
            </a:r>
            <a:r>
              <a:rPr lang="es-ES" sz="8800"/>
              <a:t> </a:t>
            </a:r>
          </a:p>
          <a:p>
            <a:pPr marL="0" indent="0" algn="ctr">
              <a:buNone/>
            </a:pPr>
            <a:endParaRPr lang="es-ES" sz="8800"/>
          </a:p>
        </p:txBody>
      </p:sp>
    </p:spTree>
    <p:extLst>
      <p:ext uri="{BB962C8B-B14F-4D97-AF65-F5344CB8AC3E}">
        <p14:creationId xmlns:p14="http://schemas.microsoft.com/office/powerpoint/2010/main" val="390632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2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1D41F-8C89-12EB-1C45-9EB98B75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478EB-E65A-8E55-C2E7-32FD5447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Debate – El poder de los mineros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D35234D-0ECF-74AB-33BB-73DB71B30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9" y="1851660"/>
            <a:ext cx="10017007" cy="434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/>
              <a:t>En Ethereum (y otras cadenas), los mineros o validadores deciden qué transacciones incluir en cada bloque y en qué orden.</a:t>
            </a:r>
          </a:p>
          <a:p>
            <a:pPr marL="0" indent="0">
              <a:buNone/>
            </a:pPr>
            <a:r>
              <a:rPr lang="es-ES" sz="2000"/>
              <a:t>Ese orden puede alterar el resultado económico de operaciones automatizadas, como en exchanges descentralizados (DeFi).</a:t>
            </a:r>
          </a:p>
          <a:p>
            <a:pPr marL="0" indent="0">
              <a:buNone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 b="1"/>
              <a:t>¿Qué poder real tienen los mineros?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 b="1"/>
              <a:t>¿Cómo se podría ganar dinero con ese poder?</a:t>
            </a:r>
          </a:p>
          <a:p>
            <a:pPr marL="457200" indent="-457200">
              <a:buFont typeface="+mj-lt"/>
              <a:buAutoNum type="arabicPeriod"/>
            </a:pPr>
            <a:endParaRPr lang="es-ES" sz="2000"/>
          </a:p>
          <a:p>
            <a:pPr marL="457200" indent="-457200">
              <a:buFont typeface="+mj-lt"/>
              <a:buAutoNum type="arabicPeriod"/>
            </a:pPr>
            <a:r>
              <a:rPr lang="es-ES" sz="2000" b="1"/>
              <a:t>Si los mercados financieros tradicionales migran a blockchain...¿Podría esto crear formas nuevas de manipulación o arbitraje?</a:t>
            </a:r>
          </a:p>
        </p:txBody>
      </p:sp>
    </p:spTree>
    <p:extLst>
      <p:ext uri="{BB962C8B-B14F-4D97-AF65-F5344CB8AC3E}">
        <p14:creationId xmlns:p14="http://schemas.microsoft.com/office/powerpoint/2010/main" val="2003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5112-232C-8890-DAAF-6BE25814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89D4A-CF29-930F-A3C0-1E53A2FB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Debate – El poder de los mineros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E232072-387D-BE7F-DE64-1E4D97972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9" y="1851660"/>
            <a:ext cx="10017007" cy="434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¿Qué poder real tienen los mineros?</a:t>
            </a:r>
          </a:p>
          <a:p>
            <a:r>
              <a:rPr lang="es-ES" sz="2000"/>
              <a:t>Pueden ver todas las transacciones pendientes en el mempool antes de que se confirmen.</a:t>
            </a:r>
          </a:p>
          <a:p>
            <a:r>
              <a:rPr lang="es-ES" sz="2000"/>
              <a:t>Deciden qué transacciones incluir o excluir en cada bloque.</a:t>
            </a:r>
          </a:p>
          <a:p>
            <a:r>
              <a:rPr lang="es-ES" sz="2000"/>
              <a:t>Eligen el orden exacto en que se ejecutarán dentro del bloque.</a:t>
            </a:r>
          </a:p>
          <a:p>
            <a:r>
              <a:rPr lang="es-ES" sz="2000"/>
              <a:t>Pueden retrasar, priorizar o reemplazar transacciones según sus propios intereses obviando las tarifas ofrecidas</a:t>
            </a:r>
          </a:p>
        </p:txBody>
      </p:sp>
    </p:spTree>
    <p:extLst>
      <p:ext uri="{BB962C8B-B14F-4D97-AF65-F5344CB8AC3E}">
        <p14:creationId xmlns:p14="http://schemas.microsoft.com/office/powerpoint/2010/main" val="117421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3BE7-B6B8-DB1F-A22E-ABA008CD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97077-FF2E-3462-2DB8-2CE90C7E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Debate – El poder de los mineros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5748F6-3132-A3E4-42BA-A4C3440FF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9" y="1851660"/>
            <a:ext cx="10017007" cy="434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¿Cómo se podría ganar dinero con ello?</a:t>
            </a:r>
          </a:p>
          <a:p>
            <a:r>
              <a:rPr lang="es-ES" sz="2000"/>
              <a:t>Front-running: adelantar una transacción propia justo antes de una grande para aprovechar un cambio de precio.</a:t>
            </a:r>
          </a:p>
          <a:p>
            <a:r>
              <a:rPr lang="es-ES" sz="2000"/>
              <a:t>Back-running: colocar una transacción justo después de otra que moverá el mercado.</a:t>
            </a:r>
          </a:p>
          <a:p>
            <a:r>
              <a:rPr lang="es-ES" sz="2000"/>
              <a:t>Sandwich attack: comprar antes y vender justo después de una transacción grande, extrayendo beneficio sin riesgo.</a:t>
            </a:r>
          </a:p>
          <a:p>
            <a:r>
              <a:rPr lang="es-ES" sz="2000"/>
              <a:t>Todo esto forma parte del fenómeno conocido como </a:t>
            </a:r>
            <a:r>
              <a:rPr lang="es-ES" sz="2000" b="1"/>
              <a:t>MEV (Maximal Extractable Value)</a:t>
            </a:r>
            <a:r>
              <a:rPr lang="es-E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831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0224F-09E3-D354-6DA4-E8E14221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F443C-A2D5-6E32-53ED-042AC6D3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Debate – El poder de los mineros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73C76BD-1861-88C2-277D-8946CEDE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89" y="1851660"/>
            <a:ext cx="10017007" cy="4344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b="1"/>
              <a:t>Si los mercados financieros tradicionales migran a blockchain...¿Podría esto crear formas nuevas de manipulación o arbitraje?</a:t>
            </a:r>
          </a:p>
          <a:p>
            <a:r>
              <a:rPr lang="es-ES" sz="2000"/>
              <a:t>El control del orden de transacciones podría permitir formas nuevas de manipulación o arbitraje similares al high-frequency trading.</a:t>
            </a:r>
          </a:p>
          <a:p>
            <a:r>
              <a:rPr lang="es-ES" sz="2000"/>
              <a:t>Los mineros con acceso privilegiado podrían influir en precios, retrasar órdenes o extraer valor antes que otros.</a:t>
            </a:r>
          </a:p>
          <a:p>
            <a:r>
              <a:rPr lang="es-ES" sz="2000"/>
              <a:t>Surgiría la necesidad de regulación y transparencia para equilibrar la eficiencia del sistema con la protección contra abuso y colusión.</a:t>
            </a:r>
          </a:p>
        </p:txBody>
      </p:sp>
    </p:spTree>
    <p:extLst>
      <p:ext uri="{BB962C8B-B14F-4D97-AF65-F5344CB8AC3E}">
        <p14:creationId xmlns:p14="http://schemas.microsoft.com/office/powerpoint/2010/main" val="4274332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92F1-59DF-96AF-A0F3-77F36935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1F8A429-C493-7E70-99CA-EC45EE322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3359"/>
            <a:ext cx="12192000" cy="573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62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0888A-C97F-0524-9379-DE990A51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FAB4A-DC24-2E34-F62F-78F18C778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ROT13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A8B7353-2BE5-E63B-8B16-80B373570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En el año 44 a.C., Julio César usaba un método de cifrado para comunicarse con sus generales: desplazaba cada letra del alfabeto un número fijo de posiciones. Este método se conoce como el </a:t>
            </a:r>
            <a:r>
              <a:rPr lang="es-ES" sz="2000" b="1" dirty="0"/>
              <a:t>Cifrado César</a:t>
            </a:r>
            <a:r>
              <a:rPr lang="es-ES" sz="2000" dirty="0"/>
              <a:t>.</a:t>
            </a:r>
          </a:p>
          <a:p>
            <a:pPr marL="0" indent="0">
              <a:buNone/>
            </a:pPr>
            <a:r>
              <a:rPr lang="es-ES" sz="2000" dirty="0"/>
              <a:t>El siguiente mensaje está cifrado con un desplazamiento de 13 posiciones (ROT13):</a:t>
            </a:r>
          </a:p>
          <a:p>
            <a:pPr marL="0" indent="0">
              <a:buNone/>
            </a:pPr>
            <a:endParaRPr lang="es-ES" sz="2000" b="1" dirty="0"/>
          </a:p>
          <a:p>
            <a:pPr marL="0" indent="0">
              <a:buNone/>
            </a:pPr>
            <a:r>
              <a:rPr lang="es-ES" sz="2000" b="1" dirty="0" err="1"/>
              <a:t>Ry</a:t>
            </a:r>
            <a:r>
              <a:rPr lang="es-ES" sz="2000" b="1" dirty="0"/>
              <a:t> </a:t>
            </a:r>
            <a:r>
              <a:rPr lang="es-ES" sz="2000" b="1" dirty="0" err="1"/>
              <a:t>cevzre</a:t>
            </a:r>
            <a:r>
              <a:rPr lang="es-ES" sz="2000" b="1" dirty="0"/>
              <a:t> </a:t>
            </a:r>
            <a:r>
              <a:rPr lang="es-ES" sz="2000" b="1" dirty="0" err="1"/>
              <a:t>oybdhr</a:t>
            </a:r>
            <a:r>
              <a:rPr lang="es-ES" sz="2000" b="1" dirty="0"/>
              <a:t> </a:t>
            </a:r>
            <a:r>
              <a:rPr lang="es-ES" sz="2000" b="1" dirty="0" err="1"/>
              <a:t>qr</a:t>
            </a:r>
            <a:r>
              <a:rPr lang="es-ES" sz="2000" b="1" dirty="0"/>
              <a:t> </a:t>
            </a:r>
            <a:r>
              <a:rPr lang="es-ES" sz="2000" b="1" dirty="0" err="1"/>
              <a:t>Ovgpbva</a:t>
            </a:r>
            <a:r>
              <a:rPr lang="es-ES" sz="2000" b="1" dirty="0"/>
              <a:t> </a:t>
            </a:r>
            <a:r>
              <a:rPr lang="es-ES" sz="2000" b="1" dirty="0" err="1"/>
              <a:t>fr</a:t>
            </a:r>
            <a:r>
              <a:rPr lang="es-ES" sz="2000" b="1" dirty="0"/>
              <a:t> </a:t>
            </a:r>
            <a:r>
              <a:rPr lang="es-ES" sz="2000" b="1" dirty="0" err="1"/>
              <a:t>yynzn</a:t>
            </a:r>
            <a:r>
              <a:rPr lang="es-ES" sz="2000" b="1" dirty="0"/>
              <a:t> </a:t>
            </a:r>
            <a:r>
              <a:rPr lang="es-ES" sz="2000" b="1" dirty="0" err="1"/>
              <a:t>Trarfvf</a:t>
            </a:r>
            <a:r>
              <a:rPr lang="es-ES" sz="2000" b="1" dirty="0"/>
              <a:t> </a:t>
            </a:r>
            <a:r>
              <a:rPr lang="es-ES" sz="2000" b="1" dirty="0" err="1"/>
              <a:t>Oybpx</a:t>
            </a:r>
            <a:r>
              <a:rPr lang="es-ES" sz="2000" b="1" dirty="0"/>
              <a:t> l </a:t>
            </a:r>
            <a:r>
              <a:rPr lang="es-ES" sz="2000" b="1" dirty="0" err="1"/>
              <a:t>shé</a:t>
            </a:r>
            <a:r>
              <a:rPr lang="es-ES" sz="2000" b="1" dirty="0"/>
              <a:t> </a:t>
            </a:r>
            <a:r>
              <a:rPr lang="es-ES" sz="2000" b="1" dirty="0" err="1"/>
              <a:t>zvanqb</a:t>
            </a:r>
            <a:r>
              <a:rPr lang="es-ES" sz="2000" b="1" dirty="0"/>
              <a:t> </a:t>
            </a:r>
            <a:r>
              <a:rPr lang="es-ES" sz="2000" b="1" dirty="0" err="1"/>
              <a:t>cbe</a:t>
            </a:r>
            <a:r>
              <a:rPr lang="es-ES" sz="2000" b="1" dirty="0"/>
              <a:t> </a:t>
            </a:r>
            <a:r>
              <a:rPr lang="es-ES" sz="2000" b="1" dirty="0" err="1"/>
              <a:t>Fngbfuv</a:t>
            </a:r>
            <a:r>
              <a:rPr lang="es-ES" sz="2000" b="1" dirty="0"/>
              <a:t> </a:t>
            </a:r>
            <a:r>
              <a:rPr lang="es-ES" sz="2000" b="1" dirty="0" err="1"/>
              <a:t>Anxnzbgb</a:t>
            </a:r>
            <a:r>
              <a:rPr lang="es-ES" sz="2000" b="1" dirty="0"/>
              <a:t> </a:t>
            </a:r>
            <a:r>
              <a:rPr lang="es-ES" sz="2000" b="1" dirty="0" err="1"/>
              <a:t>ry</a:t>
            </a:r>
            <a:r>
              <a:rPr lang="es-ES" sz="2000" b="1" dirty="0"/>
              <a:t> 3 </a:t>
            </a:r>
            <a:r>
              <a:rPr lang="es-ES" sz="2000" b="1" dirty="0" err="1"/>
              <a:t>qr</a:t>
            </a:r>
            <a:r>
              <a:rPr lang="es-ES" sz="2000" b="1" dirty="0"/>
              <a:t> </a:t>
            </a:r>
            <a:r>
              <a:rPr lang="es-ES" sz="2000" b="1" dirty="0" err="1"/>
              <a:t>rarer</a:t>
            </a:r>
            <a:r>
              <a:rPr lang="es-ES" sz="2000" b="1" dirty="0"/>
              <a:t> </a:t>
            </a:r>
            <a:r>
              <a:rPr lang="es-ES" sz="2000" b="1" dirty="0" err="1"/>
              <a:t>qr</a:t>
            </a:r>
            <a:r>
              <a:rPr lang="es-ES" sz="2000" b="1" dirty="0"/>
              <a:t> 2009</a:t>
            </a:r>
            <a:endParaRPr lang="es-ES" sz="2000" dirty="0"/>
          </a:p>
          <a:p>
            <a:pPr marL="0" indent="0">
              <a:buNone/>
            </a:pPr>
            <a:endParaRPr lang="es-ES" sz="2000" b="1" dirty="0"/>
          </a:p>
          <a:p>
            <a:pPr marL="0" indent="0">
              <a:buNone/>
            </a:pPr>
            <a:r>
              <a:rPr lang="es-ES" sz="2000" b="1" dirty="0"/>
              <a:t>Misión:</a:t>
            </a:r>
            <a:endParaRPr lang="es-ES" sz="2000" dirty="0"/>
          </a:p>
          <a:p>
            <a:r>
              <a:rPr lang="es-ES" sz="2000" dirty="0"/>
              <a:t>Descifrar el mensaje </a:t>
            </a:r>
          </a:p>
          <a:p>
            <a:r>
              <a:rPr lang="es-ES" sz="2000" dirty="0"/>
              <a:t>Una vez descifrado: ¿qué mensaje dejó Satoshi dentro de ese bloque y por qué es simbólico?</a:t>
            </a:r>
          </a:p>
          <a:p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755495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7BE51-3256-19AC-36BD-4B184E0C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9A887-2632-1277-4F37-E4380359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Blockchain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338D1-6824-C350-DCB2-3F820E3AE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63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6600"/>
          </a:p>
          <a:p>
            <a:pPr marL="0" indent="0" algn="ctr">
              <a:buNone/>
            </a:pPr>
            <a:r>
              <a:rPr lang="es-ES" sz="8800"/>
              <a:t>Metamask</a:t>
            </a:r>
          </a:p>
          <a:p>
            <a:pPr marL="0" indent="0" algn="ctr">
              <a:buNone/>
            </a:pPr>
            <a:endParaRPr lang="es-ES" sz="8800"/>
          </a:p>
        </p:txBody>
      </p:sp>
    </p:spTree>
    <p:extLst>
      <p:ext uri="{BB962C8B-B14F-4D97-AF65-F5344CB8AC3E}">
        <p14:creationId xmlns:p14="http://schemas.microsoft.com/office/powerpoint/2010/main" val="1993767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A85F-D63F-742D-EA84-9845B6E92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F27E3-C6FC-CE6B-78B5-AADF827A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88AEA33-07A3-A4BD-F8A3-5A714A3E2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Ir a extensiones y buscar Metamask</a:t>
            </a:r>
          </a:p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562CA6-89E9-DCBB-0625-5790ED52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357" y="2347658"/>
            <a:ext cx="5849166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30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77E55-32DE-877F-D360-DBB1B337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45BDE-7E9F-F128-F17C-7CAEF558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5772256-6617-B507-5652-622C27213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Click en obtener -&gt; Agregar extensión</a:t>
            </a: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D2D7A0-5BFD-46CB-42A1-6ADDE53BB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80" y="2302976"/>
            <a:ext cx="7239794" cy="436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34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175FF-1BA5-EE81-E44B-E2357F9F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506F7-5C70-D68A-E5F1-888C9E3B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F659125-440F-02EA-BDBC-3158E0F3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Desplegar las existentes y dejar fija Metamask por comodidad</a:t>
            </a:r>
          </a:p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CF3EF7-ACF1-AD08-7969-C9E3CB1B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97" y="3138335"/>
            <a:ext cx="3258005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149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6BEE-E0C7-C749-A557-44F24D3D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76662-D671-88AD-AE71-238976FC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2F9FD59-FD4D-CE2C-3D58-7669E14BB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Aceptar términos y crear un monedero nuevo</a:t>
            </a:r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E35FB0-A65B-4266-E7FF-E22FD1D0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02602"/>
            <a:ext cx="7133096" cy="360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98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DED5-ED33-C367-7752-E057125A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67A32-4AAD-4CFA-FD13-C13D16A8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F16A12B-0B03-E708-DCD2-EB4A5317E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Elegir una contraseña y </a:t>
            </a:r>
            <a:r>
              <a:rPr lang="es-ES" b="1"/>
              <a:t>no olvidarla</a:t>
            </a:r>
          </a:p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D6935B-776C-0511-AC9E-397BB8034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0" y="2436523"/>
            <a:ext cx="5292454" cy="387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88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6031-EB95-17B9-2CDD-E9C5C5A4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17921-1CEC-CAEB-63AD-7D9A9077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8028E36-4941-13F6-5AFE-9B5527116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Elegir proteger el monedero, copiar las 12 palabras y NO PERDERLAS!!</a:t>
            </a:r>
            <a:endParaRPr lang="es-ES" b="1"/>
          </a:p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523C3D-9311-2991-EA53-2D706F5C3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147" y="2343539"/>
            <a:ext cx="4125973" cy="41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78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22569-6AA4-072A-A81D-B5E6F5EB0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8591D-F899-53A6-5377-86CDBE2B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B13ED23-55DF-0A76-BA72-39B01A929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ES"/>
              <a:t>Esto es lo que deberéis ver</a:t>
            </a:r>
            <a:endParaRPr lang="es-ES" b="1"/>
          </a:p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8F8D2B-5080-C40F-EAFC-1B72EE82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228" y="2444222"/>
            <a:ext cx="4971543" cy="386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29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D2F1-B46B-B5A4-A532-B7ECFD82D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F3543-9253-3912-9476-8E21F6A6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05E8BCC-76DA-08CA-58EE-13204B343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ES"/>
              <a:t>Despegar las redes</a:t>
            </a:r>
            <a:endParaRPr lang="es-ES" b="1"/>
          </a:p>
          <a:p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10059-CCE7-2267-E155-470EAF0A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228" y="2444222"/>
            <a:ext cx="4971543" cy="3867678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C097B826-C78B-605E-DCD2-B1CF4BF88A0A}"/>
              </a:ext>
            </a:extLst>
          </p:cNvPr>
          <p:cNvSpPr/>
          <p:nvPr/>
        </p:nvSpPr>
        <p:spPr>
          <a:xfrm>
            <a:off x="3874770" y="2686050"/>
            <a:ext cx="1223010" cy="4343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3300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8E9E-422B-B063-A1C2-51E1DBA0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EBEE7D8-93DE-CC61-DFDB-4CF9C6DB2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10057"/>
            <a:ext cx="2685206" cy="376690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8536A83-3ECD-BFA3-BA42-25BD6E69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04453D9-E00C-45B2-EBBB-A1FB541D4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ES"/>
              <a:t>Macar ‘Mostrar redes de prueba’</a:t>
            </a:r>
            <a:endParaRPr lang="es-ES" b="1"/>
          </a:p>
          <a:p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C210A18-DA52-AA2A-902C-56D4B386F94D}"/>
              </a:ext>
            </a:extLst>
          </p:cNvPr>
          <p:cNvSpPr/>
          <p:nvPr/>
        </p:nvSpPr>
        <p:spPr>
          <a:xfrm>
            <a:off x="5955030" y="5488940"/>
            <a:ext cx="1017270" cy="2879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79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70C5-0390-0F2F-8B7B-3EC684C5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F4B1D3A-5608-60A5-FCAF-74485B4CD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495232"/>
            <a:ext cx="2258702" cy="41247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70FA35E-8F1A-8EC3-4B5B-B56179F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A4C18CE-17CD-1C11-9B50-38291E2F0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s-ES"/>
              <a:t>Click en Sepolia</a:t>
            </a:r>
            <a:endParaRPr lang="es-ES" b="1"/>
          </a:p>
          <a:p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C250922-4032-5FC9-A434-7DB00628383F}"/>
              </a:ext>
            </a:extLst>
          </p:cNvPr>
          <p:cNvSpPr/>
          <p:nvPr/>
        </p:nvSpPr>
        <p:spPr>
          <a:xfrm>
            <a:off x="5452110" y="5349240"/>
            <a:ext cx="1531620" cy="3933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323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D6EB-AED6-0C8C-FAF0-CDAAFAB10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8A998-4F28-9E10-60F7-E41FE1D1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354594D-E3E4-E3DE-2AE9-843608D6E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Vamos a conseguir unos cuantos eths de prueba</a:t>
            </a:r>
          </a:p>
          <a:p>
            <a:r>
              <a:rPr lang="es-ES" sz="2400"/>
              <a:t>Ir a un faucet, por ejemplo: </a:t>
            </a:r>
            <a:r>
              <a:rPr lang="es-ES" sz="2400">
                <a:hlinkClick r:id="rId2"/>
              </a:rPr>
              <a:t>https://cloud.google.com/application/web3/faucet/ethereum/sepolia</a:t>
            </a:r>
            <a:endParaRPr lang="es-ES" sz="2400"/>
          </a:p>
          <a:p>
            <a:r>
              <a:rPr lang="es-ES" sz="2400"/>
              <a:t>Copiar nuestra address de Metamask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0CB676-53AB-D827-B4A6-DCE540D5F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764" y="3556830"/>
            <a:ext cx="5915851" cy="3153215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1524A391-66A7-7BE3-1EB5-FF329A3DBB46}"/>
              </a:ext>
            </a:extLst>
          </p:cNvPr>
          <p:cNvSpPr/>
          <p:nvPr/>
        </p:nvSpPr>
        <p:spPr>
          <a:xfrm>
            <a:off x="5330190" y="4583430"/>
            <a:ext cx="1531620" cy="3933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0984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10029-9931-D549-077B-2C8B532E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6264F-148F-AF15-E9E7-83CA61A7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9758494-80A3-7F1E-3A4D-24227B060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Pegamos el address en el campo de ‘Wallet Address’ y pulsamos ‘Receive 0.05 Seoplia Eths’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E2EEEF7-1740-DE6B-989F-88EE9419F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2762695"/>
            <a:ext cx="7357713" cy="3549205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1237F600-5E2E-4ED9-0C03-C41E4CCDBD44}"/>
              </a:ext>
            </a:extLst>
          </p:cNvPr>
          <p:cNvSpPr/>
          <p:nvPr/>
        </p:nvSpPr>
        <p:spPr>
          <a:xfrm>
            <a:off x="3086100" y="4892040"/>
            <a:ext cx="2324100" cy="742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4689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BBFE-EE3D-51FF-EEA6-78455616E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15E5F-F32B-5B23-150D-05ECB7B8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AAD3FAD-E776-8D91-38DD-D41A726C0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Nos enviarán 0.05 Eths de prueba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BE5827-2771-DB3A-DF22-5D6F60EB3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2263210"/>
            <a:ext cx="1005027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28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E1A0-1D92-76FD-C82F-43F79541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3104C-C031-E1B3-096C-DCBF484D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558CBF1-58DA-CCFC-73E3-1890DBB6F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Si no tienes cuenta de Google o no quieres introducirla en este ordenador, indicarlo al profesor para que os mande 0.05ETH.</a:t>
            </a:r>
          </a:p>
          <a:p>
            <a:endParaRPr lang="es-ES" sz="2400"/>
          </a:p>
          <a:p>
            <a:r>
              <a:rPr lang="es-ES" sz="2400"/>
              <a:t>Registrar todas las address en un fichero de la carpeta compartida</a:t>
            </a:r>
            <a:r>
              <a:rPr lang="es-E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6640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32C3-6375-C36E-BDC5-852F5B62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7ADF3-4BD4-9861-E82C-727DAE53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468F891-59E9-AB3F-0BD3-318F2BA0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Y aparecerán en nuestra billetera Metamask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790D4B-9879-180C-384B-7BBCB28C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2566298"/>
            <a:ext cx="8646603" cy="374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71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E077-F164-5E46-E03F-6AABD9EA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B8529-226C-7411-9D09-949BB2B6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5D160E2-AA33-D253-ABAC-69FA3F317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Pediremos a un compañero su dirección, la copiaremos al portapapeles y pulsaremos ‘Enviar’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930BB8-441D-1709-B285-0218AEB9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20" y="2566298"/>
            <a:ext cx="8646603" cy="3745602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D82D1CF6-6E90-E244-DF2E-0865E9C9D0CF}"/>
              </a:ext>
            </a:extLst>
          </p:cNvPr>
          <p:cNvSpPr/>
          <p:nvPr/>
        </p:nvSpPr>
        <p:spPr>
          <a:xfrm>
            <a:off x="6492240" y="4439099"/>
            <a:ext cx="701040" cy="742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44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A32F-AC61-2551-ABD4-9B3BF51C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4C634-2F49-B7CD-B34F-77156023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FC47587-61F9-2645-C211-30A66CA76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Pegamos su dirección en el campo ‘Para’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7A70A0B-942F-6477-AB6A-86B35CC6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369" y="2488088"/>
            <a:ext cx="3739947" cy="4119696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EBD35D4E-9CD3-220E-EB7A-A652067DD2BC}"/>
              </a:ext>
            </a:extLst>
          </p:cNvPr>
          <p:cNvSpPr/>
          <p:nvPr/>
        </p:nvSpPr>
        <p:spPr>
          <a:xfrm>
            <a:off x="4811292" y="3429000"/>
            <a:ext cx="2324100" cy="742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8535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D5BD4-A514-F7DE-2914-36833886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A72DFD5-F3BE-310C-2D19-27882196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342" y="2755160"/>
            <a:ext cx="2870918" cy="37377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335E97-BB30-5974-300F-AC396CFCC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3599BD0-6F69-B40B-1D48-888D300CD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Indicamos la cantidad a enviar (por ejemplo 0.001) y damos continuar</a:t>
            </a:r>
          </a:p>
          <a:p>
            <a:pPr marL="0" indent="0">
              <a:buNone/>
            </a:pPr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5DDFCB3-AA9B-3D48-7E50-D9C37492BDA5}"/>
              </a:ext>
            </a:extLst>
          </p:cNvPr>
          <p:cNvSpPr/>
          <p:nvPr/>
        </p:nvSpPr>
        <p:spPr>
          <a:xfrm>
            <a:off x="4650751" y="3629819"/>
            <a:ext cx="2324100" cy="7429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8368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83FB-B7A7-335B-09D4-4515AC95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A94C89-D743-83B5-60B7-995FB248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77" y="2388870"/>
            <a:ext cx="1731425" cy="3543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725BAE-043A-9DA7-28AF-3F740F42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9697ECE-DB9A-AAB4-80EC-C7B1A3ACE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Verificamos que todo es correcto y pulsamos ‘confirmar’</a:t>
            </a:r>
          </a:p>
          <a:p>
            <a:pPr marL="0" indent="0">
              <a:buNone/>
            </a:pPr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27965EF-39E9-BE8D-1AA6-2AD356A3DB11}"/>
              </a:ext>
            </a:extLst>
          </p:cNvPr>
          <p:cNvSpPr/>
          <p:nvPr/>
        </p:nvSpPr>
        <p:spPr>
          <a:xfrm>
            <a:off x="5513069" y="5541168"/>
            <a:ext cx="878851" cy="3910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7797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F728-3252-25D5-3EF1-109225333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1ECB-D01A-CCDA-18A4-30BEBAFC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AAE891-69AE-5286-4794-3CD2E907C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La transacción aparecerá como pendiente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2724E3-C5D3-EF5A-56E0-05904338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0476"/>
            <a:ext cx="987880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3547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CD12C-ABF3-D21B-1C3B-92DAA664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281F-717B-1F75-80BD-BE9140DA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EE16DD2-95DD-FAEA-9F68-B43B1EE2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Y, finalmente aparecerá un pop-up avisando de que se ha finalizado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96B7B0-D5F1-E572-26F8-DE0CA453C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274" y="3191556"/>
            <a:ext cx="3810532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29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D7079-003A-D0BC-893D-A97C7263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10570-18E7-2C52-1777-C706EBE9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C54F8C6-29D5-857B-D9F8-53EF6F384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400"/>
              <a:t>El cambio de saldo se verá reflejado en ambas billeteras</a:t>
            </a:r>
          </a:p>
          <a:p>
            <a:pPr marL="0" indent="0">
              <a:buNone/>
            </a:pP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608664-0BF0-30CE-CE9E-5C155B2B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889667"/>
            <a:ext cx="5652867" cy="274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279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9F07-EB82-FFC6-787A-24958043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C3B96-F430-4F8F-4440-E4A6C18D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 – Cambiar Fees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1681DC2-9498-F4B3-84C0-9A99854F2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4112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/>
              <a:t>Hacer otra transacción</a:t>
            </a:r>
          </a:p>
          <a:p>
            <a:pPr marL="0" indent="0">
              <a:buNone/>
            </a:pPr>
            <a:r>
              <a:rPr lang="es-ES" sz="2400"/>
              <a:t>Al revisar los datos pulsar sobre el icono del lápiz que hay junto a ‘Tarifa de red’</a:t>
            </a:r>
          </a:p>
          <a:p>
            <a:pPr marL="0" indent="0">
              <a:buNone/>
            </a:pPr>
            <a:r>
              <a:rPr lang="es-ES" sz="2400"/>
              <a:t>Revisar las opciones existentes</a:t>
            </a:r>
          </a:p>
          <a:p>
            <a:pPr marL="0" indent="0">
              <a:buNone/>
            </a:pPr>
            <a:r>
              <a:rPr lang="es-ES" sz="2400"/>
              <a:t>Ir a ‘avanzado’ y revisar las opciones que hay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EA33AF-43B7-4568-B326-98A31CCDF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268" y="1462062"/>
            <a:ext cx="2613828" cy="3933876"/>
          </a:xfrm>
          <a:prstGeom prst="rect">
            <a:avLst/>
          </a:prstGeom>
        </p:spPr>
      </p:pic>
      <p:sp>
        <p:nvSpPr>
          <p:cNvPr id="6" name="Marco 5">
            <a:extLst>
              <a:ext uri="{FF2B5EF4-FFF2-40B4-BE49-F238E27FC236}">
                <a16:creationId xmlns:a16="http://schemas.microsoft.com/office/drawing/2014/main" id="{E2EDD1AF-3DDF-2CE2-48F0-7BEBC220DFE3}"/>
              </a:ext>
            </a:extLst>
          </p:cNvPr>
          <p:cNvSpPr/>
          <p:nvPr/>
        </p:nvSpPr>
        <p:spPr>
          <a:xfrm>
            <a:off x="7369444" y="3709269"/>
            <a:ext cx="364210" cy="364210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7C839C-3D77-AA67-62FE-76D9B1A2E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177" y="2098253"/>
            <a:ext cx="1884102" cy="289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73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8385-EB0F-0336-EA74-11124A9E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9FF10-C115-C56B-353C-78BF2FBB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 – Introducción al Gas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778FE3A-9992-667B-3F5B-3487A5ED6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337515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/>
              <a:t>Ir a ‘avanzado’ y revisar las opciones que hay.</a:t>
            </a:r>
          </a:p>
          <a:p>
            <a:pPr marL="0" indent="0">
              <a:buNone/>
            </a:pPr>
            <a:endParaRPr lang="es-ES" sz="2400"/>
          </a:p>
          <a:p>
            <a:r>
              <a:rPr lang="es-ES" sz="2400"/>
              <a:t>¿Qué crees que es la ‘Tarifa base mínima’?</a:t>
            </a:r>
          </a:p>
          <a:p>
            <a:endParaRPr lang="es-ES" sz="2400"/>
          </a:p>
          <a:p>
            <a:endParaRPr lang="es-ES" sz="2400"/>
          </a:p>
          <a:p>
            <a:r>
              <a:rPr lang="es-ES" sz="2400"/>
              <a:t>¿Y la ‘Tarifa de prioridad?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576975-85CE-2A9C-6D48-54D88C4D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646" y="1690688"/>
            <a:ext cx="2709335" cy="46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23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A6F1-FD1B-72E7-CE82-06EB5D4C9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36912-C2B5-5B04-3746-C3FF6069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 – Introducción al Gas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6F9D59B-A4F3-1804-3F0B-A4941D772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4112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/>
              <a:t>¿Qué crees que es la ‘Tarifa base mínima’?</a:t>
            </a:r>
          </a:p>
          <a:p>
            <a:pPr lvl="1"/>
            <a:r>
              <a:rPr lang="es-ES" sz="1600"/>
              <a:t>Es la cantidad máxima de gas (en GWEI) que estás dispuesto a pagar por unidad de gas para cubrir la tarifa base dinámica de la red.</a:t>
            </a:r>
          </a:p>
          <a:p>
            <a:pPr lvl="1"/>
            <a:r>
              <a:rPr lang="es-ES" sz="1600"/>
              <a:t>La red Ethereum (y testnets como Sepolia) ajusta una “base fee” automáticamente en cada bloque.</a:t>
            </a:r>
          </a:p>
          <a:p>
            <a:pPr lvl="1"/>
            <a:r>
              <a:rPr lang="es-ES" sz="1600"/>
              <a:t>Si la base real es menor que tu máximo, te devuelven la diferencia.</a:t>
            </a:r>
            <a:endParaRPr lang="es-ES" sz="2000"/>
          </a:p>
          <a:p>
            <a:pPr marL="0" indent="0">
              <a:buNone/>
            </a:pPr>
            <a:r>
              <a:rPr lang="es-ES" sz="2400"/>
              <a:t>¿Y la ‘Tarifa de prioridad?</a:t>
            </a:r>
          </a:p>
          <a:p>
            <a:pPr lvl="1"/>
            <a:r>
              <a:rPr lang="es-ES" sz="1600"/>
              <a:t>Es la propina que ofreces al minero o validador para que priorice tu transacción.</a:t>
            </a:r>
          </a:p>
          <a:p>
            <a:pPr lvl="1"/>
            <a:r>
              <a:rPr lang="es-ES" sz="1600"/>
              <a:t>Cuanto mayor es, antes se confirma.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2CDA83-25AF-B5C5-7018-51F24C11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646" y="1690688"/>
            <a:ext cx="2709335" cy="46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99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7AA8-8272-796E-7439-0E17161E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C06CF-2475-D9DB-6BD5-B3A25C9B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 – Unidades en Ethereum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2FF3377-75D8-19F2-316C-AEAA0B579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44" y="1478456"/>
            <a:ext cx="686848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753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EC82B-6750-9658-8FA5-6EADCED0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A39B4-8E99-A931-CE7C-17FF3D95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Discusión – Opciones Avanzadas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5FC2FB1-DEA6-F061-A160-990AA2BEC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/>
              <a:t>¿Qué pasa si mando una transacción con un fee muy bajo? </a:t>
            </a: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3204468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91E4-B79A-6E71-DD9D-1B7958AF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A78C-E6F5-3EEE-055B-C5FCF677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Discusión – Notas del profesor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7DE73FD-2755-C4EF-FABB-522085FB6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/>
              <a:t>¿Qué pasa si mando una transacción con un fee muy bajo? </a:t>
            </a:r>
          </a:p>
          <a:p>
            <a:pPr marL="0" indent="0">
              <a:buNone/>
            </a:pPr>
            <a:r>
              <a:rPr lang="es-ES" sz="1600"/>
              <a:t>La transacción entra al mempool pero los validadores la ignoran si otras pagan más, quedando “pendiente” indefinidamente.</a:t>
            </a:r>
          </a:p>
          <a:p>
            <a:pPr marL="0" indent="0">
              <a:buNone/>
            </a:pPr>
            <a:r>
              <a:rPr lang="es-ES" sz="1600"/>
              <a:t>Puede adolecer de inanición para siempre si las tarifas no bajan.</a:t>
            </a:r>
          </a:p>
          <a:p>
            <a:pPr marL="0" indent="0">
              <a:buNone/>
            </a:pPr>
            <a:r>
              <a:rPr lang="es-ES" sz="1600"/>
              <a:t>Mientras esté pendiente, bloquea las siguientes transacciones de esa cuenta ya que cada transacción lleva un número de secuencia.</a:t>
            </a:r>
          </a:p>
        </p:txBody>
      </p:sp>
    </p:spTree>
    <p:extLst>
      <p:ext uri="{BB962C8B-B14F-4D97-AF65-F5344CB8AC3E}">
        <p14:creationId xmlns:p14="http://schemas.microsoft.com/office/powerpoint/2010/main" val="1252255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B4FB-EE63-6623-FD2E-159445A5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8DA54-E40E-2475-B443-A7E18713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Nonce de Ethereum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C8DF4EF-4AF4-6C10-B1B7-E82EEFDB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/>
          <a:lstStyle/>
          <a:p>
            <a:pPr marL="0" indent="0">
              <a:buNone/>
            </a:pPr>
            <a:r>
              <a:rPr lang="es-ES" sz="1800" b="1"/>
              <a:t>¿Qué es el Nonce en Ethereum?</a:t>
            </a:r>
          </a:p>
          <a:p>
            <a:pPr marL="0" indent="0">
              <a:buNone/>
            </a:pPr>
            <a:r>
              <a:rPr lang="es-ES" sz="1600"/>
              <a:t>Número secuencial que identifica cada transacción enviada por una cuenta.</a:t>
            </a:r>
          </a:p>
          <a:p>
            <a:pPr marL="0" indent="0">
              <a:buNone/>
            </a:pPr>
            <a:r>
              <a:rPr lang="es-ES" sz="1600" b="1"/>
              <a:t>Propósito</a:t>
            </a:r>
            <a:endParaRPr lang="es-ES" sz="1600"/>
          </a:p>
          <a:p>
            <a:pPr lvl="1"/>
            <a:r>
              <a:rPr lang="es-ES" sz="1200"/>
              <a:t>Garantiza el </a:t>
            </a:r>
            <a:r>
              <a:rPr lang="es-ES" sz="1200" b="1"/>
              <a:t>orden exacto</a:t>
            </a:r>
            <a:r>
              <a:rPr lang="es-ES" sz="1200"/>
              <a:t> de las transacciones.</a:t>
            </a:r>
          </a:p>
          <a:p>
            <a:pPr lvl="1"/>
            <a:r>
              <a:rPr lang="es-ES" sz="1200"/>
              <a:t>Evita </a:t>
            </a:r>
            <a:r>
              <a:rPr lang="es-ES" sz="1200" b="1"/>
              <a:t>repeticiones o duplicados</a:t>
            </a:r>
            <a:r>
              <a:rPr lang="es-ES" sz="1200"/>
              <a:t> (ataques de replay).</a:t>
            </a:r>
          </a:p>
          <a:p>
            <a:pPr marL="0" indent="0">
              <a:buNone/>
            </a:pPr>
            <a:r>
              <a:rPr lang="es-ES" sz="1600" b="1"/>
              <a:t>Reglas clave</a:t>
            </a:r>
            <a:endParaRPr lang="es-ES" sz="1600"/>
          </a:p>
          <a:p>
            <a:pPr lvl="1"/>
            <a:r>
              <a:rPr lang="es-ES" sz="1200"/>
              <a:t>Cada cuenta empieza en </a:t>
            </a:r>
            <a:r>
              <a:rPr lang="es-ES" sz="1600"/>
              <a:t>nonce = 0</a:t>
            </a:r>
            <a:r>
              <a:rPr lang="es-ES" sz="1000"/>
              <a:t>.</a:t>
            </a:r>
            <a:endParaRPr lang="es-ES" sz="1200"/>
          </a:p>
          <a:p>
            <a:pPr lvl="1"/>
            <a:r>
              <a:rPr lang="es-ES" sz="1200"/>
              <a:t>Cada nueva transacción incrementa el nonce en +1.</a:t>
            </a:r>
          </a:p>
          <a:p>
            <a:pPr lvl="1"/>
            <a:r>
              <a:rPr lang="es-ES" sz="1200"/>
              <a:t>Las transacciones deben minarse </a:t>
            </a:r>
            <a:r>
              <a:rPr lang="es-ES" sz="1200" b="1"/>
              <a:t>en orden</a:t>
            </a:r>
            <a:r>
              <a:rPr lang="es-ES" sz="1200"/>
              <a:t>.</a:t>
            </a:r>
          </a:p>
          <a:p>
            <a:pPr lvl="1"/>
            <a:r>
              <a:rPr lang="es-ES" sz="1200"/>
              <a:t>Si se salta un número, las siguientes quedan </a:t>
            </a:r>
            <a:r>
              <a:rPr lang="es-ES" sz="1200" b="1"/>
              <a:t>pendientes</a:t>
            </a:r>
            <a:r>
              <a:rPr lang="es-ES" sz="1200"/>
              <a:t> hasta que la anterior se confirme.</a:t>
            </a:r>
          </a:p>
          <a:p>
            <a:pPr marL="0" indent="0">
              <a:buNone/>
            </a:pP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30760968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06AB-B45C-9C00-4851-D9510B4E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41639-969F-5FB5-471F-1331F9B8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Pregunta - Nonce de Ethereum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CFAE005-1166-092F-B3C4-9516478AC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/>
          <a:lstStyle/>
          <a:p>
            <a:pPr marL="0" indent="0">
              <a:buNone/>
            </a:pPr>
            <a:r>
              <a:rPr lang="es-ES" sz="1800" b="1"/>
              <a:t>Si he mandado una transacción con un fee muy bajo y lleva atascada mucho tiempo (horas/días/meses) ¿Cómo la desbloquéo?</a:t>
            </a:r>
            <a:endParaRPr lang="es-ES" sz="1200"/>
          </a:p>
          <a:p>
            <a:pPr marL="0" indent="0">
              <a:buNone/>
            </a:pP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1882636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FD88-5D52-411B-98EF-AB7AE92E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3670E-C247-D55E-1F61-A6471BD7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Pregunta – Notas del Profesor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F46839B-C006-63B3-1CB9-4C28A517A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sz="1800" b="1"/>
              <a:t>Si he mandado una transacción con un fee muy bajo y lleva atascada mucho tiempo (horas/días/meses) ¿Cómo la desbloqueo?</a:t>
            </a:r>
            <a:endParaRPr lang="es-ES" sz="1200"/>
          </a:p>
          <a:p>
            <a:pPr marL="0" indent="0">
              <a:buNone/>
            </a:pPr>
            <a:endParaRPr lang="es-ES" sz="1600"/>
          </a:p>
          <a:p>
            <a:pPr marL="0" indent="0">
              <a:buNone/>
            </a:pPr>
            <a:r>
              <a:rPr lang="es-ES" b="1"/>
              <a:t>Solución:</a:t>
            </a:r>
            <a:endParaRPr lang="es-ES"/>
          </a:p>
          <a:p>
            <a:pPr marL="0" indent="0">
              <a:buNone/>
            </a:pPr>
            <a:r>
              <a:rPr lang="es-ES" sz="2300" b="1"/>
              <a:t>Identificar el nonce bloqueado</a:t>
            </a:r>
            <a:endParaRPr lang="es-ES" sz="2300"/>
          </a:p>
          <a:p>
            <a:pPr lvl="1"/>
            <a:r>
              <a:rPr lang="es-ES" sz="2100"/>
              <a:t>Consultar el historial en Etherscan o en Metamask (Configuración avanzada → Nonce).</a:t>
            </a:r>
          </a:p>
          <a:p>
            <a:pPr marL="0" indent="0">
              <a:buNone/>
            </a:pPr>
            <a:r>
              <a:rPr lang="es-ES" sz="2300" b="1"/>
              <a:t>Reenviar (replace)</a:t>
            </a:r>
            <a:endParaRPr lang="es-ES" sz="2300"/>
          </a:p>
          <a:p>
            <a:pPr lvl="1"/>
            <a:r>
              <a:rPr lang="es-ES" sz="2100"/>
              <a:t>Crear una nueva transacción con </a:t>
            </a:r>
            <a:r>
              <a:rPr lang="es-ES" sz="2100" b="1"/>
              <a:t>el mismo nonce</a:t>
            </a:r>
            <a:r>
              <a:rPr lang="es-ES" sz="2100"/>
              <a:t>.</a:t>
            </a:r>
          </a:p>
          <a:p>
            <a:pPr lvl="1"/>
            <a:r>
              <a:rPr lang="es-ES" sz="2100"/>
              <a:t>Enviar al </a:t>
            </a:r>
            <a:r>
              <a:rPr lang="es-ES" sz="2100" b="1"/>
              <a:t>mismo destino</a:t>
            </a:r>
            <a:r>
              <a:rPr lang="es-ES" sz="2100"/>
              <a:t> o incluso a tu </a:t>
            </a:r>
            <a:r>
              <a:rPr lang="es-ES" sz="2100" b="1"/>
              <a:t>propia dirección</a:t>
            </a:r>
            <a:r>
              <a:rPr lang="es-ES" sz="2100"/>
              <a:t>.</a:t>
            </a:r>
          </a:p>
          <a:p>
            <a:pPr lvl="1"/>
            <a:r>
              <a:rPr lang="es-ES" sz="2100"/>
              <a:t>Asignar un </a:t>
            </a:r>
            <a:r>
              <a:rPr lang="es-ES" sz="2100" b="1"/>
              <a:t>gas más alto</a:t>
            </a:r>
            <a:r>
              <a:rPr lang="es-ES" sz="2100"/>
              <a:t> para que los validadores la acepten.</a:t>
            </a:r>
          </a:p>
          <a:p>
            <a:pPr lvl="1"/>
            <a:r>
              <a:rPr lang="es-ES" sz="2100"/>
              <a:t>Esto sustituye la anterior (a esta técnica se la conoce como “Replace-by-fee”).</a:t>
            </a:r>
          </a:p>
          <a:p>
            <a:pPr marL="0" indent="0">
              <a:buNone/>
            </a:pPr>
            <a:r>
              <a:rPr lang="es-ES" sz="2300" b="1"/>
              <a:t>Cancelar (opcional)</a:t>
            </a:r>
            <a:endParaRPr lang="es-ES" sz="2300"/>
          </a:p>
          <a:p>
            <a:pPr lvl="1"/>
            <a:r>
              <a:rPr lang="es-ES" sz="2100"/>
              <a:t>Enviar una transacción vacía (0 ETH a ti mismo) con el </a:t>
            </a:r>
            <a:r>
              <a:rPr lang="es-ES" sz="2100" b="1"/>
              <a:t>mismo nonce</a:t>
            </a:r>
            <a:r>
              <a:rPr lang="es-ES" sz="2100"/>
              <a:t> y gas alto.</a:t>
            </a:r>
          </a:p>
          <a:p>
            <a:pPr lvl="1"/>
            <a:r>
              <a:rPr lang="es-ES" sz="2100"/>
              <a:t>Si se mina, libera el nonce y desbloquea las siguientes.</a:t>
            </a:r>
          </a:p>
          <a:p>
            <a:pPr marL="0" indent="0">
              <a:buNone/>
            </a:pPr>
            <a:r>
              <a:rPr lang="es-ES" sz="2300" b="1"/>
              <a:t>Resultado:</a:t>
            </a:r>
            <a:br>
              <a:rPr lang="es-ES" sz="2300"/>
            </a:br>
            <a:r>
              <a:rPr lang="es-ES" sz="2300"/>
              <a:t>La nueva transacción sobrescribe la antigua y la cola vuelve a fluir.</a:t>
            </a:r>
          </a:p>
          <a:p>
            <a:pPr marL="0" indent="0">
              <a:buNone/>
            </a:pP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40278785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3A33C-B36E-A3AC-7B7B-7D37B2EE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579AC1-490D-459C-23D0-A6BD11DB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Metamask - ¿Dónde está el nonce?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C004364-AA91-C483-FABA-834ABD352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036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b="1"/>
              <a:t>Al llegar a la pantalla de ‘Confirmar’ pulsar sobre el icono de ‘settings’ (diales) que hay arriba a la derecha.</a:t>
            </a:r>
          </a:p>
          <a:p>
            <a:pPr marL="0" indent="0">
              <a:buNone/>
            </a:pPr>
            <a:r>
              <a:rPr lang="es-ES" sz="1600" b="1"/>
              <a:t>Aparecerá un campo editable con el nonce de la transacción a mandar.</a:t>
            </a:r>
          </a:p>
          <a:p>
            <a:pPr marL="0" indent="0">
              <a:buNone/>
            </a:pPr>
            <a:endParaRPr lang="es-ES" sz="2000"/>
          </a:p>
          <a:p>
            <a:pPr marL="0" indent="0">
              <a:buNone/>
            </a:pPr>
            <a:endParaRPr lang="es-ES" sz="140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C2917AE-C827-C207-02AF-7FEEDC230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99" y="2957188"/>
            <a:ext cx="2060827" cy="3091241"/>
          </a:xfrm>
          <a:prstGeom prst="rect">
            <a:avLst/>
          </a:prstGeom>
        </p:spPr>
      </p:pic>
      <p:sp>
        <p:nvSpPr>
          <p:cNvPr id="6" name="Marco 5">
            <a:extLst>
              <a:ext uri="{FF2B5EF4-FFF2-40B4-BE49-F238E27FC236}">
                <a16:creationId xmlns:a16="http://schemas.microsoft.com/office/drawing/2014/main" id="{A6196E5D-2719-9108-1311-EB5DAC521862}"/>
              </a:ext>
            </a:extLst>
          </p:cNvPr>
          <p:cNvSpPr/>
          <p:nvPr/>
        </p:nvSpPr>
        <p:spPr>
          <a:xfrm>
            <a:off x="3022170" y="2890434"/>
            <a:ext cx="472698" cy="480448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4DFAE03-A6E5-F768-5AE9-4485E1583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64" y="2952427"/>
            <a:ext cx="2028012" cy="3065006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59D24F6F-1ADD-4720-2335-58481E0C4DDC}"/>
              </a:ext>
            </a:extLst>
          </p:cNvPr>
          <p:cNvSpPr/>
          <p:nvPr/>
        </p:nvSpPr>
        <p:spPr>
          <a:xfrm>
            <a:off x="3998563" y="4130298"/>
            <a:ext cx="2028012" cy="3719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o 9">
            <a:extLst>
              <a:ext uri="{FF2B5EF4-FFF2-40B4-BE49-F238E27FC236}">
                <a16:creationId xmlns:a16="http://schemas.microsoft.com/office/drawing/2014/main" id="{4AF38B5E-7D64-257B-456E-5632DD8DCECE}"/>
              </a:ext>
            </a:extLst>
          </p:cNvPr>
          <p:cNvSpPr/>
          <p:nvPr/>
        </p:nvSpPr>
        <p:spPr>
          <a:xfrm>
            <a:off x="6703017" y="5153186"/>
            <a:ext cx="2162014" cy="472699"/>
          </a:xfrm>
          <a:prstGeom prst="fram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319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CE86-EE1D-6915-FE28-FB1192B7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8C929-CB48-431A-5B57-0F2B49CF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Debate - Metamask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DF58257-E448-B566-78B9-1C795846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400"/>
              <a:t>¿Qué conclusiones sacáis del uso de Metamask?</a:t>
            </a:r>
          </a:p>
          <a:p>
            <a:pPr marL="0" indent="0">
              <a:buNone/>
            </a:pPr>
            <a:r>
              <a:rPr lang="es-ES" sz="2400"/>
              <a:t>Considerar estos términos:</a:t>
            </a:r>
          </a:p>
          <a:p>
            <a:r>
              <a:rPr lang="es-ES" sz="2400"/>
              <a:t>Seguridad</a:t>
            </a:r>
          </a:p>
          <a:p>
            <a:r>
              <a:rPr lang="es-ES" sz="2400"/>
              <a:t>Sencillez</a:t>
            </a:r>
          </a:p>
          <a:p>
            <a:r>
              <a:rPr lang="es-ES" sz="2400"/>
              <a:t>Accesibilidad</a:t>
            </a:r>
          </a:p>
          <a:p>
            <a:r>
              <a:rPr lang="es-ES" sz="2400"/>
              <a:t>Utilidad</a:t>
            </a:r>
          </a:p>
          <a:p>
            <a:r>
              <a:rPr lang="es-ES" sz="2400"/>
              <a:t>Protección ante errores o pérdida de la clave</a:t>
            </a:r>
          </a:p>
        </p:txBody>
      </p:sp>
    </p:spTree>
    <p:extLst>
      <p:ext uri="{BB962C8B-B14F-4D97-AF65-F5344CB8AC3E}">
        <p14:creationId xmlns:p14="http://schemas.microsoft.com/office/powerpoint/2010/main" val="1917842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2328</Words>
  <Application>Microsoft Office PowerPoint</Application>
  <PresentationFormat>Panorámica</PresentationFormat>
  <Paragraphs>235</Paragraphs>
  <Slides>49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Tema de Office</vt:lpstr>
      <vt:lpstr>Repaso Día 2</vt:lpstr>
      <vt:lpstr>Blockchain</vt:lpstr>
      <vt:lpstr>El trilema de Blockchain</vt:lpstr>
      <vt:lpstr>Actividad – Trilema de Blockchain</vt:lpstr>
      <vt:lpstr>Actividad – Trilema de Blockchain</vt:lpstr>
      <vt:lpstr>Actividad – Trilema de Blockchain</vt:lpstr>
      <vt:lpstr>Actividad – Trilema de Blockchain</vt:lpstr>
      <vt:lpstr>Conclusiones – Trilema de Blockchain</vt:lpstr>
      <vt:lpstr>Presentación de PowerPoint</vt:lpstr>
      <vt:lpstr>Debate – El poder de los mineros</vt:lpstr>
      <vt:lpstr>Debate – El poder de los mineros</vt:lpstr>
      <vt:lpstr>Debate – El poder de los mineros</vt:lpstr>
      <vt:lpstr>Debate – El poder de los mineros</vt:lpstr>
      <vt:lpstr>Presentación de PowerPoint</vt:lpstr>
      <vt:lpstr>ROT13</vt:lpstr>
      <vt:lpstr>Blockchain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</vt:lpstr>
      <vt:lpstr>Metamask – Cambiar Fees</vt:lpstr>
      <vt:lpstr>Metamask – Introducción al Gas</vt:lpstr>
      <vt:lpstr>Metamask – Introducción al Gas</vt:lpstr>
      <vt:lpstr>Metamask – Unidades en Ethereum</vt:lpstr>
      <vt:lpstr>Discusión – Opciones Avanzadas</vt:lpstr>
      <vt:lpstr>Discusión – Notas del profesor</vt:lpstr>
      <vt:lpstr>Nonce de Ethereum</vt:lpstr>
      <vt:lpstr>Pregunta - Nonce de Ethereum</vt:lpstr>
      <vt:lpstr>Pregunta – Notas del Profesor</vt:lpstr>
      <vt:lpstr>Metamask - ¿Dónde está el nonce?</vt:lpstr>
      <vt:lpstr>Debate - Metamask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Nieto</dc:creator>
  <cp:lastModifiedBy>Javier Nieto</cp:lastModifiedBy>
  <cp:revision>1</cp:revision>
  <dcterms:created xsi:type="dcterms:W3CDTF">2026-03-18T21:33:49Z</dcterms:created>
  <dcterms:modified xsi:type="dcterms:W3CDTF">2026-03-18T21:34:17Z</dcterms:modified>
</cp:coreProperties>
</file>