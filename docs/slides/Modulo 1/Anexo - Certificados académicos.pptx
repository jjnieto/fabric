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5"/>
  </p:notesMasterIdLst>
  <p:sldIdLst>
    <p:sldId id="258" r:id="rId2"/>
    <p:sldId id="262" r:id="rId3"/>
    <p:sldId id="328" r:id="rId4"/>
    <p:sldId id="329" r:id="rId5"/>
    <p:sldId id="330" r:id="rId6"/>
    <p:sldId id="331" r:id="rId7"/>
    <p:sldId id="332" r:id="rId8"/>
    <p:sldId id="333" r:id="rId9"/>
    <p:sldId id="302" r:id="rId10"/>
    <p:sldId id="303" r:id="rId11"/>
    <p:sldId id="334" r:id="rId12"/>
    <p:sldId id="335" r:id="rId13"/>
    <p:sldId id="338" r:id="rId14"/>
    <p:sldId id="336" r:id="rId15"/>
    <p:sldId id="337" r:id="rId16"/>
    <p:sldId id="339" r:id="rId17"/>
    <p:sldId id="340" r:id="rId18"/>
    <p:sldId id="341" r:id="rId19"/>
    <p:sldId id="342" r:id="rId20"/>
    <p:sldId id="343" r:id="rId21"/>
    <p:sldId id="344" r:id="rId22"/>
    <p:sldId id="345" r:id="rId23"/>
    <p:sldId id="346" r:id="rId24"/>
    <p:sldId id="347" r:id="rId25"/>
    <p:sldId id="348" r:id="rId26"/>
    <p:sldId id="349" r:id="rId27"/>
    <p:sldId id="350" r:id="rId28"/>
    <p:sldId id="351" r:id="rId29"/>
    <p:sldId id="352" r:id="rId30"/>
    <p:sldId id="353" r:id="rId31"/>
    <p:sldId id="354" r:id="rId32"/>
    <p:sldId id="357" r:id="rId33"/>
    <p:sldId id="358" r:id="rId34"/>
    <p:sldId id="359" r:id="rId35"/>
    <p:sldId id="360" r:id="rId36"/>
    <p:sldId id="361" r:id="rId37"/>
    <p:sldId id="367" r:id="rId38"/>
    <p:sldId id="363" r:id="rId39"/>
    <p:sldId id="364" r:id="rId40"/>
    <p:sldId id="365" r:id="rId41"/>
    <p:sldId id="366" r:id="rId42"/>
    <p:sldId id="368" r:id="rId43"/>
    <p:sldId id="369" r:id="rId44"/>
  </p:sldIdLst>
  <p:sldSz cx="12192000" cy="6858000"/>
  <p:notesSz cx="6858000" cy="9144000"/>
  <p:embeddedFontLst>
    <p:embeddedFont>
      <p:font typeface="Roboto" panose="02000000000000000000" pitchFamily="2"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384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4" roundtripDataSignature="AMtx7mhf5+15T9FjI5j7CEI/du4unMQmN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69"/>
    <p:restoredTop sz="88808" autoAdjust="0"/>
  </p:normalViewPr>
  <p:slideViewPr>
    <p:cSldViewPr snapToGrid="0">
      <p:cViewPr varScale="1">
        <p:scale>
          <a:sx n="85" d="100"/>
          <a:sy n="85" d="100"/>
        </p:scale>
        <p:origin x="988" y="5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2.fntdata"/><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66"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3.fntdata"/><Relationship Id="rId64"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1.fntdata"/><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‹Nº›</a:t>
            </a:fld>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1ea3c471214_0_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g1ea3c471214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a:buNone/>
            </a:pPr>
            <a:r>
              <a:rPr lang="es-ES" dirty="0"/>
              <a:t>A finales de 2018–2019 varias universidades empezaron a experimentar con </a:t>
            </a:r>
            <a:r>
              <a:rPr lang="es-ES" dirty="0" err="1"/>
              <a:t>blockchain</a:t>
            </a:r>
            <a:r>
              <a:rPr lang="es-ES" dirty="0"/>
              <a:t> para emitir credenciales digitales.</a:t>
            </a:r>
          </a:p>
          <a:p>
            <a:pPr>
              <a:buNone/>
            </a:pPr>
            <a:r>
              <a:rPr lang="es-ES" dirty="0"/>
              <a:t>Se apostaba por mejorar la trazabilidad, descentralizar la verificación y dar mayor autonomía a los estudiantes.</a:t>
            </a:r>
          </a:p>
          <a:p>
            <a:r>
              <a:rPr lang="es-ES" dirty="0"/>
              <a:t>Pero como veremos, </a:t>
            </a:r>
            <a:r>
              <a:rPr lang="es-ES" b="1" dirty="0"/>
              <a:t>hubo problemas de adopción, comunicación y necesidad real</a:t>
            </a:r>
            <a:r>
              <a:rPr lang="es-ES" dirty="0"/>
              <a:t> que afectaron al éxito del proyecto.</a:t>
            </a:r>
          </a:p>
          <a:p>
            <a:pPr marL="0" lvl="0" indent="0" algn="l" rtl="0">
              <a:lnSpc>
                <a:spcPct val="100000"/>
              </a:lnSpc>
              <a:spcBef>
                <a:spcPts val="0"/>
              </a:spcBef>
              <a:spcAft>
                <a:spcPts val="0"/>
              </a:spcAft>
              <a:buSzPts val="1400"/>
              <a:buNone/>
            </a:pPr>
            <a:endParaRPr dirty="0"/>
          </a:p>
        </p:txBody>
      </p:sp>
      <p:sp>
        <p:nvSpPr>
          <p:cNvPr id="121" name="Google Shape;12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10502053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B7F43439-C621-4CCB-7D02-6FDD9323E172}"/>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10278792-50BE-867B-0993-4505D9806D4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1" name="Google Shape;121;p4:notes">
            <a:extLst>
              <a:ext uri="{FF2B5EF4-FFF2-40B4-BE49-F238E27FC236}">
                <a16:creationId xmlns:a16="http://schemas.microsoft.com/office/drawing/2014/main" id="{9C6C24D1-61EE-CF7E-7D3F-B38C1790436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38570041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0788634C-4A43-60C2-DE02-8CDD8176486C}"/>
            </a:ext>
          </a:extLst>
        </p:cNvPr>
        <p:cNvGrpSpPr/>
        <p:nvPr/>
      </p:nvGrpSpPr>
      <p:grpSpPr>
        <a:xfrm>
          <a:off x="0" y="0"/>
          <a:ext cx="0" cy="0"/>
          <a:chOff x="0" y="0"/>
          <a:chExt cx="0" cy="0"/>
        </a:xfrm>
      </p:grpSpPr>
      <p:sp>
        <p:nvSpPr>
          <p:cNvPr id="108" name="Google Shape;108;g1ea3c471214_0_9:notes">
            <a:extLst>
              <a:ext uri="{FF2B5EF4-FFF2-40B4-BE49-F238E27FC236}">
                <a16:creationId xmlns:a16="http://schemas.microsoft.com/office/drawing/2014/main" id="{CDD7AB83-917E-9433-7C07-57344E9FA54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a:buNone/>
            </a:pPr>
            <a:r>
              <a:rPr lang="es-ES" dirty="0"/>
              <a:t>Recordad que en la fase de IDEA no solo se trata de tener una buena ocurrencia, sino de </a:t>
            </a:r>
            <a:r>
              <a:rPr lang="es-ES" b="1" dirty="0"/>
              <a:t>verificar que el problema es real</a:t>
            </a:r>
            <a:r>
              <a:rPr lang="es-ES" dirty="0"/>
              <a:t> y que la solución tiene sentido para los usuarios.</a:t>
            </a:r>
          </a:p>
          <a:p>
            <a:r>
              <a:rPr lang="es-ES" dirty="0"/>
              <a:t>También es el momento donde la creatividad juega un papel clave, pero </a:t>
            </a:r>
            <a:r>
              <a:rPr lang="es-ES" b="1" dirty="0"/>
              <a:t>sin perder el contacto con la realidad</a:t>
            </a:r>
            <a:r>
              <a:rPr lang="es-ES" dirty="0"/>
              <a:t>.</a:t>
            </a:r>
          </a:p>
          <a:p>
            <a:pPr marL="0" lvl="0" indent="0" algn="l" rtl="0">
              <a:lnSpc>
                <a:spcPct val="100000"/>
              </a:lnSpc>
              <a:spcBef>
                <a:spcPts val="0"/>
              </a:spcBef>
              <a:spcAft>
                <a:spcPts val="0"/>
              </a:spcAft>
              <a:buSzPts val="1400"/>
              <a:buNone/>
            </a:pPr>
            <a:endParaRPr dirty="0"/>
          </a:p>
        </p:txBody>
      </p:sp>
      <p:sp>
        <p:nvSpPr>
          <p:cNvPr id="109" name="Google Shape;109;g1ea3c471214_0_9:notes">
            <a:extLst>
              <a:ext uri="{FF2B5EF4-FFF2-40B4-BE49-F238E27FC236}">
                <a16:creationId xmlns:a16="http://schemas.microsoft.com/office/drawing/2014/main" id="{F2A81233-9CFF-0116-38BA-DCFC866265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41183373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14448021-2390-D964-C26E-E59F8A0931B4}"/>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03F20BCB-EBB3-00DD-D965-B9D56139DD8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a:buNone/>
            </a:pPr>
            <a:r>
              <a:rPr lang="es-ES" dirty="0"/>
              <a:t>Recordad que en la fase de IDEA no solo se trata de tener una buena ocurrencia, sino de </a:t>
            </a:r>
            <a:r>
              <a:rPr lang="es-ES" b="1" dirty="0"/>
              <a:t>verificar que el problema es real</a:t>
            </a:r>
            <a:r>
              <a:rPr lang="es-ES" dirty="0"/>
              <a:t> y que la solución tiene sentido para los usuarios.</a:t>
            </a:r>
          </a:p>
          <a:p>
            <a:r>
              <a:rPr lang="es-ES" dirty="0"/>
              <a:t>También es el momento donde la creatividad juega un papel clave, pero </a:t>
            </a:r>
            <a:r>
              <a:rPr lang="es-ES" b="1" dirty="0"/>
              <a:t>sin perder el contacto con la realidad</a:t>
            </a:r>
            <a:r>
              <a:rPr lang="es-ES" dirty="0"/>
              <a:t>.</a:t>
            </a:r>
          </a:p>
        </p:txBody>
      </p:sp>
      <p:sp>
        <p:nvSpPr>
          <p:cNvPr id="121" name="Google Shape;121;p4:notes">
            <a:extLst>
              <a:ext uri="{FF2B5EF4-FFF2-40B4-BE49-F238E27FC236}">
                <a16:creationId xmlns:a16="http://schemas.microsoft.com/office/drawing/2014/main" id="{3B7B1527-118E-AF78-DAFB-84587C83BE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40483737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065990AC-258A-322C-67DD-C3A26A33EDCB}"/>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19C5CAE5-7689-7D6A-0FF2-E5F2FD08E42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a:buNone/>
            </a:pPr>
            <a:endParaRPr lang="es-ES" dirty="0"/>
          </a:p>
        </p:txBody>
      </p:sp>
      <p:sp>
        <p:nvSpPr>
          <p:cNvPr id="121" name="Google Shape;121;p4:notes">
            <a:extLst>
              <a:ext uri="{FF2B5EF4-FFF2-40B4-BE49-F238E27FC236}">
                <a16:creationId xmlns:a16="http://schemas.microsoft.com/office/drawing/2014/main" id="{E26E4717-A344-30FC-BD43-84691C2102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7978458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9C6818AC-26AF-8255-5254-6F54B1BD0F4F}"/>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9C714234-70A0-49B1-7643-12F1F24177D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a:buNone/>
            </a:pPr>
            <a:endParaRPr lang="es-ES" dirty="0"/>
          </a:p>
        </p:txBody>
      </p:sp>
      <p:sp>
        <p:nvSpPr>
          <p:cNvPr id="121" name="Google Shape;121;p4:notes">
            <a:extLst>
              <a:ext uri="{FF2B5EF4-FFF2-40B4-BE49-F238E27FC236}">
                <a16:creationId xmlns:a16="http://schemas.microsoft.com/office/drawing/2014/main" id="{4A5A13E3-5242-7FA6-694B-61718B8D7F7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13396547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A50BC58D-8248-7F72-520E-6BF778238EAC}"/>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366DC4DB-2930-D7CF-C267-D7E316AC868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a:buNone/>
            </a:pPr>
            <a:r>
              <a:rPr lang="es-ES" dirty="0"/>
              <a:t>No queremos solo criticar: queremos </a:t>
            </a:r>
            <a:r>
              <a:rPr lang="es-ES" b="1" dirty="0"/>
              <a:t>entender cómo podríamos haber generado una idea mejor</a:t>
            </a:r>
            <a:r>
              <a:rPr lang="es-ES" dirty="0"/>
              <a:t>.</a:t>
            </a:r>
          </a:p>
          <a:p>
            <a:pPr>
              <a:buNone/>
            </a:pPr>
            <a:r>
              <a:rPr lang="es-ES" dirty="0"/>
              <a:t>Pensad como si vosotros fuerais los responsables del proyecto desde el principio.</a:t>
            </a:r>
          </a:p>
          <a:p>
            <a:r>
              <a:rPr lang="es-ES" dirty="0"/>
              <a:t>Cada grupo debe debatir y preparar </a:t>
            </a:r>
            <a:r>
              <a:rPr lang="es-ES" b="1" dirty="0"/>
              <a:t>una respuesta breve</a:t>
            </a:r>
            <a:r>
              <a:rPr lang="es-ES" dirty="0"/>
              <a:t> para al menos una de las preguntas.</a:t>
            </a:r>
          </a:p>
          <a:p>
            <a:pPr>
              <a:buNone/>
            </a:pPr>
            <a:endParaRPr lang="es-ES" dirty="0"/>
          </a:p>
        </p:txBody>
      </p:sp>
      <p:sp>
        <p:nvSpPr>
          <p:cNvPr id="121" name="Google Shape;121;p4:notes">
            <a:extLst>
              <a:ext uri="{FF2B5EF4-FFF2-40B4-BE49-F238E27FC236}">
                <a16:creationId xmlns:a16="http://schemas.microsoft.com/office/drawing/2014/main" id="{FC7B274F-A009-BE25-6AE9-A758B6B03A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41581764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1ea3c471214_0_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g1ea3c471214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7264456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a:buNone/>
            </a:pPr>
            <a:r>
              <a:rPr lang="es-ES" dirty="0"/>
              <a:t>Ahora que tenemos una idea inicial, toca aterrizarla: definir qué necesitamos realmente, para quién y con qué riesgos.</a:t>
            </a:r>
          </a:p>
          <a:p>
            <a:pPr>
              <a:buNone/>
            </a:pPr>
            <a:r>
              <a:rPr lang="es-ES" dirty="0"/>
              <a:t>Esta fase es crucial para no construir "el sistema correcto para el problema equivocado".</a:t>
            </a:r>
          </a:p>
          <a:p>
            <a:r>
              <a:rPr lang="es-ES" dirty="0"/>
              <a:t>Vamos a ver qué tal lo hicieron las universidades en su análisis… y qué errores cometieron.</a:t>
            </a:r>
          </a:p>
          <a:p>
            <a:pPr marL="0" lvl="0" indent="0" algn="l" rtl="0">
              <a:lnSpc>
                <a:spcPct val="100000"/>
              </a:lnSpc>
              <a:spcBef>
                <a:spcPts val="0"/>
              </a:spcBef>
              <a:spcAft>
                <a:spcPts val="0"/>
              </a:spcAft>
              <a:buSzPts val="1400"/>
              <a:buNone/>
            </a:pPr>
            <a:endParaRPr dirty="0"/>
          </a:p>
        </p:txBody>
      </p:sp>
      <p:sp>
        <p:nvSpPr>
          <p:cNvPr id="121" name="Google Shape;12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34502158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9C125A4C-F7AC-E82A-7887-FEF84D354577}"/>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4178C592-6276-373C-6C7C-9079952BC7A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a:buNone/>
            </a:pPr>
            <a:r>
              <a:rPr lang="es-ES" dirty="0"/>
              <a:t>Ahora que tenemos una idea inicial, toca aterrizarla: definir qué necesitamos realmente, para quién y con qué riesgos.</a:t>
            </a:r>
          </a:p>
          <a:p>
            <a:pPr>
              <a:buNone/>
            </a:pPr>
            <a:r>
              <a:rPr lang="es-ES" dirty="0"/>
              <a:t>Esta fase es crucial para no construir "el sistema correcto para el problema equivocado".</a:t>
            </a:r>
          </a:p>
          <a:p>
            <a:r>
              <a:rPr lang="es-ES" dirty="0"/>
              <a:t>Vamos a ver qué tal lo hicieron las universidades en su análisis… y qué errores cometieron.</a:t>
            </a:r>
          </a:p>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0B4AC1E5-549E-0181-A15F-E595F89644F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11580970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78C3B261-2FB3-8EF8-702B-7EF289C1EFC0}"/>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790DDE7D-2EB2-CECE-8922-F57755C4493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a:buNone/>
            </a:pPr>
            <a:r>
              <a:rPr lang="es-ES" dirty="0"/>
              <a:t>Ahora que tenemos una idea inicial, toca aterrizarla: definir qué necesitamos realmente, para quién y con qué riesgos.</a:t>
            </a:r>
          </a:p>
          <a:p>
            <a:pPr>
              <a:buNone/>
            </a:pPr>
            <a:r>
              <a:rPr lang="es-ES" dirty="0"/>
              <a:t>Esta fase es crucial para no construir "el sistema correcto para el problema equivocado".</a:t>
            </a:r>
          </a:p>
          <a:p>
            <a:r>
              <a:rPr lang="es-ES" dirty="0"/>
              <a:t>Vamos a ver qué tal lo hicieron las universidades en su análisis… y qué errores cometieron.</a:t>
            </a:r>
          </a:p>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F1AE1E41-C39E-16F4-EF85-2166D478D9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10242141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2F3FC8FB-A6B5-D8E2-E3B9-F5F5896BFD1E}"/>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6B7F6974-3B93-DD75-01E1-4A588C44D2E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a:buNone/>
            </a:pPr>
            <a:r>
              <a:rPr lang="es-ES" dirty="0"/>
              <a:t>Ahora que tenemos una idea inicial, toca aterrizarla: definir qué necesitamos realmente, para quién y con qué riesgos.</a:t>
            </a:r>
          </a:p>
          <a:p>
            <a:pPr>
              <a:buNone/>
            </a:pPr>
            <a:r>
              <a:rPr lang="es-ES" dirty="0"/>
              <a:t>Esta fase es crucial para no construir "el sistema correcto para el problema equivocado".</a:t>
            </a:r>
          </a:p>
          <a:p>
            <a:r>
              <a:rPr lang="es-ES" dirty="0"/>
              <a:t>Vamos a ver qué tal lo hicieron las universidades en su análisis… y qué errores cometieron.</a:t>
            </a:r>
          </a:p>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5D65DFDC-FB4F-8267-3D09-EDDD0853FB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42667347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4A8F63F8-6A43-1233-35CF-C19911FBBD29}"/>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B4508E92-3CDA-9FA6-99B3-4E7F439D4F2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a:buNone/>
            </a:pPr>
            <a:r>
              <a:rPr lang="es-ES" dirty="0"/>
              <a:t>Ahora que tenemos una idea inicial, toca aterrizarla: definir qué necesitamos realmente, para quién y con qué riesgos.</a:t>
            </a:r>
          </a:p>
          <a:p>
            <a:pPr>
              <a:buNone/>
            </a:pPr>
            <a:r>
              <a:rPr lang="es-ES" dirty="0"/>
              <a:t>Esta fase es crucial para no construir "el sistema correcto para el problema equivocado".</a:t>
            </a:r>
          </a:p>
          <a:p>
            <a:r>
              <a:rPr lang="es-ES" dirty="0"/>
              <a:t>Vamos a ver qué tal lo hicieron las universidades en su análisis… y qué errores cometieron.</a:t>
            </a:r>
          </a:p>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3673A59E-F6C3-163E-1E12-0F064076D3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1924526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67417BBB-494F-5F4F-F87F-6E937FFB647E}"/>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8666802E-0555-22C4-B4BA-7103C6F917F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a:buNone/>
            </a:pPr>
            <a:r>
              <a:rPr lang="es-ES" dirty="0"/>
              <a:t>Ahora que tenemos una idea inicial, toca aterrizarla: definir qué necesitamos realmente, para quién y con qué riesgos.</a:t>
            </a:r>
          </a:p>
          <a:p>
            <a:pPr>
              <a:buNone/>
            </a:pPr>
            <a:r>
              <a:rPr lang="es-ES" dirty="0"/>
              <a:t>Esta fase es crucial para no construir "el sistema correcto para el problema equivocado".</a:t>
            </a:r>
          </a:p>
          <a:p>
            <a:r>
              <a:rPr lang="es-ES" dirty="0"/>
              <a:t>Vamos a ver qué tal lo hicieron las universidades en su análisis… y qué errores cometieron.</a:t>
            </a:r>
          </a:p>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FA625869-10F4-08E3-CC01-20C313BDD0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34296833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09D86201-9C18-E110-2355-6C9F8678BF73}"/>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0DCA5114-9899-F923-5D6F-94166E23B1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a:buNone/>
            </a:pPr>
            <a:r>
              <a:rPr lang="es-ES" dirty="0"/>
              <a:t>Ahora que tenemos una idea inicial, toca aterrizarla: definir qué necesitamos realmente, para quién y con qué riesgos.</a:t>
            </a:r>
          </a:p>
          <a:p>
            <a:pPr>
              <a:buNone/>
            </a:pPr>
            <a:r>
              <a:rPr lang="es-ES" dirty="0"/>
              <a:t>Esta fase es crucial para no construir "el sistema correcto para el problema equivocado".</a:t>
            </a:r>
          </a:p>
          <a:p>
            <a:r>
              <a:rPr lang="es-ES" dirty="0"/>
              <a:t>Vamos a ver qué tal lo hicieron las universidades en su análisis… y qué errores cometieron.</a:t>
            </a:r>
          </a:p>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21D3FAE4-5B83-1B1B-EE70-59642E81B4B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7480602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0F618D60-0E08-DCFE-CABE-AAD3A029963F}"/>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B875EE1C-8084-1933-DDB6-F8475B36876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a:buNone/>
            </a:pPr>
            <a:r>
              <a:rPr lang="es-ES" dirty="0"/>
              <a:t>Ahora que tenemos una idea inicial, toca aterrizarla: definir qué necesitamos realmente, para quién y con qué riesgos.</a:t>
            </a:r>
          </a:p>
          <a:p>
            <a:pPr>
              <a:buNone/>
            </a:pPr>
            <a:r>
              <a:rPr lang="es-ES" dirty="0"/>
              <a:t>Esta fase es crucial para no construir "el sistema correcto para el problema equivocado".</a:t>
            </a:r>
          </a:p>
          <a:p>
            <a:r>
              <a:rPr lang="es-ES" dirty="0"/>
              <a:t>Vamos a ver qué tal lo hicieron las universidades en su análisis… y qué errores cometieron.</a:t>
            </a:r>
          </a:p>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FC126EFC-0607-F79D-CB7A-4DA27FE530D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1315424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E519A593-6252-72C2-EE45-1A7696341CD9}"/>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CFA12585-09DA-2BED-B09D-F58B800A1AE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a:buNone/>
            </a:pPr>
            <a:r>
              <a:rPr lang="es-ES" dirty="0"/>
              <a:t>Ahora que tenemos una idea inicial, toca aterrizarla: definir qué necesitamos realmente, para quién y con qué riesgos.</a:t>
            </a:r>
          </a:p>
          <a:p>
            <a:pPr>
              <a:buNone/>
            </a:pPr>
            <a:r>
              <a:rPr lang="es-ES" dirty="0"/>
              <a:t>Esta fase es crucial para no construir "el sistema correcto para el problema equivocado".</a:t>
            </a:r>
          </a:p>
          <a:p>
            <a:r>
              <a:rPr lang="es-ES" dirty="0"/>
              <a:t>Vamos a ver qué tal lo hicieron las universidades en su análisis… y qué errores cometieron.</a:t>
            </a:r>
          </a:p>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74CF9343-E8F6-625E-35F6-1FCB530F39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13486991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951732B6-9100-8F15-DB2E-BC3D139072D1}"/>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ED9B5901-FCB0-21D2-042B-258A4E9453B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97541A6A-7857-7F9D-A378-2BAB9D500E2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38729980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BBC2DDFA-44DB-B4A3-C6C4-94CEAF3CBC45}"/>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600422D5-D556-F8C6-CA2F-5D1431E463F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6418D256-2158-BF30-5473-39AE31B980A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17808961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0D4E5F5F-C3CA-E466-750B-C80874118CB8}"/>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615AC846-D44A-8EA4-5A78-03009FDEDA0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C9D26553-3B95-0F46-3105-89A163E821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7789309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265A16B1-A69A-5ACF-0356-F762055D4FD4}"/>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26D973BE-D191-E5DB-1AB7-EE645C0F68D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C52A0D0B-8151-7A90-7B63-E7E0AF77C75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4109433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C4EC5AA8-604E-9712-757D-82B537323689}"/>
            </a:ext>
          </a:extLst>
        </p:cNvPr>
        <p:cNvGrpSpPr/>
        <p:nvPr/>
      </p:nvGrpSpPr>
      <p:grpSpPr>
        <a:xfrm>
          <a:off x="0" y="0"/>
          <a:ext cx="0" cy="0"/>
          <a:chOff x="0" y="0"/>
          <a:chExt cx="0" cy="0"/>
        </a:xfrm>
      </p:grpSpPr>
      <p:sp>
        <p:nvSpPr>
          <p:cNvPr id="108" name="Google Shape;108;g1ea3c471214_0_9:notes">
            <a:extLst>
              <a:ext uri="{FF2B5EF4-FFF2-40B4-BE49-F238E27FC236}">
                <a16:creationId xmlns:a16="http://schemas.microsoft.com/office/drawing/2014/main" id="{88C27D02-332A-35B6-7752-E8C5B194547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g1ea3c471214_0_9:notes">
            <a:extLst>
              <a:ext uri="{FF2B5EF4-FFF2-40B4-BE49-F238E27FC236}">
                <a16:creationId xmlns:a16="http://schemas.microsoft.com/office/drawing/2014/main" id="{02A0B7D3-ECA5-F62E-A811-FF27C5334A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6526708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C148338E-25A7-E041-C6FF-3DD799860361}"/>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2CEFEE38-AE3B-10FB-4327-F22CE02725C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587AEEE3-0097-06C7-F2B7-1AE193B30D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2810114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393E0374-2063-B3C1-1897-1B57AA21728D}"/>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333770E0-EFEB-BCA9-1656-D7E4449665B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0FD192A5-A6B6-360B-4C58-B87EAFAE7BF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12849569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FBB5E325-EA88-BD42-696E-26837881A4FC}"/>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642CD939-02FD-52F2-E245-97ADAD9E9E5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532AE839-6DB7-AB36-1EA8-DFBB5D5DD47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8820677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0AE4ABBC-B071-7BCA-9B90-6B89EC810F52}"/>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C61017C9-4B7A-C8F5-9F84-2DF6267EB3C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EBE047D7-F306-31D3-FACD-86AE02CEEB0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3297194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4292951C-87B5-DFF9-B58E-9A907E96AFA6}"/>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C293E70A-65FD-8082-7735-17FEDB324E0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E214DA38-23C0-21AB-BEE6-865124D19EC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5269546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E8AF5CC9-5DE1-F5B9-0602-4118A7D5D469}"/>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2ACE4991-C26C-C8F1-38B9-5113F559B67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4B6DAE31-E055-B730-6069-F315D1B5BB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4625210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B5085BEE-5009-B7FC-7A52-4C68BC4459CA}"/>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259316B1-AFDC-C71A-996D-C82035DA587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2B572BBE-26D7-A6FE-BBBF-0CAF4DE453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3421947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5D8AEC65-BE06-4921-C99C-B0439800DEDE}"/>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FF513733-8030-A7F4-2F86-25F78211C3B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DC527A6A-7AB2-0D26-9783-C807FCE153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32967540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26E23E13-6388-D015-68A7-C8896777E4E0}"/>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4772EC5C-26EB-1623-9431-8D1D0C2C990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F218E6E0-9674-1D3B-D583-9B123DAA1C2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572312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1F3A0C13-0950-F791-1FE9-DBBAC0982272}"/>
            </a:ext>
          </a:extLst>
        </p:cNvPr>
        <p:cNvGrpSpPr/>
        <p:nvPr/>
      </p:nvGrpSpPr>
      <p:grpSpPr>
        <a:xfrm>
          <a:off x="0" y="0"/>
          <a:ext cx="0" cy="0"/>
          <a:chOff x="0" y="0"/>
          <a:chExt cx="0" cy="0"/>
        </a:xfrm>
      </p:grpSpPr>
      <p:sp>
        <p:nvSpPr>
          <p:cNvPr id="108" name="Google Shape;108;g1ea3c471214_0_9:notes">
            <a:extLst>
              <a:ext uri="{FF2B5EF4-FFF2-40B4-BE49-F238E27FC236}">
                <a16:creationId xmlns:a16="http://schemas.microsoft.com/office/drawing/2014/main" id="{7C1A8F83-EA70-8CA0-05FC-345EAA3DF5A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g1ea3c471214_0_9:notes">
            <a:extLst>
              <a:ext uri="{FF2B5EF4-FFF2-40B4-BE49-F238E27FC236}">
                <a16:creationId xmlns:a16="http://schemas.microsoft.com/office/drawing/2014/main" id="{5FEDF493-5F1F-1799-3136-BAB90CE5B4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42250183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4412BBB8-0E9E-96B3-CEB0-07E22F658D4E}"/>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C7CA24B3-799B-CB22-3BC9-CB2D1B56103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8363DD86-40C6-E9C4-3DFD-5F338AC8E6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340104964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7D89E2BE-443F-237C-0FFD-3C902DE1F861}"/>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B93D56FE-8116-71A0-D120-0B0592062EC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6F2D3C46-8961-DEB3-6E8B-CC2FABC8F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89868363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E6D0CF4E-6935-3D7C-C307-F30FE9A425CF}"/>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ED0CF0B5-9D8D-65C3-ADCF-09F2C9CE11F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5607183B-6B01-F144-F740-75B14421C2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8781628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33BE0223-B946-B1B9-D890-687FB42DBF03}"/>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900D6B7D-7BC9-06AB-F3B8-6248D6FBF0E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164BC785-F366-A653-C44E-416BBCBCBFF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95669992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3D7B2BFB-6E52-339E-3171-4ADA1E713E7D}"/>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C1BC5555-7670-B42F-24EB-E769DA10AD6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BEDFECF8-17B3-A1DD-57BC-8F6EB8BF43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255038315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120C53AA-AAE3-221C-9C9B-F2A46685CF3E}"/>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0D3CBF0B-02BB-C6A8-E7BC-FB6D0E7F8D9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4145B487-881B-E922-C3C2-BD09B042CFC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111777263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3925EF63-A1BA-B108-73D0-028B1852AD43}"/>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3A7F0654-B0BB-024B-6504-63B8668D660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79032A75-F8C7-697C-A1A1-DC68B88A0C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387105822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C062CFA6-D56A-888D-1604-B94CFF3CF1A3}"/>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33A036BF-F67A-BEE9-AE5F-265258079D6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a:buNone/>
            </a:pPr>
            <a:r>
              <a:rPr lang="es-ES" dirty="0"/>
              <a:t>El desarrollo fue más un “experimento aislado” que un proyecto coordinado.</a:t>
            </a:r>
          </a:p>
          <a:p>
            <a:pPr>
              <a:buNone/>
            </a:pPr>
            <a:r>
              <a:rPr lang="es-ES" dirty="0"/>
              <a:t>Al no haber </a:t>
            </a:r>
            <a:r>
              <a:rPr lang="es-ES" dirty="0" err="1"/>
              <a:t>KPIs</a:t>
            </a:r>
            <a:r>
              <a:rPr lang="es-ES" dirty="0"/>
              <a:t> ni validación en tiempo real, </a:t>
            </a:r>
            <a:r>
              <a:rPr lang="es-ES" b="1" dirty="0"/>
              <a:t>no se detectaron fallos de enfoque a tiempo</a:t>
            </a:r>
            <a:r>
              <a:rPr lang="es-ES" dirty="0"/>
              <a:t>.</a:t>
            </a:r>
          </a:p>
          <a:p>
            <a:r>
              <a:rPr lang="es-ES" b="1" dirty="0"/>
              <a:t>No hubo integración real entre los equipos y universidades</a:t>
            </a:r>
            <a:r>
              <a:rPr lang="es-ES" dirty="0"/>
              <a:t>, lo que redujo el impacto del proyecto.</a:t>
            </a:r>
          </a:p>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A1766364-0D51-D698-AE58-9EDF3601AC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176060999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1F361038-7728-CCAB-50B9-41DF0488840B}"/>
            </a:ext>
          </a:extLst>
        </p:cNvPr>
        <p:cNvGrpSpPr/>
        <p:nvPr/>
      </p:nvGrpSpPr>
      <p:grpSpPr>
        <a:xfrm>
          <a:off x="0" y="0"/>
          <a:ext cx="0" cy="0"/>
          <a:chOff x="0" y="0"/>
          <a:chExt cx="0" cy="0"/>
        </a:xfrm>
      </p:grpSpPr>
      <p:sp>
        <p:nvSpPr>
          <p:cNvPr id="108" name="Google Shape;108;g1ea3c471214_0_9:notes">
            <a:extLst>
              <a:ext uri="{FF2B5EF4-FFF2-40B4-BE49-F238E27FC236}">
                <a16:creationId xmlns:a16="http://schemas.microsoft.com/office/drawing/2014/main" id="{ADE4B4E2-1637-62E0-9E24-E74E23DB2F4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g1ea3c471214_0_9:notes">
            <a:extLst>
              <a:ext uri="{FF2B5EF4-FFF2-40B4-BE49-F238E27FC236}">
                <a16:creationId xmlns:a16="http://schemas.microsoft.com/office/drawing/2014/main" id="{B013ABA0-F741-E33F-835A-77DCEAE62C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315976694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672DEF52-EA63-AFE4-9E10-DEC7AB0CEEC2}"/>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4CE1DED3-C79C-5C58-21C6-C622BB0CB25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1" name="Google Shape;121;p4:notes">
            <a:extLst>
              <a:ext uri="{FF2B5EF4-FFF2-40B4-BE49-F238E27FC236}">
                <a16:creationId xmlns:a16="http://schemas.microsoft.com/office/drawing/2014/main" id="{6EE95084-768B-58CF-8E66-AE1031CED4A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Tree>
    <p:extLst>
      <p:ext uri="{BB962C8B-B14F-4D97-AF65-F5344CB8AC3E}">
        <p14:creationId xmlns:p14="http://schemas.microsoft.com/office/powerpoint/2010/main" val="10182865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1"/>
        <p:cNvGrpSpPr/>
        <p:nvPr/>
      </p:nvGrpSpPr>
      <p:grpSpPr>
        <a:xfrm>
          <a:off x="0" y="0"/>
          <a:ext cx="0" cy="0"/>
          <a:chOff x="0" y="0"/>
          <a:chExt cx="0" cy="0"/>
        </a:xfrm>
      </p:grpSpPr>
      <p:sp>
        <p:nvSpPr>
          <p:cNvPr id="22" name="Google Shape;22;p9"/>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3" name="Google Shape;23;p9"/>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4" name="Google Shape;24;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FFFFFF"/>
                </a:solidFill>
                <a:latin typeface="Roboto"/>
                <a:ea typeface="Roboto"/>
                <a:cs typeface="Roboto"/>
                <a:sym typeface="Robo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1pPr>
            <a:lvl2pPr marL="0" marR="0" lvl="1"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2pPr>
            <a:lvl3pPr marL="0" marR="0" lvl="2"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3pPr>
            <a:lvl4pPr marL="0" marR="0" lvl="3"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4pPr>
            <a:lvl5pPr marL="0" marR="0" lvl="4"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5pPr>
            <a:lvl6pPr marL="0" marR="0" lvl="5"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6pPr>
            <a:lvl7pPr marL="0" marR="0" lvl="6"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7pPr>
            <a:lvl8pPr marL="0" marR="0" lvl="7"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8pPr>
            <a:lvl9pPr marL="0" marR="0" lvl="8"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7"/>
        <p:cNvGrpSpPr/>
        <p:nvPr/>
      </p:nvGrpSpPr>
      <p:grpSpPr>
        <a:xfrm>
          <a:off x="0" y="0"/>
          <a:ext cx="0" cy="0"/>
          <a:chOff x="0" y="0"/>
          <a:chExt cx="0" cy="0"/>
        </a:xfrm>
      </p:grpSpPr>
      <p:sp>
        <p:nvSpPr>
          <p:cNvPr id="28" name="Google Shape;28;p1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9" name="Google Shape;29;p1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2400"/>
              <a:buNone/>
              <a:defRPr sz="24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30" name="Google Shape;30;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FFFFFF"/>
                </a:solidFill>
                <a:latin typeface="Roboto"/>
                <a:ea typeface="Roboto"/>
                <a:cs typeface="Roboto"/>
                <a:sym typeface="Robo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1pPr>
            <a:lvl2pPr marL="0" marR="0" lvl="1"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2pPr>
            <a:lvl3pPr marL="0" marR="0" lvl="2"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3pPr>
            <a:lvl4pPr marL="0" marR="0" lvl="3"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4pPr>
            <a:lvl5pPr marL="0" marR="0" lvl="4"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5pPr>
            <a:lvl6pPr marL="0" marR="0" lvl="5"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6pPr>
            <a:lvl7pPr marL="0" marR="0" lvl="6"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7pPr>
            <a:lvl8pPr marL="0" marR="0" lvl="7"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8pPr>
            <a:lvl9pPr marL="0" marR="0" lvl="8"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37"/>
        <p:cNvGrpSpPr/>
        <p:nvPr/>
      </p:nvGrpSpPr>
      <p:grpSpPr>
        <a:xfrm>
          <a:off x="0" y="0"/>
          <a:ext cx="0" cy="0"/>
          <a:chOff x="0" y="0"/>
          <a:chExt cx="0" cy="0"/>
        </a:xfrm>
      </p:grpSpPr>
      <p:sp>
        <p:nvSpPr>
          <p:cNvPr id="38" name="Google Shape;38;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9" name="Google Shape;39;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0" name="Google Shape;40;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FFFFFF"/>
                </a:solidFill>
                <a:latin typeface="Roboto"/>
                <a:ea typeface="Roboto"/>
                <a:cs typeface="Roboto"/>
                <a:sym typeface="Robo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1pPr>
            <a:lvl2pPr marL="0" marR="0" lvl="1"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2pPr>
            <a:lvl3pPr marL="0" marR="0" lvl="2"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3pPr>
            <a:lvl4pPr marL="0" marR="0" lvl="3"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4pPr>
            <a:lvl5pPr marL="0" marR="0" lvl="4"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5pPr>
            <a:lvl6pPr marL="0" marR="0" lvl="5"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6pPr>
            <a:lvl7pPr marL="0" marR="0" lvl="6"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7pPr>
            <a:lvl8pPr marL="0" marR="0" lvl="7"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8pPr>
            <a:lvl9pPr marL="0" marR="0" lvl="8"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43"/>
        <p:cNvGrpSpPr/>
        <p:nvPr/>
      </p:nvGrpSpPr>
      <p:grpSpPr>
        <a:xfrm>
          <a:off x="0" y="0"/>
          <a:ext cx="0" cy="0"/>
          <a:chOff x="0" y="0"/>
          <a:chExt cx="0" cy="0"/>
        </a:xfrm>
      </p:grpSpPr>
      <p:sp>
        <p:nvSpPr>
          <p:cNvPr id="44" name="Google Shape;44;p13"/>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5" name="Google Shape;45;p13"/>
          <p:cNvSpPr txBox="1">
            <a:spLocks noGrp="1"/>
          </p:cNvSpPr>
          <p:nvPr>
            <p:ph type="body" idx="1"/>
          </p:nvPr>
        </p:nvSpPr>
        <p:spPr>
          <a:xfrm rot="5400000">
            <a:off x="3920332" y="-1256507"/>
            <a:ext cx="4351337"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6" name="Google Shape;46;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FFFFFF"/>
                </a:solidFill>
                <a:latin typeface="Roboto"/>
                <a:ea typeface="Roboto"/>
                <a:cs typeface="Roboto"/>
                <a:sym typeface="Robo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1pPr>
            <a:lvl2pPr marL="0" marR="0" lvl="1"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2pPr>
            <a:lvl3pPr marL="0" marR="0" lvl="2"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3pPr>
            <a:lvl4pPr marL="0" marR="0" lvl="3"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4pPr>
            <a:lvl5pPr marL="0" marR="0" lvl="4"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5pPr>
            <a:lvl6pPr marL="0" marR="0" lvl="5"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6pPr>
            <a:lvl7pPr marL="0" marR="0" lvl="6"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7pPr>
            <a:lvl8pPr marL="0" marR="0" lvl="7"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8pPr>
            <a:lvl9pPr marL="0" marR="0" lvl="8"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49"/>
        <p:cNvGrpSpPr/>
        <p:nvPr/>
      </p:nvGrpSpPr>
      <p:grpSpPr>
        <a:xfrm>
          <a:off x="0" y="0"/>
          <a:ext cx="0" cy="0"/>
          <a:chOff x="0" y="0"/>
          <a:chExt cx="0" cy="0"/>
        </a:xfrm>
      </p:grpSpPr>
      <p:sp>
        <p:nvSpPr>
          <p:cNvPr id="50" name="Google Shape;50;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1" name="Google Shape;51;p14"/>
          <p:cNvSpPr>
            <a:spLocks noGrp="1"/>
          </p:cNvSpPr>
          <p:nvPr>
            <p:ph type="pic" idx="2"/>
          </p:nvPr>
        </p:nvSpPr>
        <p:spPr>
          <a:xfrm>
            <a:off x="5183188" y="987425"/>
            <a:ext cx="6172200" cy="4873625"/>
          </a:xfrm>
          <a:prstGeom prst="rect">
            <a:avLst/>
          </a:prstGeom>
          <a:noFill/>
          <a:ln>
            <a:noFill/>
          </a:ln>
        </p:spPr>
      </p:sp>
      <p:sp>
        <p:nvSpPr>
          <p:cNvPr id="52" name="Google Shape;52;p1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53" name="Google Shape;53;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FFFFFF"/>
                </a:solidFill>
                <a:latin typeface="Roboto"/>
                <a:ea typeface="Roboto"/>
                <a:cs typeface="Roboto"/>
                <a:sym typeface="Robo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1pPr>
            <a:lvl2pPr marL="0" marR="0" lvl="1"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2pPr>
            <a:lvl3pPr marL="0" marR="0" lvl="2"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3pPr>
            <a:lvl4pPr marL="0" marR="0" lvl="3"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4pPr>
            <a:lvl5pPr marL="0" marR="0" lvl="4"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5pPr>
            <a:lvl6pPr marL="0" marR="0" lvl="5"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6pPr>
            <a:lvl7pPr marL="0" marR="0" lvl="6"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7pPr>
            <a:lvl8pPr marL="0" marR="0" lvl="7"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8pPr>
            <a:lvl9pPr marL="0" marR="0" lvl="8"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6"/>
        <p:cNvGrpSpPr/>
        <p:nvPr/>
      </p:nvGrpSpPr>
      <p:grpSpPr>
        <a:xfrm>
          <a:off x="0" y="0"/>
          <a:ext cx="0" cy="0"/>
          <a:chOff x="0" y="0"/>
          <a:chExt cx="0" cy="0"/>
        </a:xfrm>
      </p:grpSpPr>
      <p:sp>
        <p:nvSpPr>
          <p:cNvPr id="57" name="Google Shape;57;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8" name="Google Shape;58;p1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lt1"/>
              </a:buClr>
              <a:buSzPts val="3200"/>
              <a:buChar char="•"/>
              <a:defRPr sz="3200"/>
            </a:lvl1pPr>
            <a:lvl2pPr marL="914400" lvl="1" indent="-406400" algn="l">
              <a:lnSpc>
                <a:spcPct val="90000"/>
              </a:lnSpc>
              <a:spcBef>
                <a:spcPts val="500"/>
              </a:spcBef>
              <a:spcAft>
                <a:spcPts val="0"/>
              </a:spcAft>
              <a:buClr>
                <a:schemeClr val="lt1"/>
              </a:buClr>
              <a:buSzPts val="2800"/>
              <a:buChar char="•"/>
              <a:defRPr sz="2800"/>
            </a:lvl2pPr>
            <a:lvl3pPr marL="1371600" lvl="2" indent="-381000" algn="l">
              <a:lnSpc>
                <a:spcPct val="90000"/>
              </a:lnSpc>
              <a:spcBef>
                <a:spcPts val="500"/>
              </a:spcBef>
              <a:spcAft>
                <a:spcPts val="0"/>
              </a:spcAft>
              <a:buClr>
                <a:schemeClr val="lt1"/>
              </a:buClr>
              <a:buSzPts val="2400"/>
              <a:buChar char="•"/>
              <a:defRPr sz="2400"/>
            </a:lvl3pPr>
            <a:lvl4pPr marL="1828800" lvl="3" indent="-355600" algn="l">
              <a:lnSpc>
                <a:spcPct val="90000"/>
              </a:lnSpc>
              <a:spcBef>
                <a:spcPts val="500"/>
              </a:spcBef>
              <a:spcAft>
                <a:spcPts val="0"/>
              </a:spcAft>
              <a:buClr>
                <a:schemeClr val="lt1"/>
              </a:buClr>
              <a:buSzPts val="2000"/>
              <a:buChar char="•"/>
              <a:defRPr sz="2000"/>
            </a:lvl4pPr>
            <a:lvl5pPr marL="2286000" lvl="4" indent="-355600" algn="l">
              <a:lnSpc>
                <a:spcPct val="90000"/>
              </a:lnSpc>
              <a:spcBef>
                <a:spcPts val="500"/>
              </a:spcBef>
              <a:spcAft>
                <a:spcPts val="0"/>
              </a:spcAft>
              <a:buClr>
                <a:schemeClr val="lt1"/>
              </a:buClr>
              <a:buSzPts val="2000"/>
              <a:buChar char="•"/>
              <a:defRPr sz="2000"/>
            </a:lvl5pPr>
            <a:lvl6pPr marL="2743200" lvl="5" indent="-355600" algn="l">
              <a:lnSpc>
                <a:spcPct val="90000"/>
              </a:lnSpc>
              <a:spcBef>
                <a:spcPts val="500"/>
              </a:spcBef>
              <a:spcAft>
                <a:spcPts val="0"/>
              </a:spcAft>
              <a:buClr>
                <a:schemeClr val="lt1"/>
              </a:buClr>
              <a:buSzPts val="2000"/>
              <a:buChar char="•"/>
              <a:defRPr sz="2000"/>
            </a:lvl6pPr>
            <a:lvl7pPr marL="3200400" lvl="6" indent="-355600" algn="l">
              <a:lnSpc>
                <a:spcPct val="90000"/>
              </a:lnSpc>
              <a:spcBef>
                <a:spcPts val="500"/>
              </a:spcBef>
              <a:spcAft>
                <a:spcPts val="0"/>
              </a:spcAft>
              <a:buClr>
                <a:schemeClr val="lt1"/>
              </a:buClr>
              <a:buSzPts val="2000"/>
              <a:buChar char="•"/>
              <a:defRPr sz="2000"/>
            </a:lvl7pPr>
            <a:lvl8pPr marL="3657600" lvl="7" indent="-355600" algn="l">
              <a:lnSpc>
                <a:spcPct val="90000"/>
              </a:lnSpc>
              <a:spcBef>
                <a:spcPts val="500"/>
              </a:spcBef>
              <a:spcAft>
                <a:spcPts val="0"/>
              </a:spcAft>
              <a:buClr>
                <a:schemeClr val="lt1"/>
              </a:buClr>
              <a:buSzPts val="2000"/>
              <a:buChar char="•"/>
              <a:defRPr sz="2000"/>
            </a:lvl8pPr>
            <a:lvl9pPr marL="4114800" lvl="8" indent="-355600" algn="l">
              <a:lnSpc>
                <a:spcPct val="90000"/>
              </a:lnSpc>
              <a:spcBef>
                <a:spcPts val="500"/>
              </a:spcBef>
              <a:spcAft>
                <a:spcPts val="0"/>
              </a:spcAft>
              <a:buClr>
                <a:schemeClr val="lt1"/>
              </a:buClr>
              <a:buSzPts val="2000"/>
              <a:buChar char="•"/>
              <a:defRPr sz="2000"/>
            </a:lvl9pPr>
          </a:lstStyle>
          <a:p>
            <a:endParaRPr/>
          </a:p>
        </p:txBody>
      </p:sp>
      <p:sp>
        <p:nvSpPr>
          <p:cNvPr id="59" name="Google Shape;59;p1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0" name="Google Shape;60;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FFFFFF"/>
                </a:solidFill>
                <a:latin typeface="Roboto"/>
                <a:ea typeface="Roboto"/>
                <a:cs typeface="Roboto"/>
                <a:sym typeface="Robo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1pPr>
            <a:lvl2pPr marL="0" marR="0" lvl="1"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2pPr>
            <a:lvl3pPr marL="0" marR="0" lvl="2"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3pPr>
            <a:lvl4pPr marL="0" marR="0" lvl="3"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4pPr>
            <a:lvl5pPr marL="0" marR="0" lvl="4"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5pPr>
            <a:lvl6pPr marL="0" marR="0" lvl="5"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6pPr>
            <a:lvl7pPr marL="0" marR="0" lvl="6"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7pPr>
            <a:lvl8pPr marL="0" marR="0" lvl="7"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8pPr>
            <a:lvl9pPr marL="0" marR="0" lvl="8"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63"/>
        <p:cNvGrpSpPr/>
        <p:nvPr/>
      </p:nvGrpSpPr>
      <p:grpSpPr>
        <a:xfrm>
          <a:off x="0" y="0"/>
          <a:ext cx="0" cy="0"/>
          <a:chOff x="0" y="0"/>
          <a:chExt cx="0" cy="0"/>
        </a:xfrm>
      </p:grpSpPr>
      <p:sp>
        <p:nvSpPr>
          <p:cNvPr id="64" name="Google Shape;64;p16"/>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5" name="Google Shape;65;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FFFFFF"/>
                </a:solidFill>
                <a:latin typeface="Roboto"/>
                <a:ea typeface="Roboto"/>
                <a:cs typeface="Roboto"/>
                <a:sym typeface="Robo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1pPr>
            <a:lvl2pPr marL="0" marR="0" lvl="1"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2pPr>
            <a:lvl3pPr marL="0" marR="0" lvl="2"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3pPr>
            <a:lvl4pPr marL="0" marR="0" lvl="3"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4pPr>
            <a:lvl5pPr marL="0" marR="0" lvl="4"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5pPr>
            <a:lvl6pPr marL="0" marR="0" lvl="5"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6pPr>
            <a:lvl7pPr marL="0" marR="0" lvl="6"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7pPr>
            <a:lvl8pPr marL="0" marR="0" lvl="7"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8pPr>
            <a:lvl9pPr marL="0" marR="0" lvl="8"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68"/>
        <p:cNvGrpSpPr/>
        <p:nvPr/>
      </p:nvGrpSpPr>
      <p:grpSpPr>
        <a:xfrm>
          <a:off x="0" y="0"/>
          <a:ext cx="0" cy="0"/>
          <a:chOff x="0" y="0"/>
          <a:chExt cx="0" cy="0"/>
        </a:xfrm>
      </p:grpSpPr>
      <p:sp>
        <p:nvSpPr>
          <p:cNvPr id="69" name="Google Shape;69;p1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0" name="Google Shape;70;p1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1"/>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71" name="Google Shape;71;p1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72" name="Google Shape;72;p1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1"/>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73" name="Google Shape;73;p1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74" name="Google Shape;74;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FFFFFF"/>
                </a:solidFill>
                <a:latin typeface="Roboto"/>
                <a:ea typeface="Roboto"/>
                <a:cs typeface="Roboto"/>
                <a:sym typeface="Robo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1pPr>
            <a:lvl2pPr marL="0" marR="0" lvl="1"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2pPr>
            <a:lvl3pPr marL="0" marR="0" lvl="2"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3pPr>
            <a:lvl4pPr marL="0" marR="0" lvl="3"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4pPr>
            <a:lvl5pPr marL="0" marR="0" lvl="4"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5pPr>
            <a:lvl6pPr marL="0" marR="0" lvl="5"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6pPr>
            <a:lvl7pPr marL="0" marR="0" lvl="6"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7pPr>
            <a:lvl8pPr marL="0" marR="0" lvl="7"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8pPr>
            <a:lvl9pPr marL="0" marR="0" lvl="8"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77"/>
        <p:cNvGrpSpPr/>
        <p:nvPr/>
      </p:nvGrpSpPr>
      <p:grpSpPr>
        <a:xfrm>
          <a:off x="0" y="0"/>
          <a:ext cx="0" cy="0"/>
          <a:chOff x="0" y="0"/>
          <a:chExt cx="0" cy="0"/>
        </a:xfrm>
      </p:grpSpPr>
      <p:sp>
        <p:nvSpPr>
          <p:cNvPr id="78" name="Google Shape;78;p18"/>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9" name="Google Shape;79;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80" name="Google Shape;80;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81" name="Google Shape;81;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200">
                <a:solidFill>
                  <a:srgbClr val="FFFFFF"/>
                </a:solidFill>
                <a:latin typeface="Roboto"/>
                <a:ea typeface="Roboto"/>
                <a:cs typeface="Roboto"/>
                <a:sym typeface="Robo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1pPr>
            <a:lvl2pPr marL="0" marR="0" lvl="1"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2pPr>
            <a:lvl3pPr marL="0" marR="0" lvl="2"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3pPr>
            <a:lvl4pPr marL="0" marR="0" lvl="3"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4pPr>
            <a:lvl5pPr marL="0" marR="0" lvl="4"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5pPr>
            <a:lvl6pPr marL="0" marR="0" lvl="5"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6pPr>
            <a:lvl7pPr marL="0" marR="0" lvl="6"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7pPr>
            <a:lvl8pPr marL="0" marR="0" lvl="7"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8pPr>
            <a:lvl9pPr marL="0" marR="0" lvl="8" indent="0" algn="r">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p7"/>
          <p:cNvSpPr txBox="1">
            <a:spLocks noGrp="1"/>
          </p:cNvSpPr>
          <p:nvPr>
            <p:ph type="title"/>
          </p:nvPr>
        </p:nvSpPr>
        <p:spPr>
          <a:xfrm>
            <a:off x="838200" y="365125"/>
            <a:ext cx="10515600" cy="132556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rgbClr val="000000"/>
              </a:buClr>
              <a:buSzPts val="1400"/>
              <a:buFont typeface="Arial"/>
              <a:buNone/>
              <a:defRPr sz="4400" b="0" i="0" u="none" strike="noStrike" cap="none">
                <a:solidFill>
                  <a:schemeClr val="lt1"/>
                </a:solidFill>
                <a:latin typeface="Roboto"/>
                <a:ea typeface="Roboto"/>
                <a:cs typeface="Roboto"/>
                <a:sym typeface="Roboto"/>
              </a:defRPr>
            </a:lvl1pPr>
            <a:lvl2pPr marR="0" lvl="1" algn="l" rtl="0">
              <a:lnSpc>
                <a:spcPct val="90000"/>
              </a:lnSpc>
              <a:spcBef>
                <a:spcPts val="0"/>
              </a:spcBef>
              <a:spcAft>
                <a:spcPts val="0"/>
              </a:spcAft>
              <a:buClr>
                <a:srgbClr val="000000"/>
              </a:buClr>
              <a:buSzPts val="1400"/>
              <a:buFont typeface="Arial"/>
              <a:buNone/>
              <a:defRPr sz="4400" b="0" i="0" u="none" strike="noStrike" cap="none">
                <a:solidFill>
                  <a:schemeClr val="lt1"/>
                </a:solidFill>
                <a:latin typeface="Roboto"/>
                <a:ea typeface="Roboto"/>
                <a:cs typeface="Roboto"/>
                <a:sym typeface="Roboto"/>
              </a:defRPr>
            </a:lvl2pPr>
            <a:lvl3pPr marR="0" lvl="2" algn="l" rtl="0">
              <a:lnSpc>
                <a:spcPct val="90000"/>
              </a:lnSpc>
              <a:spcBef>
                <a:spcPts val="0"/>
              </a:spcBef>
              <a:spcAft>
                <a:spcPts val="0"/>
              </a:spcAft>
              <a:buClr>
                <a:srgbClr val="000000"/>
              </a:buClr>
              <a:buSzPts val="1400"/>
              <a:buFont typeface="Arial"/>
              <a:buNone/>
              <a:defRPr sz="4400" b="0" i="0" u="none" strike="noStrike" cap="none">
                <a:solidFill>
                  <a:schemeClr val="lt1"/>
                </a:solidFill>
                <a:latin typeface="Roboto"/>
                <a:ea typeface="Roboto"/>
                <a:cs typeface="Roboto"/>
                <a:sym typeface="Roboto"/>
              </a:defRPr>
            </a:lvl3pPr>
            <a:lvl4pPr marR="0" lvl="3" algn="l" rtl="0">
              <a:lnSpc>
                <a:spcPct val="90000"/>
              </a:lnSpc>
              <a:spcBef>
                <a:spcPts val="0"/>
              </a:spcBef>
              <a:spcAft>
                <a:spcPts val="0"/>
              </a:spcAft>
              <a:buClr>
                <a:srgbClr val="000000"/>
              </a:buClr>
              <a:buSzPts val="1400"/>
              <a:buFont typeface="Arial"/>
              <a:buNone/>
              <a:defRPr sz="4400" b="0" i="0" u="none" strike="noStrike" cap="none">
                <a:solidFill>
                  <a:schemeClr val="lt1"/>
                </a:solidFill>
                <a:latin typeface="Roboto"/>
                <a:ea typeface="Roboto"/>
                <a:cs typeface="Roboto"/>
                <a:sym typeface="Roboto"/>
              </a:defRPr>
            </a:lvl4pPr>
            <a:lvl5pPr marR="0" lvl="4" algn="l" rtl="0">
              <a:lnSpc>
                <a:spcPct val="90000"/>
              </a:lnSpc>
              <a:spcBef>
                <a:spcPts val="0"/>
              </a:spcBef>
              <a:spcAft>
                <a:spcPts val="0"/>
              </a:spcAft>
              <a:buClr>
                <a:srgbClr val="000000"/>
              </a:buClr>
              <a:buSzPts val="1400"/>
              <a:buFont typeface="Arial"/>
              <a:buNone/>
              <a:defRPr sz="4400" b="0" i="0" u="none" strike="noStrike" cap="none">
                <a:solidFill>
                  <a:schemeClr val="lt1"/>
                </a:solidFill>
                <a:latin typeface="Roboto"/>
                <a:ea typeface="Roboto"/>
                <a:cs typeface="Roboto"/>
                <a:sym typeface="Roboto"/>
              </a:defRPr>
            </a:lvl5pPr>
            <a:lvl6pPr marR="0" lvl="5" algn="l" rtl="0">
              <a:lnSpc>
                <a:spcPct val="90000"/>
              </a:lnSpc>
              <a:spcBef>
                <a:spcPts val="0"/>
              </a:spcBef>
              <a:spcAft>
                <a:spcPts val="0"/>
              </a:spcAft>
              <a:buClr>
                <a:srgbClr val="000000"/>
              </a:buClr>
              <a:buSzPts val="1400"/>
              <a:buFont typeface="Arial"/>
              <a:buNone/>
              <a:defRPr sz="4400" b="0" i="0" u="none" strike="noStrike" cap="none">
                <a:solidFill>
                  <a:schemeClr val="lt1"/>
                </a:solidFill>
                <a:latin typeface="Calibri"/>
                <a:ea typeface="Calibri"/>
                <a:cs typeface="Calibri"/>
                <a:sym typeface="Calibri"/>
              </a:defRPr>
            </a:lvl6pPr>
            <a:lvl7pPr marR="0" lvl="6" algn="l" rtl="0">
              <a:lnSpc>
                <a:spcPct val="90000"/>
              </a:lnSpc>
              <a:spcBef>
                <a:spcPts val="0"/>
              </a:spcBef>
              <a:spcAft>
                <a:spcPts val="0"/>
              </a:spcAft>
              <a:buClr>
                <a:srgbClr val="000000"/>
              </a:buClr>
              <a:buSzPts val="1400"/>
              <a:buFont typeface="Arial"/>
              <a:buNone/>
              <a:defRPr sz="4400" b="0" i="0" u="none" strike="noStrike" cap="none">
                <a:solidFill>
                  <a:schemeClr val="lt1"/>
                </a:solidFill>
                <a:latin typeface="Calibri"/>
                <a:ea typeface="Calibri"/>
                <a:cs typeface="Calibri"/>
                <a:sym typeface="Calibri"/>
              </a:defRPr>
            </a:lvl7pPr>
            <a:lvl8pPr marR="0" lvl="7" algn="l" rtl="0">
              <a:lnSpc>
                <a:spcPct val="90000"/>
              </a:lnSpc>
              <a:spcBef>
                <a:spcPts val="0"/>
              </a:spcBef>
              <a:spcAft>
                <a:spcPts val="0"/>
              </a:spcAft>
              <a:buClr>
                <a:srgbClr val="000000"/>
              </a:buClr>
              <a:buSzPts val="1400"/>
              <a:buFont typeface="Arial"/>
              <a:buNone/>
              <a:defRPr sz="4400" b="0" i="0" u="none" strike="noStrike" cap="none">
                <a:solidFill>
                  <a:schemeClr val="lt1"/>
                </a:solidFill>
                <a:latin typeface="Calibri"/>
                <a:ea typeface="Calibri"/>
                <a:cs typeface="Calibri"/>
                <a:sym typeface="Calibri"/>
              </a:defRPr>
            </a:lvl8pPr>
            <a:lvl9pPr marR="0" lvl="8" algn="l" rtl="0">
              <a:lnSpc>
                <a:spcPct val="90000"/>
              </a:lnSpc>
              <a:spcBef>
                <a:spcPts val="0"/>
              </a:spcBef>
              <a:spcAft>
                <a:spcPts val="0"/>
              </a:spcAft>
              <a:buClr>
                <a:srgbClr val="000000"/>
              </a:buClr>
              <a:buSzPts val="1400"/>
              <a:buFont typeface="Arial"/>
              <a:buNone/>
              <a:defRPr sz="4400" b="0" i="0" u="none" strike="noStrike" cap="none">
                <a:solidFill>
                  <a:schemeClr val="lt1"/>
                </a:solidFill>
                <a:latin typeface="Calibri"/>
                <a:ea typeface="Calibri"/>
                <a:cs typeface="Calibri"/>
                <a:sym typeface="Calibri"/>
              </a:defRPr>
            </a:lvl9pPr>
          </a:lstStyle>
          <a:p>
            <a:endParaRPr/>
          </a:p>
        </p:txBody>
      </p:sp>
      <p:sp>
        <p:nvSpPr>
          <p:cNvPr id="11" name="Google Shape;11;p7"/>
          <p:cNvSpPr txBox="1">
            <a:spLocks noGrp="1"/>
          </p:cNvSpPr>
          <p:nvPr>
            <p:ph type="body" idx="1"/>
          </p:nvPr>
        </p:nvSpPr>
        <p:spPr>
          <a:xfrm>
            <a:off x="838200" y="1825625"/>
            <a:ext cx="10515600" cy="4351337"/>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lt1"/>
              </a:buClr>
              <a:buSzPts val="2800"/>
              <a:buFont typeface="Arial"/>
              <a:buChar char="•"/>
              <a:defRPr sz="2800" b="0" i="0" u="none" strike="noStrike" cap="none">
                <a:solidFill>
                  <a:schemeClr val="lt1"/>
                </a:solidFill>
                <a:latin typeface="Roboto"/>
                <a:ea typeface="Roboto"/>
                <a:cs typeface="Roboto"/>
                <a:sym typeface="Roboto"/>
              </a:defRPr>
            </a:lvl1pPr>
            <a:lvl2pPr marL="914400" marR="0" lvl="1" indent="-381000" algn="l" rtl="0">
              <a:lnSpc>
                <a:spcPct val="90000"/>
              </a:lnSpc>
              <a:spcBef>
                <a:spcPts val="500"/>
              </a:spcBef>
              <a:spcAft>
                <a:spcPts val="0"/>
              </a:spcAft>
              <a:buClr>
                <a:schemeClr val="lt1"/>
              </a:buClr>
              <a:buSzPts val="2400"/>
              <a:buFont typeface="Arial"/>
              <a:buChar char="•"/>
              <a:defRPr sz="2400" b="0" i="0" u="none" strike="noStrike" cap="none">
                <a:solidFill>
                  <a:schemeClr val="lt1"/>
                </a:solidFill>
                <a:latin typeface="Roboto"/>
                <a:ea typeface="Roboto"/>
                <a:cs typeface="Roboto"/>
                <a:sym typeface="Roboto"/>
              </a:defRPr>
            </a:lvl2pPr>
            <a:lvl3pPr marL="1371600" marR="0" lvl="2"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Roboto"/>
                <a:ea typeface="Roboto"/>
                <a:cs typeface="Roboto"/>
                <a:sym typeface="Roboto"/>
              </a:defRPr>
            </a:lvl3pPr>
            <a:lvl4pPr marL="1828800" marR="0" lvl="3"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Roboto"/>
                <a:ea typeface="Roboto"/>
                <a:cs typeface="Roboto"/>
                <a:sym typeface="Roboto"/>
              </a:defRPr>
            </a:lvl4pPr>
            <a:lvl5pPr marL="2286000" marR="0" lvl="4"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Roboto"/>
                <a:ea typeface="Roboto"/>
                <a:cs typeface="Roboto"/>
                <a:sym typeface="Roboto"/>
              </a:defRPr>
            </a:lvl5pPr>
            <a:lvl6pPr marL="2743200" marR="0" lvl="5"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Roboto"/>
                <a:ea typeface="Roboto"/>
                <a:cs typeface="Roboto"/>
                <a:sym typeface="Roboto"/>
              </a:defRPr>
            </a:lvl6pPr>
            <a:lvl7pPr marL="3200400" marR="0" lvl="6"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Roboto"/>
                <a:ea typeface="Roboto"/>
                <a:cs typeface="Roboto"/>
                <a:sym typeface="Roboto"/>
              </a:defRPr>
            </a:lvl7pPr>
            <a:lvl8pPr marL="3657600" marR="0" lvl="7"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Roboto"/>
                <a:ea typeface="Roboto"/>
                <a:cs typeface="Roboto"/>
                <a:sym typeface="Roboto"/>
              </a:defRPr>
            </a:lvl8pPr>
            <a:lvl9pPr marL="4114800" marR="0" lvl="8"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Roboto"/>
                <a:ea typeface="Roboto"/>
                <a:cs typeface="Roboto"/>
                <a:sym typeface="Roboto"/>
              </a:defRPr>
            </a:lvl9pPr>
          </a:lstStyle>
          <a:p>
            <a:endParaRPr/>
          </a:p>
        </p:txBody>
      </p:sp>
      <p:sp>
        <p:nvSpPr>
          <p:cNvPr id="12" name="Google Shape;12;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FFFFFF"/>
                </a:solidFill>
                <a:latin typeface="Roboto"/>
                <a:ea typeface="Roboto"/>
                <a:cs typeface="Roboto"/>
                <a:sym typeface="Roboto"/>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9pPr>
          </a:lstStyle>
          <a:p>
            <a:endParaRPr/>
          </a:p>
        </p:txBody>
      </p:sp>
      <p:sp>
        <p:nvSpPr>
          <p:cNvPr id="13" name="Google Shape;13;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9pPr>
          </a:lstStyle>
          <a:p>
            <a:endParaRPr/>
          </a:p>
        </p:txBody>
      </p:sp>
      <p:sp>
        <p:nvSpPr>
          <p:cNvPr id="14" name="Google Shape;14;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1pPr>
            <a:lvl2pPr marL="0" marR="0" lvl="1" indent="0" algn="r" rtl="0">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2pPr>
            <a:lvl3pPr marL="0" marR="0" lvl="2" indent="0" algn="r" rtl="0">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3pPr>
            <a:lvl4pPr marL="0" marR="0" lvl="3" indent="0" algn="r" rtl="0">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4pPr>
            <a:lvl5pPr marL="0" marR="0" lvl="4" indent="0" algn="r" rtl="0">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5pPr>
            <a:lvl6pPr marL="0" marR="0" lvl="5" indent="0" algn="r" rtl="0">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6pPr>
            <a:lvl7pPr marL="0" marR="0" lvl="6" indent="0" algn="r" rtl="0">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7pPr>
            <a:lvl8pPr marL="0" marR="0" lvl="7" indent="0" algn="r" rtl="0">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8pPr>
            <a:lvl9pPr marL="0" marR="0" lvl="8" indent="0" algn="r" rtl="0">
              <a:lnSpc>
                <a:spcPct val="100000"/>
              </a:lnSpc>
              <a:spcBef>
                <a:spcPts val="0"/>
              </a:spcBef>
              <a:spcAft>
                <a:spcPts val="0"/>
              </a:spcAft>
              <a:buClr>
                <a:srgbClr val="FFFFFF"/>
              </a:buClr>
              <a:buSzPts val="1200"/>
              <a:buFont typeface="Roboto"/>
              <a:buNone/>
              <a:defRPr sz="1200" b="0" i="0" u="none" strike="noStrike" cap="none">
                <a:solidFill>
                  <a:srgbClr val="FFFFFF"/>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‹Nº›</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3" r:id="rId3"/>
    <p:sldLayoutId id="2147483654" r:id="rId4"/>
    <p:sldLayoutId id="2147483655" r:id="rId5"/>
    <p:sldLayoutId id="2147483656" r:id="rId6"/>
    <p:sldLayoutId id="2147483657" r:id="rId7"/>
    <p:sldLayoutId id="2147483658" r:id="rId8"/>
    <p:sldLayoutId id="214748365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1415B"/>
        </a:solidFill>
        <a:effectLst/>
      </p:bgPr>
    </p:bg>
    <p:spTree>
      <p:nvGrpSpPr>
        <p:cNvPr id="1" name="Shape 110"/>
        <p:cNvGrpSpPr/>
        <p:nvPr/>
      </p:nvGrpSpPr>
      <p:grpSpPr>
        <a:xfrm>
          <a:off x="0" y="0"/>
          <a:ext cx="0" cy="0"/>
          <a:chOff x="0" y="0"/>
          <a:chExt cx="0" cy="0"/>
        </a:xfrm>
      </p:grpSpPr>
      <p:grpSp>
        <p:nvGrpSpPr>
          <p:cNvPr id="111" name="Google Shape;111;g1ea3c471214_0_9"/>
          <p:cNvGrpSpPr/>
          <p:nvPr/>
        </p:nvGrpSpPr>
        <p:grpSpPr>
          <a:xfrm>
            <a:off x="2178127" y="2865504"/>
            <a:ext cx="7364281" cy="1146201"/>
            <a:chOff x="2990101" y="2717970"/>
            <a:chExt cx="6251512" cy="1144942"/>
          </a:xfrm>
        </p:grpSpPr>
        <p:sp>
          <p:nvSpPr>
            <p:cNvPr id="112" name="Google Shape;112;g1ea3c471214_0_9"/>
            <p:cNvSpPr/>
            <p:nvPr/>
          </p:nvSpPr>
          <p:spPr>
            <a:xfrm>
              <a:off x="2990101" y="2717970"/>
              <a:ext cx="6251512" cy="1144942"/>
            </a:xfrm>
            <a:custGeom>
              <a:avLst/>
              <a:gdLst/>
              <a:ahLst/>
              <a:cxnLst/>
              <a:rect l="l" t="t" r="r" b="b"/>
              <a:pathLst>
                <a:path w="6251512" h="1144942" extrusionOk="0">
                  <a:moveTo>
                    <a:pt x="572471" y="0"/>
                  </a:moveTo>
                  <a:lnTo>
                    <a:pt x="5679041" y="0"/>
                  </a:lnTo>
                  <a:cubicBezTo>
                    <a:pt x="5995208" y="0"/>
                    <a:pt x="6251512" y="256304"/>
                    <a:pt x="6251512" y="572471"/>
                  </a:cubicBezTo>
                  <a:lnTo>
                    <a:pt x="6251512" y="572471"/>
                  </a:lnTo>
                  <a:cubicBezTo>
                    <a:pt x="6251512" y="888638"/>
                    <a:pt x="5995208" y="1144942"/>
                    <a:pt x="5679041" y="1144942"/>
                  </a:cubicBezTo>
                  <a:lnTo>
                    <a:pt x="572471" y="1144942"/>
                  </a:lnTo>
                  <a:cubicBezTo>
                    <a:pt x="256304" y="1144942"/>
                    <a:pt x="0" y="888638"/>
                    <a:pt x="0" y="572471"/>
                  </a:cubicBezTo>
                  <a:lnTo>
                    <a:pt x="0" y="572471"/>
                  </a:lnTo>
                  <a:cubicBezTo>
                    <a:pt x="0" y="256304"/>
                    <a:pt x="256304" y="0"/>
                    <a:pt x="572471" y="0"/>
                  </a:cubicBezTo>
                  <a:close/>
                </a:path>
              </a:pathLst>
            </a:custGeom>
            <a:noFill/>
            <a:ln w="9525" cap="flat" cmpd="sng">
              <a:solidFill>
                <a:srgbClr val="3298B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3" name="Google Shape;113;g1ea3c471214_0_9"/>
            <p:cNvSpPr/>
            <p:nvPr/>
          </p:nvSpPr>
          <p:spPr>
            <a:xfrm>
              <a:off x="3113925" y="2822632"/>
              <a:ext cx="6034026" cy="924516"/>
            </a:xfrm>
            <a:custGeom>
              <a:avLst/>
              <a:gdLst/>
              <a:ahLst/>
              <a:cxnLst/>
              <a:rect l="l" t="t" r="r" b="b"/>
              <a:pathLst>
                <a:path w="6034026" h="924516" extrusionOk="0">
                  <a:moveTo>
                    <a:pt x="462258" y="0"/>
                  </a:moveTo>
                  <a:lnTo>
                    <a:pt x="5571768" y="0"/>
                  </a:lnTo>
                  <a:cubicBezTo>
                    <a:pt x="5827066" y="0"/>
                    <a:pt x="6034026" y="206960"/>
                    <a:pt x="6034026" y="462258"/>
                  </a:cubicBezTo>
                  <a:lnTo>
                    <a:pt x="6034026" y="462258"/>
                  </a:lnTo>
                  <a:cubicBezTo>
                    <a:pt x="6034026" y="717556"/>
                    <a:pt x="5827066" y="924516"/>
                    <a:pt x="5571768" y="924516"/>
                  </a:cubicBezTo>
                  <a:lnTo>
                    <a:pt x="462258" y="924516"/>
                  </a:lnTo>
                  <a:cubicBezTo>
                    <a:pt x="206960" y="924516"/>
                    <a:pt x="0" y="717556"/>
                    <a:pt x="0" y="462258"/>
                  </a:cubicBezTo>
                  <a:lnTo>
                    <a:pt x="0" y="462258"/>
                  </a:lnTo>
                  <a:cubicBezTo>
                    <a:pt x="0" y="206960"/>
                    <a:pt x="206960" y="0"/>
                    <a:pt x="462258" y="0"/>
                  </a:cubicBezTo>
                  <a:close/>
                </a:path>
              </a:pathLst>
            </a:custGeom>
            <a:solidFill>
              <a:srgbClr val="3298B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114" name="Google Shape;114;g1ea3c471214_0_9"/>
          <p:cNvSpPr/>
          <p:nvPr/>
        </p:nvSpPr>
        <p:spPr>
          <a:xfrm>
            <a:off x="8281900" y="2571750"/>
            <a:ext cx="1731900" cy="1714500"/>
          </a:xfrm>
          <a:prstGeom prst="ellipse">
            <a:avLst/>
          </a:prstGeom>
          <a:solidFill>
            <a:srgbClr val="01415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5" name="Google Shape;115;g1ea3c471214_0_9"/>
          <p:cNvSpPr txBox="1">
            <a:spLocks noGrp="1"/>
          </p:cNvSpPr>
          <p:nvPr>
            <p:ph type="body" idx="1"/>
          </p:nvPr>
        </p:nvSpPr>
        <p:spPr>
          <a:xfrm>
            <a:off x="3798800" y="3132137"/>
            <a:ext cx="5064000" cy="612900"/>
          </a:xfrm>
          <a:prstGeom prst="rect">
            <a:avLst/>
          </a:prstGeom>
          <a:noFill/>
          <a:ln>
            <a:noFill/>
          </a:ln>
        </p:spPr>
        <p:txBody>
          <a:bodyPr spcFirstLastPara="1" wrap="square" lIns="91425" tIns="45700" rIns="91425" bIns="45700" anchor="ctr" anchorCtr="0">
            <a:noAutofit/>
          </a:bodyPr>
          <a:lstStyle/>
          <a:p>
            <a:pPr marL="0" indent="0">
              <a:spcBef>
                <a:spcPts val="0"/>
              </a:spcBef>
              <a:buClr>
                <a:srgbClr val="FFFFFF"/>
              </a:buClr>
              <a:buSzPts val="2800"/>
            </a:pPr>
            <a:r>
              <a:rPr lang="es-ES" sz="2800" dirty="0"/>
              <a:t>Credenciales académicas</a:t>
            </a:r>
          </a:p>
        </p:txBody>
      </p:sp>
      <p:sp>
        <p:nvSpPr>
          <p:cNvPr id="116" name="Google Shape;116;g1ea3c471214_0_9"/>
          <p:cNvSpPr/>
          <p:nvPr/>
        </p:nvSpPr>
        <p:spPr>
          <a:xfrm>
            <a:off x="8402550" y="2703512"/>
            <a:ext cx="1492200" cy="1390800"/>
          </a:xfrm>
          <a:prstGeom prst="ellipse">
            <a:avLst/>
          </a:prstGeom>
          <a:solidFill>
            <a:srgbClr val="3298B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17" name="Google Shape;117;g1ea3c471214_0_9"/>
          <p:cNvPicPr preferRelativeResize="0"/>
          <p:nvPr/>
        </p:nvPicPr>
        <p:blipFill rotWithShape="1">
          <a:blip r:embed="rId3">
            <a:alphaModFix/>
          </a:blip>
          <a:srcRect/>
          <a:stretch/>
        </p:blipFill>
        <p:spPr>
          <a:xfrm>
            <a:off x="8826413" y="3057525"/>
            <a:ext cx="742950" cy="7429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4"/>
          <p:cNvSpPr txBox="1">
            <a:spLocks noGrp="1"/>
          </p:cNvSpPr>
          <p:nvPr>
            <p:ph type="body" idx="1"/>
          </p:nvPr>
        </p:nvSpPr>
        <p:spPr>
          <a:xfrm>
            <a:off x="671500" y="1414448"/>
            <a:ext cx="10799700" cy="52416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1000"/>
              </a:spcBef>
              <a:spcAft>
                <a:spcPts val="0"/>
              </a:spcAft>
              <a:buSzPts val="1800"/>
              <a:buNone/>
            </a:pPr>
            <a:r>
              <a:rPr lang="es-ES" sz="2200" b="1" dirty="0">
                <a:solidFill>
                  <a:srgbClr val="22627E"/>
                </a:solidFill>
              </a:rPr>
              <a:t>Proyecto</a:t>
            </a:r>
          </a:p>
          <a:p>
            <a:pPr marL="342900"/>
            <a:r>
              <a:rPr lang="es-ES" sz="2200" dirty="0">
                <a:solidFill>
                  <a:srgbClr val="22627E"/>
                </a:solidFill>
              </a:rPr>
              <a:t>Emisión de certificados académicos en </a:t>
            </a:r>
            <a:r>
              <a:rPr lang="es-ES" sz="2200" dirty="0" err="1">
                <a:solidFill>
                  <a:srgbClr val="22627E"/>
                </a:solidFill>
              </a:rPr>
              <a:t>blockchain</a:t>
            </a:r>
            <a:r>
              <a:rPr lang="es-ES" sz="2200" dirty="0">
                <a:solidFill>
                  <a:srgbClr val="22627E"/>
                </a:solidFill>
              </a:rPr>
              <a:t>.</a:t>
            </a:r>
          </a:p>
          <a:p>
            <a:pPr marL="0" marR="0" lvl="0" indent="0" algn="l" rtl="0">
              <a:lnSpc>
                <a:spcPct val="90000"/>
              </a:lnSpc>
              <a:spcBef>
                <a:spcPts val="1000"/>
              </a:spcBef>
              <a:spcAft>
                <a:spcPts val="0"/>
              </a:spcAft>
              <a:buSzPts val="1800"/>
              <a:buNone/>
            </a:pPr>
            <a:r>
              <a:rPr lang="es-ES" sz="2200" b="1" dirty="0">
                <a:solidFill>
                  <a:srgbClr val="22627E"/>
                </a:solidFill>
              </a:rPr>
              <a:t>Objetivo</a:t>
            </a:r>
          </a:p>
          <a:p>
            <a:pPr marL="342900"/>
            <a:r>
              <a:rPr lang="es-ES" sz="2200" dirty="0">
                <a:solidFill>
                  <a:srgbClr val="22627E"/>
                </a:solidFill>
              </a:rPr>
              <a:t>Facilitar la verificación de títulos sin contacto directo con la universidad.</a:t>
            </a:r>
          </a:p>
          <a:p>
            <a:pPr marL="342900"/>
            <a:r>
              <a:rPr lang="es-ES" sz="2200" dirty="0">
                <a:solidFill>
                  <a:srgbClr val="22627E"/>
                </a:solidFill>
              </a:rPr>
              <a:t>Mejorar la seguridad frente al fraude académico.</a:t>
            </a:r>
          </a:p>
          <a:p>
            <a:pPr marL="0" marR="0" lvl="0" indent="0" algn="l" rtl="0">
              <a:lnSpc>
                <a:spcPct val="90000"/>
              </a:lnSpc>
              <a:spcBef>
                <a:spcPts val="1000"/>
              </a:spcBef>
              <a:spcAft>
                <a:spcPts val="0"/>
              </a:spcAft>
              <a:buSzPts val="1800"/>
              <a:buNone/>
            </a:pPr>
            <a:r>
              <a:rPr lang="es-ES" sz="2200" b="1" dirty="0">
                <a:solidFill>
                  <a:srgbClr val="22627E"/>
                </a:solidFill>
              </a:rPr>
              <a:t>Impulsores</a:t>
            </a:r>
            <a:endParaRPr lang="es-ES" sz="2200" dirty="0">
              <a:solidFill>
                <a:srgbClr val="22627E"/>
              </a:solidFill>
            </a:endParaRPr>
          </a:p>
          <a:p>
            <a:pPr marL="342900"/>
            <a:r>
              <a:rPr lang="es-ES" sz="2200" dirty="0">
                <a:solidFill>
                  <a:srgbClr val="22627E"/>
                </a:solidFill>
              </a:rPr>
              <a:t>Universidades españolas (UC3M, UMU, entre otras).</a:t>
            </a:r>
          </a:p>
          <a:p>
            <a:pPr marL="342900"/>
            <a:r>
              <a:rPr lang="es-ES" sz="2200" dirty="0">
                <a:solidFill>
                  <a:srgbClr val="22627E"/>
                </a:solidFill>
              </a:rPr>
              <a:t>Consorcios </a:t>
            </a:r>
            <a:r>
              <a:rPr lang="es-ES" sz="2200" dirty="0" err="1">
                <a:solidFill>
                  <a:srgbClr val="22627E"/>
                </a:solidFill>
              </a:rPr>
              <a:t>blockchain</a:t>
            </a:r>
            <a:r>
              <a:rPr lang="es-ES" sz="2200" dirty="0">
                <a:solidFill>
                  <a:srgbClr val="22627E"/>
                </a:solidFill>
              </a:rPr>
              <a:t> como </a:t>
            </a:r>
            <a:r>
              <a:rPr lang="es-ES" sz="2200" dirty="0" err="1">
                <a:solidFill>
                  <a:srgbClr val="22627E"/>
                </a:solidFill>
              </a:rPr>
              <a:t>Alastria</a:t>
            </a:r>
            <a:r>
              <a:rPr lang="es-ES" sz="2200" dirty="0">
                <a:solidFill>
                  <a:srgbClr val="22627E"/>
                </a:solidFill>
              </a:rPr>
              <a:t>.</a:t>
            </a:r>
          </a:p>
          <a:p>
            <a:pPr marL="0" marR="0" lvl="0" indent="0" algn="l" rtl="0">
              <a:lnSpc>
                <a:spcPct val="90000"/>
              </a:lnSpc>
              <a:spcBef>
                <a:spcPts val="1000"/>
              </a:spcBef>
              <a:spcAft>
                <a:spcPts val="0"/>
              </a:spcAft>
              <a:buSzPts val="1800"/>
              <a:buNone/>
            </a:pPr>
            <a:r>
              <a:rPr lang="es-ES" sz="2200" b="1" dirty="0">
                <a:solidFill>
                  <a:srgbClr val="22627E"/>
                </a:solidFill>
              </a:rPr>
              <a:t>Tecnología</a:t>
            </a:r>
          </a:p>
          <a:p>
            <a:pPr marL="342900"/>
            <a:r>
              <a:rPr lang="es-ES" sz="2200" dirty="0">
                <a:solidFill>
                  <a:srgbClr val="22627E"/>
                </a:solidFill>
              </a:rPr>
              <a:t>Redes </a:t>
            </a:r>
            <a:r>
              <a:rPr lang="es-ES" sz="2200" dirty="0" err="1">
                <a:solidFill>
                  <a:srgbClr val="22627E"/>
                </a:solidFill>
              </a:rPr>
              <a:t>blockchain</a:t>
            </a:r>
            <a:r>
              <a:rPr lang="es-ES" sz="2200" dirty="0">
                <a:solidFill>
                  <a:srgbClr val="22627E"/>
                </a:solidFill>
              </a:rPr>
              <a:t> privadas y estándares como </a:t>
            </a:r>
            <a:r>
              <a:rPr lang="es-ES" sz="2200" dirty="0" err="1">
                <a:solidFill>
                  <a:srgbClr val="22627E"/>
                </a:solidFill>
              </a:rPr>
              <a:t>Blockcerts</a:t>
            </a:r>
            <a:r>
              <a:rPr lang="es-ES" sz="2200" dirty="0">
                <a:solidFill>
                  <a:srgbClr val="22627E"/>
                </a:solidFill>
              </a:rPr>
              <a:t>.</a:t>
            </a:r>
            <a:endParaRPr dirty="0"/>
          </a:p>
        </p:txBody>
      </p:sp>
      <p:sp>
        <p:nvSpPr>
          <p:cNvPr id="124" name="Google Shape;124;p4"/>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s-ES" sz="2700" b="1" i="0" u="none" strike="noStrike" cap="none" noProof="0" dirty="0">
                <a:solidFill>
                  <a:srgbClr val="01415B"/>
                </a:solidFill>
                <a:latin typeface="Roboto"/>
                <a:ea typeface="Roboto"/>
                <a:cs typeface="Roboto"/>
                <a:sym typeface="Roboto"/>
              </a:rPr>
              <a:t>Contexto General del Proyecto</a:t>
            </a:r>
          </a:p>
        </p:txBody>
      </p:sp>
    </p:spTree>
    <p:extLst>
      <p:ext uri="{BB962C8B-B14F-4D97-AF65-F5344CB8AC3E}">
        <p14:creationId xmlns:p14="http://schemas.microsoft.com/office/powerpoint/2010/main" val="13634716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62D29485-8818-56A7-6CEE-405F1A712FA6}"/>
            </a:ext>
          </a:extLst>
        </p:cNvPr>
        <p:cNvGrpSpPr/>
        <p:nvPr/>
      </p:nvGrpSpPr>
      <p:grpSpPr>
        <a:xfrm>
          <a:off x="0" y="0"/>
          <a:ext cx="0" cy="0"/>
          <a:chOff x="0" y="0"/>
          <a:chExt cx="0" cy="0"/>
        </a:xfrm>
      </p:grpSpPr>
      <p:sp>
        <p:nvSpPr>
          <p:cNvPr id="124" name="Google Shape;124;p4">
            <a:extLst>
              <a:ext uri="{FF2B5EF4-FFF2-40B4-BE49-F238E27FC236}">
                <a16:creationId xmlns:a16="http://schemas.microsoft.com/office/drawing/2014/main" id="{D99E9CFB-A807-78E8-F4C6-8B0E24A94196}"/>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n-US" sz="2700" b="1" i="0" u="none" strike="noStrike" cap="none" dirty="0" err="1">
                <a:solidFill>
                  <a:srgbClr val="01415B"/>
                </a:solidFill>
                <a:latin typeface="Roboto"/>
                <a:ea typeface="Roboto"/>
                <a:cs typeface="Roboto"/>
                <a:sym typeface="Roboto"/>
              </a:rPr>
              <a:t>Credenciales</a:t>
            </a:r>
            <a:r>
              <a:rPr lang="en-US" sz="2700" b="1" i="0" u="none" strike="noStrike" cap="none" dirty="0">
                <a:solidFill>
                  <a:srgbClr val="01415B"/>
                </a:solidFill>
                <a:latin typeface="Roboto"/>
                <a:ea typeface="Roboto"/>
                <a:cs typeface="Roboto"/>
                <a:sym typeface="Roboto"/>
              </a:rPr>
              <a:t> </a:t>
            </a:r>
            <a:r>
              <a:rPr lang="en-US" sz="2700" b="1" i="0" u="none" strike="noStrike" cap="none" dirty="0" err="1">
                <a:solidFill>
                  <a:srgbClr val="01415B"/>
                </a:solidFill>
                <a:latin typeface="Roboto"/>
                <a:ea typeface="Roboto"/>
                <a:cs typeface="Roboto"/>
                <a:sym typeface="Roboto"/>
              </a:rPr>
              <a:t>académicas</a:t>
            </a:r>
            <a:endParaRPr lang="en-US" sz="2700" b="1" i="0" u="none" strike="noStrike" cap="none" dirty="0">
              <a:solidFill>
                <a:srgbClr val="01415B"/>
              </a:solidFill>
              <a:latin typeface="Roboto"/>
              <a:ea typeface="Roboto"/>
              <a:cs typeface="Roboto"/>
              <a:sym typeface="Roboto"/>
            </a:endParaRPr>
          </a:p>
        </p:txBody>
      </p:sp>
      <p:pic>
        <p:nvPicPr>
          <p:cNvPr id="6" name="Imagen 5">
            <a:extLst>
              <a:ext uri="{FF2B5EF4-FFF2-40B4-BE49-F238E27FC236}">
                <a16:creationId xmlns:a16="http://schemas.microsoft.com/office/drawing/2014/main" id="{2217DCA0-43FD-5019-CFB4-A35C2D1E4FAE}"/>
              </a:ext>
            </a:extLst>
          </p:cNvPr>
          <p:cNvPicPr>
            <a:picLocks noChangeAspect="1"/>
          </p:cNvPicPr>
          <p:nvPr/>
        </p:nvPicPr>
        <p:blipFill>
          <a:blip r:embed="rId3"/>
          <a:stretch>
            <a:fillRect/>
          </a:stretch>
        </p:blipFill>
        <p:spPr>
          <a:xfrm>
            <a:off x="479845" y="1312984"/>
            <a:ext cx="3834247" cy="2940928"/>
          </a:xfrm>
          <a:prstGeom prst="rect">
            <a:avLst/>
          </a:prstGeom>
        </p:spPr>
      </p:pic>
      <p:pic>
        <p:nvPicPr>
          <p:cNvPr id="8" name="Imagen 7">
            <a:extLst>
              <a:ext uri="{FF2B5EF4-FFF2-40B4-BE49-F238E27FC236}">
                <a16:creationId xmlns:a16="http://schemas.microsoft.com/office/drawing/2014/main" id="{CC891F25-38B9-D58E-EA1A-89A359FD09C2}"/>
              </a:ext>
            </a:extLst>
          </p:cNvPr>
          <p:cNvPicPr>
            <a:picLocks noChangeAspect="1"/>
          </p:cNvPicPr>
          <p:nvPr/>
        </p:nvPicPr>
        <p:blipFill>
          <a:blip r:embed="rId4"/>
          <a:stretch>
            <a:fillRect/>
          </a:stretch>
        </p:blipFill>
        <p:spPr>
          <a:xfrm>
            <a:off x="3015750" y="1878512"/>
            <a:ext cx="4495254" cy="2855580"/>
          </a:xfrm>
          <a:prstGeom prst="rect">
            <a:avLst/>
          </a:prstGeom>
        </p:spPr>
      </p:pic>
      <p:pic>
        <p:nvPicPr>
          <p:cNvPr id="10" name="Imagen 9">
            <a:extLst>
              <a:ext uri="{FF2B5EF4-FFF2-40B4-BE49-F238E27FC236}">
                <a16:creationId xmlns:a16="http://schemas.microsoft.com/office/drawing/2014/main" id="{21911A16-68A2-3A81-79EA-74FC29E561F5}"/>
              </a:ext>
            </a:extLst>
          </p:cNvPr>
          <p:cNvPicPr>
            <a:picLocks noChangeAspect="1"/>
          </p:cNvPicPr>
          <p:nvPr/>
        </p:nvPicPr>
        <p:blipFill>
          <a:blip r:embed="rId5"/>
          <a:stretch>
            <a:fillRect/>
          </a:stretch>
        </p:blipFill>
        <p:spPr>
          <a:xfrm>
            <a:off x="6686986" y="2783448"/>
            <a:ext cx="3664722" cy="3166246"/>
          </a:xfrm>
          <a:prstGeom prst="rect">
            <a:avLst/>
          </a:prstGeom>
        </p:spPr>
      </p:pic>
    </p:spTree>
    <p:extLst>
      <p:ext uri="{BB962C8B-B14F-4D97-AF65-F5344CB8AC3E}">
        <p14:creationId xmlns:p14="http://schemas.microsoft.com/office/powerpoint/2010/main" val="27265705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1415B"/>
        </a:solidFill>
        <a:effectLst/>
      </p:bgPr>
    </p:bg>
    <p:spTree>
      <p:nvGrpSpPr>
        <p:cNvPr id="1" name="Shape 110">
          <a:extLst>
            <a:ext uri="{FF2B5EF4-FFF2-40B4-BE49-F238E27FC236}">
              <a16:creationId xmlns:a16="http://schemas.microsoft.com/office/drawing/2014/main" id="{0C162585-EEA6-8FF4-44CE-F16C7012E697}"/>
            </a:ext>
          </a:extLst>
        </p:cNvPr>
        <p:cNvGrpSpPr/>
        <p:nvPr/>
      </p:nvGrpSpPr>
      <p:grpSpPr>
        <a:xfrm>
          <a:off x="0" y="0"/>
          <a:ext cx="0" cy="0"/>
          <a:chOff x="0" y="0"/>
          <a:chExt cx="0" cy="0"/>
        </a:xfrm>
      </p:grpSpPr>
      <p:grpSp>
        <p:nvGrpSpPr>
          <p:cNvPr id="111" name="Google Shape;111;g1ea3c471214_0_9">
            <a:extLst>
              <a:ext uri="{FF2B5EF4-FFF2-40B4-BE49-F238E27FC236}">
                <a16:creationId xmlns:a16="http://schemas.microsoft.com/office/drawing/2014/main" id="{17AD9D9D-529D-8F45-33C4-C03AC1DF4857}"/>
              </a:ext>
            </a:extLst>
          </p:cNvPr>
          <p:cNvGrpSpPr/>
          <p:nvPr/>
        </p:nvGrpSpPr>
        <p:grpSpPr>
          <a:xfrm>
            <a:off x="2178127" y="2865504"/>
            <a:ext cx="7364281" cy="1146201"/>
            <a:chOff x="2990101" y="2717970"/>
            <a:chExt cx="6251512" cy="1144942"/>
          </a:xfrm>
        </p:grpSpPr>
        <p:sp>
          <p:nvSpPr>
            <p:cNvPr id="112" name="Google Shape;112;g1ea3c471214_0_9">
              <a:extLst>
                <a:ext uri="{FF2B5EF4-FFF2-40B4-BE49-F238E27FC236}">
                  <a16:creationId xmlns:a16="http://schemas.microsoft.com/office/drawing/2014/main" id="{92A20592-CA55-7F1F-FDBB-DD829BFC10A8}"/>
                </a:ext>
              </a:extLst>
            </p:cNvPr>
            <p:cNvSpPr/>
            <p:nvPr/>
          </p:nvSpPr>
          <p:spPr>
            <a:xfrm>
              <a:off x="2990101" y="2717970"/>
              <a:ext cx="6251512" cy="1144942"/>
            </a:xfrm>
            <a:custGeom>
              <a:avLst/>
              <a:gdLst/>
              <a:ahLst/>
              <a:cxnLst/>
              <a:rect l="l" t="t" r="r" b="b"/>
              <a:pathLst>
                <a:path w="6251512" h="1144942" extrusionOk="0">
                  <a:moveTo>
                    <a:pt x="572471" y="0"/>
                  </a:moveTo>
                  <a:lnTo>
                    <a:pt x="5679041" y="0"/>
                  </a:lnTo>
                  <a:cubicBezTo>
                    <a:pt x="5995208" y="0"/>
                    <a:pt x="6251512" y="256304"/>
                    <a:pt x="6251512" y="572471"/>
                  </a:cubicBezTo>
                  <a:lnTo>
                    <a:pt x="6251512" y="572471"/>
                  </a:lnTo>
                  <a:cubicBezTo>
                    <a:pt x="6251512" y="888638"/>
                    <a:pt x="5995208" y="1144942"/>
                    <a:pt x="5679041" y="1144942"/>
                  </a:cubicBezTo>
                  <a:lnTo>
                    <a:pt x="572471" y="1144942"/>
                  </a:lnTo>
                  <a:cubicBezTo>
                    <a:pt x="256304" y="1144942"/>
                    <a:pt x="0" y="888638"/>
                    <a:pt x="0" y="572471"/>
                  </a:cubicBezTo>
                  <a:lnTo>
                    <a:pt x="0" y="572471"/>
                  </a:lnTo>
                  <a:cubicBezTo>
                    <a:pt x="0" y="256304"/>
                    <a:pt x="256304" y="0"/>
                    <a:pt x="572471" y="0"/>
                  </a:cubicBezTo>
                  <a:close/>
                </a:path>
              </a:pathLst>
            </a:custGeom>
            <a:noFill/>
            <a:ln w="9525" cap="flat" cmpd="sng">
              <a:solidFill>
                <a:srgbClr val="3298B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3" name="Google Shape;113;g1ea3c471214_0_9">
              <a:extLst>
                <a:ext uri="{FF2B5EF4-FFF2-40B4-BE49-F238E27FC236}">
                  <a16:creationId xmlns:a16="http://schemas.microsoft.com/office/drawing/2014/main" id="{8EBDA089-14ED-4308-7914-E298EF5A8F95}"/>
                </a:ext>
              </a:extLst>
            </p:cNvPr>
            <p:cNvSpPr/>
            <p:nvPr/>
          </p:nvSpPr>
          <p:spPr>
            <a:xfrm>
              <a:off x="3113925" y="2822632"/>
              <a:ext cx="6034026" cy="924516"/>
            </a:xfrm>
            <a:custGeom>
              <a:avLst/>
              <a:gdLst/>
              <a:ahLst/>
              <a:cxnLst/>
              <a:rect l="l" t="t" r="r" b="b"/>
              <a:pathLst>
                <a:path w="6034026" h="924516" extrusionOk="0">
                  <a:moveTo>
                    <a:pt x="462258" y="0"/>
                  </a:moveTo>
                  <a:lnTo>
                    <a:pt x="5571768" y="0"/>
                  </a:lnTo>
                  <a:cubicBezTo>
                    <a:pt x="5827066" y="0"/>
                    <a:pt x="6034026" y="206960"/>
                    <a:pt x="6034026" y="462258"/>
                  </a:cubicBezTo>
                  <a:lnTo>
                    <a:pt x="6034026" y="462258"/>
                  </a:lnTo>
                  <a:cubicBezTo>
                    <a:pt x="6034026" y="717556"/>
                    <a:pt x="5827066" y="924516"/>
                    <a:pt x="5571768" y="924516"/>
                  </a:cubicBezTo>
                  <a:lnTo>
                    <a:pt x="462258" y="924516"/>
                  </a:lnTo>
                  <a:cubicBezTo>
                    <a:pt x="206960" y="924516"/>
                    <a:pt x="0" y="717556"/>
                    <a:pt x="0" y="462258"/>
                  </a:cubicBezTo>
                  <a:lnTo>
                    <a:pt x="0" y="462258"/>
                  </a:lnTo>
                  <a:cubicBezTo>
                    <a:pt x="0" y="206960"/>
                    <a:pt x="206960" y="0"/>
                    <a:pt x="462258" y="0"/>
                  </a:cubicBezTo>
                  <a:close/>
                </a:path>
              </a:pathLst>
            </a:custGeom>
            <a:solidFill>
              <a:srgbClr val="3298B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Calibri"/>
                <a:ea typeface="Calibri"/>
                <a:cs typeface="Calibri"/>
                <a:sym typeface="Calibri"/>
              </a:endParaRPr>
            </a:p>
          </p:txBody>
        </p:sp>
      </p:grpSp>
      <p:sp>
        <p:nvSpPr>
          <p:cNvPr id="114" name="Google Shape;114;g1ea3c471214_0_9">
            <a:extLst>
              <a:ext uri="{FF2B5EF4-FFF2-40B4-BE49-F238E27FC236}">
                <a16:creationId xmlns:a16="http://schemas.microsoft.com/office/drawing/2014/main" id="{53CFBE8D-54F2-A18C-108B-88B1791884F8}"/>
              </a:ext>
            </a:extLst>
          </p:cNvPr>
          <p:cNvSpPr/>
          <p:nvPr/>
        </p:nvSpPr>
        <p:spPr>
          <a:xfrm>
            <a:off x="8281900" y="2571750"/>
            <a:ext cx="1731900" cy="1714500"/>
          </a:xfrm>
          <a:prstGeom prst="ellipse">
            <a:avLst/>
          </a:prstGeom>
          <a:solidFill>
            <a:srgbClr val="01415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5" name="Google Shape;115;g1ea3c471214_0_9">
            <a:extLst>
              <a:ext uri="{FF2B5EF4-FFF2-40B4-BE49-F238E27FC236}">
                <a16:creationId xmlns:a16="http://schemas.microsoft.com/office/drawing/2014/main" id="{AC90E06F-71CF-C9C9-DA8C-D06B4EBB59C0}"/>
              </a:ext>
            </a:extLst>
          </p:cNvPr>
          <p:cNvSpPr txBox="1">
            <a:spLocks noGrp="1"/>
          </p:cNvSpPr>
          <p:nvPr>
            <p:ph type="body" idx="1"/>
          </p:nvPr>
        </p:nvSpPr>
        <p:spPr>
          <a:xfrm>
            <a:off x="3798800" y="3132137"/>
            <a:ext cx="5064000" cy="612900"/>
          </a:xfrm>
          <a:prstGeom prst="rect">
            <a:avLst/>
          </a:prstGeom>
          <a:noFill/>
          <a:ln>
            <a:noFill/>
          </a:ln>
        </p:spPr>
        <p:txBody>
          <a:bodyPr spcFirstLastPara="1" wrap="square" lIns="91425" tIns="45700" rIns="91425" bIns="45700" anchor="ctr" anchorCtr="0">
            <a:noAutofit/>
          </a:bodyPr>
          <a:lstStyle/>
          <a:p>
            <a:pPr marL="0" indent="0">
              <a:spcBef>
                <a:spcPts val="0"/>
              </a:spcBef>
              <a:buClr>
                <a:srgbClr val="FFFFFF"/>
              </a:buClr>
              <a:buSzPts val="2800"/>
            </a:pPr>
            <a:r>
              <a:rPr lang="es-ES" sz="2800" dirty="0"/>
              <a:t>Fase de Ideación</a:t>
            </a:r>
          </a:p>
        </p:txBody>
      </p:sp>
      <p:sp>
        <p:nvSpPr>
          <p:cNvPr id="116" name="Google Shape;116;g1ea3c471214_0_9">
            <a:extLst>
              <a:ext uri="{FF2B5EF4-FFF2-40B4-BE49-F238E27FC236}">
                <a16:creationId xmlns:a16="http://schemas.microsoft.com/office/drawing/2014/main" id="{CD485921-66BF-1E94-362E-6EEC831D5261}"/>
              </a:ext>
            </a:extLst>
          </p:cNvPr>
          <p:cNvSpPr/>
          <p:nvPr/>
        </p:nvSpPr>
        <p:spPr>
          <a:xfrm>
            <a:off x="8402550" y="2703512"/>
            <a:ext cx="1492200" cy="1390800"/>
          </a:xfrm>
          <a:prstGeom prst="ellipse">
            <a:avLst/>
          </a:prstGeom>
          <a:solidFill>
            <a:srgbClr val="3298B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17" name="Google Shape;117;g1ea3c471214_0_9">
            <a:extLst>
              <a:ext uri="{FF2B5EF4-FFF2-40B4-BE49-F238E27FC236}">
                <a16:creationId xmlns:a16="http://schemas.microsoft.com/office/drawing/2014/main" id="{72DB0D8E-BB25-028B-1F31-1CFE7579682B}"/>
              </a:ext>
            </a:extLst>
          </p:cNvPr>
          <p:cNvPicPr preferRelativeResize="0"/>
          <p:nvPr/>
        </p:nvPicPr>
        <p:blipFill rotWithShape="1">
          <a:blip r:embed="rId3">
            <a:alphaModFix/>
          </a:blip>
          <a:srcRect/>
          <a:stretch/>
        </p:blipFill>
        <p:spPr>
          <a:xfrm>
            <a:off x="8826413" y="3057525"/>
            <a:ext cx="742950" cy="742950"/>
          </a:xfrm>
          <a:prstGeom prst="rect">
            <a:avLst/>
          </a:prstGeom>
          <a:noFill/>
          <a:ln>
            <a:noFill/>
          </a:ln>
        </p:spPr>
      </p:pic>
    </p:spTree>
    <p:extLst>
      <p:ext uri="{BB962C8B-B14F-4D97-AF65-F5344CB8AC3E}">
        <p14:creationId xmlns:p14="http://schemas.microsoft.com/office/powerpoint/2010/main" val="41336899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F26D2590-589D-30D3-5147-604E6D6BD50E}"/>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F9BB0646-5D75-063B-58D4-264004AFCB8C}"/>
              </a:ext>
            </a:extLst>
          </p:cNvPr>
          <p:cNvSpPr txBox="1">
            <a:spLocks noGrp="1"/>
          </p:cNvSpPr>
          <p:nvPr>
            <p:ph type="body" idx="1"/>
          </p:nvPr>
        </p:nvSpPr>
        <p:spPr>
          <a:xfrm>
            <a:off x="671500" y="1414448"/>
            <a:ext cx="10799700" cy="5241600"/>
          </a:xfrm>
          <a:prstGeom prst="rect">
            <a:avLst/>
          </a:prstGeom>
          <a:noFill/>
          <a:ln>
            <a:noFill/>
          </a:ln>
        </p:spPr>
        <p:txBody>
          <a:bodyPr spcFirstLastPara="1" wrap="square" lIns="91425" tIns="45700" rIns="91425" bIns="45700" anchor="t" anchorCtr="0">
            <a:noAutofit/>
          </a:bodyPr>
          <a:lstStyle/>
          <a:p>
            <a:pPr marL="0" indent="0">
              <a:buNone/>
            </a:pPr>
            <a:r>
              <a:rPr lang="es-ES" sz="2200" b="1" dirty="0">
                <a:solidFill>
                  <a:srgbClr val="22627E"/>
                </a:solidFill>
              </a:rPr>
              <a:t>¿Qué analizamos en esta fase?</a:t>
            </a:r>
          </a:p>
          <a:p>
            <a:pPr marL="342900"/>
            <a:r>
              <a:rPr lang="es-ES" sz="2200" dirty="0">
                <a:solidFill>
                  <a:srgbClr val="22627E"/>
                </a:solidFill>
              </a:rPr>
              <a:t>Identificación del problema: ¿Existe realmente?</a:t>
            </a:r>
          </a:p>
          <a:p>
            <a:pPr marL="342900"/>
            <a:r>
              <a:rPr lang="es-ES" sz="2200" dirty="0">
                <a:solidFill>
                  <a:srgbClr val="22627E"/>
                </a:solidFill>
              </a:rPr>
              <a:t>Creatividad y generación de ideas</a:t>
            </a:r>
          </a:p>
          <a:p>
            <a:pPr marL="800100" lvl="1"/>
            <a:r>
              <a:rPr lang="es-ES" sz="1800" dirty="0" err="1">
                <a:solidFill>
                  <a:srgbClr val="22627E"/>
                </a:solidFill>
              </a:rPr>
              <a:t>Brainstorming</a:t>
            </a:r>
            <a:endParaRPr lang="es-ES" sz="1800" dirty="0">
              <a:solidFill>
                <a:srgbClr val="22627E"/>
              </a:solidFill>
            </a:endParaRPr>
          </a:p>
          <a:p>
            <a:pPr marL="800100" lvl="1"/>
            <a:r>
              <a:rPr lang="es-ES" sz="1800" dirty="0">
                <a:solidFill>
                  <a:srgbClr val="22627E"/>
                </a:solidFill>
              </a:rPr>
              <a:t>Provocación</a:t>
            </a:r>
          </a:p>
          <a:p>
            <a:pPr marL="800100" lvl="1"/>
            <a:r>
              <a:rPr lang="es-ES" sz="1800" dirty="0">
                <a:solidFill>
                  <a:srgbClr val="22627E"/>
                </a:solidFill>
              </a:rPr>
              <a:t>SCAMPER</a:t>
            </a:r>
          </a:p>
          <a:p>
            <a:pPr marL="800100" lvl="1"/>
            <a:r>
              <a:rPr lang="es-ES" sz="1800" dirty="0" err="1">
                <a:solidFill>
                  <a:srgbClr val="22627E"/>
                </a:solidFill>
              </a:rPr>
              <a:t>Design</a:t>
            </a:r>
            <a:r>
              <a:rPr lang="es-ES" sz="1800" dirty="0">
                <a:solidFill>
                  <a:srgbClr val="22627E"/>
                </a:solidFill>
              </a:rPr>
              <a:t> </a:t>
            </a:r>
            <a:r>
              <a:rPr lang="es-ES" sz="1800" dirty="0" err="1">
                <a:solidFill>
                  <a:srgbClr val="22627E"/>
                </a:solidFill>
              </a:rPr>
              <a:t>Thinking</a:t>
            </a:r>
            <a:endParaRPr lang="es-ES" sz="1800" dirty="0">
              <a:solidFill>
                <a:srgbClr val="22627E"/>
              </a:solidFill>
            </a:endParaRPr>
          </a:p>
          <a:p>
            <a:pPr marL="342900"/>
            <a:r>
              <a:rPr lang="es-ES" sz="2200" dirty="0">
                <a:solidFill>
                  <a:srgbClr val="22627E"/>
                </a:solidFill>
              </a:rPr>
              <a:t>Validación de la necesidad: ¿Es una necesidad real o percibida?</a:t>
            </a:r>
          </a:p>
          <a:p>
            <a:pPr marL="342900"/>
            <a:r>
              <a:rPr lang="es-ES" sz="2200" dirty="0">
                <a:solidFill>
                  <a:srgbClr val="22627E"/>
                </a:solidFill>
              </a:rPr>
              <a:t>Primeros bocetos de solución: ¿Qué se quiere construir?</a:t>
            </a:r>
            <a:endParaRPr sz="2200" dirty="0">
              <a:solidFill>
                <a:srgbClr val="22627E"/>
              </a:solidFill>
            </a:endParaRPr>
          </a:p>
        </p:txBody>
      </p:sp>
      <p:sp>
        <p:nvSpPr>
          <p:cNvPr id="124" name="Google Shape;124;p4">
            <a:extLst>
              <a:ext uri="{FF2B5EF4-FFF2-40B4-BE49-F238E27FC236}">
                <a16:creationId xmlns:a16="http://schemas.microsoft.com/office/drawing/2014/main" id="{94AF13E0-9797-3ECA-4621-32C803460367}"/>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s-ES" sz="2700" b="1" i="0" u="none" strike="noStrike" cap="none" noProof="0" dirty="0">
                <a:solidFill>
                  <a:srgbClr val="01415B"/>
                </a:solidFill>
                <a:latin typeface="Roboto"/>
                <a:ea typeface="Roboto"/>
                <a:cs typeface="Roboto"/>
                <a:sym typeface="Roboto"/>
              </a:rPr>
              <a:t>Fase de Ideación</a:t>
            </a:r>
          </a:p>
        </p:txBody>
      </p:sp>
    </p:spTree>
    <p:extLst>
      <p:ext uri="{BB962C8B-B14F-4D97-AF65-F5344CB8AC3E}">
        <p14:creationId xmlns:p14="http://schemas.microsoft.com/office/powerpoint/2010/main" val="35431793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023BB7F7-11F7-73B6-CB03-A12EBF501773}"/>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11F8E076-333A-12B5-E09B-768AFCA1F9BD}"/>
              </a:ext>
            </a:extLst>
          </p:cNvPr>
          <p:cNvSpPr txBox="1">
            <a:spLocks noGrp="1"/>
          </p:cNvSpPr>
          <p:nvPr>
            <p:ph type="body" idx="1"/>
          </p:nvPr>
        </p:nvSpPr>
        <p:spPr>
          <a:xfrm>
            <a:off x="671500" y="1414448"/>
            <a:ext cx="10799700" cy="5241600"/>
          </a:xfrm>
          <a:prstGeom prst="rect">
            <a:avLst/>
          </a:prstGeom>
          <a:noFill/>
          <a:ln>
            <a:noFill/>
          </a:ln>
        </p:spPr>
        <p:txBody>
          <a:bodyPr spcFirstLastPara="1" wrap="square" lIns="91425" tIns="45700" rIns="91425" bIns="45700" anchor="t" anchorCtr="0">
            <a:noAutofit/>
          </a:bodyPr>
          <a:lstStyle/>
          <a:p>
            <a:pPr marL="0" indent="0">
              <a:buNone/>
            </a:pPr>
            <a:r>
              <a:rPr lang="es-ES" sz="2200" b="1" dirty="0">
                <a:solidFill>
                  <a:srgbClr val="22627E"/>
                </a:solidFill>
              </a:rPr>
              <a:t>Lo que idearon las universidades</a:t>
            </a:r>
          </a:p>
          <a:p>
            <a:pPr marL="0" indent="0">
              <a:buNone/>
            </a:pPr>
            <a:endParaRPr lang="es-ES" sz="2200" b="1" dirty="0">
              <a:solidFill>
                <a:srgbClr val="22627E"/>
              </a:solidFill>
            </a:endParaRPr>
          </a:p>
          <a:p>
            <a:pPr marL="342900"/>
            <a:r>
              <a:rPr lang="es-ES" sz="2200" b="1" dirty="0">
                <a:solidFill>
                  <a:srgbClr val="22627E"/>
                </a:solidFill>
              </a:rPr>
              <a:t>Problema detectado:</a:t>
            </a:r>
            <a:r>
              <a:rPr lang="es-ES" sz="2200" dirty="0">
                <a:solidFill>
                  <a:srgbClr val="22627E"/>
                </a:solidFill>
              </a:rPr>
              <a:t> la necesidad de validar títulos académicos fácilmente, sin procesos burocráticos largos.</a:t>
            </a:r>
          </a:p>
          <a:p>
            <a:pPr marL="342900"/>
            <a:r>
              <a:rPr lang="es-ES" sz="2200" b="1" dirty="0">
                <a:solidFill>
                  <a:srgbClr val="22627E"/>
                </a:solidFill>
              </a:rPr>
              <a:t>Idea inicial:</a:t>
            </a:r>
            <a:r>
              <a:rPr lang="es-ES" sz="2200" dirty="0">
                <a:solidFill>
                  <a:srgbClr val="22627E"/>
                </a:solidFill>
              </a:rPr>
              <a:t> usar </a:t>
            </a:r>
            <a:r>
              <a:rPr lang="es-ES" sz="2200" dirty="0" err="1">
                <a:solidFill>
                  <a:srgbClr val="22627E"/>
                </a:solidFill>
              </a:rPr>
              <a:t>blockchain</a:t>
            </a:r>
            <a:r>
              <a:rPr lang="es-ES" sz="2200" dirty="0">
                <a:solidFill>
                  <a:srgbClr val="22627E"/>
                </a:solidFill>
              </a:rPr>
              <a:t> como un "notario digital" para certificar la existencia y autenticidad de los títulos universitarios.</a:t>
            </a:r>
          </a:p>
          <a:p>
            <a:pPr marL="342900"/>
            <a:r>
              <a:rPr lang="es-ES" sz="2200" b="1" dirty="0">
                <a:solidFill>
                  <a:srgbClr val="22627E"/>
                </a:solidFill>
              </a:rPr>
              <a:t>Propuesta técnica: </a:t>
            </a:r>
            <a:r>
              <a:rPr lang="es-ES" sz="2200" dirty="0">
                <a:solidFill>
                  <a:srgbClr val="22627E"/>
                </a:solidFill>
              </a:rPr>
              <a:t>emitir un hash del título (no el título entero, por privacidad) en una </a:t>
            </a:r>
            <a:r>
              <a:rPr lang="es-ES" sz="2200" dirty="0" err="1">
                <a:solidFill>
                  <a:srgbClr val="22627E"/>
                </a:solidFill>
              </a:rPr>
              <a:t>blockchain</a:t>
            </a:r>
            <a:r>
              <a:rPr lang="es-ES" sz="2200" dirty="0">
                <a:solidFill>
                  <a:srgbClr val="22627E"/>
                </a:solidFill>
              </a:rPr>
              <a:t>, de manera que cualquier empleador pudiera comprobar que ese título existe y no ha sido alterado.</a:t>
            </a:r>
          </a:p>
          <a:p>
            <a:pPr marL="342900"/>
            <a:r>
              <a:rPr lang="es-ES" sz="2200" b="1" dirty="0">
                <a:solidFill>
                  <a:srgbClr val="22627E"/>
                </a:solidFill>
              </a:rPr>
              <a:t>Plataformas elegidas:</a:t>
            </a:r>
            <a:r>
              <a:rPr lang="es-ES" sz="2200" dirty="0">
                <a:solidFill>
                  <a:srgbClr val="22627E"/>
                </a:solidFill>
              </a:rPr>
              <a:t> </a:t>
            </a:r>
            <a:r>
              <a:rPr lang="es-ES" sz="2200" dirty="0" err="1">
                <a:solidFill>
                  <a:srgbClr val="22627E"/>
                </a:solidFill>
              </a:rPr>
              <a:t>Blockcerts</a:t>
            </a:r>
            <a:r>
              <a:rPr lang="es-ES" sz="2200" dirty="0">
                <a:solidFill>
                  <a:srgbClr val="22627E"/>
                </a:solidFill>
              </a:rPr>
              <a:t> en Ethereum o sistemas privados compatibles (por ejemplo, </a:t>
            </a:r>
            <a:r>
              <a:rPr lang="es-ES" sz="2200" dirty="0" err="1">
                <a:solidFill>
                  <a:srgbClr val="22627E"/>
                </a:solidFill>
              </a:rPr>
              <a:t>Alastria</a:t>
            </a:r>
            <a:r>
              <a:rPr lang="es-ES" sz="2200" dirty="0">
                <a:solidFill>
                  <a:srgbClr val="22627E"/>
                </a:solidFill>
              </a:rPr>
              <a:t>).</a:t>
            </a:r>
            <a:endParaRPr sz="2200" dirty="0">
              <a:solidFill>
                <a:srgbClr val="22627E"/>
              </a:solidFill>
            </a:endParaRPr>
          </a:p>
        </p:txBody>
      </p:sp>
      <p:sp>
        <p:nvSpPr>
          <p:cNvPr id="124" name="Google Shape;124;p4">
            <a:extLst>
              <a:ext uri="{FF2B5EF4-FFF2-40B4-BE49-F238E27FC236}">
                <a16:creationId xmlns:a16="http://schemas.microsoft.com/office/drawing/2014/main" id="{F07F8B21-8B83-59F1-0DA5-0AAE5B374372}"/>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s-ES" sz="2700" b="1" i="0" u="none" strike="noStrike" cap="none" noProof="0" dirty="0">
                <a:solidFill>
                  <a:srgbClr val="01415B"/>
                </a:solidFill>
                <a:latin typeface="Roboto"/>
                <a:ea typeface="Roboto"/>
                <a:cs typeface="Roboto"/>
                <a:sym typeface="Roboto"/>
              </a:rPr>
              <a:t>Ideación de las Universidades</a:t>
            </a:r>
          </a:p>
        </p:txBody>
      </p:sp>
    </p:spTree>
    <p:extLst>
      <p:ext uri="{BB962C8B-B14F-4D97-AF65-F5344CB8AC3E}">
        <p14:creationId xmlns:p14="http://schemas.microsoft.com/office/powerpoint/2010/main" val="17271032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0D615C12-F31F-2EF3-47D5-376FA10D6CEF}"/>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FA6A34A1-57BE-494D-3CAA-DD9B0095979A}"/>
              </a:ext>
            </a:extLst>
          </p:cNvPr>
          <p:cNvSpPr txBox="1">
            <a:spLocks noGrp="1"/>
          </p:cNvSpPr>
          <p:nvPr>
            <p:ph type="body" idx="1"/>
          </p:nvPr>
        </p:nvSpPr>
        <p:spPr>
          <a:xfrm>
            <a:off x="671500" y="1414448"/>
            <a:ext cx="10799700" cy="5241600"/>
          </a:xfrm>
          <a:prstGeom prst="rect">
            <a:avLst/>
          </a:prstGeom>
          <a:noFill/>
          <a:ln>
            <a:noFill/>
          </a:ln>
        </p:spPr>
        <p:txBody>
          <a:bodyPr spcFirstLastPara="1" wrap="square" lIns="91425" tIns="45700" rIns="91425" bIns="45700" anchor="t" anchorCtr="0">
            <a:noAutofit/>
          </a:bodyPr>
          <a:lstStyle/>
          <a:p>
            <a:pPr marL="0" indent="0">
              <a:buNone/>
            </a:pPr>
            <a:r>
              <a:rPr lang="es-ES" sz="2200" b="1" dirty="0">
                <a:solidFill>
                  <a:srgbClr val="22627E"/>
                </a:solidFill>
              </a:rPr>
              <a:t>¿Cómo llegaron a esta idea?</a:t>
            </a:r>
          </a:p>
          <a:p>
            <a:pPr marL="0" indent="0">
              <a:buNone/>
            </a:pPr>
            <a:r>
              <a:rPr lang="es-ES" sz="2200" b="1" dirty="0">
                <a:solidFill>
                  <a:srgbClr val="22627E"/>
                </a:solidFill>
              </a:rPr>
              <a:t>Poca introspección real: </a:t>
            </a:r>
            <a:r>
              <a:rPr lang="es-ES" sz="2200" dirty="0">
                <a:solidFill>
                  <a:srgbClr val="22627E"/>
                </a:solidFill>
              </a:rPr>
              <a:t>muchos proyectos surgieron por impulso tecnológico, no tanto porque hubieran validado que los usuarios (empresas, alumnos) lo pidieran.</a:t>
            </a:r>
          </a:p>
          <a:p>
            <a:pPr marL="0" indent="0">
              <a:buNone/>
            </a:pPr>
            <a:r>
              <a:rPr lang="es-ES" sz="2200" b="1" dirty="0" err="1">
                <a:solidFill>
                  <a:srgbClr val="22627E"/>
                </a:solidFill>
              </a:rPr>
              <a:t>Brainstorming</a:t>
            </a:r>
            <a:r>
              <a:rPr lang="es-ES" sz="2200" b="1" dirty="0">
                <a:solidFill>
                  <a:srgbClr val="22627E"/>
                </a:solidFill>
              </a:rPr>
              <a:t> interno: </a:t>
            </a:r>
            <a:r>
              <a:rPr lang="es-ES" sz="2200" dirty="0">
                <a:solidFill>
                  <a:srgbClr val="22627E"/>
                </a:solidFill>
              </a:rPr>
              <a:t>algunas universidades hicieron talleres de innovación o grupos internos de trabajo. (Por ejemplo, UC3M tuvo un pequeño grupo impulsor dentro del departamento de Transformación Digital).</a:t>
            </a:r>
          </a:p>
          <a:p>
            <a:pPr marL="0" indent="0">
              <a:buNone/>
            </a:pPr>
            <a:r>
              <a:rPr lang="es-ES" sz="2200" b="1" dirty="0">
                <a:solidFill>
                  <a:srgbClr val="22627E"/>
                </a:solidFill>
              </a:rPr>
              <a:t>Influencias externas: </a:t>
            </a:r>
            <a:r>
              <a:rPr lang="es-ES" sz="2200" dirty="0">
                <a:solidFill>
                  <a:srgbClr val="22627E"/>
                </a:solidFill>
              </a:rPr>
              <a:t>la moda de </a:t>
            </a:r>
            <a:r>
              <a:rPr lang="es-ES" sz="2200" dirty="0" err="1">
                <a:solidFill>
                  <a:srgbClr val="22627E"/>
                </a:solidFill>
              </a:rPr>
              <a:t>blockchain</a:t>
            </a:r>
            <a:r>
              <a:rPr lang="es-ES" sz="2200" dirty="0">
                <a:solidFill>
                  <a:srgbClr val="22627E"/>
                </a:solidFill>
              </a:rPr>
              <a:t> post-2017 (especialmente tras el boom de </a:t>
            </a:r>
            <a:r>
              <a:rPr lang="es-ES" sz="2200" dirty="0" err="1">
                <a:solidFill>
                  <a:srgbClr val="22627E"/>
                </a:solidFill>
              </a:rPr>
              <a:t>ICOs</a:t>
            </a:r>
            <a:r>
              <a:rPr lang="es-ES" sz="2200" dirty="0">
                <a:solidFill>
                  <a:srgbClr val="22627E"/>
                </a:solidFill>
              </a:rPr>
              <a:t> y </a:t>
            </a:r>
            <a:r>
              <a:rPr lang="es-ES" sz="2200" dirty="0" err="1">
                <a:solidFill>
                  <a:srgbClr val="22627E"/>
                </a:solidFill>
              </a:rPr>
              <a:t>smart</a:t>
            </a:r>
            <a:r>
              <a:rPr lang="es-ES" sz="2200" dirty="0">
                <a:solidFill>
                  <a:srgbClr val="22627E"/>
                </a:solidFill>
              </a:rPr>
              <a:t> </a:t>
            </a:r>
            <a:r>
              <a:rPr lang="es-ES" sz="2200" dirty="0" err="1">
                <a:solidFill>
                  <a:srgbClr val="22627E"/>
                </a:solidFill>
              </a:rPr>
              <a:t>contracts</a:t>
            </a:r>
            <a:r>
              <a:rPr lang="es-ES" sz="2200" dirty="0">
                <a:solidFill>
                  <a:srgbClr val="22627E"/>
                </a:solidFill>
              </a:rPr>
              <a:t>) presionó políticamente a instituciones para "hacer algo en </a:t>
            </a:r>
            <a:r>
              <a:rPr lang="es-ES" sz="2200" dirty="0" err="1">
                <a:solidFill>
                  <a:srgbClr val="22627E"/>
                </a:solidFill>
              </a:rPr>
              <a:t>blockchain</a:t>
            </a:r>
            <a:r>
              <a:rPr lang="es-ES" sz="2200" dirty="0">
                <a:solidFill>
                  <a:srgbClr val="22627E"/>
                </a:solidFill>
              </a:rPr>
              <a:t>".</a:t>
            </a:r>
          </a:p>
          <a:p>
            <a:pPr marL="0" indent="0">
              <a:buNone/>
            </a:pPr>
            <a:r>
              <a:rPr lang="es-ES" sz="2200" b="1" dirty="0">
                <a:solidFill>
                  <a:srgbClr val="22627E"/>
                </a:solidFill>
              </a:rPr>
              <a:t>Consultoras externas:</a:t>
            </a:r>
            <a:r>
              <a:rPr lang="es-ES" sz="2200" dirty="0">
                <a:solidFill>
                  <a:srgbClr val="22627E"/>
                </a:solidFill>
              </a:rPr>
              <a:t> en algunos casos, grandes consultoras ayudaron a diseñar las iniciativas (Accenture, </a:t>
            </a:r>
            <a:r>
              <a:rPr lang="es-ES" sz="2200" dirty="0" err="1">
                <a:solidFill>
                  <a:srgbClr val="22627E"/>
                </a:solidFill>
              </a:rPr>
              <a:t>Everis</a:t>
            </a:r>
            <a:r>
              <a:rPr lang="es-ES" sz="2200" dirty="0">
                <a:solidFill>
                  <a:srgbClr val="22627E"/>
                </a:solidFill>
              </a:rPr>
              <a:t>, etc.), lo que hizo que el foco estuviera más en el cómo técnico que en validar el problema.</a:t>
            </a:r>
            <a:endParaRPr sz="2200" dirty="0">
              <a:solidFill>
                <a:srgbClr val="22627E"/>
              </a:solidFill>
            </a:endParaRPr>
          </a:p>
        </p:txBody>
      </p:sp>
      <p:sp>
        <p:nvSpPr>
          <p:cNvPr id="124" name="Google Shape;124;p4">
            <a:extLst>
              <a:ext uri="{FF2B5EF4-FFF2-40B4-BE49-F238E27FC236}">
                <a16:creationId xmlns:a16="http://schemas.microsoft.com/office/drawing/2014/main" id="{5C86999E-9F9B-297A-70ED-ADCCC2569DE0}"/>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s-ES" sz="2700" b="1" i="0" u="none" strike="noStrike" cap="none" noProof="0" dirty="0" err="1">
                <a:solidFill>
                  <a:srgbClr val="01415B"/>
                </a:solidFill>
                <a:latin typeface="Roboto"/>
                <a:ea typeface="Roboto"/>
                <a:cs typeface="Roboto"/>
                <a:sym typeface="Roboto"/>
              </a:rPr>
              <a:t>Pitfalls</a:t>
            </a:r>
            <a:endParaRPr lang="es-ES" sz="2700" b="1" i="0" u="none" strike="noStrike" cap="none" noProof="0" dirty="0">
              <a:solidFill>
                <a:srgbClr val="01415B"/>
              </a:solidFill>
              <a:latin typeface="Roboto"/>
              <a:ea typeface="Roboto"/>
              <a:cs typeface="Roboto"/>
              <a:sym typeface="Roboto"/>
            </a:endParaRPr>
          </a:p>
        </p:txBody>
      </p:sp>
    </p:spTree>
    <p:extLst>
      <p:ext uri="{BB962C8B-B14F-4D97-AF65-F5344CB8AC3E}">
        <p14:creationId xmlns:p14="http://schemas.microsoft.com/office/powerpoint/2010/main" val="18627078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49339907-3122-2560-848F-2CA6A3487E94}"/>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26AD0043-DB9C-5F10-A048-3BD220CEDC6D}"/>
              </a:ext>
            </a:extLst>
          </p:cNvPr>
          <p:cNvSpPr txBox="1">
            <a:spLocks noGrp="1"/>
          </p:cNvSpPr>
          <p:nvPr>
            <p:ph type="body" idx="1"/>
          </p:nvPr>
        </p:nvSpPr>
        <p:spPr>
          <a:xfrm>
            <a:off x="671500" y="1414448"/>
            <a:ext cx="10799700" cy="5241600"/>
          </a:xfrm>
          <a:prstGeom prst="rect">
            <a:avLst/>
          </a:prstGeom>
          <a:noFill/>
          <a:ln>
            <a:noFill/>
          </a:ln>
        </p:spPr>
        <p:txBody>
          <a:bodyPr spcFirstLastPara="1" wrap="square" lIns="91425" tIns="45700" rIns="91425" bIns="45700" anchor="t" anchorCtr="0">
            <a:noAutofit/>
          </a:bodyPr>
          <a:lstStyle/>
          <a:p>
            <a:pPr marL="0" indent="0">
              <a:buNone/>
            </a:pPr>
            <a:r>
              <a:rPr lang="es-ES" sz="2200" b="1" dirty="0">
                <a:solidFill>
                  <a:srgbClr val="22627E"/>
                </a:solidFill>
              </a:rPr>
              <a:t>¿Era una necesidad real o impulsada por moda tecnológica?</a:t>
            </a:r>
          </a:p>
          <a:p>
            <a:pPr marL="0" indent="0">
              <a:buNone/>
            </a:pPr>
            <a:endParaRPr lang="es-ES" sz="2200" b="1" dirty="0">
              <a:solidFill>
                <a:srgbClr val="22627E"/>
              </a:solidFill>
            </a:endParaRPr>
          </a:p>
          <a:p>
            <a:pPr marL="0" indent="0">
              <a:buNone/>
            </a:pPr>
            <a:r>
              <a:rPr lang="es-ES" sz="2200" b="1" dirty="0">
                <a:solidFill>
                  <a:srgbClr val="22627E"/>
                </a:solidFill>
              </a:rPr>
              <a:t>¿Qué método de ideación habríais usado para validar mejor la necesidad?</a:t>
            </a:r>
          </a:p>
          <a:p>
            <a:pPr marL="0" indent="0">
              <a:buNone/>
            </a:pPr>
            <a:endParaRPr lang="es-ES" sz="2200" b="1" dirty="0">
              <a:solidFill>
                <a:srgbClr val="22627E"/>
              </a:solidFill>
            </a:endParaRPr>
          </a:p>
          <a:p>
            <a:pPr marL="0" indent="0">
              <a:buNone/>
            </a:pPr>
            <a:r>
              <a:rPr lang="es-ES" sz="2200" b="1" dirty="0">
                <a:solidFill>
                  <a:srgbClr val="22627E"/>
                </a:solidFill>
              </a:rPr>
              <a:t>¿Qué riesgos tiene construir una solución sin validar antes el problema?</a:t>
            </a:r>
          </a:p>
          <a:p>
            <a:pPr marL="0" indent="0">
              <a:buNone/>
            </a:pPr>
            <a:endParaRPr lang="es-ES" sz="2200" b="1" dirty="0">
              <a:solidFill>
                <a:srgbClr val="22627E"/>
              </a:solidFill>
            </a:endParaRPr>
          </a:p>
          <a:p>
            <a:pPr marL="0" indent="0">
              <a:buNone/>
            </a:pPr>
            <a:r>
              <a:rPr lang="es-ES" sz="2200" b="1" dirty="0">
                <a:solidFill>
                  <a:srgbClr val="22627E"/>
                </a:solidFill>
              </a:rPr>
              <a:t>¿Qué habríais hecho diferente en la fase de generación de ideas?</a:t>
            </a:r>
            <a:endParaRPr sz="2200" dirty="0">
              <a:solidFill>
                <a:srgbClr val="22627E"/>
              </a:solidFill>
            </a:endParaRPr>
          </a:p>
        </p:txBody>
      </p:sp>
      <p:sp>
        <p:nvSpPr>
          <p:cNvPr id="124" name="Google Shape;124;p4">
            <a:extLst>
              <a:ext uri="{FF2B5EF4-FFF2-40B4-BE49-F238E27FC236}">
                <a16:creationId xmlns:a16="http://schemas.microsoft.com/office/drawing/2014/main" id="{0A4B3E00-DF12-F388-83BE-94E1D694747E}"/>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s-ES" sz="2700" b="1" i="0" u="none" strike="noStrike" cap="none" noProof="0" dirty="0">
                <a:solidFill>
                  <a:srgbClr val="01415B"/>
                </a:solidFill>
                <a:latin typeface="Roboto"/>
                <a:ea typeface="Roboto"/>
                <a:cs typeface="Roboto"/>
                <a:sym typeface="Roboto"/>
              </a:rPr>
              <a:t>Reflexión y Debate  </a:t>
            </a:r>
          </a:p>
        </p:txBody>
      </p:sp>
    </p:spTree>
    <p:extLst>
      <p:ext uri="{BB962C8B-B14F-4D97-AF65-F5344CB8AC3E}">
        <p14:creationId xmlns:p14="http://schemas.microsoft.com/office/powerpoint/2010/main" val="36157119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1415B"/>
        </a:solidFill>
        <a:effectLst/>
      </p:bgPr>
    </p:bg>
    <p:spTree>
      <p:nvGrpSpPr>
        <p:cNvPr id="1" name="Shape 110"/>
        <p:cNvGrpSpPr/>
        <p:nvPr/>
      </p:nvGrpSpPr>
      <p:grpSpPr>
        <a:xfrm>
          <a:off x="0" y="0"/>
          <a:ext cx="0" cy="0"/>
          <a:chOff x="0" y="0"/>
          <a:chExt cx="0" cy="0"/>
        </a:xfrm>
      </p:grpSpPr>
      <p:grpSp>
        <p:nvGrpSpPr>
          <p:cNvPr id="111" name="Google Shape;111;g1ea3c471214_0_9"/>
          <p:cNvGrpSpPr/>
          <p:nvPr/>
        </p:nvGrpSpPr>
        <p:grpSpPr>
          <a:xfrm>
            <a:off x="2178127" y="2865504"/>
            <a:ext cx="7364281" cy="1146201"/>
            <a:chOff x="2990101" y="2717970"/>
            <a:chExt cx="6251512" cy="1144942"/>
          </a:xfrm>
        </p:grpSpPr>
        <p:sp>
          <p:nvSpPr>
            <p:cNvPr id="112" name="Google Shape;112;g1ea3c471214_0_9"/>
            <p:cNvSpPr/>
            <p:nvPr/>
          </p:nvSpPr>
          <p:spPr>
            <a:xfrm>
              <a:off x="2990101" y="2717970"/>
              <a:ext cx="6251512" cy="1144942"/>
            </a:xfrm>
            <a:custGeom>
              <a:avLst/>
              <a:gdLst/>
              <a:ahLst/>
              <a:cxnLst/>
              <a:rect l="l" t="t" r="r" b="b"/>
              <a:pathLst>
                <a:path w="6251512" h="1144942" extrusionOk="0">
                  <a:moveTo>
                    <a:pt x="572471" y="0"/>
                  </a:moveTo>
                  <a:lnTo>
                    <a:pt x="5679041" y="0"/>
                  </a:lnTo>
                  <a:cubicBezTo>
                    <a:pt x="5995208" y="0"/>
                    <a:pt x="6251512" y="256304"/>
                    <a:pt x="6251512" y="572471"/>
                  </a:cubicBezTo>
                  <a:lnTo>
                    <a:pt x="6251512" y="572471"/>
                  </a:lnTo>
                  <a:cubicBezTo>
                    <a:pt x="6251512" y="888638"/>
                    <a:pt x="5995208" y="1144942"/>
                    <a:pt x="5679041" y="1144942"/>
                  </a:cubicBezTo>
                  <a:lnTo>
                    <a:pt x="572471" y="1144942"/>
                  </a:lnTo>
                  <a:cubicBezTo>
                    <a:pt x="256304" y="1144942"/>
                    <a:pt x="0" y="888638"/>
                    <a:pt x="0" y="572471"/>
                  </a:cubicBezTo>
                  <a:lnTo>
                    <a:pt x="0" y="572471"/>
                  </a:lnTo>
                  <a:cubicBezTo>
                    <a:pt x="0" y="256304"/>
                    <a:pt x="256304" y="0"/>
                    <a:pt x="572471" y="0"/>
                  </a:cubicBezTo>
                  <a:close/>
                </a:path>
              </a:pathLst>
            </a:custGeom>
            <a:noFill/>
            <a:ln w="9525" cap="flat" cmpd="sng">
              <a:solidFill>
                <a:srgbClr val="3298B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3" name="Google Shape;113;g1ea3c471214_0_9"/>
            <p:cNvSpPr/>
            <p:nvPr/>
          </p:nvSpPr>
          <p:spPr>
            <a:xfrm>
              <a:off x="3113925" y="2822632"/>
              <a:ext cx="6034026" cy="924516"/>
            </a:xfrm>
            <a:custGeom>
              <a:avLst/>
              <a:gdLst/>
              <a:ahLst/>
              <a:cxnLst/>
              <a:rect l="l" t="t" r="r" b="b"/>
              <a:pathLst>
                <a:path w="6034026" h="924516" extrusionOk="0">
                  <a:moveTo>
                    <a:pt x="462258" y="0"/>
                  </a:moveTo>
                  <a:lnTo>
                    <a:pt x="5571768" y="0"/>
                  </a:lnTo>
                  <a:cubicBezTo>
                    <a:pt x="5827066" y="0"/>
                    <a:pt x="6034026" y="206960"/>
                    <a:pt x="6034026" y="462258"/>
                  </a:cubicBezTo>
                  <a:lnTo>
                    <a:pt x="6034026" y="462258"/>
                  </a:lnTo>
                  <a:cubicBezTo>
                    <a:pt x="6034026" y="717556"/>
                    <a:pt x="5827066" y="924516"/>
                    <a:pt x="5571768" y="924516"/>
                  </a:cubicBezTo>
                  <a:lnTo>
                    <a:pt x="462258" y="924516"/>
                  </a:lnTo>
                  <a:cubicBezTo>
                    <a:pt x="206960" y="924516"/>
                    <a:pt x="0" y="717556"/>
                    <a:pt x="0" y="462258"/>
                  </a:cubicBezTo>
                  <a:lnTo>
                    <a:pt x="0" y="462258"/>
                  </a:lnTo>
                  <a:cubicBezTo>
                    <a:pt x="0" y="206960"/>
                    <a:pt x="206960" y="0"/>
                    <a:pt x="462258" y="0"/>
                  </a:cubicBezTo>
                  <a:close/>
                </a:path>
              </a:pathLst>
            </a:custGeom>
            <a:solidFill>
              <a:srgbClr val="3298B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114" name="Google Shape;114;g1ea3c471214_0_9"/>
          <p:cNvSpPr/>
          <p:nvPr/>
        </p:nvSpPr>
        <p:spPr>
          <a:xfrm>
            <a:off x="8281900" y="2571750"/>
            <a:ext cx="1731900" cy="1714500"/>
          </a:xfrm>
          <a:prstGeom prst="ellipse">
            <a:avLst/>
          </a:prstGeom>
          <a:solidFill>
            <a:srgbClr val="01415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5" name="Google Shape;115;g1ea3c471214_0_9"/>
          <p:cNvSpPr txBox="1">
            <a:spLocks noGrp="1"/>
          </p:cNvSpPr>
          <p:nvPr>
            <p:ph type="body" idx="1"/>
          </p:nvPr>
        </p:nvSpPr>
        <p:spPr>
          <a:xfrm>
            <a:off x="3798800" y="3132137"/>
            <a:ext cx="5064000" cy="612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FFFF"/>
              </a:buClr>
              <a:buSzPts val="2800"/>
              <a:buNone/>
            </a:pPr>
            <a:r>
              <a:rPr lang="en-US" sz="2800" b="1" i="0" u="none" dirty="0" err="1">
                <a:solidFill>
                  <a:srgbClr val="FFFFFF"/>
                </a:solidFill>
                <a:latin typeface="Roboto"/>
                <a:ea typeface="Roboto"/>
                <a:cs typeface="Roboto"/>
                <a:sym typeface="Roboto"/>
              </a:rPr>
              <a:t>Análisis</a:t>
            </a:r>
            <a:endParaRPr dirty="0"/>
          </a:p>
        </p:txBody>
      </p:sp>
      <p:sp>
        <p:nvSpPr>
          <p:cNvPr id="116" name="Google Shape;116;g1ea3c471214_0_9"/>
          <p:cNvSpPr/>
          <p:nvPr/>
        </p:nvSpPr>
        <p:spPr>
          <a:xfrm>
            <a:off x="8402550" y="2703512"/>
            <a:ext cx="1492200" cy="1390800"/>
          </a:xfrm>
          <a:prstGeom prst="ellipse">
            <a:avLst/>
          </a:prstGeom>
          <a:solidFill>
            <a:srgbClr val="3298B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17" name="Google Shape;117;g1ea3c471214_0_9"/>
          <p:cNvPicPr preferRelativeResize="0"/>
          <p:nvPr/>
        </p:nvPicPr>
        <p:blipFill rotWithShape="1">
          <a:blip r:embed="rId3">
            <a:alphaModFix/>
          </a:blip>
          <a:srcRect/>
          <a:stretch/>
        </p:blipFill>
        <p:spPr>
          <a:xfrm>
            <a:off x="8826413" y="3057525"/>
            <a:ext cx="742950" cy="742950"/>
          </a:xfrm>
          <a:prstGeom prst="rect">
            <a:avLst/>
          </a:prstGeom>
          <a:noFill/>
          <a:ln>
            <a:noFill/>
          </a:ln>
        </p:spPr>
      </p:pic>
    </p:spTree>
    <p:extLst>
      <p:ext uri="{BB962C8B-B14F-4D97-AF65-F5344CB8AC3E}">
        <p14:creationId xmlns:p14="http://schemas.microsoft.com/office/powerpoint/2010/main" val="35257278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4"/>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457200" marR="0" lvl="0" indent="0" algn="l" rtl="0">
              <a:lnSpc>
                <a:spcPct val="90000"/>
              </a:lnSpc>
              <a:spcBef>
                <a:spcPts val="1000"/>
              </a:spcBef>
              <a:spcAft>
                <a:spcPts val="0"/>
              </a:spcAft>
              <a:buSzPts val="1800"/>
              <a:buNone/>
            </a:pPr>
            <a:endParaRPr lang="es-ES" sz="2000" dirty="0">
              <a:solidFill>
                <a:srgbClr val="22627E"/>
              </a:solidFill>
            </a:endParaRPr>
          </a:p>
          <a:p>
            <a:pPr marL="457200" marR="0" lvl="0" indent="0" algn="l" rtl="0">
              <a:lnSpc>
                <a:spcPct val="90000"/>
              </a:lnSpc>
              <a:spcBef>
                <a:spcPts val="1000"/>
              </a:spcBef>
              <a:spcAft>
                <a:spcPts val="0"/>
              </a:spcAft>
              <a:buSzPts val="1800"/>
              <a:buNone/>
            </a:pPr>
            <a:endParaRPr sz="2000" dirty="0">
              <a:solidFill>
                <a:srgbClr val="22627E"/>
              </a:solidFill>
            </a:endParaRPr>
          </a:p>
          <a:p>
            <a:pPr indent="-355600">
              <a:buClr>
                <a:srgbClr val="22627E"/>
              </a:buClr>
              <a:buSzPts val="2000"/>
            </a:pPr>
            <a:r>
              <a:rPr lang="es-ES" sz="2400" dirty="0">
                <a:solidFill>
                  <a:srgbClr val="22627E"/>
                </a:solidFill>
              </a:rPr>
              <a:t>Requisitos funcionales y no funcionales: ¿Qué debe hacer realmente la solución?</a:t>
            </a:r>
          </a:p>
          <a:p>
            <a:pPr indent="-355600">
              <a:buClr>
                <a:srgbClr val="22627E"/>
              </a:buClr>
              <a:buSzPts val="2000"/>
            </a:pPr>
            <a:r>
              <a:rPr lang="es-ES" sz="2400" dirty="0">
                <a:solidFill>
                  <a:srgbClr val="22627E"/>
                </a:solidFill>
              </a:rPr>
              <a:t>Identificación de </a:t>
            </a:r>
            <a:r>
              <a:rPr lang="es-ES" sz="2400" dirty="0" err="1">
                <a:solidFill>
                  <a:srgbClr val="22627E"/>
                </a:solidFill>
              </a:rPr>
              <a:t>stakeholders</a:t>
            </a:r>
            <a:r>
              <a:rPr lang="es-ES" sz="2400" dirty="0">
                <a:solidFill>
                  <a:srgbClr val="22627E"/>
                </a:solidFill>
              </a:rPr>
              <a:t>: ¿Quiénes se ven afectados o tienen interés?</a:t>
            </a:r>
          </a:p>
          <a:p>
            <a:pPr indent="-355600">
              <a:buClr>
                <a:srgbClr val="22627E"/>
              </a:buClr>
              <a:buSzPts val="2000"/>
            </a:pPr>
            <a:r>
              <a:rPr lang="es-ES" sz="2400" dirty="0">
                <a:solidFill>
                  <a:srgbClr val="22627E"/>
                </a:solidFill>
              </a:rPr>
              <a:t>Selección de tecnología: ¿La solución técnica encaja con el problema real?</a:t>
            </a:r>
          </a:p>
          <a:p>
            <a:pPr indent="-355600">
              <a:buClr>
                <a:srgbClr val="22627E"/>
              </a:buClr>
              <a:buSzPts val="2000"/>
            </a:pPr>
            <a:r>
              <a:rPr lang="es-ES" sz="2400" dirty="0">
                <a:solidFill>
                  <a:srgbClr val="22627E"/>
                </a:solidFill>
              </a:rPr>
              <a:t>Análisis de riesgos: ¿Qué podría salir mal?</a:t>
            </a:r>
            <a:endParaRPr sz="2400" dirty="0">
              <a:solidFill>
                <a:srgbClr val="22627E"/>
              </a:solidFill>
            </a:endParaRPr>
          </a:p>
          <a:p>
            <a:pPr marL="228600" marR="0" lvl="0" indent="-228600" algn="l" rtl="0">
              <a:lnSpc>
                <a:spcPct val="90000"/>
              </a:lnSpc>
              <a:spcBef>
                <a:spcPts val="1000"/>
              </a:spcBef>
              <a:spcAft>
                <a:spcPts val="0"/>
              </a:spcAft>
              <a:buClr>
                <a:schemeClr val="lt1"/>
              </a:buClr>
              <a:buSzPts val="2400"/>
              <a:buFont typeface="Arial"/>
              <a:buChar char="•"/>
            </a:pPr>
            <a:endParaRPr sz="2400" dirty="0"/>
          </a:p>
        </p:txBody>
      </p:sp>
      <p:sp>
        <p:nvSpPr>
          <p:cNvPr id="124" name="Google Shape;124;p4"/>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n-US" sz="2700" b="1" i="0" u="none" strike="noStrike" cap="none" dirty="0" err="1">
                <a:solidFill>
                  <a:srgbClr val="01415B"/>
                </a:solidFill>
                <a:latin typeface="Roboto"/>
                <a:ea typeface="Roboto"/>
                <a:cs typeface="Roboto"/>
                <a:sym typeface="Roboto"/>
              </a:rPr>
              <a:t>Análisis</a:t>
            </a:r>
            <a:endParaRPr lang="en-US" sz="2700" b="1" i="0" u="none" strike="noStrike" cap="none" dirty="0">
              <a:solidFill>
                <a:srgbClr val="01415B"/>
              </a:solidFill>
              <a:latin typeface="Roboto"/>
              <a:ea typeface="Roboto"/>
              <a:cs typeface="Roboto"/>
              <a:sym typeface="Roboto"/>
            </a:endParaRPr>
          </a:p>
        </p:txBody>
      </p:sp>
    </p:spTree>
    <p:extLst>
      <p:ext uri="{BB962C8B-B14F-4D97-AF65-F5344CB8AC3E}">
        <p14:creationId xmlns:p14="http://schemas.microsoft.com/office/powerpoint/2010/main" val="28482378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6A4FDD21-6C0D-CAE7-784A-8E3F89B5CBBA}"/>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E80256A3-058C-134C-2D27-089B7101FFD6}"/>
              </a:ext>
            </a:extLst>
          </p:cNvPr>
          <p:cNvSpPr txBox="1">
            <a:spLocks noGrp="1"/>
          </p:cNvSpPr>
          <p:nvPr>
            <p:ph type="body" idx="1"/>
          </p:nvPr>
        </p:nvSpPr>
        <p:spPr>
          <a:xfrm>
            <a:off x="514351" y="1111238"/>
            <a:ext cx="10311574" cy="5241600"/>
          </a:xfrm>
          <a:prstGeom prst="rect">
            <a:avLst/>
          </a:prstGeom>
          <a:noFill/>
          <a:ln>
            <a:noFill/>
          </a:ln>
        </p:spPr>
        <p:txBody>
          <a:bodyPr spcFirstLastPara="1" wrap="square" lIns="91425" tIns="45700" rIns="91425" bIns="45700" anchor="t" anchorCtr="0">
            <a:noAutofit/>
          </a:bodyPr>
          <a:lstStyle/>
          <a:p>
            <a:pPr marL="457200" marR="0" lvl="0" indent="0" algn="l" rtl="0">
              <a:lnSpc>
                <a:spcPct val="90000"/>
              </a:lnSpc>
              <a:spcBef>
                <a:spcPts val="1000"/>
              </a:spcBef>
              <a:spcAft>
                <a:spcPts val="0"/>
              </a:spcAft>
              <a:buSzPts val="1800"/>
              <a:buNone/>
            </a:pPr>
            <a:r>
              <a:rPr lang="es-ES" b="1" dirty="0">
                <a:solidFill>
                  <a:srgbClr val="22627E"/>
                </a:solidFill>
              </a:rPr>
              <a:t>Requisitos funcionales y no funcionales</a:t>
            </a:r>
          </a:p>
          <a:p>
            <a:pPr marL="457200" marR="0" lvl="0" indent="0" algn="l" rtl="0">
              <a:lnSpc>
                <a:spcPct val="90000"/>
              </a:lnSpc>
              <a:spcBef>
                <a:spcPts val="1000"/>
              </a:spcBef>
              <a:spcAft>
                <a:spcPts val="0"/>
              </a:spcAft>
              <a:buSzPts val="1800"/>
              <a:buNone/>
            </a:pPr>
            <a:endParaRPr sz="2000" dirty="0">
              <a:solidFill>
                <a:srgbClr val="22627E"/>
              </a:solidFill>
            </a:endParaRPr>
          </a:p>
          <a:p>
            <a:pPr indent="-355600">
              <a:buClr>
                <a:srgbClr val="22627E"/>
              </a:buClr>
              <a:buSzPts val="2000"/>
            </a:pPr>
            <a:r>
              <a:rPr lang="es-ES" sz="2400" dirty="0">
                <a:solidFill>
                  <a:srgbClr val="22627E"/>
                </a:solidFill>
              </a:rPr>
              <a:t>Funcionales (qué debía hacer):</a:t>
            </a:r>
          </a:p>
          <a:p>
            <a:pPr lvl="1" indent="-355600">
              <a:buClr>
                <a:srgbClr val="22627E"/>
              </a:buClr>
              <a:buSzPts val="2000"/>
            </a:pPr>
            <a:r>
              <a:rPr lang="es-ES" sz="2000" dirty="0">
                <a:solidFill>
                  <a:srgbClr val="22627E"/>
                </a:solidFill>
              </a:rPr>
              <a:t>Permitir que una universidad emita un certificado digital verificable.</a:t>
            </a:r>
          </a:p>
          <a:p>
            <a:pPr lvl="1" indent="-355600">
              <a:buClr>
                <a:srgbClr val="22627E"/>
              </a:buClr>
              <a:buSzPts val="2000"/>
            </a:pPr>
            <a:r>
              <a:rPr lang="es-ES" sz="2000" dirty="0">
                <a:solidFill>
                  <a:srgbClr val="22627E"/>
                </a:solidFill>
              </a:rPr>
              <a:t>Permitir a un tercero (ej. empleador) verificar su autenticidad sin contactar con la universidad.</a:t>
            </a:r>
          </a:p>
          <a:p>
            <a:pPr lvl="1" indent="-355600">
              <a:buClr>
                <a:srgbClr val="22627E"/>
              </a:buClr>
              <a:buSzPts val="2000"/>
            </a:pPr>
            <a:r>
              <a:rPr lang="es-ES" sz="2000" dirty="0">
                <a:solidFill>
                  <a:srgbClr val="22627E"/>
                </a:solidFill>
              </a:rPr>
              <a:t>Garantizar la integridad del documento (que no pueda ser alterado).</a:t>
            </a:r>
          </a:p>
          <a:p>
            <a:pPr lvl="1" indent="-355600">
              <a:buClr>
                <a:srgbClr val="22627E"/>
              </a:buClr>
              <a:buSzPts val="2000"/>
            </a:pPr>
            <a:r>
              <a:rPr lang="es-ES" sz="2000" dirty="0">
                <a:solidFill>
                  <a:srgbClr val="22627E"/>
                </a:solidFill>
              </a:rPr>
              <a:t>Vincular el certificado a la identidad del alumno de forma segura.</a:t>
            </a:r>
          </a:p>
          <a:p>
            <a:pPr indent="-355600">
              <a:buClr>
                <a:srgbClr val="22627E"/>
              </a:buClr>
              <a:buSzPts val="2000"/>
            </a:pPr>
            <a:r>
              <a:rPr lang="es-ES" sz="2400" dirty="0">
                <a:solidFill>
                  <a:srgbClr val="22627E"/>
                </a:solidFill>
              </a:rPr>
              <a:t>No funcionales (cómo debía hacerlo):</a:t>
            </a:r>
          </a:p>
          <a:p>
            <a:pPr lvl="1" indent="-355600">
              <a:buClr>
                <a:srgbClr val="22627E"/>
              </a:buClr>
              <a:buSzPts val="2000"/>
            </a:pPr>
            <a:r>
              <a:rPr lang="es-ES" sz="2000" dirty="0">
                <a:solidFill>
                  <a:srgbClr val="22627E"/>
                </a:solidFill>
              </a:rPr>
              <a:t>Usabilidad: proceso de verificación comprensible por usuarios no técnicos.</a:t>
            </a:r>
          </a:p>
          <a:p>
            <a:pPr lvl="1" indent="-355600">
              <a:buClr>
                <a:srgbClr val="22627E"/>
              </a:buClr>
              <a:buSzPts val="2000"/>
            </a:pPr>
            <a:r>
              <a:rPr lang="es-ES" sz="2000" dirty="0">
                <a:solidFill>
                  <a:srgbClr val="22627E"/>
                </a:solidFill>
              </a:rPr>
              <a:t>Seguridad: garantizar que los certificados no puedan falsificarse o clonarse.</a:t>
            </a:r>
          </a:p>
          <a:p>
            <a:pPr lvl="1" indent="-355600">
              <a:buClr>
                <a:srgbClr val="22627E"/>
              </a:buClr>
              <a:buSzPts val="2000"/>
            </a:pPr>
            <a:r>
              <a:rPr lang="es-ES" sz="2000" dirty="0">
                <a:solidFill>
                  <a:srgbClr val="22627E"/>
                </a:solidFill>
              </a:rPr>
              <a:t>Escalabilidad: sistema aplicable a muchas universidades con distintos sistemas.</a:t>
            </a:r>
          </a:p>
          <a:p>
            <a:pPr lvl="1" indent="-355600">
              <a:buClr>
                <a:srgbClr val="22627E"/>
              </a:buClr>
              <a:buSzPts val="2000"/>
            </a:pPr>
            <a:r>
              <a:rPr lang="es-ES" sz="2000" dirty="0">
                <a:solidFill>
                  <a:srgbClr val="22627E"/>
                </a:solidFill>
              </a:rPr>
              <a:t>Interoperabilidad: compatible con plataformas externas (LinkedIn, sistemas de RRHH…).</a:t>
            </a:r>
            <a:endParaRPr sz="1600" dirty="0"/>
          </a:p>
        </p:txBody>
      </p:sp>
      <p:sp>
        <p:nvSpPr>
          <p:cNvPr id="124" name="Google Shape;124;p4">
            <a:extLst>
              <a:ext uri="{FF2B5EF4-FFF2-40B4-BE49-F238E27FC236}">
                <a16:creationId xmlns:a16="http://schemas.microsoft.com/office/drawing/2014/main" id="{A5B00882-DD7F-3313-0770-5AF7ACDCBA77}"/>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n-US" sz="2700" b="1" i="0" u="none" strike="noStrike" cap="none" dirty="0" err="1">
                <a:solidFill>
                  <a:srgbClr val="01415B"/>
                </a:solidFill>
                <a:latin typeface="Roboto"/>
                <a:ea typeface="Roboto"/>
                <a:cs typeface="Roboto"/>
                <a:sym typeface="Roboto"/>
              </a:rPr>
              <a:t>Análisis</a:t>
            </a:r>
            <a:r>
              <a:rPr lang="en-US" sz="2700" b="1" i="0" u="none" strike="noStrike" cap="none" dirty="0">
                <a:solidFill>
                  <a:srgbClr val="01415B"/>
                </a:solidFill>
                <a:latin typeface="Roboto"/>
                <a:ea typeface="Roboto"/>
                <a:cs typeface="Roboto"/>
                <a:sym typeface="Roboto"/>
              </a:rPr>
              <a:t> </a:t>
            </a:r>
            <a:r>
              <a:rPr lang="en-US" sz="2700" b="1" i="0" u="none" strike="noStrike" cap="none" dirty="0" err="1">
                <a:solidFill>
                  <a:srgbClr val="01415B"/>
                </a:solidFill>
                <a:latin typeface="Roboto"/>
                <a:ea typeface="Roboto"/>
                <a:cs typeface="Roboto"/>
                <a:sym typeface="Roboto"/>
              </a:rPr>
              <a:t>hecho</a:t>
            </a:r>
            <a:r>
              <a:rPr lang="en-US" sz="2700" b="1" i="0" u="none" strike="noStrike" cap="none" dirty="0">
                <a:solidFill>
                  <a:srgbClr val="01415B"/>
                </a:solidFill>
                <a:latin typeface="Roboto"/>
                <a:ea typeface="Roboto"/>
                <a:cs typeface="Roboto"/>
                <a:sym typeface="Roboto"/>
              </a:rPr>
              <a:t> </a:t>
            </a:r>
            <a:r>
              <a:rPr lang="en-US" sz="2700" b="1" i="0" u="none" strike="noStrike" cap="none" dirty="0" err="1">
                <a:solidFill>
                  <a:srgbClr val="01415B"/>
                </a:solidFill>
                <a:latin typeface="Roboto"/>
                <a:ea typeface="Roboto"/>
                <a:cs typeface="Roboto"/>
                <a:sym typeface="Roboto"/>
              </a:rPr>
              <a:t>por</a:t>
            </a:r>
            <a:r>
              <a:rPr lang="en-US" sz="2700" b="1" i="0" u="none" strike="noStrike" cap="none" dirty="0">
                <a:solidFill>
                  <a:srgbClr val="01415B"/>
                </a:solidFill>
                <a:latin typeface="Roboto"/>
                <a:ea typeface="Roboto"/>
                <a:cs typeface="Roboto"/>
                <a:sym typeface="Roboto"/>
              </a:rPr>
              <a:t> las </a:t>
            </a:r>
            <a:r>
              <a:rPr lang="en-US" sz="2700" b="1" i="0" u="none" strike="noStrike" cap="none" dirty="0" err="1">
                <a:solidFill>
                  <a:srgbClr val="01415B"/>
                </a:solidFill>
                <a:latin typeface="Roboto"/>
                <a:ea typeface="Roboto"/>
                <a:cs typeface="Roboto"/>
                <a:sym typeface="Roboto"/>
              </a:rPr>
              <a:t>Universidades</a:t>
            </a:r>
            <a:endParaRPr lang="en-US" sz="2700" b="1" i="0" u="none" strike="noStrike" cap="none" dirty="0">
              <a:solidFill>
                <a:srgbClr val="01415B"/>
              </a:solidFill>
              <a:latin typeface="Roboto"/>
              <a:ea typeface="Roboto"/>
              <a:cs typeface="Roboto"/>
              <a:sym typeface="Roboto"/>
            </a:endParaRPr>
          </a:p>
        </p:txBody>
      </p:sp>
    </p:spTree>
    <p:extLst>
      <p:ext uri="{BB962C8B-B14F-4D97-AF65-F5344CB8AC3E}">
        <p14:creationId xmlns:p14="http://schemas.microsoft.com/office/powerpoint/2010/main" val="32051593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3E70CA79-135F-3AA5-4A48-7492C81E9207}"/>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99190B44-E88A-6D1A-2CAA-1B490E642005}"/>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¿Qué piensas de los requisitos funcionales técnicos?</a:t>
            </a:r>
          </a:p>
          <a:p>
            <a:pPr marL="457200" lvl="1" indent="0">
              <a:buNone/>
            </a:pPr>
            <a:r>
              <a:rPr lang="es-ES" sz="1600" b="1" dirty="0">
                <a:solidFill>
                  <a:srgbClr val="22627E"/>
                </a:solidFill>
              </a:rPr>
              <a:t>¿Cubren bien el objetivo del proyecto?</a:t>
            </a:r>
          </a:p>
          <a:p>
            <a:pPr marL="457200" lvl="1" indent="0">
              <a:buNone/>
            </a:pPr>
            <a:r>
              <a:rPr lang="es-ES" sz="1600" b="1" dirty="0">
                <a:solidFill>
                  <a:srgbClr val="22627E"/>
                </a:solidFill>
              </a:rPr>
              <a:t>¿Eran suficientes?</a:t>
            </a:r>
          </a:p>
          <a:p>
            <a:pPr marL="0" indent="0">
              <a:buNone/>
            </a:pPr>
            <a:endParaRPr lang="es-ES" sz="2000" b="1" dirty="0">
              <a:solidFill>
                <a:srgbClr val="22627E"/>
              </a:solidFill>
            </a:endParaRPr>
          </a:p>
          <a:p>
            <a:pPr marL="0" indent="0">
              <a:buNone/>
            </a:pPr>
            <a:r>
              <a:rPr lang="es-ES" sz="2000" b="1" dirty="0">
                <a:solidFill>
                  <a:srgbClr val="22627E"/>
                </a:solidFill>
              </a:rPr>
              <a:t>¿Y de los no funcionales?</a:t>
            </a:r>
          </a:p>
          <a:p>
            <a:pPr marL="0" indent="0">
              <a:buNone/>
            </a:pPr>
            <a:endParaRPr lang="es-ES" sz="2000" b="1" dirty="0">
              <a:solidFill>
                <a:srgbClr val="22627E"/>
              </a:solidFill>
            </a:endParaRPr>
          </a:p>
          <a:p>
            <a:pPr marL="0" indent="0">
              <a:buNone/>
            </a:pPr>
            <a:r>
              <a:rPr lang="es-ES" sz="2000" b="1" dirty="0">
                <a:solidFill>
                  <a:srgbClr val="22627E"/>
                </a:solidFill>
              </a:rPr>
              <a:t>¿Habrías cambiado algo en esta toma de requerimientos?</a:t>
            </a:r>
          </a:p>
          <a:p>
            <a:pPr marL="457200" lvl="1" indent="0">
              <a:buNone/>
            </a:pPr>
            <a:r>
              <a:rPr lang="es-ES" sz="1600" b="1" dirty="0">
                <a:solidFill>
                  <a:srgbClr val="22627E"/>
                </a:solidFill>
              </a:rPr>
              <a:t>¿Habríais priorizado de otra forma?</a:t>
            </a:r>
          </a:p>
          <a:p>
            <a:pPr marL="457200" lvl="1" indent="0">
              <a:buNone/>
            </a:pPr>
            <a:r>
              <a:rPr lang="es-ES" sz="1600" b="1" dirty="0">
                <a:solidFill>
                  <a:srgbClr val="22627E"/>
                </a:solidFill>
              </a:rPr>
              <a:t>¿Habríais planteado otras entrevistas pruebas piloto antes de cerrar los requerimientos?</a:t>
            </a:r>
          </a:p>
        </p:txBody>
      </p:sp>
      <p:sp>
        <p:nvSpPr>
          <p:cNvPr id="124" name="Google Shape;124;p4">
            <a:extLst>
              <a:ext uri="{FF2B5EF4-FFF2-40B4-BE49-F238E27FC236}">
                <a16:creationId xmlns:a16="http://schemas.microsoft.com/office/drawing/2014/main" id="{B16059F3-8F43-4C8A-5B6D-0CE907E4B020}"/>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s-ES" sz="2700" b="1" i="0" u="none" strike="noStrike" cap="none" noProof="0" dirty="0">
                <a:solidFill>
                  <a:srgbClr val="01415B"/>
                </a:solidFill>
                <a:latin typeface="Roboto"/>
                <a:ea typeface="Roboto"/>
                <a:cs typeface="Roboto"/>
                <a:sym typeface="Roboto"/>
              </a:rPr>
              <a:t>Reflexión y Debate  </a:t>
            </a:r>
          </a:p>
        </p:txBody>
      </p:sp>
    </p:spTree>
    <p:extLst>
      <p:ext uri="{BB962C8B-B14F-4D97-AF65-F5344CB8AC3E}">
        <p14:creationId xmlns:p14="http://schemas.microsoft.com/office/powerpoint/2010/main" val="2094083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E4DA32EC-E775-3452-A6A7-121510489753}"/>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CB07DDE9-B44B-B1E6-98A4-39EF752DA8D8}"/>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¿Qué piensas de los requisitos funcionales técnicos?</a:t>
            </a:r>
          </a:p>
          <a:p>
            <a:pPr marL="457200" lvl="1" indent="0">
              <a:buNone/>
            </a:pPr>
            <a:r>
              <a:rPr lang="es-ES" sz="1600" dirty="0">
                <a:solidFill>
                  <a:srgbClr val="22627E"/>
                </a:solidFill>
              </a:rPr>
              <a:t>Las universidades definieron bien lo que querían hacer (emitir certificados, verificar integridad...), pero definieron mal para quién lo hacían realmente. El foco estuvo en el proceso interno, no en la experiencia del usuario externo (empleador, RRHH…)</a:t>
            </a:r>
            <a:endParaRPr lang="es-ES" sz="1600" b="1" dirty="0">
              <a:solidFill>
                <a:srgbClr val="22627E"/>
              </a:solidFill>
            </a:endParaRPr>
          </a:p>
          <a:p>
            <a:pPr marL="0" indent="0">
              <a:buNone/>
            </a:pPr>
            <a:r>
              <a:rPr lang="es-ES" sz="2000" b="1" dirty="0">
                <a:solidFill>
                  <a:srgbClr val="22627E"/>
                </a:solidFill>
              </a:rPr>
              <a:t>¿Y de los no funcionales?</a:t>
            </a:r>
          </a:p>
          <a:p>
            <a:pPr marL="457200" lvl="1" indent="0">
              <a:buNone/>
            </a:pPr>
            <a:r>
              <a:rPr lang="es-ES" sz="1600" dirty="0">
                <a:solidFill>
                  <a:srgbClr val="22627E"/>
                </a:solidFill>
              </a:rPr>
              <a:t>En los requisitos no funcionales, el mayor fallo fue no pensar en la usabilidad práctica. ¿De qué sirve que el certificado sea inmutable si el empleador no sabe ni cómo verificarlo?</a:t>
            </a:r>
          </a:p>
          <a:p>
            <a:pPr marL="0" indent="0">
              <a:buNone/>
            </a:pPr>
            <a:r>
              <a:rPr lang="es-ES" sz="2000" b="1" dirty="0">
                <a:solidFill>
                  <a:srgbClr val="22627E"/>
                </a:solidFill>
              </a:rPr>
              <a:t>¿Habrías cambiado algo en esta toma de requerimientos?</a:t>
            </a:r>
          </a:p>
          <a:p>
            <a:pPr marL="457200" lvl="1" indent="0">
              <a:buNone/>
            </a:pPr>
            <a:r>
              <a:rPr lang="es-ES" sz="1600" dirty="0">
                <a:solidFill>
                  <a:srgbClr val="22627E"/>
                </a:solidFill>
              </a:rPr>
              <a:t>Un análisis más realista habría incluido:</a:t>
            </a:r>
          </a:p>
          <a:p>
            <a:pPr marL="457200" lvl="1" indent="0">
              <a:buNone/>
            </a:pPr>
            <a:r>
              <a:rPr lang="es-ES" sz="1600" dirty="0">
                <a:solidFill>
                  <a:srgbClr val="22627E"/>
                </a:solidFill>
              </a:rPr>
              <a:t>Prototipos con usuarios reales.</a:t>
            </a:r>
          </a:p>
          <a:p>
            <a:pPr marL="457200" lvl="1" indent="0">
              <a:buNone/>
            </a:pPr>
            <a:r>
              <a:rPr lang="es-ES" sz="1600" dirty="0">
                <a:solidFill>
                  <a:srgbClr val="22627E"/>
                </a:solidFill>
              </a:rPr>
              <a:t>Validación de interfaces de verificación.</a:t>
            </a:r>
          </a:p>
          <a:p>
            <a:pPr marL="457200" lvl="1" indent="0">
              <a:buNone/>
            </a:pPr>
            <a:r>
              <a:rPr lang="es-ES" sz="1600" dirty="0">
                <a:solidFill>
                  <a:srgbClr val="22627E"/>
                </a:solidFill>
              </a:rPr>
              <a:t>Evaluación comparativa con tecnologías más simples (firma digital tradicional).</a:t>
            </a:r>
          </a:p>
        </p:txBody>
      </p:sp>
      <p:sp>
        <p:nvSpPr>
          <p:cNvPr id="124" name="Google Shape;124;p4">
            <a:extLst>
              <a:ext uri="{FF2B5EF4-FFF2-40B4-BE49-F238E27FC236}">
                <a16:creationId xmlns:a16="http://schemas.microsoft.com/office/drawing/2014/main" id="{9FAED2AB-86DB-E493-E358-BC9279811808}"/>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s-ES" sz="2700" b="1" i="0" u="none" strike="noStrike" cap="none" noProof="0" dirty="0">
                <a:solidFill>
                  <a:srgbClr val="01415B"/>
                </a:solidFill>
                <a:latin typeface="Roboto"/>
                <a:ea typeface="Roboto"/>
                <a:cs typeface="Roboto"/>
                <a:sym typeface="Roboto"/>
              </a:rPr>
              <a:t>Reflexión y Debate  </a:t>
            </a:r>
          </a:p>
        </p:txBody>
      </p:sp>
    </p:spTree>
    <p:extLst>
      <p:ext uri="{BB962C8B-B14F-4D97-AF65-F5344CB8AC3E}">
        <p14:creationId xmlns:p14="http://schemas.microsoft.com/office/powerpoint/2010/main" val="28078857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BC70E8E4-0044-FF2D-6D55-D945F73FDE98}"/>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AC821AA5-3EA0-4C27-580F-07E879CFCA38}"/>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457200" marR="0" lvl="0" indent="0" algn="l" rtl="0">
              <a:lnSpc>
                <a:spcPct val="90000"/>
              </a:lnSpc>
              <a:spcBef>
                <a:spcPts val="1000"/>
              </a:spcBef>
              <a:spcAft>
                <a:spcPts val="0"/>
              </a:spcAft>
              <a:buSzPts val="1800"/>
              <a:buNone/>
            </a:pPr>
            <a:endParaRPr lang="es-ES" sz="2000" dirty="0">
              <a:solidFill>
                <a:srgbClr val="22627E"/>
              </a:solidFill>
            </a:endParaRPr>
          </a:p>
          <a:p>
            <a:pPr marL="457200" marR="0" lvl="0" indent="0" algn="l" rtl="0">
              <a:lnSpc>
                <a:spcPct val="90000"/>
              </a:lnSpc>
              <a:spcBef>
                <a:spcPts val="1000"/>
              </a:spcBef>
              <a:spcAft>
                <a:spcPts val="0"/>
              </a:spcAft>
              <a:buSzPts val="1800"/>
              <a:buNone/>
            </a:pPr>
            <a:endParaRPr sz="2000" dirty="0">
              <a:solidFill>
                <a:srgbClr val="22627E"/>
              </a:solidFill>
            </a:endParaRPr>
          </a:p>
          <a:p>
            <a:pPr indent="-355600">
              <a:buClr>
                <a:srgbClr val="22627E"/>
              </a:buClr>
              <a:buSzPts val="2000"/>
            </a:pPr>
            <a:r>
              <a:rPr lang="es-ES" sz="2400" dirty="0" err="1">
                <a:solidFill>
                  <a:srgbClr val="22627E"/>
                </a:solidFill>
              </a:rPr>
              <a:t>Stakeholders</a:t>
            </a:r>
            <a:r>
              <a:rPr lang="es-ES" sz="2400" dirty="0">
                <a:solidFill>
                  <a:srgbClr val="22627E"/>
                </a:solidFill>
              </a:rPr>
              <a:t> considerados:</a:t>
            </a:r>
          </a:p>
          <a:p>
            <a:pPr lvl="1" indent="-355600">
              <a:buClr>
                <a:srgbClr val="22627E"/>
              </a:buClr>
              <a:buSzPts val="2000"/>
            </a:pPr>
            <a:r>
              <a:rPr lang="es-ES" sz="2000" dirty="0">
                <a:solidFill>
                  <a:srgbClr val="22627E"/>
                </a:solidFill>
              </a:rPr>
              <a:t>Universidades (emisor del certificado)</a:t>
            </a:r>
          </a:p>
          <a:p>
            <a:pPr lvl="1" indent="-355600">
              <a:buClr>
                <a:srgbClr val="22627E"/>
              </a:buClr>
              <a:buSzPts val="2000"/>
            </a:pPr>
            <a:r>
              <a:rPr lang="es-ES" sz="2000" dirty="0">
                <a:solidFill>
                  <a:srgbClr val="22627E"/>
                </a:solidFill>
              </a:rPr>
              <a:t>Alumnos (beneficiarios)</a:t>
            </a:r>
          </a:p>
          <a:p>
            <a:pPr lvl="1" indent="-355600">
              <a:buClr>
                <a:srgbClr val="22627E"/>
              </a:buClr>
              <a:buSzPts val="2000"/>
            </a:pPr>
            <a:r>
              <a:rPr lang="es-ES" sz="2000" dirty="0">
                <a:solidFill>
                  <a:srgbClr val="22627E"/>
                </a:solidFill>
              </a:rPr>
              <a:t>Ministerios (solo se les informó de la creación de la plataforma)</a:t>
            </a:r>
            <a:endParaRPr sz="2000" dirty="0"/>
          </a:p>
        </p:txBody>
      </p:sp>
      <p:sp>
        <p:nvSpPr>
          <p:cNvPr id="124" name="Google Shape;124;p4">
            <a:extLst>
              <a:ext uri="{FF2B5EF4-FFF2-40B4-BE49-F238E27FC236}">
                <a16:creationId xmlns:a16="http://schemas.microsoft.com/office/drawing/2014/main" id="{15488E4A-75C3-1750-8C25-594837B410AF}"/>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n-US" sz="2700" b="1" i="0" u="none" strike="noStrike" cap="none" dirty="0">
                <a:solidFill>
                  <a:srgbClr val="01415B"/>
                </a:solidFill>
                <a:latin typeface="Roboto"/>
                <a:ea typeface="Roboto"/>
                <a:cs typeface="Roboto"/>
                <a:sym typeface="Roboto"/>
              </a:rPr>
              <a:t>Stakeholders</a:t>
            </a:r>
          </a:p>
        </p:txBody>
      </p:sp>
    </p:spTree>
    <p:extLst>
      <p:ext uri="{BB962C8B-B14F-4D97-AF65-F5344CB8AC3E}">
        <p14:creationId xmlns:p14="http://schemas.microsoft.com/office/powerpoint/2010/main" val="12102092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FF0A952C-7D03-9E72-CC97-2CB23F0579D9}"/>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FE09F485-9CA3-FFD1-728F-E9CA13C97AEB}"/>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¿Están todos los </a:t>
            </a:r>
            <a:r>
              <a:rPr lang="es-ES" sz="2000" b="1" dirty="0" err="1">
                <a:solidFill>
                  <a:srgbClr val="22627E"/>
                </a:solidFill>
              </a:rPr>
              <a:t>stakeholders</a:t>
            </a:r>
            <a:r>
              <a:rPr lang="es-ES" sz="2000" b="1" dirty="0">
                <a:solidFill>
                  <a:srgbClr val="22627E"/>
                </a:solidFill>
              </a:rPr>
              <a:t> representados?</a:t>
            </a:r>
          </a:p>
          <a:p>
            <a:pPr marL="0" indent="0">
              <a:buNone/>
            </a:pPr>
            <a:endParaRPr lang="es-ES" sz="2000" b="1" dirty="0">
              <a:solidFill>
                <a:srgbClr val="22627E"/>
              </a:solidFill>
            </a:endParaRPr>
          </a:p>
        </p:txBody>
      </p:sp>
      <p:sp>
        <p:nvSpPr>
          <p:cNvPr id="124" name="Google Shape;124;p4">
            <a:extLst>
              <a:ext uri="{FF2B5EF4-FFF2-40B4-BE49-F238E27FC236}">
                <a16:creationId xmlns:a16="http://schemas.microsoft.com/office/drawing/2014/main" id="{8A2D05C4-7770-414D-5ABB-4AC9EBD21551}"/>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s-ES" sz="2700" b="1" i="0" u="none" strike="noStrike" cap="none" noProof="0" dirty="0">
                <a:solidFill>
                  <a:srgbClr val="01415B"/>
                </a:solidFill>
                <a:latin typeface="Roboto"/>
                <a:ea typeface="Roboto"/>
                <a:cs typeface="Roboto"/>
                <a:sym typeface="Roboto"/>
              </a:rPr>
              <a:t>Reflexión y Debate  </a:t>
            </a:r>
          </a:p>
        </p:txBody>
      </p:sp>
    </p:spTree>
    <p:extLst>
      <p:ext uri="{BB962C8B-B14F-4D97-AF65-F5344CB8AC3E}">
        <p14:creationId xmlns:p14="http://schemas.microsoft.com/office/powerpoint/2010/main" val="20369861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84CC8713-AEF7-C4D1-F67F-5C33358E4556}"/>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548FD2BF-2569-E355-5298-F349A43DB4FB}"/>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¿Están todos los </a:t>
            </a:r>
            <a:r>
              <a:rPr lang="es-ES" sz="2000" b="1" dirty="0" err="1">
                <a:solidFill>
                  <a:srgbClr val="22627E"/>
                </a:solidFill>
              </a:rPr>
              <a:t>stakeholders</a:t>
            </a:r>
            <a:r>
              <a:rPr lang="es-ES" sz="2000" b="1" dirty="0">
                <a:solidFill>
                  <a:srgbClr val="22627E"/>
                </a:solidFill>
              </a:rPr>
              <a:t> representados?</a:t>
            </a:r>
          </a:p>
          <a:p>
            <a:pPr marL="0" indent="0">
              <a:buNone/>
            </a:pPr>
            <a:endParaRPr lang="es-ES" sz="2000" b="1" dirty="0">
              <a:solidFill>
                <a:srgbClr val="22627E"/>
              </a:solidFill>
            </a:endParaRPr>
          </a:p>
          <a:p>
            <a:pPr marL="0" indent="0">
              <a:buNone/>
            </a:pPr>
            <a:r>
              <a:rPr lang="es-ES" sz="2000" dirty="0">
                <a:solidFill>
                  <a:srgbClr val="22627E"/>
                </a:solidFill>
              </a:rPr>
              <a:t>Olvidados o mal integrados:</a:t>
            </a:r>
          </a:p>
          <a:p>
            <a:pPr marL="342900"/>
            <a:r>
              <a:rPr lang="es-ES" sz="2000" dirty="0">
                <a:solidFill>
                  <a:srgbClr val="22627E"/>
                </a:solidFill>
              </a:rPr>
              <a:t>Empleadores: eran los validadores reales, pero no se les dio una herramienta clara ni formación.</a:t>
            </a:r>
          </a:p>
          <a:p>
            <a:pPr marL="342900"/>
            <a:r>
              <a:rPr lang="es-ES" sz="2000" dirty="0">
                <a:solidFill>
                  <a:srgbClr val="22627E"/>
                </a:solidFill>
              </a:rPr>
              <a:t>Ministerios: no hubo una coordinación oficial centralizada para validar formatos.</a:t>
            </a:r>
          </a:p>
          <a:p>
            <a:pPr marL="342900"/>
            <a:r>
              <a:rPr lang="es-ES" sz="2000" dirty="0">
                <a:solidFill>
                  <a:srgbClr val="22627E"/>
                </a:solidFill>
              </a:rPr>
              <a:t>Empresas de selección / RRHH: no se integró el sistema en sus flujos.</a:t>
            </a:r>
          </a:p>
          <a:p>
            <a:pPr marL="342900"/>
            <a:endParaRPr lang="es-ES" sz="2000" b="1" dirty="0">
              <a:solidFill>
                <a:srgbClr val="22627E"/>
              </a:solidFill>
            </a:endParaRPr>
          </a:p>
        </p:txBody>
      </p:sp>
      <p:sp>
        <p:nvSpPr>
          <p:cNvPr id="124" name="Google Shape;124;p4">
            <a:extLst>
              <a:ext uri="{FF2B5EF4-FFF2-40B4-BE49-F238E27FC236}">
                <a16:creationId xmlns:a16="http://schemas.microsoft.com/office/drawing/2014/main" id="{5B3F6386-BF1E-9EA2-0723-84586290C06F}"/>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s-ES" sz="2700" b="1" i="0" u="none" strike="noStrike" cap="none" noProof="0" dirty="0">
                <a:solidFill>
                  <a:srgbClr val="01415B"/>
                </a:solidFill>
                <a:latin typeface="Roboto"/>
                <a:ea typeface="Roboto"/>
                <a:cs typeface="Roboto"/>
                <a:sym typeface="Roboto"/>
              </a:rPr>
              <a:t>Reflexión y Debate  </a:t>
            </a:r>
          </a:p>
        </p:txBody>
      </p:sp>
    </p:spTree>
    <p:extLst>
      <p:ext uri="{BB962C8B-B14F-4D97-AF65-F5344CB8AC3E}">
        <p14:creationId xmlns:p14="http://schemas.microsoft.com/office/powerpoint/2010/main" val="25947008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EF737CAF-D0C5-8188-EF27-267938206C31}"/>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9D7E621D-0197-103A-71AB-13BFD84FC13B}"/>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457200" marR="0" lvl="0" indent="0" algn="l" rtl="0">
              <a:lnSpc>
                <a:spcPct val="90000"/>
              </a:lnSpc>
              <a:spcBef>
                <a:spcPts val="1000"/>
              </a:spcBef>
              <a:spcAft>
                <a:spcPts val="0"/>
              </a:spcAft>
              <a:buSzPts val="1800"/>
              <a:buNone/>
            </a:pPr>
            <a:endParaRPr lang="es-ES" sz="2000" dirty="0">
              <a:solidFill>
                <a:srgbClr val="22627E"/>
              </a:solidFill>
            </a:endParaRPr>
          </a:p>
          <a:p>
            <a:pPr marL="457200" marR="0" lvl="0" indent="0" algn="l" rtl="0">
              <a:lnSpc>
                <a:spcPct val="90000"/>
              </a:lnSpc>
              <a:spcBef>
                <a:spcPts val="1000"/>
              </a:spcBef>
              <a:spcAft>
                <a:spcPts val="0"/>
              </a:spcAft>
              <a:buSzPts val="1800"/>
              <a:buNone/>
            </a:pPr>
            <a:endParaRPr sz="2000" dirty="0">
              <a:solidFill>
                <a:srgbClr val="22627E"/>
              </a:solidFill>
            </a:endParaRPr>
          </a:p>
          <a:p>
            <a:pPr indent="-355600">
              <a:buClr>
                <a:srgbClr val="22627E"/>
              </a:buClr>
              <a:buSzPts val="2000"/>
            </a:pPr>
            <a:r>
              <a:rPr lang="es-ES" sz="2400" dirty="0">
                <a:solidFill>
                  <a:srgbClr val="22627E"/>
                </a:solidFill>
              </a:rPr>
              <a:t>Elegida:</a:t>
            </a:r>
          </a:p>
          <a:p>
            <a:pPr lvl="1" indent="-355600">
              <a:buClr>
                <a:srgbClr val="22627E"/>
              </a:buClr>
              <a:buSzPts val="2000"/>
            </a:pPr>
            <a:r>
              <a:rPr lang="es-ES" sz="2000" dirty="0" err="1">
                <a:solidFill>
                  <a:srgbClr val="22627E"/>
                </a:solidFill>
              </a:rPr>
              <a:t>Blockchain</a:t>
            </a:r>
            <a:r>
              <a:rPr lang="es-ES" sz="2000" dirty="0">
                <a:solidFill>
                  <a:srgbClr val="22627E"/>
                </a:solidFill>
              </a:rPr>
              <a:t> pública o </a:t>
            </a:r>
            <a:r>
              <a:rPr lang="es-ES" sz="2000" dirty="0" err="1">
                <a:solidFill>
                  <a:srgbClr val="22627E"/>
                </a:solidFill>
              </a:rPr>
              <a:t>semi-pública</a:t>
            </a:r>
            <a:r>
              <a:rPr lang="es-ES" sz="2000" dirty="0">
                <a:solidFill>
                  <a:srgbClr val="22627E"/>
                </a:solidFill>
              </a:rPr>
              <a:t> (Ethereum o </a:t>
            </a:r>
            <a:r>
              <a:rPr lang="es-ES" sz="2000" dirty="0" err="1">
                <a:solidFill>
                  <a:srgbClr val="22627E"/>
                </a:solidFill>
              </a:rPr>
              <a:t>Alastria</a:t>
            </a:r>
            <a:r>
              <a:rPr lang="es-ES" sz="2000" dirty="0">
                <a:solidFill>
                  <a:srgbClr val="22627E"/>
                </a:solidFill>
              </a:rPr>
              <a:t>).</a:t>
            </a:r>
          </a:p>
          <a:p>
            <a:pPr lvl="1" indent="-355600">
              <a:buClr>
                <a:srgbClr val="22627E"/>
              </a:buClr>
              <a:buSzPts val="2000"/>
            </a:pPr>
            <a:r>
              <a:rPr lang="es-ES" sz="2000" dirty="0">
                <a:solidFill>
                  <a:srgbClr val="22627E"/>
                </a:solidFill>
              </a:rPr>
              <a:t>En muchos casos, uso de estándares como </a:t>
            </a:r>
            <a:r>
              <a:rPr lang="es-ES" sz="2000" dirty="0" err="1">
                <a:solidFill>
                  <a:srgbClr val="22627E"/>
                </a:solidFill>
              </a:rPr>
              <a:t>Blockcerts</a:t>
            </a:r>
            <a:r>
              <a:rPr lang="es-ES" sz="2000" dirty="0">
                <a:solidFill>
                  <a:srgbClr val="22627E"/>
                </a:solidFill>
              </a:rPr>
              <a:t>.</a:t>
            </a:r>
          </a:p>
          <a:p>
            <a:pPr indent="-355600">
              <a:buClr>
                <a:srgbClr val="22627E"/>
              </a:buClr>
              <a:buSzPts val="2000"/>
            </a:pPr>
            <a:r>
              <a:rPr lang="es-ES" sz="2400" dirty="0">
                <a:solidFill>
                  <a:srgbClr val="22627E"/>
                </a:solidFill>
              </a:rPr>
              <a:t>Ventajas:</a:t>
            </a:r>
          </a:p>
          <a:p>
            <a:pPr lvl="1" indent="-355600">
              <a:buClr>
                <a:srgbClr val="22627E"/>
              </a:buClr>
              <a:buSzPts val="2000"/>
            </a:pPr>
            <a:r>
              <a:rPr lang="es-ES" sz="2000" dirty="0">
                <a:solidFill>
                  <a:srgbClr val="22627E"/>
                </a:solidFill>
              </a:rPr>
              <a:t>Trazabilidad, inmutabilidad, descentralización.</a:t>
            </a:r>
            <a:endParaRPr sz="1600" dirty="0"/>
          </a:p>
        </p:txBody>
      </p:sp>
      <p:sp>
        <p:nvSpPr>
          <p:cNvPr id="124" name="Google Shape;124;p4">
            <a:extLst>
              <a:ext uri="{FF2B5EF4-FFF2-40B4-BE49-F238E27FC236}">
                <a16:creationId xmlns:a16="http://schemas.microsoft.com/office/drawing/2014/main" id="{06C835D8-F102-5D36-0225-EA84FE2B5430}"/>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n-US" sz="2700" b="1" i="0" u="none" strike="noStrike" cap="none" dirty="0" err="1">
                <a:solidFill>
                  <a:srgbClr val="01415B"/>
                </a:solidFill>
                <a:latin typeface="Roboto"/>
                <a:ea typeface="Roboto"/>
                <a:cs typeface="Roboto"/>
                <a:sym typeface="Roboto"/>
              </a:rPr>
              <a:t>Selección</a:t>
            </a:r>
            <a:r>
              <a:rPr lang="en-US" sz="2700" b="1" i="0" u="none" strike="noStrike" cap="none" dirty="0">
                <a:solidFill>
                  <a:srgbClr val="01415B"/>
                </a:solidFill>
                <a:latin typeface="Roboto"/>
                <a:ea typeface="Roboto"/>
                <a:cs typeface="Roboto"/>
                <a:sym typeface="Roboto"/>
              </a:rPr>
              <a:t> de </a:t>
            </a:r>
            <a:r>
              <a:rPr lang="en-US" sz="2700" b="1" i="0" u="none" strike="noStrike" cap="none" dirty="0" err="1">
                <a:solidFill>
                  <a:srgbClr val="01415B"/>
                </a:solidFill>
                <a:latin typeface="Roboto"/>
                <a:ea typeface="Roboto"/>
                <a:cs typeface="Roboto"/>
                <a:sym typeface="Roboto"/>
              </a:rPr>
              <a:t>tecnología</a:t>
            </a:r>
            <a:endParaRPr lang="en-US" sz="2700" b="1" i="0" u="none" strike="noStrike" cap="none" dirty="0">
              <a:solidFill>
                <a:srgbClr val="01415B"/>
              </a:solidFill>
              <a:latin typeface="Roboto"/>
              <a:ea typeface="Roboto"/>
              <a:cs typeface="Roboto"/>
              <a:sym typeface="Roboto"/>
            </a:endParaRPr>
          </a:p>
        </p:txBody>
      </p:sp>
    </p:spTree>
    <p:extLst>
      <p:ext uri="{BB962C8B-B14F-4D97-AF65-F5344CB8AC3E}">
        <p14:creationId xmlns:p14="http://schemas.microsoft.com/office/powerpoint/2010/main" val="7349417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686EC426-7A51-BB31-145D-2A7653BA4FFB}"/>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E6599789-FF18-82C4-D01E-EC0532CB4F11}"/>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¿Echas algo en falta o ves algún error claro?</a:t>
            </a:r>
          </a:p>
          <a:p>
            <a:pPr marL="0" indent="0">
              <a:buNone/>
            </a:pPr>
            <a:endParaRPr lang="es-ES" sz="2000" b="1" dirty="0">
              <a:solidFill>
                <a:srgbClr val="22627E"/>
              </a:solidFill>
            </a:endParaRPr>
          </a:p>
        </p:txBody>
      </p:sp>
      <p:sp>
        <p:nvSpPr>
          <p:cNvPr id="124" name="Google Shape;124;p4">
            <a:extLst>
              <a:ext uri="{FF2B5EF4-FFF2-40B4-BE49-F238E27FC236}">
                <a16:creationId xmlns:a16="http://schemas.microsoft.com/office/drawing/2014/main" id="{38EF4084-54E0-C587-AAC0-6F5BBC9AC0E8}"/>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s-ES" sz="2700" b="1" i="0" u="none" strike="noStrike" cap="none" noProof="0" dirty="0">
                <a:solidFill>
                  <a:srgbClr val="01415B"/>
                </a:solidFill>
                <a:latin typeface="Roboto"/>
                <a:ea typeface="Roboto"/>
                <a:cs typeface="Roboto"/>
                <a:sym typeface="Roboto"/>
              </a:rPr>
              <a:t>Reflexión y Debate  </a:t>
            </a:r>
          </a:p>
        </p:txBody>
      </p:sp>
    </p:spTree>
    <p:extLst>
      <p:ext uri="{BB962C8B-B14F-4D97-AF65-F5344CB8AC3E}">
        <p14:creationId xmlns:p14="http://schemas.microsoft.com/office/powerpoint/2010/main" val="5545379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68D2E53E-A482-F95F-6078-AF47E5120878}"/>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1FBC7908-B355-B52D-CE09-93B71CC57175}"/>
              </a:ext>
            </a:extLst>
          </p:cNvPr>
          <p:cNvSpPr txBox="1">
            <a:spLocks noGrp="1"/>
          </p:cNvSpPr>
          <p:nvPr>
            <p:ph type="body" idx="1"/>
          </p:nvPr>
        </p:nvSpPr>
        <p:spPr>
          <a:xfrm>
            <a:off x="671499" y="1414448"/>
            <a:ext cx="9725947"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¿Echas algo en falta o ves algún error claro?</a:t>
            </a:r>
          </a:p>
          <a:p>
            <a:pPr marL="0" indent="0">
              <a:buNone/>
            </a:pPr>
            <a:endParaRPr lang="es-ES" sz="2000" b="1" dirty="0">
              <a:solidFill>
                <a:srgbClr val="22627E"/>
              </a:solidFill>
            </a:endParaRPr>
          </a:p>
          <a:p>
            <a:pPr marL="0" indent="0">
              <a:buNone/>
            </a:pPr>
            <a:r>
              <a:rPr lang="es-ES" sz="2000" dirty="0">
                <a:solidFill>
                  <a:srgbClr val="22627E"/>
                </a:solidFill>
              </a:rPr>
              <a:t>No se justificó si </a:t>
            </a:r>
            <a:r>
              <a:rPr lang="es-ES" sz="2000" dirty="0" err="1">
                <a:solidFill>
                  <a:srgbClr val="22627E"/>
                </a:solidFill>
              </a:rPr>
              <a:t>blockchain</a:t>
            </a:r>
            <a:r>
              <a:rPr lang="es-ES" sz="2000" dirty="0">
                <a:solidFill>
                  <a:srgbClr val="22627E"/>
                </a:solidFill>
              </a:rPr>
              <a:t> era realmente la mejor solución.</a:t>
            </a:r>
          </a:p>
          <a:p>
            <a:pPr marL="0" indent="0">
              <a:buNone/>
            </a:pPr>
            <a:endParaRPr lang="es-ES" sz="2000" dirty="0">
              <a:solidFill>
                <a:srgbClr val="22627E"/>
              </a:solidFill>
            </a:endParaRPr>
          </a:p>
          <a:p>
            <a:pPr marL="0" indent="0">
              <a:buNone/>
            </a:pPr>
            <a:r>
              <a:rPr lang="es-ES" sz="2000" dirty="0">
                <a:solidFill>
                  <a:srgbClr val="22627E"/>
                </a:solidFill>
              </a:rPr>
              <a:t>El coste-beneficio no fue comparado con otras soluciones digitales (por ejemplo, firmas digitales tradicionales).</a:t>
            </a:r>
          </a:p>
          <a:p>
            <a:pPr marL="0" indent="0">
              <a:buNone/>
            </a:pPr>
            <a:endParaRPr lang="es-ES" sz="2000" dirty="0">
              <a:solidFill>
                <a:srgbClr val="22627E"/>
              </a:solidFill>
            </a:endParaRPr>
          </a:p>
          <a:p>
            <a:pPr marL="0" indent="0">
              <a:buNone/>
            </a:pPr>
            <a:r>
              <a:rPr lang="es-ES" sz="2000" dirty="0" err="1">
                <a:solidFill>
                  <a:srgbClr val="22627E"/>
                </a:solidFill>
              </a:rPr>
              <a:t>Blockchain</a:t>
            </a:r>
            <a:r>
              <a:rPr lang="es-ES" sz="2000" dirty="0">
                <a:solidFill>
                  <a:srgbClr val="22627E"/>
                </a:solidFill>
              </a:rPr>
              <a:t> no tiene una interfaz sencilla para el público.</a:t>
            </a:r>
            <a:endParaRPr lang="es-ES" sz="2000" b="1" dirty="0">
              <a:solidFill>
                <a:srgbClr val="22627E"/>
              </a:solidFill>
            </a:endParaRPr>
          </a:p>
        </p:txBody>
      </p:sp>
      <p:sp>
        <p:nvSpPr>
          <p:cNvPr id="124" name="Google Shape;124;p4">
            <a:extLst>
              <a:ext uri="{FF2B5EF4-FFF2-40B4-BE49-F238E27FC236}">
                <a16:creationId xmlns:a16="http://schemas.microsoft.com/office/drawing/2014/main" id="{FC040F2C-D297-86BC-B96B-E58A753F8CE4}"/>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s-ES" sz="2700" b="1" i="0" u="none" strike="noStrike" cap="none" noProof="0" dirty="0">
                <a:solidFill>
                  <a:srgbClr val="01415B"/>
                </a:solidFill>
                <a:latin typeface="Roboto"/>
                <a:ea typeface="Roboto"/>
                <a:cs typeface="Roboto"/>
                <a:sym typeface="Roboto"/>
              </a:rPr>
              <a:t>Reflexión y Debate  </a:t>
            </a:r>
          </a:p>
        </p:txBody>
      </p:sp>
    </p:spTree>
    <p:extLst>
      <p:ext uri="{BB962C8B-B14F-4D97-AF65-F5344CB8AC3E}">
        <p14:creationId xmlns:p14="http://schemas.microsoft.com/office/powerpoint/2010/main" val="36079921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430C8FC0-A341-4321-6CFE-168CAFCC8CB6}"/>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8218717D-409E-3D33-09C5-117AADAB32C5}"/>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457200" marR="0" lvl="0" indent="0" algn="l" rtl="0">
              <a:lnSpc>
                <a:spcPct val="90000"/>
              </a:lnSpc>
              <a:spcBef>
                <a:spcPts val="1000"/>
              </a:spcBef>
              <a:spcAft>
                <a:spcPts val="0"/>
              </a:spcAft>
              <a:buSzPts val="1800"/>
              <a:buNone/>
            </a:pPr>
            <a:endParaRPr lang="es-ES" sz="2000" dirty="0">
              <a:solidFill>
                <a:srgbClr val="22627E"/>
              </a:solidFill>
            </a:endParaRPr>
          </a:p>
          <a:p>
            <a:pPr indent="0">
              <a:buNone/>
            </a:pPr>
            <a:endParaRPr sz="2000" dirty="0">
              <a:solidFill>
                <a:srgbClr val="22627E"/>
              </a:solidFill>
            </a:endParaRPr>
          </a:p>
          <a:p>
            <a:pPr marL="101600" indent="0">
              <a:buClr>
                <a:srgbClr val="22627E"/>
              </a:buClr>
              <a:buSzPts val="2000"/>
              <a:buNone/>
            </a:pPr>
            <a:r>
              <a:rPr lang="es-ES" sz="2400" b="1" dirty="0">
                <a:solidFill>
                  <a:srgbClr val="22627E"/>
                </a:solidFill>
              </a:rPr>
              <a:t>¿Se gestionaron?</a:t>
            </a:r>
          </a:p>
          <a:p>
            <a:pPr marL="101600" indent="0">
              <a:buClr>
                <a:srgbClr val="22627E"/>
              </a:buClr>
              <a:buSzPts val="2000"/>
              <a:buNone/>
            </a:pPr>
            <a:r>
              <a:rPr lang="es-ES" sz="2400" dirty="0">
                <a:solidFill>
                  <a:srgbClr val="22627E"/>
                </a:solidFill>
              </a:rPr>
              <a:t>En general, no. Hubo entusiasmo tecnológico, pero poco análisis de riesgo realista, especialmente en la parte de usuarios externos.</a:t>
            </a:r>
            <a:endParaRPr sz="1600" dirty="0"/>
          </a:p>
        </p:txBody>
      </p:sp>
      <p:sp>
        <p:nvSpPr>
          <p:cNvPr id="124" name="Google Shape;124;p4">
            <a:extLst>
              <a:ext uri="{FF2B5EF4-FFF2-40B4-BE49-F238E27FC236}">
                <a16:creationId xmlns:a16="http://schemas.microsoft.com/office/drawing/2014/main" id="{0188BC6F-80A0-AD3C-F6E1-753DC0784452}"/>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n-US" sz="2700" b="1" i="0" u="none" strike="noStrike" cap="none" dirty="0" err="1">
                <a:solidFill>
                  <a:srgbClr val="01415B"/>
                </a:solidFill>
                <a:latin typeface="Roboto"/>
                <a:ea typeface="Roboto"/>
                <a:cs typeface="Roboto"/>
                <a:sym typeface="Roboto"/>
              </a:rPr>
              <a:t>Análisis</a:t>
            </a:r>
            <a:r>
              <a:rPr lang="en-US" sz="2700" b="1" i="0" u="none" strike="noStrike" cap="none" dirty="0">
                <a:solidFill>
                  <a:srgbClr val="01415B"/>
                </a:solidFill>
                <a:latin typeface="Roboto"/>
                <a:ea typeface="Roboto"/>
                <a:cs typeface="Roboto"/>
                <a:sym typeface="Roboto"/>
              </a:rPr>
              <a:t> de </a:t>
            </a:r>
            <a:r>
              <a:rPr lang="en-US" sz="2700" b="1" i="0" u="none" strike="noStrike" cap="none" dirty="0" err="1">
                <a:solidFill>
                  <a:srgbClr val="01415B"/>
                </a:solidFill>
                <a:latin typeface="Roboto"/>
                <a:ea typeface="Roboto"/>
                <a:cs typeface="Roboto"/>
                <a:sym typeface="Roboto"/>
              </a:rPr>
              <a:t>Riesgos</a:t>
            </a:r>
            <a:endParaRPr lang="en-US" sz="2700" b="1" i="0" u="none" strike="noStrike" cap="none" dirty="0">
              <a:solidFill>
                <a:srgbClr val="01415B"/>
              </a:solidFill>
              <a:latin typeface="Roboto"/>
              <a:ea typeface="Roboto"/>
              <a:cs typeface="Roboto"/>
              <a:sym typeface="Roboto"/>
            </a:endParaRPr>
          </a:p>
        </p:txBody>
      </p:sp>
    </p:spTree>
    <p:extLst>
      <p:ext uri="{BB962C8B-B14F-4D97-AF65-F5344CB8AC3E}">
        <p14:creationId xmlns:p14="http://schemas.microsoft.com/office/powerpoint/2010/main" val="7389413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11529A00-7749-06F8-D1EC-317B3442ECC6}"/>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5B28B6A2-4ACB-DFE1-57C2-51149F3BAA06}"/>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¿Qué riesgos debieron identificarse?</a:t>
            </a:r>
          </a:p>
          <a:p>
            <a:pPr marL="0" indent="0">
              <a:buNone/>
            </a:pPr>
            <a:endParaRPr lang="es-ES" sz="2000" b="1" dirty="0">
              <a:solidFill>
                <a:srgbClr val="22627E"/>
              </a:solidFill>
            </a:endParaRPr>
          </a:p>
        </p:txBody>
      </p:sp>
      <p:sp>
        <p:nvSpPr>
          <p:cNvPr id="124" name="Google Shape;124;p4">
            <a:extLst>
              <a:ext uri="{FF2B5EF4-FFF2-40B4-BE49-F238E27FC236}">
                <a16:creationId xmlns:a16="http://schemas.microsoft.com/office/drawing/2014/main" id="{835FEB88-1EDF-53A5-28C2-1707FFED6F46}"/>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n-US" sz="2700" b="1" i="0" u="none" strike="noStrike" cap="none" dirty="0" err="1">
                <a:solidFill>
                  <a:srgbClr val="01415B"/>
                </a:solidFill>
                <a:latin typeface="Roboto"/>
                <a:ea typeface="Roboto"/>
                <a:cs typeface="Roboto"/>
                <a:sym typeface="Roboto"/>
              </a:rPr>
              <a:t>Análisis</a:t>
            </a:r>
            <a:r>
              <a:rPr lang="en-US" sz="2700" b="1" i="0" u="none" strike="noStrike" cap="none" dirty="0">
                <a:solidFill>
                  <a:srgbClr val="01415B"/>
                </a:solidFill>
                <a:latin typeface="Roboto"/>
                <a:ea typeface="Roboto"/>
                <a:cs typeface="Roboto"/>
                <a:sym typeface="Roboto"/>
              </a:rPr>
              <a:t> de </a:t>
            </a:r>
            <a:r>
              <a:rPr lang="en-US" sz="2700" b="1" i="0" u="none" strike="noStrike" cap="none" dirty="0" err="1">
                <a:solidFill>
                  <a:srgbClr val="01415B"/>
                </a:solidFill>
                <a:latin typeface="Roboto"/>
                <a:ea typeface="Roboto"/>
                <a:cs typeface="Roboto"/>
                <a:sym typeface="Roboto"/>
              </a:rPr>
              <a:t>Riesgos</a:t>
            </a:r>
            <a:endParaRPr lang="en-US" sz="2700" b="1" i="0" u="none" strike="noStrike" cap="none" dirty="0">
              <a:solidFill>
                <a:srgbClr val="01415B"/>
              </a:solidFill>
              <a:latin typeface="Roboto"/>
              <a:ea typeface="Roboto"/>
              <a:cs typeface="Roboto"/>
              <a:sym typeface="Roboto"/>
            </a:endParaRPr>
          </a:p>
        </p:txBody>
      </p:sp>
    </p:spTree>
    <p:extLst>
      <p:ext uri="{BB962C8B-B14F-4D97-AF65-F5344CB8AC3E}">
        <p14:creationId xmlns:p14="http://schemas.microsoft.com/office/powerpoint/2010/main" val="14470346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6C210DB9-86C5-C2F6-D5F2-5A12E37E59FC}"/>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BA6C7954-BCC4-E3EA-BECA-B242F1B85AA6}"/>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¿Qué riesgos debieron identificarse?</a:t>
            </a:r>
          </a:p>
          <a:p>
            <a:pPr marL="0" indent="0">
              <a:buNone/>
            </a:pPr>
            <a:endParaRPr lang="es-ES" sz="2000" b="1" dirty="0">
              <a:solidFill>
                <a:srgbClr val="22627E"/>
              </a:solidFill>
            </a:endParaRPr>
          </a:p>
          <a:p>
            <a:pPr marL="342900"/>
            <a:r>
              <a:rPr lang="es-ES" sz="2000" dirty="0">
                <a:solidFill>
                  <a:srgbClr val="22627E"/>
                </a:solidFill>
              </a:rPr>
              <a:t>Baja adopción por falta de comprensión del usuario final.</a:t>
            </a:r>
          </a:p>
          <a:p>
            <a:pPr marL="342900"/>
            <a:r>
              <a:rPr lang="es-ES" sz="2000" dirty="0">
                <a:solidFill>
                  <a:srgbClr val="22627E"/>
                </a:solidFill>
              </a:rPr>
              <a:t>Desfase entre lo técnico y lo necesario (síndrome del martillo).</a:t>
            </a:r>
          </a:p>
          <a:p>
            <a:pPr marL="342900"/>
            <a:r>
              <a:rPr lang="es-ES" sz="2000" dirty="0">
                <a:solidFill>
                  <a:srgbClr val="22627E"/>
                </a:solidFill>
              </a:rPr>
              <a:t>Dependencia de tecnologías poco maduras o poco estandarizadas.</a:t>
            </a:r>
          </a:p>
          <a:p>
            <a:pPr marL="342900"/>
            <a:r>
              <a:rPr lang="es-ES" sz="2000" dirty="0">
                <a:solidFill>
                  <a:srgbClr val="22627E"/>
                </a:solidFill>
              </a:rPr>
              <a:t>Rechazo o indiferencia de empleadores.</a:t>
            </a:r>
          </a:p>
          <a:p>
            <a:pPr marL="342900"/>
            <a:r>
              <a:rPr lang="es-ES" sz="2000" dirty="0">
                <a:solidFill>
                  <a:srgbClr val="22627E"/>
                </a:solidFill>
              </a:rPr>
              <a:t>Desconexión con reguladores o falta de respaldo legal claro.</a:t>
            </a:r>
          </a:p>
        </p:txBody>
      </p:sp>
      <p:sp>
        <p:nvSpPr>
          <p:cNvPr id="124" name="Google Shape;124;p4">
            <a:extLst>
              <a:ext uri="{FF2B5EF4-FFF2-40B4-BE49-F238E27FC236}">
                <a16:creationId xmlns:a16="http://schemas.microsoft.com/office/drawing/2014/main" id="{7EB2B2F6-5DFB-6F68-24C0-DF4E9F311EF2}"/>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n-US" sz="2700" b="1" i="0" u="none" strike="noStrike" cap="none" dirty="0" err="1">
                <a:solidFill>
                  <a:srgbClr val="01415B"/>
                </a:solidFill>
                <a:latin typeface="Roboto"/>
                <a:ea typeface="Roboto"/>
                <a:cs typeface="Roboto"/>
                <a:sym typeface="Roboto"/>
              </a:rPr>
              <a:t>Análisis</a:t>
            </a:r>
            <a:r>
              <a:rPr lang="en-US" sz="2700" b="1" i="0" u="none" strike="noStrike" cap="none" dirty="0">
                <a:solidFill>
                  <a:srgbClr val="01415B"/>
                </a:solidFill>
                <a:latin typeface="Roboto"/>
                <a:ea typeface="Roboto"/>
                <a:cs typeface="Roboto"/>
                <a:sym typeface="Roboto"/>
              </a:rPr>
              <a:t> de </a:t>
            </a:r>
            <a:r>
              <a:rPr lang="en-US" sz="2700" b="1" i="0" u="none" strike="noStrike" cap="none" dirty="0" err="1">
                <a:solidFill>
                  <a:srgbClr val="01415B"/>
                </a:solidFill>
                <a:latin typeface="Roboto"/>
                <a:ea typeface="Roboto"/>
                <a:cs typeface="Roboto"/>
                <a:sym typeface="Roboto"/>
              </a:rPr>
              <a:t>Riesgos</a:t>
            </a:r>
            <a:endParaRPr lang="en-US" sz="2700" b="1" i="0" u="none" strike="noStrike" cap="none" dirty="0">
              <a:solidFill>
                <a:srgbClr val="01415B"/>
              </a:solidFill>
              <a:latin typeface="Roboto"/>
              <a:ea typeface="Roboto"/>
              <a:cs typeface="Roboto"/>
              <a:sym typeface="Roboto"/>
            </a:endParaRPr>
          </a:p>
        </p:txBody>
      </p:sp>
    </p:spTree>
    <p:extLst>
      <p:ext uri="{BB962C8B-B14F-4D97-AF65-F5344CB8AC3E}">
        <p14:creationId xmlns:p14="http://schemas.microsoft.com/office/powerpoint/2010/main" val="28866598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1415B"/>
        </a:solidFill>
        <a:effectLst/>
      </p:bgPr>
    </p:bg>
    <p:spTree>
      <p:nvGrpSpPr>
        <p:cNvPr id="1" name="Shape 110">
          <a:extLst>
            <a:ext uri="{FF2B5EF4-FFF2-40B4-BE49-F238E27FC236}">
              <a16:creationId xmlns:a16="http://schemas.microsoft.com/office/drawing/2014/main" id="{453EE091-497B-F777-1B22-E39D1DF3E708}"/>
            </a:ext>
          </a:extLst>
        </p:cNvPr>
        <p:cNvGrpSpPr/>
        <p:nvPr/>
      </p:nvGrpSpPr>
      <p:grpSpPr>
        <a:xfrm>
          <a:off x="0" y="0"/>
          <a:ext cx="0" cy="0"/>
          <a:chOff x="0" y="0"/>
          <a:chExt cx="0" cy="0"/>
        </a:xfrm>
      </p:grpSpPr>
      <p:grpSp>
        <p:nvGrpSpPr>
          <p:cNvPr id="111" name="Google Shape;111;g1ea3c471214_0_9">
            <a:extLst>
              <a:ext uri="{FF2B5EF4-FFF2-40B4-BE49-F238E27FC236}">
                <a16:creationId xmlns:a16="http://schemas.microsoft.com/office/drawing/2014/main" id="{852896A7-92A6-3F4E-E1B9-ED04AB009463}"/>
              </a:ext>
            </a:extLst>
          </p:cNvPr>
          <p:cNvGrpSpPr/>
          <p:nvPr/>
        </p:nvGrpSpPr>
        <p:grpSpPr>
          <a:xfrm>
            <a:off x="2178127" y="2865504"/>
            <a:ext cx="7364281" cy="1146201"/>
            <a:chOff x="2990101" y="2717970"/>
            <a:chExt cx="6251512" cy="1144942"/>
          </a:xfrm>
        </p:grpSpPr>
        <p:sp>
          <p:nvSpPr>
            <p:cNvPr id="112" name="Google Shape;112;g1ea3c471214_0_9">
              <a:extLst>
                <a:ext uri="{FF2B5EF4-FFF2-40B4-BE49-F238E27FC236}">
                  <a16:creationId xmlns:a16="http://schemas.microsoft.com/office/drawing/2014/main" id="{383DEF6F-B7DB-BDE3-3195-C7DE9F8C650D}"/>
                </a:ext>
              </a:extLst>
            </p:cNvPr>
            <p:cNvSpPr/>
            <p:nvPr/>
          </p:nvSpPr>
          <p:spPr>
            <a:xfrm>
              <a:off x="2990101" y="2717970"/>
              <a:ext cx="6251512" cy="1144942"/>
            </a:xfrm>
            <a:custGeom>
              <a:avLst/>
              <a:gdLst/>
              <a:ahLst/>
              <a:cxnLst/>
              <a:rect l="l" t="t" r="r" b="b"/>
              <a:pathLst>
                <a:path w="6251512" h="1144942" extrusionOk="0">
                  <a:moveTo>
                    <a:pt x="572471" y="0"/>
                  </a:moveTo>
                  <a:lnTo>
                    <a:pt x="5679041" y="0"/>
                  </a:lnTo>
                  <a:cubicBezTo>
                    <a:pt x="5995208" y="0"/>
                    <a:pt x="6251512" y="256304"/>
                    <a:pt x="6251512" y="572471"/>
                  </a:cubicBezTo>
                  <a:lnTo>
                    <a:pt x="6251512" y="572471"/>
                  </a:lnTo>
                  <a:cubicBezTo>
                    <a:pt x="6251512" y="888638"/>
                    <a:pt x="5995208" y="1144942"/>
                    <a:pt x="5679041" y="1144942"/>
                  </a:cubicBezTo>
                  <a:lnTo>
                    <a:pt x="572471" y="1144942"/>
                  </a:lnTo>
                  <a:cubicBezTo>
                    <a:pt x="256304" y="1144942"/>
                    <a:pt x="0" y="888638"/>
                    <a:pt x="0" y="572471"/>
                  </a:cubicBezTo>
                  <a:lnTo>
                    <a:pt x="0" y="572471"/>
                  </a:lnTo>
                  <a:cubicBezTo>
                    <a:pt x="0" y="256304"/>
                    <a:pt x="256304" y="0"/>
                    <a:pt x="572471" y="0"/>
                  </a:cubicBezTo>
                  <a:close/>
                </a:path>
              </a:pathLst>
            </a:custGeom>
            <a:noFill/>
            <a:ln w="9525" cap="flat" cmpd="sng">
              <a:solidFill>
                <a:srgbClr val="3298B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3" name="Google Shape;113;g1ea3c471214_0_9">
              <a:extLst>
                <a:ext uri="{FF2B5EF4-FFF2-40B4-BE49-F238E27FC236}">
                  <a16:creationId xmlns:a16="http://schemas.microsoft.com/office/drawing/2014/main" id="{CF731539-977B-A82F-E70D-4BACC78BA91F}"/>
                </a:ext>
              </a:extLst>
            </p:cNvPr>
            <p:cNvSpPr/>
            <p:nvPr/>
          </p:nvSpPr>
          <p:spPr>
            <a:xfrm>
              <a:off x="3113925" y="2822632"/>
              <a:ext cx="6034026" cy="924516"/>
            </a:xfrm>
            <a:custGeom>
              <a:avLst/>
              <a:gdLst/>
              <a:ahLst/>
              <a:cxnLst/>
              <a:rect l="l" t="t" r="r" b="b"/>
              <a:pathLst>
                <a:path w="6034026" h="924516" extrusionOk="0">
                  <a:moveTo>
                    <a:pt x="462258" y="0"/>
                  </a:moveTo>
                  <a:lnTo>
                    <a:pt x="5571768" y="0"/>
                  </a:lnTo>
                  <a:cubicBezTo>
                    <a:pt x="5827066" y="0"/>
                    <a:pt x="6034026" y="206960"/>
                    <a:pt x="6034026" y="462258"/>
                  </a:cubicBezTo>
                  <a:lnTo>
                    <a:pt x="6034026" y="462258"/>
                  </a:lnTo>
                  <a:cubicBezTo>
                    <a:pt x="6034026" y="717556"/>
                    <a:pt x="5827066" y="924516"/>
                    <a:pt x="5571768" y="924516"/>
                  </a:cubicBezTo>
                  <a:lnTo>
                    <a:pt x="462258" y="924516"/>
                  </a:lnTo>
                  <a:cubicBezTo>
                    <a:pt x="206960" y="924516"/>
                    <a:pt x="0" y="717556"/>
                    <a:pt x="0" y="462258"/>
                  </a:cubicBezTo>
                  <a:lnTo>
                    <a:pt x="0" y="462258"/>
                  </a:lnTo>
                  <a:cubicBezTo>
                    <a:pt x="0" y="206960"/>
                    <a:pt x="206960" y="0"/>
                    <a:pt x="462258" y="0"/>
                  </a:cubicBezTo>
                  <a:close/>
                </a:path>
              </a:pathLst>
            </a:custGeom>
            <a:solidFill>
              <a:srgbClr val="3298B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114" name="Google Shape;114;g1ea3c471214_0_9">
            <a:extLst>
              <a:ext uri="{FF2B5EF4-FFF2-40B4-BE49-F238E27FC236}">
                <a16:creationId xmlns:a16="http://schemas.microsoft.com/office/drawing/2014/main" id="{07EA7204-5F08-3E03-D1F4-CEF49A10EF0E}"/>
              </a:ext>
            </a:extLst>
          </p:cNvPr>
          <p:cNvSpPr/>
          <p:nvPr/>
        </p:nvSpPr>
        <p:spPr>
          <a:xfrm>
            <a:off x="8281900" y="2571750"/>
            <a:ext cx="1731900" cy="1714500"/>
          </a:xfrm>
          <a:prstGeom prst="ellipse">
            <a:avLst/>
          </a:prstGeom>
          <a:solidFill>
            <a:srgbClr val="01415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5" name="Google Shape;115;g1ea3c471214_0_9">
            <a:extLst>
              <a:ext uri="{FF2B5EF4-FFF2-40B4-BE49-F238E27FC236}">
                <a16:creationId xmlns:a16="http://schemas.microsoft.com/office/drawing/2014/main" id="{22C698C8-C22D-8B8C-1579-44CCEB54FC2B}"/>
              </a:ext>
            </a:extLst>
          </p:cNvPr>
          <p:cNvSpPr txBox="1">
            <a:spLocks noGrp="1"/>
          </p:cNvSpPr>
          <p:nvPr>
            <p:ph type="body" idx="1"/>
          </p:nvPr>
        </p:nvSpPr>
        <p:spPr>
          <a:xfrm>
            <a:off x="3798800" y="3132137"/>
            <a:ext cx="5064000" cy="612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FFFF"/>
              </a:buClr>
              <a:buSzPts val="2800"/>
              <a:buNone/>
            </a:pPr>
            <a:r>
              <a:rPr lang="en-US" sz="2800" b="1" i="0" u="none" dirty="0" err="1">
                <a:solidFill>
                  <a:srgbClr val="FFFFFF"/>
                </a:solidFill>
                <a:latin typeface="Roboto"/>
                <a:ea typeface="Roboto"/>
                <a:cs typeface="Roboto"/>
                <a:sym typeface="Roboto"/>
              </a:rPr>
              <a:t>Planificación</a:t>
            </a:r>
            <a:endParaRPr dirty="0"/>
          </a:p>
        </p:txBody>
      </p:sp>
      <p:sp>
        <p:nvSpPr>
          <p:cNvPr id="116" name="Google Shape;116;g1ea3c471214_0_9">
            <a:extLst>
              <a:ext uri="{FF2B5EF4-FFF2-40B4-BE49-F238E27FC236}">
                <a16:creationId xmlns:a16="http://schemas.microsoft.com/office/drawing/2014/main" id="{70C11847-0D7D-79F4-5D2A-E89E009C7B10}"/>
              </a:ext>
            </a:extLst>
          </p:cNvPr>
          <p:cNvSpPr/>
          <p:nvPr/>
        </p:nvSpPr>
        <p:spPr>
          <a:xfrm>
            <a:off x="8402550" y="2703512"/>
            <a:ext cx="1492200" cy="1390800"/>
          </a:xfrm>
          <a:prstGeom prst="ellipse">
            <a:avLst/>
          </a:prstGeom>
          <a:solidFill>
            <a:srgbClr val="3298B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17" name="Google Shape;117;g1ea3c471214_0_9">
            <a:extLst>
              <a:ext uri="{FF2B5EF4-FFF2-40B4-BE49-F238E27FC236}">
                <a16:creationId xmlns:a16="http://schemas.microsoft.com/office/drawing/2014/main" id="{8F40D119-61D6-5CC4-1B3F-5FC55BBD0C7D}"/>
              </a:ext>
            </a:extLst>
          </p:cNvPr>
          <p:cNvPicPr preferRelativeResize="0"/>
          <p:nvPr/>
        </p:nvPicPr>
        <p:blipFill rotWithShape="1">
          <a:blip r:embed="rId3">
            <a:alphaModFix/>
          </a:blip>
          <a:srcRect/>
          <a:stretch/>
        </p:blipFill>
        <p:spPr>
          <a:xfrm>
            <a:off x="8826413" y="3057525"/>
            <a:ext cx="742950" cy="742950"/>
          </a:xfrm>
          <a:prstGeom prst="rect">
            <a:avLst/>
          </a:prstGeom>
          <a:noFill/>
          <a:ln>
            <a:noFill/>
          </a:ln>
        </p:spPr>
      </p:pic>
    </p:spTree>
    <p:extLst>
      <p:ext uri="{BB962C8B-B14F-4D97-AF65-F5344CB8AC3E}">
        <p14:creationId xmlns:p14="http://schemas.microsoft.com/office/powerpoint/2010/main" val="31431225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8DDCC99C-EBFB-7CF4-AF4F-EF9242BBD474}"/>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A5D89C93-5990-1CFA-B593-71ECDE699CB3}"/>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Planificación real en el caso de las universidades</a:t>
            </a:r>
          </a:p>
          <a:p>
            <a:pPr marL="0" indent="0">
              <a:buNone/>
            </a:pPr>
            <a:r>
              <a:rPr lang="es-ES" sz="2000" b="1" dirty="0">
                <a:solidFill>
                  <a:srgbClr val="22627E"/>
                </a:solidFill>
              </a:rPr>
              <a:t>(Lo que se esperaba)</a:t>
            </a:r>
          </a:p>
          <a:p>
            <a:pPr marL="0" indent="0">
              <a:buNone/>
            </a:pPr>
            <a:endParaRPr lang="es-ES" sz="2000" b="1" dirty="0">
              <a:solidFill>
                <a:srgbClr val="22627E"/>
              </a:solidFill>
            </a:endParaRPr>
          </a:p>
          <a:p>
            <a:pPr marL="342900"/>
            <a:r>
              <a:rPr lang="es-ES" sz="2000" dirty="0">
                <a:solidFill>
                  <a:srgbClr val="22627E"/>
                </a:solidFill>
              </a:rPr>
              <a:t>Dividir bien el trabajo: Crear </a:t>
            </a:r>
            <a:r>
              <a:rPr lang="es-ES" sz="2000" dirty="0" err="1">
                <a:solidFill>
                  <a:srgbClr val="22627E"/>
                </a:solidFill>
              </a:rPr>
              <a:t>workstreams</a:t>
            </a:r>
            <a:r>
              <a:rPr lang="es-ES" sz="2000" dirty="0">
                <a:solidFill>
                  <a:srgbClr val="22627E"/>
                </a:solidFill>
              </a:rPr>
              <a:t> con tareas claras</a:t>
            </a:r>
          </a:p>
          <a:p>
            <a:pPr marL="342900"/>
            <a:r>
              <a:rPr lang="es-ES" sz="2000" dirty="0">
                <a:solidFill>
                  <a:srgbClr val="22627E"/>
                </a:solidFill>
              </a:rPr>
              <a:t>Organizar entregables y tiempos: </a:t>
            </a:r>
            <a:r>
              <a:rPr lang="es-ES" sz="2000" dirty="0" err="1">
                <a:solidFill>
                  <a:srgbClr val="22627E"/>
                </a:solidFill>
              </a:rPr>
              <a:t>milestones</a:t>
            </a:r>
            <a:r>
              <a:rPr lang="es-ES" sz="2000" dirty="0">
                <a:solidFill>
                  <a:srgbClr val="22627E"/>
                </a:solidFill>
              </a:rPr>
              <a:t>, cronograma.</a:t>
            </a:r>
          </a:p>
          <a:p>
            <a:pPr marL="342900"/>
            <a:r>
              <a:rPr lang="es-ES" sz="2000" dirty="0">
                <a:solidFill>
                  <a:srgbClr val="22627E"/>
                </a:solidFill>
              </a:rPr>
              <a:t>Detectar dependencias: caminos críticos que no pueden fallar.</a:t>
            </a:r>
          </a:p>
          <a:p>
            <a:pPr marL="342900"/>
            <a:r>
              <a:rPr lang="es-ES" sz="2000" dirty="0">
                <a:solidFill>
                  <a:srgbClr val="22627E"/>
                </a:solidFill>
              </a:rPr>
              <a:t>Asignar tareas y secuencias claras.</a:t>
            </a:r>
          </a:p>
        </p:txBody>
      </p:sp>
      <p:sp>
        <p:nvSpPr>
          <p:cNvPr id="124" name="Google Shape;124;p4">
            <a:extLst>
              <a:ext uri="{FF2B5EF4-FFF2-40B4-BE49-F238E27FC236}">
                <a16:creationId xmlns:a16="http://schemas.microsoft.com/office/drawing/2014/main" id="{81CE6764-F270-F790-04AD-9779B3F1C81A}"/>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n-US" sz="2700" b="1" i="0" u="none" strike="noStrike" cap="none" dirty="0" err="1">
                <a:solidFill>
                  <a:srgbClr val="01415B"/>
                </a:solidFill>
                <a:latin typeface="Roboto"/>
                <a:ea typeface="Roboto"/>
                <a:cs typeface="Roboto"/>
                <a:sym typeface="Roboto"/>
              </a:rPr>
              <a:t>Planificación</a:t>
            </a:r>
            <a:r>
              <a:rPr lang="en-US" sz="2700" b="1" i="0" u="none" strike="noStrike" cap="none" dirty="0">
                <a:solidFill>
                  <a:srgbClr val="01415B"/>
                </a:solidFill>
                <a:latin typeface="Roboto"/>
                <a:ea typeface="Roboto"/>
                <a:cs typeface="Roboto"/>
                <a:sym typeface="Roboto"/>
              </a:rPr>
              <a:t> I</a:t>
            </a:r>
          </a:p>
        </p:txBody>
      </p:sp>
    </p:spTree>
    <p:extLst>
      <p:ext uri="{BB962C8B-B14F-4D97-AF65-F5344CB8AC3E}">
        <p14:creationId xmlns:p14="http://schemas.microsoft.com/office/powerpoint/2010/main" val="1792245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AD241ED1-F709-14F1-8E64-E826110FDD0D}"/>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E29CEFAB-917D-1958-CBC7-9D3B5C9EEDFE}"/>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Planificación real en el caso de las universidades</a:t>
            </a:r>
          </a:p>
          <a:p>
            <a:pPr marL="0" indent="0">
              <a:buNone/>
            </a:pPr>
            <a:r>
              <a:rPr lang="es-ES" sz="2000" b="1" dirty="0">
                <a:solidFill>
                  <a:srgbClr val="22627E"/>
                </a:solidFill>
              </a:rPr>
              <a:t>(Lo que se hizo)</a:t>
            </a:r>
          </a:p>
          <a:p>
            <a:pPr marL="0" indent="0">
              <a:buNone/>
            </a:pPr>
            <a:endParaRPr lang="es-ES" sz="2000" b="1" dirty="0">
              <a:solidFill>
                <a:srgbClr val="22627E"/>
              </a:solidFill>
            </a:endParaRPr>
          </a:p>
          <a:p>
            <a:pPr marL="342900"/>
            <a:r>
              <a:rPr lang="es-ES" sz="2000" dirty="0">
                <a:solidFill>
                  <a:srgbClr val="22627E"/>
                </a:solidFill>
              </a:rPr>
              <a:t>Algunos proyectos piloto muy acotados (una facultad, un máster...).</a:t>
            </a:r>
          </a:p>
          <a:p>
            <a:pPr marL="342900"/>
            <a:r>
              <a:rPr lang="es-ES" sz="2000" dirty="0">
                <a:solidFill>
                  <a:srgbClr val="22627E"/>
                </a:solidFill>
              </a:rPr>
              <a:t>No hubo planificación centralizada ni </a:t>
            </a:r>
            <a:r>
              <a:rPr lang="es-ES" sz="2000" dirty="0" err="1">
                <a:solidFill>
                  <a:srgbClr val="22627E"/>
                </a:solidFill>
              </a:rPr>
              <a:t>milestones</a:t>
            </a:r>
            <a:r>
              <a:rPr lang="es-ES" sz="2000" dirty="0">
                <a:solidFill>
                  <a:srgbClr val="22627E"/>
                </a:solidFill>
              </a:rPr>
              <a:t> comunes entre universidades.</a:t>
            </a:r>
          </a:p>
          <a:p>
            <a:pPr marL="342900"/>
            <a:r>
              <a:rPr lang="es-ES" sz="2000" dirty="0">
                <a:solidFill>
                  <a:srgbClr val="22627E"/>
                </a:solidFill>
              </a:rPr>
              <a:t>Se trató la solución de forma monolítica.</a:t>
            </a:r>
          </a:p>
          <a:p>
            <a:pPr marL="342900"/>
            <a:r>
              <a:rPr lang="es-ES" sz="2000" dirty="0">
                <a:solidFill>
                  <a:srgbClr val="22627E"/>
                </a:solidFill>
              </a:rPr>
              <a:t>Cada universidad creó su solución de forma autónoma (ni siquiera compartían plataforma en muchos casos).</a:t>
            </a:r>
          </a:p>
        </p:txBody>
      </p:sp>
      <p:sp>
        <p:nvSpPr>
          <p:cNvPr id="124" name="Google Shape;124;p4">
            <a:extLst>
              <a:ext uri="{FF2B5EF4-FFF2-40B4-BE49-F238E27FC236}">
                <a16:creationId xmlns:a16="http://schemas.microsoft.com/office/drawing/2014/main" id="{34B5787D-5D7B-BD23-4CAC-2196FB796D57}"/>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n-US" sz="2700" b="1" i="0" u="none" strike="noStrike" cap="none" dirty="0" err="1">
                <a:solidFill>
                  <a:srgbClr val="01415B"/>
                </a:solidFill>
                <a:latin typeface="Roboto"/>
                <a:ea typeface="Roboto"/>
                <a:cs typeface="Roboto"/>
                <a:sym typeface="Roboto"/>
              </a:rPr>
              <a:t>Planificación</a:t>
            </a:r>
            <a:r>
              <a:rPr lang="en-US" sz="2700" b="1" i="0" u="none" strike="noStrike" cap="none" dirty="0">
                <a:solidFill>
                  <a:srgbClr val="01415B"/>
                </a:solidFill>
                <a:latin typeface="Roboto"/>
                <a:ea typeface="Roboto"/>
                <a:cs typeface="Roboto"/>
                <a:sym typeface="Roboto"/>
              </a:rPr>
              <a:t> I</a:t>
            </a:r>
          </a:p>
        </p:txBody>
      </p:sp>
    </p:spTree>
    <p:extLst>
      <p:ext uri="{BB962C8B-B14F-4D97-AF65-F5344CB8AC3E}">
        <p14:creationId xmlns:p14="http://schemas.microsoft.com/office/powerpoint/2010/main" val="23090048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3E696765-45DB-D085-C5F7-9E84016DBD6C}"/>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A06E2E73-9B91-492D-BAC0-1B28861F15C9}"/>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¿Problemas detectados?</a:t>
            </a:r>
          </a:p>
          <a:p>
            <a:pPr marL="0" indent="0">
              <a:buNone/>
            </a:pPr>
            <a:endParaRPr lang="es-ES" sz="2000" b="1" dirty="0">
              <a:solidFill>
                <a:srgbClr val="22627E"/>
              </a:solidFill>
            </a:endParaRPr>
          </a:p>
        </p:txBody>
      </p:sp>
      <p:sp>
        <p:nvSpPr>
          <p:cNvPr id="124" name="Google Shape;124;p4">
            <a:extLst>
              <a:ext uri="{FF2B5EF4-FFF2-40B4-BE49-F238E27FC236}">
                <a16:creationId xmlns:a16="http://schemas.microsoft.com/office/drawing/2014/main" id="{580F04B8-8FB8-A00A-B5C9-5F646C6494A9}"/>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s-ES" sz="2700" b="1" i="0" u="none" strike="noStrike" cap="none" noProof="0" dirty="0">
                <a:solidFill>
                  <a:srgbClr val="01415B"/>
                </a:solidFill>
                <a:latin typeface="Roboto"/>
                <a:ea typeface="Roboto"/>
                <a:cs typeface="Roboto"/>
                <a:sym typeface="Roboto"/>
              </a:rPr>
              <a:t>Reflexión y Debate </a:t>
            </a:r>
            <a:endParaRPr lang="en-US" sz="2700" b="1" i="0" u="none" strike="noStrike" cap="none" dirty="0">
              <a:solidFill>
                <a:srgbClr val="01415B"/>
              </a:solidFill>
              <a:latin typeface="Roboto"/>
              <a:ea typeface="Roboto"/>
              <a:cs typeface="Roboto"/>
              <a:sym typeface="Roboto"/>
            </a:endParaRPr>
          </a:p>
        </p:txBody>
      </p:sp>
    </p:spTree>
    <p:extLst>
      <p:ext uri="{BB962C8B-B14F-4D97-AF65-F5344CB8AC3E}">
        <p14:creationId xmlns:p14="http://schemas.microsoft.com/office/powerpoint/2010/main" val="20115403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F7681D8A-D936-839B-07C7-EAB8CC3562EA}"/>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7BBAC3CC-36CB-0437-BB22-ADA5498113A3}"/>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¿Problemas detectados?</a:t>
            </a:r>
          </a:p>
          <a:p>
            <a:pPr marL="0" indent="0">
              <a:buNone/>
            </a:pPr>
            <a:endParaRPr lang="es-ES" sz="2000" dirty="0">
              <a:solidFill>
                <a:srgbClr val="22627E"/>
              </a:solidFill>
            </a:endParaRPr>
          </a:p>
          <a:p>
            <a:pPr marL="0" indent="0">
              <a:buNone/>
            </a:pPr>
            <a:r>
              <a:rPr lang="es-ES" sz="2000" dirty="0">
                <a:solidFill>
                  <a:srgbClr val="22627E"/>
                </a:solidFill>
              </a:rPr>
              <a:t>Falta de visión de conjunto → fragmentación.</a:t>
            </a:r>
          </a:p>
          <a:p>
            <a:pPr marL="0" indent="0">
              <a:buNone/>
            </a:pPr>
            <a:r>
              <a:rPr lang="es-ES" sz="2000" dirty="0">
                <a:solidFill>
                  <a:srgbClr val="22627E"/>
                </a:solidFill>
              </a:rPr>
              <a:t>Poca identificación de </a:t>
            </a:r>
            <a:r>
              <a:rPr lang="es-ES" sz="2000" dirty="0" err="1">
                <a:solidFill>
                  <a:srgbClr val="22627E"/>
                </a:solidFill>
              </a:rPr>
              <a:t>workstreams</a:t>
            </a:r>
            <a:r>
              <a:rPr lang="es-ES" sz="2000" dirty="0">
                <a:solidFill>
                  <a:srgbClr val="22627E"/>
                </a:solidFill>
              </a:rPr>
              <a:t>: desarrollo, integración, legal, comunicación...</a:t>
            </a:r>
          </a:p>
          <a:p>
            <a:pPr marL="0" indent="0">
              <a:buNone/>
            </a:pPr>
            <a:r>
              <a:rPr lang="es-ES" sz="2000" dirty="0">
                <a:solidFill>
                  <a:srgbClr val="22627E"/>
                </a:solidFill>
              </a:rPr>
              <a:t>Ausencia de </a:t>
            </a:r>
            <a:r>
              <a:rPr lang="es-ES" sz="2000" dirty="0" err="1">
                <a:solidFill>
                  <a:srgbClr val="22627E"/>
                </a:solidFill>
              </a:rPr>
              <a:t>roadmap</a:t>
            </a:r>
            <a:r>
              <a:rPr lang="es-ES" sz="2000" dirty="0">
                <a:solidFill>
                  <a:srgbClr val="22627E"/>
                </a:solidFill>
              </a:rPr>
              <a:t> público con hitos claros.</a:t>
            </a:r>
          </a:p>
        </p:txBody>
      </p:sp>
      <p:sp>
        <p:nvSpPr>
          <p:cNvPr id="124" name="Google Shape;124;p4">
            <a:extLst>
              <a:ext uri="{FF2B5EF4-FFF2-40B4-BE49-F238E27FC236}">
                <a16:creationId xmlns:a16="http://schemas.microsoft.com/office/drawing/2014/main" id="{24870618-1F45-BC94-E86B-7F1F6F31550D}"/>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s-ES" sz="2700" b="1" i="0" u="none" strike="noStrike" cap="none" noProof="0" dirty="0">
                <a:solidFill>
                  <a:srgbClr val="01415B"/>
                </a:solidFill>
                <a:latin typeface="Roboto"/>
                <a:ea typeface="Roboto"/>
                <a:cs typeface="Roboto"/>
                <a:sym typeface="Roboto"/>
              </a:rPr>
              <a:t>Reflexión y Debate </a:t>
            </a:r>
            <a:endParaRPr lang="en-US" sz="2700" b="1" i="0" u="none" strike="noStrike" cap="none" dirty="0">
              <a:solidFill>
                <a:srgbClr val="01415B"/>
              </a:solidFill>
              <a:latin typeface="Roboto"/>
              <a:ea typeface="Roboto"/>
              <a:cs typeface="Roboto"/>
              <a:sym typeface="Roboto"/>
            </a:endParaRPr>
          </a:p>
        </p:txBody>
      </p:sp>
    </p:spTree>
    <p:extLst>
      <p:ext uri="{BB962C8B-B14F-4D97-AF65-F5344CB8AC3E}">
        <p14:creationId xmlns:p14="http://schemas.microsoft.com/office/powerpoint/2010/main" val="36527424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82136A8F-A37A-E9E7-4C69-64A703FD72BE}"/>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84464DF8-9DA6-B634-AF3D-39B8A2EEED89}"/>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¿Problemas detectados?</a:t>
            </a:r>
          </a:p>
          <a:p>
            <a:pPr marL="0" indent="0">
              <a:buNone/>
            </a:pPr>
            <a:r>
              <a:rPr lang="es-ES" sz="2000" dirty="0">
                <a:solidFill>
                  <a:srgbClr val="22627E"/>
                </a:solidFill>
              </a:rPr>
              <a:t>Falta de visión de conjunto → fragmentación.</a:t>
            </a:r>
          </a:p>
          <a:p>
            <a:pPr marL="0" indent="0">
              <a:buNone/>
            </a:pPr>
            <a:r>
              <a:rPr lang="es-ES" sz="2000" dirty="0">
                <a:solidFill>
                  <a:srgbClr val="22627E"/>
                </a:solidFill>
              </a:rPr>
              <a:t>Poca identificación de </a:t>
            </a:r>
            <a:r>
              <a:rPr lang="es-ES" sz="2000" dirty="0" err="1">
                <a:solidFill>
                  <a:srgbClr val="22627E"/>
                </a:solidFill>
              </a:rPr>
              <a:t>workstreams</a:t>
            </a:r>
            <a:r>
              <a:rPr lang="es-ES" sz="2000" dirty="0">
                <a:solidFill>
                  <a:srgbClr val="22627E"/>
                </a:solidFill>
              </a:rPr>
              <a:t>: desarrollo, integración, legal, comunicación...</a:t>
            </a:r>
          </a:p>
          <a:p>
            <a:pPr marL="0" indent="0">
              <a:buNone/>
            </a:pPr>
            <a:r>
              <a:rPr lang="es-ES" sz="2000" dirty="0">
                <a:solidFill>
                  <a:srgbClr val="22627E"/>
                </a:solidFill>
              </a:rPr>
              <a:t>Ausencia de </a:t>
            </a:r>
            <a:r>
              <a:rPr lang="es-ES" sz="2000" dirty="0" err="1">
                <a:solidFill>
                  <a:srgbClr val="22627E"/>
                </a:solidFill>
              </a:rPr>
              <a:t>roadmap</a:t>
            </a:r>
            <a:r>
              <a:rPr lang="es-ES" sz="2000" dirty="0">
                <a:solidFill>
                  <a:srgbClr val="22627E"/>
                </a:solidFill>
              </a:rPr>
              <a:t> público con hitos claros.</a:t>
            </a:r>
          </a:p>
          <a:p>
            <a:pPr marL="0" indent="0">
              <a:buNone/>
            </a:pPr>
            <a:endParaRPr lang="es-ES" sz="2000" b="1" dirty="0">
              <a:solidFill>
                <a:srgbClr val="22627E"/>
              </a:solidFill>
            </a:endParaRPr>
          </a:p>
          <a:p>
            <a:pPr marL="0" indent="0">
              <a:buNone/>
            </a:pPr>
            <a:r>
              <a:rPr lang="es-ES" sz="2000" b="1" dirty="0">
                <a:solidFill>
                  <a:srgbClr val="22627E"/>
                </a:solidFill>
              </a:rPr>
              <a:t>Debatir</a:t>
            </a:r>
          </a:p>
          <a:p>
            <a:pPr marL="0" indent="0">
              <a:buNone/>
            </a:pPr>
            <a:r>
              <a:rPr lang="es-ES" sz="2000" dirty="0">
                <a:solidFill>
                  <a:srgbClr val="22627E"/>
                </a:solidFill>
              </a:rPr>
              <a:t>¿Detectáis una estructura de proyecto clara?</a:t>
            </a:r>
          </a:p>
          <a:p>
            <a:pPr marL="0" indent="0">
              <a:buNone/>
            </a:pPr>
            <a:r>
              <a:rPr lang="es-ES" sz="2000" dirty="0">
                <a:solidFill>
                  <a:srgbClr val="22627E"/>
                </a:solidFill>
              </a:rPr>
              <a:t>¿Qué </a:t>
            </a:r>
            <a:r>
              <a:rPr lang="es-ES" sz="2000" dirty="0" err="1">
                <a:solidFill>
                  <a:srgbClr val="22627E"/>
                </a:solidFill>
              </a:rPr>
              <a:t>workstreams</a:t>
            </a:r>
            <a:r>
              <a:rPr lang="es-ES" sz="2000" dirty="0">
                <a:solidFill>
                  <a:srgbClr val="22627E"/>
                </a:solidFill>
              </a:rPr>
              <a:t> deberían haberse definido?</a:t>
            </a:r>
          </a:p>
          <a:p>
            <a:pPr marL="0" indent="0">
              <a:buNone/>
            </a:pPr>
            <a:r>
              <a:rPr lang="es-ES" sz="2000" dirty="0">
                <a:solidFill>
                  <a:srgbClr val="22627E"/>
                </a:solidFill>
              </a:rPr>
              <a:t>¿Qué tipo de </a:t>
            </a:r>
            <a:r>
              <a:rPr lang="es-ES" sz="2000" dirty="0" err="1">
                <a:solidFill>
                  <a:srgbClr val="22627E"/>
                </a:solidFill>
              </a:rPr>
              <a:t>milestones</a:t>
            </a:r>
            <a:r>
              <a:rPr lang="es-ES" sz="2000" dirty="0">
                <a:solidFill>
                  <a:srgbClr val="22627E"/>
                </a:solidFill>
              </a:rPr>
              <a:t> habríais marcado?</a:t>
            </a:r>
          </a:p>
          <a:p>
            <a:pPr marL="0" indent="0">
              <a:buNone/>
            </a:pPr>
            <a:r>
              <a:rPr lang="es-ES" sz="2000" dirty="0">
                <a:solidFill>
                  <a:srgbClr val="22627E"/>
                </a:solidFill>
              </a:rPr>
              <a:t>¿Cómo se podrían haber alineado universidades distintas?</a:t>
            </a:r>
          </a:p>
        </p:txBody>
      </p:sp>
      <p:sp>
        <p:nvSpPr>
          <p:cNvPr id="124" name="Google Shape;124;p4">
            <a:extLst>
              <a:ext uri="{FF2B5EF4-FFF2-40B4-BE49-F238E27FC236}">
                <a16:creationId xmlns:a16="http://schemas.microsoft.com/office/drawing/2014/main" id="{781D8BD8-F6C3-4E7B-9397-A992DDB2624D}"/>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s-ES" sz="2700" b="1" i="0" u="none" strike="noStrike" cap="none" noProof="0" dirty="0">
                <a:solidFill>
                  <a:srgbClr val="01415B"/>
                </a:solidFill>
                <a:latin typeface="Roboto"/>
                <a:ea typeface="Roboto"/>
                <a:cs typeface="Roboto"/>
                <a:sym typeface="Roboto"/>
              </a:rPr>
              <a:t>Reflexión y Debate </a:t>
            </a:r>
            <a:endParaRPr lang="en-US" sz="2700" b="1" i="0" u="none" strike="noStrike" cap="none" dirty="0">
              <a:solidFill>
                <a:srgbClr val="01415B"/>
              </a:solidFill>
              <a:latin typeface="Roboto"/>
              <a:ea typeface="Roboto"/>
              <a:cs typeface="Roboto"/>
              <a:sym typeface="Roboto"/>
            </a:endParaRPr>
          </a:p>
        </p:txBody>
      </p:sp>
    </p:spTree>
    <p:extLst>
      <p:ext uri="{BB962C8B-B14F-4D97-AF65-F5344CB8AC3E}">
        <p14:creationId xmlns:p14="http://schemas.microsoft.com/office/powerpoint/2010/main" val="40149991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BD532CDD-6B38-89D6-3C07-6E8229FE05A7}"/>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64902BE7-7FC4-2C7A-B28F-E7EB230C6A85}"/>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Planificación real en el caso de las universidades</a:t>
            </a:r>
          </a:p>
          <a:p>
            <a:pPr marL="0" indent="0">
              <a:buNone/>
            </a:pPr>
            <a:r>
              <a:rPr lang="es-ES" sz="2000" b="1" dirty="0">
                <a:solidFill>
                  <a:srgbClr val="22627E"/>
                </a:solidFill>
              </a:rPr>
              <a:t>(Lo que se esperaba)</a:t>
            </a:r>
          </a:p>
          <a:p>
            <a:pPr marL="0" indent="0">
              <a:buNone/>
            </a:pPr>
            <a:endParaRPr lang="es-ES" sz="2000" b="1" dirty="0">
              <a:solidFill>
                <a:srgbClr val="22627E"/>
              </a:solidFill>
            </a:endParaRPr>
          </a:p>
          <a:p>
            <a:pPr marL="342900"/>
            <a:r>
              <a:rPr lang="es-ES" sz="2000" dirty="0">
                <a:solidFill>
                  <a:srgbClr val="22627E"/>
                </a:solidFill>
              </a:rPr>
              <a:t>Recursos disponibles: personas, tiempo, dinero.</a:t>
            </a:r>
          </a:p>
          <a:p>
            <a:pPr marL="342900"/>
            <a:r>
              <a:rPr lang="es-ES" sz="2000" dirty="0" err="1">
                <a:solidFill>
                  <a:srgbClr val="22627E"/>
                </a:solidFill>
              </a:rPr>
              <a:t>KPIs</a:t>
            </a:r>
            <a:r>
              <a:rPr lang="es-ES" sz="2000" dirty="0">
                <a:solidFill>
                  <a:srgbClr val="22627E"/>
                </a:solidFill>
              </a:rPr>
              <a:t> claros: cómo medimos si el proyecto avanza bien.</a:t>
            </a:r>
          </a:p>
          <a:p>
            <a:pPr marL="342900"/>
            <a:r>
              <a:rPr lang="es-ES" sz="2000" dirty="0">
                <a:solidFill>
                  <a:srgbClr val="22627E"/>
                </a:solidFill>
              </a:rPr>
              <a:t>Riesgos y mantenimiento: prever problemas y cómo actuar.</a:t>
            </a:r>
          </a:p>
          <a:p>
            <a:pPr marL="342900"/>
            <a:r>
              <a:rPr lang="es-ES" sz="2000" dirty="0">
                <a:solidFill>
                  <a:srgbClr val="22627E"/>
                </a:solidFill>
              </a:rPr>
              <a:t>Comunicación: ¿cómo se informa al equipo y </a:t>
            </a:r>
            <a:r>
              <a:rPr lang="es-ES" sz="2000" dirty="0" err="1">
                <a:solidFill>
                  <a:srgbClr val="22627E"/>
                </a:solidFill>
              </a:rPr>
              <a:t>stakeholders</a:t>
            </a:r>
            <a:r>
              <a:rPr lang="es-ES" sz="2000" dirty="0">
                <a:solidFill>
                  <a:srgbClr val="22627E"/>
                </a:solidFill>
              </a:rPr>
              <a:t>?</a:t>
            </a:r>
          </a:p>
        </p:txBody>
      </p:sp>
      <p:sp>
        <p:nvSpPr>
          <p:cNvPr id="124" name="Google Shape;124;p4">
            <a:extLst>
              <a:ext uri="{FF2B5EF4-FFF2-40B4-BE49-F238E27FC236}">
                <a16:creationId xmlns:a16="http://schemas.microsoft.com/office/drawing/2014/main" id="{5BB8C3A3-4709-C4F6-7554-1E4FF6ED35D7}"/>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n-US" sz="2700" b="1" i="0" u="none" strike="noStrike" cap="none" dirty="0" err="1">
                <a:solidFill>
                  <a:srgbClr val="01415B"/>
                </a:solidFill>
                <a:latin typeface="Roboto"/>
                <a:ea typeface="Roboto"/>
                <a:cs typeface="Roboto"/>
                <a:sym typeface="Roboto"/>
              </a:rPr>
              <a:t>Planificación</a:t>
            </a:r>
            <a:r>
              <a:rPr lang="en-US" sz="2700" b="1" i="0" u="none" strike="noStrike" cap="none" dirty="0">
                <a:solidFill>
                  <a:srgbClr val="01415B"/>
                </a:solidFill>
                <a:latin typeface="Roboto"/>
                <a:ea typeface="Roboto"/>
                <a:cs typeface="Roboto"/>
                <a:sym typeface="Roboto"/>
              </a:rPr>
              <a:t> II</a:t>
            </a:r>
          </a:p>
        </p:txBody>
      </p:sp>
    </p:spTree>
    <p:extLst>
      <p:ext uri="{BB962C8B-B14F-4D97-AF65-F5344CB8AC3E}">
        <p14:creationId xmlns:p14="http://schemas.microsoft.com/office/powerpoint/2010/main" val="32114176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5926B35E-885C-1C5A-0CED-08616F42667F}"/>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CA3B94AE-31EC-3CB3-F0E5-282B0CAE473D}"/>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Planificación real en el caso de las universidades</a:t>
            </a:r>
          </a:p>
          <a:p>
            <a:pPr marL="0" indent="0">
              <a:buNone/>
            </a:pPr>
            <a:r>
              <a:rPr lang="es-ES" sz="2000" b="1" dirty="0">
                <a:solidFill>
                  <a:srgbClr val="22627E"/>
                </a:solidFill>
              </a:rPr>
              <a:t>(Lo que se hizo)</a:t>
            </a:r>
          </a:p>
          <a:p>
            <a:pPr marL="0" indent="0">
              <a:buNone/>
            </a:pPr>
            <a:endParaRPr lang="es-ES" sz="2000" b="1" dirty="0">
              <a:solidFill>
                <a:srgbClr val="22627E"/>
              </a:solidFill>
            </a:endParaRPr>
          </a:p>
          <a:p>
            <a:pPr marL="342900"/>
            <a:r>
              <a:rPr lang="es-ES" sz="2000" dirty="0">
                <a:solidFill>
                  <a:srgbClr val="22627E"/>
                </a:solidFill>
              </a:rPr>
              <a:t>Recursos muy variables entre universidades (algunas tenían apoyo de IT, otras no).</a:t>
            </a:r>
          </a:p>
          <a:p>
            <a:pPr marL="342900"/>
            <a:r>
              <a:rPr lang="es-ES" sz="2000" dirty="0">
                <a:solidFill>
                  <a:srgbClr val="22627E"/>
                </a:solidFill>
              </a:rPr>
              <a:t>Prácticamente ningún KPI medible (ni técnicos ni de adopción).</a:t>
            </a:r>
          </a:p>
          <a:p>
            <a:pPr marL="342900"/>
            <a:r>
              <a:rPr lang="es-ES" sz="2000" dirty="0">
                <a:solidFill>
                  <a:srgbClr val="22627E"/>
                </a:solidFill>
              </a:rPr>
              <a:t>No hubo estrategia de mantenimiento </a:t>
            </a:r>
            <a:r>
              <a:rPr lang="es-ES" sz="2000" dirty="0" err="1">
                <a:solidFill>
                  <a:srgbClr val="22627E"/>
                </a:solidFill>
              </a:rPr>
              <a:t>post-lanzamiento</a:t>
            </a:r>
            <a:r>
              <a:rPr lang="es-ES" sz="2000" dirty="0">
                <a:solidFill>
                  <a:srgbClr val="22627E"/>
                </a:solidFill>
              </a:rPr>
              <a:t>.</a:t>
            </a:r>
          </a:p>
          <a:p>
            <a:pPr marL="342900"/>
            <a:r>
              <a:rPr lang="es-ES" sz="2000" dirty="0">
                <a:solidFill>
                  <a:srgbClr val="22627E"/>
                </a:solidFill>
              </a:rPr>
              <a:t>Comunicación poco estructurada (interna y externa).</a:t>
            </a:r>
          </a:p>
        </p:txBody>
      </p:sp>
      <p:sp>
        <p:nvSpPr>
          <p:cNvPr id="124" name="Google Shape;124;p4">
            <a:extLst>
              <a:ext uri="{FF2B5EF4-FFF2-40B4-BE49-F238E27FC236}">
                <a16:creationId xmlns:a16="http://schemas.microsoft.com/office/drawing/2014/main" id="{B3273613-2FC3-C740-21A1-409269A29067}"/>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n-US" sz="2700" b="1" i="0" u="none" strike="noStrike" cap="none" dirty="0" err="1">
                <a:solidFill>
                  <a:srgbClr val="01415B"/>
                </a:solidFill>
                <a:latin typeface="Roboto"/>
                <a:ea typeface="Roboto"/>
                <a:cs typeface="Roboto"/>
                <a:sym typeface="Roboto"/>
              </a:rPr>
              <a:t>Planificación</a:t>
            </a:r>
            <a:r>
              <a:rPr lang="en-US" sz="2700" b="1" i="0" u="none" strike="noStrike" cap="none" dirty="0">
                <a:solidFill>
                  <a:srgbClr val="01415B"/>
                </a:solidFill>
                <a:latin typeface="Roboto"/>
                <a:ea typeface="Roboto"/>
                <a:cs typeface="Roboto"/>
                <a:sym typeface="Roboto"/>
              </a:rPr>
              <a:t> II</a:t>
            </a:r>
          </a:p>
        </p:txBody>
      </p:sp>
    </p:spTree>
    <p:extLst>
      <p:ext uri="{BB962C8B-B14F-4D97-AF65-F5344CB8AC3E}">
        <p14:creationId xmlns:p14="http://schemas.microsoft.com/office/powerpoint/2010/main" val="36988937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63F29455-B5CD-0A9B-B38A-1E1F6D066E44}"/>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5A47BF02-7B64-2E38-BFAD-D8E0715D5F14}"/>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¿Problemas detectados?</a:t>
            </a:r>
          </a:p>
          <a:p>
            <a:pPr marL="0" indent="0">
              <a:buNone/>
            </a:pPr>
            <a:endParaRPr lang="es-ES" sz="2000" b="1" dirty="0">
              <a:solidFill>
                <a:srgbClr val="22627E"/>
              </a:solidFill>
            </a:endParaRPr>
          </a:p>
        </p:txBody>
      </p:sp>
      <p:sp>
        <p:nvSpPr>
          <p:cNvPr id="124" name="Google Shape;124;p4">
            <a:extLst>
              <a:ext uri="{FF2B5EF4-FFF2-40B4-BE49-F238E27FC236}">
                <a16:creationId xmlns:a16="http://schemas.microsoft.com/office/drawing/2014/main" id="{AE1618D7-14C8-0574-83F3-1B4620400275}"/>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s-ES" sz="2700" b="1" i="0" u="none" strike="noStrike" cap="none" noProof="0" dirty="0">
                <a:solidFill>
                  <a:srgbClr val="01415B"/>
                </a:solidFill>
                <a:latin typeface="Roboto"/>
                <a:ea typeface="Roboto"/>
                <a:cs typeface="Roboto"/>
                <a:sym typeface="Roboto"/>
              </a:rPr>
              <a:t>Reflexión y Debate </a:t>
            </a:r>
            <a:endParaRPr lang="en-US" sz="2700" b="1" i="0" u="none" strike="noStrike" cap="none" dirty="0">
              <a:solidFill>
                <a:srgbClr val="01415B"/>
              </a:solidFill>
              <a:latin typeface="Roboto"/>
              <a:ea typeface="Roboto"/>
              <a:cs typeface="Roboto"/>
              <a:sym typeface="Roboto"/>
            </a:endParaRPr>
          </a:p>
        </p:txBody>
      </p:sp>
    </p:spTree>
    <p:extLst>
      <p:ext uri="{BB962C8B-B14F-4D97-AF65-F5344CB8AC3E}">
        <p14:creationId xmlns:p14="http://schemas.microsoft.com/office/powerpoint/2010/main" val="4380688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9B656BBA-0D22-CC65-FC8F-F610AE32FE8E}"/>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C692B453-B67B-C162-225E-39CA55B606E7}"/>
              </a:ext>
            </a:extLst>
          </p:cNvPr>
          <p:cNvSpPr txBox="1">
            <a:spLocks noGrp="1"/>
          </p:cNvSpPr>
          <p:nvPr>
            <p:ph type="body" idx="1"/>
          </p:nvPr>
        </p:nvSpPr>
        <p:spPr>
          <a:xfrm>
            <a:off x="671499" y="1414448"/>
            <a:ext cx="9571835"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¿Problemas detectados?</a:t>
            </a:r>
          </a:p>
          <a:p>
            <a:pPr marL="0" indent="0">
              <a:buNone/>
            </a:pPr>
            <a:endParaRPr lang="es-ES" sz="2000" b="1" dirty="0">
              <a:solidFill>
                <a:srgbClr val="22627E"/>
              </a:solidFill>
            </a:endParaRPr>
          </a:p>
          <a:p>
            <a:pPr marL="0" indent="0">
              <a:buNone/>
            </a:pPr>
            <a:r>
              <a:rPr lang="es-ES" sz="2000" dirty="0">
                <a:solidFill>
                  <a:srgbClr val="22627E"/>
                </a:solidFill>
              </a:rPr>
              <a:t>La falta de </a:t>
            </a:r>
            <a:r>
              <a:rPr lang="es-ES" sz="2000" dirty="0" err="1">
                <a:solidFill>
                  <a:srgbClr val="22627E"/>
                </a:solidFill>
              </a:rPr>
              <a:t>KPIs</a:t>
            </a:r>
            <a:r>
              <a:rPr lang="es-ES" sz="2000" dirty="0">
                <a:solidFill>
                  <a:srgbClr val="22627E"/>
                </a:solidFill>
              </a:rPr>
              <a:t> impidió saber si el proyecto tenía éxito o no.</a:t>
            </a:r>
          </a:p>
          <a:p>
            <a:pPr marL="0" indent="0">
              <a:buNone/>
            </a:pPr>
            <a:r>
              <a:rPr lang="es-ES" sz="2000" dirty="0">
                <a:solidFill>
                  <a:srgbClr val="22627E"/>
                </a:solidFill>
              </a:rPr>
              <a:t>Sin responsables claros ni estructura de </a:t>
            </a:r>
            <a:r>
              <a:rPr lang="es-ES" sz="2000" dirty="0" err="1">
                <a:solidFill>
                  <a:srgbClr val="22627E"/>
                </a:solidFill>
              </a:rPr>
              <a:t>reporting</a:t>
            </a:r>
            <a:r>
              <a:rPr lang="es-ES" sz="2000" dirty="0">
                <a:solidFill>
                  <a:srgbClr val="22627E"/>
                </a:solidFill>
              </a:rPr>
              <a:t>, no hay seguimiento real.</a:t>
            </a:r>
          </a:p>
          <a:p>
            <a:pPr marL="0" indent="0">
              <a:buNone/>
            </a:pPr>
            <a:r>
              <a:rPr lang="es-ES" sz="2000" dirty="0">
                <a:solidFill>
                  <a:srgbClr val="22627E"/>
                </a:solidFill>
              </a:rPr>
              <a:t>El mantenimiento (</a:t>
            </a:r>
            <a:r>
              <a:rPr lang="es-ES" sz="2000" dirty="0" err="1">
                <a:solidFill>
                  <a:srgbClr val="22627E"/>
                </a:solidFill>
              </a:rPr>
              <a:t>re-emitir</a:t>
            </a:r>
            <a:r>
              <a:rPr lang="es-ES" sz="2000" dirty="0">
                <a:solidFill>
                  <a:srgbClr val="22627E"/>
                </a:solidFill>
              </a:rPr>
              <a:t> certificados, adaptar tecnología) no se planificó.</a:t>
            </a:r>
          </a:p>
          <a:p>
            <a:pPr marL="0" indent="0">
              <a:buNone/>
            </a:pPr>
            <a:endParaRPr lang="es-ES" sz="2000" dirty="0">
              <a:solidFill>
                <a:srgbClr val="22627E"/>
              </a:solidFill>
            </a:endParaRPr>
          </a:p>
          <a:p>
            <a:pPr marL="0" indent="0">
              <a:buNone/>
            </a:pPr>
            <a:r>
              <a:rPr lang="es-ES" sz="2000" b="1" dirty="0">
                <a:solidFill>
                  <a:srgbClr val="22627E"/>
                </a:solidFill>
              </a:rPr>
              <a:t>Debatir</a:t>
            </a:r>
          </a:p>
          <a:p>
            <a:pPr marL="0" indent="0">
              <a:buNone/>
            </a:pPr>
            <a:r>
              <a:rPr lang="es-ES" sz="2000" dirty="0">
                <a:solidFill>
                  <a:srgbClr val="22627E"/>
                </a:solidFill>
              </a:rPr>
              <a:t>¿Qué </a:t>
            </a:r>
            <a:r>
              <a:rPr lang="es-ES" sz="2000" dirty="0" err="1">
                <a:solidFill>
                  <a:srgbClr val="22627E"/>
                </a:solidFill>
              </a:rPr>
              <a:t>KPIs</a:t>
            </a:r>
            <a:r>
              <a:rPr lang="es-ES" sz="2000" dirty="0">
                <a:solidFill>
                  <a:srgbClr val="22627E"/>
                </a:solidFill>
              </a:rPr>
              <a:t> habríais definido para este proyecto?</a:t>
            </a:r>
          </a:p>
          <a:p>
            <a:pPr marL="0" indent="0">
              <a:buNone/>
            </a:pPr>
            <a:r>
              <a:rPr lang="es-ES" sz="2000" dirty="0">
                <a:solidFill>
                  <a:srgbClr val="22627E"/>
                </a:solidFill>
              </a:rPr>
              <a:t>¿Quién hubieras puesto responsable de qué? </a:t>
            </a:r>
          </a:p>
          <a:p>
            <a:pPr marL="0" indent="0">
              <a:buNone/>
            </a:pPr>
            <a:r>
              <a:rPr lang="es-ES" sz="2000" dirty="0">
                <a:solidFill>
                  <a:srgbClr val="22627E"/>
                </a:solidFill>
              </a:rPr>
              <a:t>¿Cuál habría sido tu estrategia de comunicación?</a:t>
            </a:r>
          </a:p>
          <a:p>
            <a:pPr marL="0" indent="0">
              <a:buNone/>
            </a:pPr>
            <a:r>
              <a:rPr lang="es-ES" sz="2000" dirty="0">
                <a:solidFill>
                  <a:srgbClr val="22627E"/>
                </a:solidFill>
              </a:rPr>
              <a:t>¿Qué tipo de mantenimiento habrías diseñado?</a:t>
            </a:r>
          </a:p>
        </p:txBody>
      </p:sp>
      <p:sp>
        <p:nvSpPr>
          <p:cNvPr id="124" name="Google Shape;124;p4">
            <a:extLst>
              <a:ext uri="{FF2B5EF4-FFF2-40B4-BE49-F238E27FC236}">
                <a16:creationId xmlns:a16="http://schemas.microsoft.com/office/drawing/2014/main" id="{5D36AF74-939E-F387-4A2E-176B6CA24044}"/>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s-ES" sz="2700" b="1" i="0" u="none" strike="noStrike" cap="none" noProof="0" dirty="0">
                <a:solidFill>
                  <a:srgbClr val="01415B"/>
                </a:solidFill>
                <a:latin typeface="Roboto"/>
                <a:ea typeface="Roboto"/>
                <a:cs typeface="Roboto"/>
                <a:sym typeface="Roboto"/>
              </a:rPr>
              <a:t>Reflexión y Debate </a:t>
            </a:r>
            <a:endParaRPr lang="en-US" sz="2700" b="1" i="0" u="none" strike="noStrike" cap="none" dirty="0">
              <a:solidFill>
                <a:srgbClr val="01415B"/>
              </a:solidFill>
              <a:latin typeface="Roboto"/>
              <a:ea typeface="Roboto"/>
              <a:cs typeface="Roboto"/>
              <a:sym typeface="Roboto"/>
            </a:endParaRPr>
          </a:p>
        </p:txBody>
      </p:sp>
    </p:spTree>
    <p:extLst>
      <p:ext uri="{BB962C8B-B14F-4D97-AF65-F5344CB8AC3E}">
        <p14:creationId xmlns:p14="http://schemas.microsoft.com/office/powerpoint/2010/main" val="32079511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1415B"/>
        </a:solidFill>
        <a:effectLst/>
      </p:bgPr>
    </p:bg>
    <p:spTree>
      <p:nvGrpSpPr>
        <p:cNvPr id="1" name="Shape 110">
          <a:extLst>
            <a:ext uri="{FF2B5EF4-FFF2-40B4-BE49-F238E27FC236}">
              <a16:creationId xmlns:a16="http://schemas.microsoft.com/office/drawing/2014/main" id="{DAF87C8F-28EF-0A0F-FBF9-F2220E58E44C}"/>
            </a:ext>
          </a:extLst>
        </p:cNvPr>
        <p:cNvGrpSpPr/>
        <p:nvPr/>
      </p:nvGrpSpPr>
      <p:grpSpPr>
        <a:xfrm>
          <a:off x="0" y="0"/>
          <a:ext cx="0" cy="0"/>
          <a:chOff x="0" y="0"/>
          <a:chExt cx="0" cy="0"/>
        </a:xfrm>
      </p:grpSpPr>
      <p:grpSp>
        <p:nvGrpSpPr>
          <p:cNvPr id="111" name="Google Shape;111;g1ea3c471214_0_9">
            <a:extLst>
              <a:ext uri="{FF2B5EF4-FFF2-40B4-BE49-F238E27FC236}">
                <a16:creationId xmlns:a16="http://schemas.microsoft.com/office/drawing/2014/main" id="{BAE5D201-5FFB-2240-FFDA-49552DDB65F6}"/>
              </a:ext>
            </a:extLst>
          </p:cNvPr>
          <p:cNvGrpSpPr/>
          <p:nvPr/>
        </p:nvGrpSpPr>
        <p:grpSpPr>
          <a:xfrm>
            <a:off x="2178127" y="2865504"/>
            <a:ext cx="7364281" cy="1146201"/>
            <a:chOff x="2990101" y="2717970"/>
            <a:chExt cx="6251512" cy="1144942"/>
          </a:xfrm>
        </p:grpSpPr>
        <p:sp>
          <p:nvSpPr>
            <p:cNvPr id="112" name="Google Shape;112;g1ea3c471214_0_9">
              <a:extLst>
                <a:ext uri="{FF2B5EF4-FFF2-40B4-BE49-F238E27FC236}">
                  <a16:creationId xmlns:a16="http://schemas.microsoft.com/office/drawing/2014/main" id="{86D7DA9D-81BF-92E2-C9EA-04E40CD46F12}"/>
                </a:ext>
              </a:extLst>
            </p:cNvPr>
            <p:cNvSpPr/>
            <p:nvPr/>
          </p:nvSpPr>
          <p:spPr>
            <a:xfrm>
              <a:off x="2990101" y="2717970"/>
              <a:ext cx="6251512" cy="1144942"/>
            </a:xfrm>
            <a:custGeom>
              <a:avLst/>
              <a:gdLst/>
              <a:ahLst/>
              <a:cxnLst/>
              <a:rect l="l" t="t" r="r" b="b"/>
              <a:pathLst>
                <a:path w="6251512" h="1144942" extrusionOk="0">
                  <a:moveTo>
                    <a:pt x="572471" y="0"/>
                  </a:moveTo>
                  <a:lnTo>
                    <a:pt x="5679041" y="0"/>
                  </a:lnTo>
                  <a:cubicBezTo>
                    <a:pt x="5995208" y="0"/>
                    <a:pt x="6251512" y="256304"/>
                    <a:pt x="6251512" y="572471"/>
                  </a:cubicBezTo>
                  <a:lnTo>
                    <a:pt x="6251512" y="572471"/>
                  </a:lnTo>
                  <a:cubicBezTo>
                    <a:pt x="6251512" y="888638"/>
                    <a:pt x="5995208" y="1144942"/>
                    <a:pt x="5679041" y="1144942"/>
                  </a:cubicBezTo>
                  <a:lnTo>
                    <a:pt x="572471" y="1144942"/>
                  </a:lnTo>
                  <a:cubicBezTo>
                    <a:pt x="256304" y="1144942"/>
                    <a:pt x="0" y="888638"/>
                    <a:pt x="0" y="572471"/>
                  </a:cubicBezTo>
                  <a:lnTo>
                    <a:pt x="0" y="572471"/>
                  </a:lnTo>
                  <a:cubicBezTo>
                    <a:pt x="0" y="256304"/>
                    <a:pt x="256304" y="0"/>
                    <a:pt x="572471" y="0"/>
                  </a:cubicBezTo>
                  <a:close/>
                </a:path>
              </a:pathLst>
            </a:custGeom>
            <a:noFill/>
            <a:ln w="9525" cap="flat" cmpd="sng">
              <a:solidFill>
                <a:srgbClr val="3298B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3" name="Google Shape;113;g1ea3c471214_0_9">
              <a:extLst>
                <a:ext uri="{FF2B5EF4-FFF2-40B4-BE49-F238E27FC236}">
                  <a16:creationId xmlns:a16="http://schemas.microsoft.com/office/drawing/2014/main" id="{D473AC67-97EB-0511-09E2-16D3BAEFA4D1}"/>
                </a:ext>
              </a:extLst>
            </p:cNvPr>
            <p:cNvSpPr/>
            <p:nvPr/>
          </p:nvSpPr>
          <p:spPr>
            <a:xfrm>
              <a:off x="3113925" y="2822632"/>
              <a:ext cx="6034026" cy="924516"/>
            </a:xfrm>
            <a:custGeom>
              <a:avLst/>
              <a:gdLst/>
              <a:ahLst/>
              <a:cxnLst/>
              <a:rect l="l" t="t" r="r" b="b"/>
              <a:pathLst>
                <a:path w="6034026" h="924516" extrusionOk="0">
                  <a:moveTo>
                    <a:pt x="462258" y="0"/>
                  </a:moveTo>
                  <a:lnTo>
                    <a:pt x="5571768" y="0"/>
                  </a:lnTo>
                  <a:cubicBezTo>
                    <a:pt x="5827066" y="0"/>
                    <a:pt x="6034026" y="206960"/>
                    <a:pt x="6034026" y="462258"/>
                  </a:cubicBezTo>
                  <a:lnTo>
                    <a:pt x="6034026" y="462258"/>
                  </a:lnTo>
                  <a:cubicBezTo>
                    <a:pt x="6034026" y="717556"/>
                    <a:pt x="5827066" y="924516"/>
                    <a:pt x="5571768" y="924516"/>
                  </a:cubicBezTo>
                  <a:lnTo>
                    <a:pt x="462258" y="924516"/>
                  </a:lnTo>
                  <a:cubicBezTo>
                    <a:pt x="206960" y="924516"/>
                    <a:pt x="0" y="717556"/>
                    <a:pt x="0" y="462258"/>
                  </a:cubicBezTo>
                  <a:lnTo>
                    <a:pt x="0" y="462258"/>
                  </a:lnTo>
                  <a:cubicBezTo>
                    <a:pt x="0" y="206960"/>
                    <a:pt x="206960" y="0"/>
                    <a:pt x="462258" y="0"/>
                  </a:cubicBezTo>
                  <a:close/>
                </a:path>
              </a:pathLst>
            </a:custGeom>
            <a:solidFill>
              <a:srgbClr val="3298B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114" name="Google Shape;114;g1ea3c471214_0_9">
            <a:extLst>
              <a:ext uri="{FF2B5EF4-FFF2-40B4-BE49-F238E27FC236}">
                <a16:creationId xmlns:a16="http://schemas.microsoft.com/office/drawing/2014/main" id="{CC6B488D-3C15-B4DD-1C01-799361296378}"/>
              </a:ext>
            </a:extLst>
          </p:cNvPr>
          <p:cNvSpPr/>
          <p:nvPr/>
        </p:nvSpPr>
        <p:spPr>
          <a:xfrm>
            <a:off x="8281900" y="2571750"/>
            <a:ext cx="1731900" cy="1714500"/>
          </a:xfrm>
          <a:prstGeom prst="ellipse">
            <a:avLst/>
          </a:prstGeom>
          <a:solidFill>
            <a:srgbClr val="01415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5" name="Google Shape;115;g1ea3c471214_0_9">
            <a:extLst>
              <a:ext uri="{FF2B5EF4-FFF2-40B4-BE49-F238E27FC236}">
                <a16:creationId xmlns:a16="http://schemas.microsoft.com/office/drawing/2014/main" id="{B20FD32C-604D-B826-A8AC-6325AF212A32}"/>
              </a:ext>
            </a:extLst>
          </p:cNvPr>
          <p:cNvSpPr txBox="1">
            <a:spLocks noGrp="1"/>
          </p:cNvSpPr>
          <p:nvPr>
            <p:ph type="body" idx="1"/>
          </p:nvPr>
        </p:nvSpPr>
        <p:spPr>
          <a:xfrm>
            <a:off x="3798800" y="3132137"/>
            <a:ext cx="5064000" cy="612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FFFF"/>
              </a:buClr>
              <a:buSzPts val="2800"/>
              <a:buNone/>
            </a:pPr>
            <a:r>
              <a:rPr lang="en-US" sz="2800" b="1" i="0" u="none" dirty="0" err="1">
                <a:solidFill>
                  <a:srgbClr val="FFFFFF"/>
                </a:solidFill>
                <a:latin typeface="Roboto"/>
                <a:ea typeface="Roboto"/>
                <a:cs typeface="Roboto"/>
                <a:sym typeface="Roboto"/>
              </a:rPr>
              <a:t>Ejecución</a:t>
            </a:r>
            <a:endParaRPr dirty="0"/>
          </a:p>
        </p:txBody>
      </p:sp>
      <p:sp>
        <p:nvSpPr>
          <p:cNvPr id="116" name="Google Shape;116;g1ea3c471214_0_9">
            <a:extLst>
              <a:ext uri="{FF2B5EF4-FFF2-40B4-BE49-F238E27FC236}">
                <a16:creationId xmlns:a16="http://schemas.microsoft.com/office/drawing/2014/main" id="{7263D29A-BD55-D804-C6A0-D1E1E7F5E16C}"/>
              </a:ext>
            </a:extLst>
          </p:cNvPr>
          <p:cNvSpPr/>
          <p:nvPr/>
        </p:nvSpPr>
        <p:spPr>
          <a:xfrm>
            <a:off x="8402550" y="2703512"/>
            <a:ext cx="1492200" cy="1390800"/>
          </a:xfrm>
          <a:prstGeom prst="ellipse">
            <a:avLst/>
          </a:prstGeom>
          <a:solidFill>
            <a:srgbClr val="3298B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17" name="Google Shape;117;g1ea3c471214_0_9">
            <a:extLst>
              <a:ext uri="{FF2B5EF4-FFF2-40B4-BE49-F238E27FC236}">
                <a16:creationId xmlns:a16="http://schemas.microsoft.com/office/drawing/2014/main" id="{F356DF34-109A-9088-726B-779CAE4DAEDF}"/>
              </a:ext>
            </a:extLst>
          </p:cNvPr>
          <p:cNvPicPr preferRelativeResize="0"/>
          <p:nvPr/>
        </p:nvPicPr>
        <p:blipFill rotWithShape="1">
          <a:blip r:embed="rId3">
            <a:alphaModFix/>
          </a:blip>
          <a:srcRect/>
          <a:stretch/>
        </p:blipFill>
        <p:spPr>
          <a:xfrm>
            <a:off x="8826413" y="3057525"/>
            <a:ext cx="742950" cy="742950"/>
          </a:xfrm>
          <a:prstGeom prst="rect">
            <a:avLst/>
          </a:prstGeom>
          <a:noFill/>
          <a:ln>
            <a:noFill/>
          </a:ln>
        </p:spPr>
      </p:pic>
    </p:spTree>
    <p:extLst>
      <p:ext uri="{BB962C8B-B14F-4D97-AF65-F5344CB8AC3E}">
        <p14:creationId xmlns:p14="http://schemas.microsoft.com/office/powerpoint/2010/main" val="39958690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8CE39712-02F5-9B31-0A20-6D4AB2E3266C}"/>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9A0F309F-6E23-8D5C-2F1C-AA23207910F9}"/>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Planificación real en el caso de las universidades</a:t>
            </a:r>
          </a:p>
          <a:p>
            <a:pPr marL="0" indent="0">
              <a:buNone/>
            </a:pPr>
            <a:r>
              <a:rPr lang="es-ES" sz="2000" b="1" dirty="0">
                <a:solidFill>
                  <a:srgbClr val="22627E"/>
                </a:solidFill>
              </a:rPr>
              <a:t>(Lo que se esperaba)</a:t>
            </a:r>
          </a:p>
          <a:p>
            <a:pPr marL="0" indent="0">
              <a:buNone/>
            </a:pPr>
            <a:endParaRPr lang="es-ES" sz="2000" b="1" dirty="0">
              <a:solidFill>
                <a:srgbClr val="22627E"/>
              </a:solidFill>
            </a:endParaRPr>
          </a:p>
          <a:p>
            <a:pPr marL="342900"/>
            <a:r>
              <a:rPr lang="es-ES" sz="2000" dirty="0">
                <a:solidFill>
                  <a:srgbClr val="22627E"/>
                </a:solidFill>
              </a:rPr>
              <a:t>Poner en marcha el desarrollo técnico.</a:t>
            </a:r>
          </a:p>
          <a:p>
            <a:pPr marL="342900"/>
            <a:r>
              <a:rPr lang="es-ES" sz="2000" dirty="0">
                <a:solidFill>
                  <a:srgbClr val="22627E"/>
                </a:solidFill>
              </a:rPr>
              <a:t>Seguir </a:t>
            </a:r>
            <a:r>
              <a:rPr lang="es-ES" sz="2000" dirty="0" err="1">
                <a:solidFill>
                  <a:srgbClr val="22627E"/>
                </a:solidFill>
              </a:rPr>
              <a:t>KPIs</a:t>
            </a:r>
            <a:r>
              <a:rPr lang="es-ES" sz="2000" dirty="0">
                <a:solidFill>
                  <a:srgbClr val="22627E"/>
                </a:solidFill>
              </a:rPr>
              <a:t> definidos.</a:t>
            </a:r>
          </a:p>
          <a:p>
            <a:pPr marL="342900"/>
            <a:r>
              <a:rPr lang="es-ES" sz="2000" dirty="0">
                <a:solidFill>
                  <a:srgbClr val="22627E"/>
                </a:solidFill>
              </a:rPr>
              <a:t>Alinear los distintos equipos y tareas paralelas.</a:t>
            </a:r>
          </a:p>
          <a:p>
            <a:pPr marL="342900"/>
            <a:r>
              <a:rPr lang="es-ES" sz="2000" dirty="0">
                <a:solidFill>
                  <a:srgbClr val="22627E"/>
                </a:solidFill>
              </a:rPr>
              <a:t>Ajustar en tiempo real lo que no encaja.</a:t>
            </a:r>
          </a:p>
        </p:txBody>
      </p:sp>
      <p:sp>
        <p:nvSpPr>
          <p:cNvPr id="124" name="Google Shape;124;p4">
            <a:extLst>
              <a:ext uri="{FF2B5EF4-FFF2-40B4-BE49-F238E27FC236}">
                <a16:creationId xmlns:a16="http://schemas.microsoft.com/office/drawing/2014/main" id="{45D244BA-1997-5860-C337-293ED2C496D7}"/>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n-US" sz="2700" b="1" i="0" u="none" strike="noStrike" cap="none" dirty="0" err="1">
                <a:solidFill>
                  <a:srgbClr val="01415B"/>
                </a:solidFill>
                <a:latin typeface="Roboto"/>
                <a:ea typeface="Roboto"/>
                <a:cs typeface="Roboto"/>
                <a:sym typeface="Roboto"/>
              </a:rPr>
              <a:t>Ejecución</a:t>
            </a:r>
            <a:r>
              <a:rPr lang="en-US" sz="2700" b="1" i="0" u="none" strike="noStrike" cap="none" dirty="0">
                <a:solidFill>
                  <a:srgbClr val="01415B"/>
                </a:solidFill>
                <a:latin typeface="Roboto"/>
                <a:ea typeface="Roboto"/>
                <a:cs typeface="Roboto"/>
                <a:sym typeface="Roboto"/>
              </a:rPr>
              <a:t> I</a:t>
            </a:r>
          </a:p>
        </p:txBody>
      </p:sp>
    </p:spTree>
    <p:extLst>
      <p:ext uri="{BB962C8B-B14F-4D97-AF65-F5344CB8AC3E}">
        <p14:creationId xmlns:p14="http://schemas.microsoft.com/office/powerpoint/2010/main" val="34169602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E508CEA7-93E1-3491-13FD-AB775447766F}"/>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D2EF746A-0339-7DF0-EE30-19C3FF546613}"/>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Planificación real en el caso de las universidades</a:t>
            </a:r>
          </a:p>
          <a:p>
            <a:pPr marL="0" indent="0">
              <a:buNone/>
            </a:pPr>
            <a:r>
              <a:rPr lang="es-ES" sz="2000" b="1" dirty="0">
                <a:solidFill>
                  <a:srgbClr val="22627E"/>
                </a:solidFill>
              </a:rPr>
              <a:t>(Lo que se hizo)</a:t>
            </a:r>
          </a:p>
          <a:p>
            <a:pPr marL="0" indent="0">
              <a:buNone/>
            </a:pPr>
            <a:endParaRPr lang="es-ES" sz="2000" b="1" dirty="0">
              <a:solidFill>
                <a:srgbClr val="22627E"/>
              </a:solidFill>
            </a:endParaRPr>
          </a:p>
          <a:p>
            <a:pPr marL="342900"/>
            <a:r>
              <a:rPr lang="es-ES" sz="2000" dirty="0">
                <a:solidFill>
                  <a:srgbClr val="22627E"/>
                </a:solidFill>
              </a:rPr>
              <a:t>Desarrollo técnico fue parcial y descoordinado entre universidades.</a:t>
            </a:r>
          </a:p>
          <a:p>
            <a:pPr marL="342900"/>
            <a:r>
              <a:rPr lang="es-ES" sz="2000" dirty="0">
                <a:solidFill>
                  <a:srgbClr val="22627E"/>
                </a:solidFill>
              </a:rPr>
              <a:t>Sin integración entre plataformas → cada una emitía sus certificados de forma distinta.</a:t>
            </a:r>
          </a:p>
          <a:p>
            <a:pPr marL="342900"/>
            <a:r>
              <a:rPr lang="es-ES" sz="2000" dirty="0">
                <a:solidFill>
                  <a:srgbClr val="22627E"/>
                </a:solidFill>
              </a:rPr>
              <a:t>Sin </a:t>
            </a:r>
            <a:r>
              <a:rPr lang="es-ES" sz="2000" dirty="0" err="1">
                <a:solidFill>
                  <a:srgbClr val="22627E"/>
                </a:solidFill>
              </a:rPr>
              <a:t>KPIs</a:t>
            </a:r>
            <a:r>
              <a:rPr lang="es-ES" sz="2000" dirty="0">
                <a:solidFill>
                  <a:srgbClr val="22627E"/>
                </a:solidFill>
              </a:rPr>
              <a:t> de adopción o uso → no se sabía si la solución funcionaba para los usuarios.</a:t>
            </a:r>
          </a:p>
          <a:p>
            <a:pPr marL="342900"/>
            <a:r>
              <a:rPr lang="es-ES" sz="2000" dirty="0">
                <a:solidFill>
                  <a:srgbClr val="22627E"/>
                </a:solidFill>
              </a:rPr>
              <a:t>No se ajustaron los objetivos tras ver baja adopción → se mantuvo la línea inicial.</a:t>
            </a:r>
          </a:p>
        </p:txBody>
      </p:sp>
      <p:sp>
        <p:nvSpPr>
          <p:cNvPr id="124" name="Google Shape;124;p4">
            <a:extLst>
              <a:ext uri="{FF2B5EF4-FFF2-40B4-BE49-F238E27FC236}">
                <a16:creationId xmlns:a16="http://schemas.microsoft.com/office/drawing/2014/main" id="{B6F91B65-E9BF-F791-41A4-D20F95543B0B}"/>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n-US" sz="2700" b="1" i="0" u="none" strike="noStrike" cap="none" dirty="0" err="1">
                <a:solidFill>
                  <a:srgbClr val="01415B"/>
                </a:solidFill>
                <a:latin typeface="Roboto"/>
                <a:ea typeface="Roboto"/>
                <a:cs typeface="Roboto"/>
                <a:sym typeface="Roboto"/>
              </a:rPr>
              <a:t>Ejecución</a:t>
            </a:r>
            <a:r>
              <a:rPr lang="en-US" sz="2700" b="1" i="0" u="none" strike="noStrike" cap="none" dirty="0">
                <a:solidFill>
                  <a:srgbClr val="01415B"/>
                </a:solidFill>
                <a:latin typeface="Roboto"/>
                <a:ea typeface="Roboto"/>
                <a:cs typeface="Roboto"/>
                <a:sym typeface="Roboto"/>
              </a:rPr>
              <a:t> I</a:t>
            </a:r>
          </a:p>
        </p:txBody>
      </p:sp>
    </p:spTree>
    <p:extLst>
      <p:ext uri="{BB962C8B-B14F-4D97-AF65-F5344CB8AC3E}">
        <p14:creationId xmlns:p14="http://schemas.microsoft.com/office/powerpoint/2010/main" val="5840167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D2BC168C-4D4B-0D5B-7D7D-C529C57D2488}"/>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1A05FE2D-DCE8-7626-42F9-6F6F5502A173}"/>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¿Problemas detectados?</a:t>
            </a:r>
          </a:p>
          <a:p>
            <a:pPr marL="0" indent="0">
              <a:buNone/>
            </a:pPr>
            <a:endParaRPr lang="es-ES" sz="2000" b="1" dirty="0">
              <a:solidFill>
                <a:srgbClr val="22627E"/>
              </a:solidFill>
            </a:endParaRPr>
          </a:p>
          <a:p>
            <a:pPr marL="0" indent="0">
              <a:buNone/>
            </a:pPr>
            <a:endParaRPr lang="es-ES" sz="2000" b="1" dirty="0">
              <a:solidFill>
                <a:srgbClr val="22627E"/>
              </a:solidFill>
            </a:endParaRPr>
          </a:p>
        </p:txBody>
      </p:sp>
      <p:sp>
        <p:nvSpPr>
          <p:cNvPr id="124" name="Google Shape;124;p4">
            <a:extLst>
              <a:ext uri="{FF2B5EF4-FFF2-40B4-BE49-F238E27FC236}">
                <a16:creationId xmlns:a16="http://schemas.microsoft.com/office/drawing/2014/main" id="{9878D9AC-E60C-632E-33A0-2D0D73627403}"/>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s-ES" sz="2700" b="1" i="0" u="none" strike="noStrike" cap="none" noProof="0" dirty="0">
                <a:solidFill>
                  <a:srgbClr val="01415B"/>
                </a:solidFill>
                <a:latin typeface="Roboto"/>
                <a:ea typeface="Roboto"/>
                <a:cs typeface="Roboto"/>
                <a:sym typeface="Roboto"/>
              </a:rPr>
              <a:t>Reflexión y Debate </a:t>
            </a:r>
            <a:endParaRPr lang="en-US" sz="2700" b="1" i="0" u="none" strike="noStrike" cap="none" dirty="0">
              <a:solidFill>
                <a:srgbClr val="01415B"/>
              </a:solidFill>
              <a:latin typeface="Roboto"/>
              <a:ea typeface="Roboto"/>
              <a:cs typeface="Roboto"/>
              <a:sym typeface="Roboto"/>
            </a:endParaRPr>
          </a:p>
        </p:txBody>
      </p:sp>
    </p:spTree>
    <p:extLst>
      <p:ext uri="{BB962C8B-B14F-4D97-AF65-F5344CB8AC3E}">
        <p14:creationId xmlns:p14="http://schemas.microsoft.com/office/powerpoint/2010/main" val="15517738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D82533DF-C7DF-BFF7-F85C-B75B5055BFDA}"/>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2FAC7485-8DB3-3F48-A2FA-7AE34EC216DC}"/>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¿Problemas detectados?</a:t>
            </a:r>
          </a:p>
          <a:p>
            <a:pPr marL="0" indent="0">
              <a:buNone/>
            </a:pPr>
            <a:endParaRPr lang="es-ES" sz="2000" b="1" dirty="0">
              <a:solidFill>
                <a:srgbClr val="22627E"/>
              </a:solidFill>
            </a:endParaRPr>
          </a:p>
          <a:p>
            <a:pPr marL="0" indent="0">
              <a:buNone/>
            </a:pPr>
            <a:r>
              <a:rPr lang="es-ES" sz="2000" dirty="0">
                <a:solidFill>
                  <a:srgbClr val="22627E"/>
                </a:solidFill>
              </a:rPr>
              <a:t>¿Qué habría hecho falta para coordinar los desarrollos?</a:t>
            </a:r>
          </a:p>
          <a:p>
            <a:pPr marL="0" indent="0">
              <a:buNone/>
            </a:pPr>
            <a:r>
              <a:rPr lang="es-ES" sz="2000" dirty="0">
                <a:solidFill>
                  <a:srgbClr val="22627E"/>
                </a:solidFill>
              </a:rPr>
              <a:t>¿Cómo se podrían haber alineado mejor los </a:t>
            </a:r>
            <a:r>
              <a:rPr lang="es-ES" sz="2000" dirty="0" err="1">
                <a:solidFill>
                  <a:srgbClr val="22627E"/>
                </a:solidFill>
              </a:rPr>
              <a:t>workstreams</a:t>
            </a:r>
            <a:r>
              <a:rPr lang="es-ES" sz="2000" dirty="0">
                <a:solidFill>
                  <a:srgbClr val="22627E"/>
                </a:solidFill>
              </a:rPr>
              <a:t> (técnico, legal, comunicativo)?</a:t>
            </a:r>
          </a:p>
          <a:p>
            <a:pPr marL="0" indent="0">
              <a:buNone/>
            </a:pPr>
            <a:r>
              <a:rPr lang="es-ES" sz="2000" dirty="0">
                <a:solidFill>
                  <a:srgbClr val="22627E"/>
                </a:solidFill>
              </a:rPr>
              <a:t>¿Qué </a:t>
            </a:r>
            <a:r>
              <a:rPr lang="es-ES" sz="2000" dirty="0" err="1">
                <a:solidFill>
                  <a:srgbClr val="22627E"/>
                </a:solidFill>
              </a:rPr>
              <a:t>KPIs</a:t>
            </a:r>
            <a:r>
              <a:rPr lang="es-ES" sz="2000" dirty="0">
                <a:solidFill>
                  <a:srgbClr val="22627E"/>
                </a:solidFill>
              </a:rPr>
              <a:t> debería haberse seguido durante la ejecución?</a:t>
            </a:r>
          </a:p>
          <a:p>
            <a:pPr marL="0" indent="0">
              <a:buNone/>
            </a:pPr>
            <a:endParaRPr lang="es-ES" sz="2000" b="1" dirty="0">
              <a:solidFill>
                <a:srgbClr val="22627E"/>
              </a:solidFill>
            </a:endParaRPr>
          </a:p>
        </p:txBody>
      </p:sp>
      <p:sp>
        <p:nvSpPr>
          <p:cNvPr id="124" name="Google Shape;124;p4">
            <a:extLst>
              <a:ext uri="{FF2B5EF4-FFF2-40B4-BE49-F238E27FC236}">
                <a16:creationId xmlns:a16="http://schemas.microsoft.com/office/drawing/2014/main" id="{ECEC1737-77B6-1799-B5CA-8FA41051A775}"/>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s-ES" sz="2700" b="1" i="0" u="none" strike="noStrike" cap="none" noProof="0" dirty="0">
                <a:solidFill>
                  <a:srgbClr val="01415B"/>
                </a:solidFill>
                <a:latin typeface="Roboto"/>
                <a:ea typeface="Roboto"/>
                <a:cs typeface="Roboto"/>
                <a:sym typeface="Roboto"/>
              </a:rPr>
              <a:t>Reflexión y Debate </a:t>
            </a:r>
            <a:endParaRPr lang="en-US" sz="2700" b="1" i="0" u="none" strike="noStrike" cap="none" dirty="0">
              <a:solidFill>
                <a:srgbClr val="01415B"/>
              </a:solidFill>
              <a:latin typeface="Roboto"/>
              <a:ea typeface="Roboto"/>
              <a:cs typeface="Roboto"/>
              <a:sym typeface="Roboto"/>
            </a:endParaRPr>
          </a:p>
        </p:txBody>
      </p:sp>
    </p:spTree>
    <p:extLst>
      <p:ext uri="{BB962C8B-B14F-4D97-AF65-F5344CB8AC3E}">
        <p14:creationId xmlns:p14="http://schemas.microsoft.com/office/powerpoint/2010/main" val="32799415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B2882A64-1DEA-8A20-CFAA-424E1992F40E}"/>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EEAEC029-197A-37C8-AD33-993F7361A54D}"/>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Planificación real en el caso de las universidades</a:t>
            </a:r>
          </a:p>
          <a:p>
            <a:pPr marL="0" indent="0">
              <a:buNone/>
            </a:pPr>
            <a:r>
              <a:rPr lang="es-ES" sz="2000" b="1" dirty="0">
                <a:solidFill>
                  <a:srgbClr val="22627E"/>
                </a:solidFill>
              </a:rPr>
              <a:t>(Lo que se esperaba)</a:t>
            </a:r>
          </a:p>
          <a:p>
            <a:pPr marL="0" indent="0">
              <a:buNone/>
            </a:pPr>
            <a:endParaRPr lang="es-ES" sz="2000" b="1" dirty="0">
              <a:solidFill>
                <a:srgbClr val="22627E"/>
              </a:solidFill>
            </a:endParaRPr>
          </a:p>
          <a:p>
            <a:pPr marL="342900"/>
            <a:r>
              <a:rPr lang="es-ES" sz="2000" dirty="0">
                <a:solidFill>
                  <a:srgbClr val="22627E"/>
                </a:solidFill>
              </a:rPr>
              <a:t>Test plan: pruebas funcionales, de carga, de uso real.</a:t>
            </a:r>
          </a:p>
          <a:p>
            <a:pPr marL="342900"/>
            <a:r>
              <a:rPr lang="es-ES" sz="2000" dirty="0">
                <a:solidFill>
                  <a:srgbClr val="22627E"/>
                </a:solidFill>
              </a:rPr>
              <a:t>Comunicación: entre equipos, con usuarios, con dirección.</a:t>
            </a:r>
          </a:p>
          <a:p>
            <a:pPr marL="342900"/>
            <a:r>
              <a:rPr lang="es-ES" sz="2000" dirty="0">
                <a:solidFill>
                  <a:srgbClr val="22627E"/>
                </a:solidFill>
              </a:rPr>
              <a:t>Comité de seguimiento (</a:t>
            </a:r>
            <a:r>
              <a:rPr lang="es-ES" sz="2000" dirty="0" err="1">
                <a:solidFill>
                  <a:srgbClr val="22627E"/>
                </a:solidFill>
              </a:rPr>
              <a:t>Steering</a:t>
            </a:r>
            <a:r>
              <a:rPr lang="es-ES" sz="2000" dirty="0">
                <a:solidFill>
                  <a:srgbClr val="22627E"/>
                </a:solidFill>
              </a:rPr>
              <a:t>): decisiones estratégicas, gestión de conflictos, pivoteo.</a:t>
            </a:r>
          </a:p>
        </p:txBody>
      </p:sp>
      <p:sp>
        <p:nvSpPr>
          <p:cNvPr id="124" name="Google Shape;124;p4">
            <a:extLst>
              <a:ext uri="{FF2B5EF4-FFF2-40B4-BE49-F238E27FC236}">
                <a16:creationId xmlns:a16="http://schemas.microsoft.com/office/drawing/2014/main" id="{FC688D69-9567-C710-84B4-55994252757C}"/>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n-US" sz="2700" b="1" i="0" u="none" strike="noStrike" cap="none" dirty="0" err="1">
                <a:solidFill>
                  <a:srgbClr val="01415B"/>
                </a:solidFill>
                <a:latin typeface="Roboto"/>
                <a:ea typeface="Roboto"/>
                <a:cs typeface="Roboto"/>
                <a:sym typeface="Roboto"/>
              </a:rPr>
              <a:t>Ejecución</a:t>
            </a:r>
            <a:r>
              <a:rPr lang="en-US" sz="2700" b="1" i="0" u="none" strike="noStrike" cap="none" dirty="0">
                <a:solidFill>
                  <a:srgbClr val="01415B"/>
                </a:solidFill>
                <a:latin typeface="Roboto"/>
                <a:ea typeface="Roboto"/>
                <a:cs typeface="Roboto"/>
                <a:sym typeface="Roboto"/>
              </a:rPr>
              <a:t> II</a:t>
            </a:r>
          </a:p>
        </p:txBody>
      </p:sp>
    </p:spTree>
    <p:extLst>
      <p:ext uri="{BB962C8B-B14F-4D97-AF65-F5344CB8AC3E}">
        <p14:creationId xmlns:p14="http://schemas.microsoft.com/office/powerpoint/2010/main" val="16306043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C28C712E-817A-034C-F98A-2BB7D3685931}"/>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283E8FBF-48A3-EA35-3E64-4AAAD6737D29}"/>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Planificación real en el caso de las universidades</a:t>
            </a:r>
          </a:p>
          <a:p>
            <a:pPr marL="0" indent="0">
              <a:buNone/>
            </a:pPr>
            <a:r>
              <a:rPr lang="es-ES" sz="2000" b="1" dirty="0">
                <a:solidFill>
                  <a:srgbClr val="22627E"/>
                </a:solidFill>
              </a:rPr>
              <a:t>(Lo que se hizo)</a:t>
            </a:r>
          </a:p>
          <a:p>
            <a:pPr marL="0" indent="0">
              <a:buNone/>
            </a:pPr>
            <a:endParaRPr lang="es-ES" sz="2000" b="1" dirty="0">
              <a:solidFill>
                <a:srgbClr val="22627E"/>
              </a:solidFill>
            </a:endParaRPr>
          </a:p>
          <a:p>
            <a:pPr marL="342900"/>
            <a:r>
              <a:rPr lang="es-ES" sz="2000" dirty="0">
                <a:solidFill>
                  <a:srgbClr val="22627E"/>
                </a:solidFill>
              </a:rPr>
              <a:t>No hubo test plan estructurado: en muchos casos solo se comprobó que se pudiera emitir un hash y ya.</a:t>
            </a:r>
          </a:p>
          <a:p>
            <a:pPr marL="342900"/>
            <a:r>
              <a:rPr lang="es-ES" sz="2000" dirty="0">
                <a:solidFill>
                  <a:srgbClr val="22627E"/>
                </a:solidFill>
              </a:rPr>
              <a:t>Comunicación casi inexistente con usuarios finales (empleadores, alumnos).</a:t>
            </a:r>
          </a:p>
          <a:p>
            <a:pPr marL="342900"/>
            <a:r>
              <a:rPr lang="es-ES" sz="2000" dirty="0">
                <a:solidFill>
                  <a:srgbClr val="22627E"/>
                </a:solidFill>
              </a:rPr>
              <a:t>No existía ningún </a:t>
            </a:r>
            <a:r>
              <a:rPr lang="es-ES" sz="2000" dirty="0" err="1">
                <a:solidFill>
                  <a:srgbClr val="22627E"/>
                </a:solidFill>
              </a:rPr>
              <a:t>steering</a:t>
            </a:r>
            <a:r>
              <a:rPr lang="es-ES" sz="2000" dirty="0">
                <a:solidFill>
                  <a:srgbClr val="22627E"/>
                </a:solidFill>
              </a:rPr>
              <a:t> </a:t>
            </a:r>
            <a:r>
              <a:rPr lang="es-ES" sz="2000" dirty="0" err="1">
                <a:solidFill>
                  <a:srgbClr val="22627E"/>
                </a:solidFill>
              </a:rPr>
              <a:t>committee</a:t>
            </a:r>
            <a:r>
              <a:rPr lang="es-ES" sz="2000" dirty="0">
                <a:solidFill>
                  <a:srgbClr val="22627E"/>
                </a:solidFill>
              </a:rPr>
              <a:t> interuniversitario o con visión global del proyecto.</a:t>
            </a:r>
          </a:p>
        </p:txBody>
      </p:sp>
      <p:sp>
        <p:nvSpPr>
          <p:cNvPr id="124" name="Google Shape;124;p4">
            <a:extLst>
              <a:ext uri="{FF2B5EF4-FFF2-40B4-BE49-F238E27FC236}">
                <a16:creationId xmlns:a16="http://schemas.microsoft.com/office/drawing/2014/main" id="{BC2A9A93-1C1D-2909-FBE0-3F6519FFAE25}"/>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n-US" sz="2700" b="1" i="0" u="none" strike="noStrike" cap="none" dirty="0" err="1">
                <a:solidFill>
                  <a:srgbClr val="01415B"/>
                </a:solidFill>
                <a:latin typeface="Roboto"/>
                <a:ea typeface="Roboto"/>
                <a:cs typeface="Roboto"/>
                <a:sym typeface="Roboto"/>
              </a:rPr>
              <a:t>Ejecución</a:t>
            </a:r>
            <a:r>
              <a:rPr lang="en-US" sz="2700" b="1" i="0" u="none" strike="noStrike" cap="none" dirty="0">
                <a:solidFill>
                  <a:srgbClr val="01415B"/>
                </a:solidFill>
                <a:latin typeface="Roboto"/>
                <a:ea typeface="Roboto"/>
                <a:cs typeface="Roboto"/>
                <a:sym typeface="Roboto"/>
              </a:rPr>
              <a:t> I</a:t>
            </a:r>
          </a:p>
        </p:txBody>
      </p:sp>
    </p:spTree>
    <p:extLst>
      <p:ext uri="{BB962C8B-B14F-4D97-AF65-F5344CB8AC3E}">
        <p14:creationId xmlns:p14="http://schemas.microsoft.com/office/powerpoint/2010/main" val="24096771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1B8C02D9-E7A3-C2E2-3FE9-131AFD627A3F}"/>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CAEBA548-949A-2EE0-0FCC-07C8E4472B82}"/>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¿Problemas detectados?</a:t>
            </a:r>
          </a:p>
          <a:p>
            <a:pPr marL="0" indent="0">
              <a:buNone/>
            </a:pPr>
            <a:endParaRPr lang="es-ES" sz="2000" b="1" dirty="0">
              <a:solidFill>
                <a:srgbClr val="22627E"/>
              </a:solidFill>
            </a:endParaRPr>
          </a:p>
          <a:p>
            <a:pPr marL="0" indent="0">
              <a:buNone/>
            </a:pPr>
            <a:endParaRPr lang="es-ES" sz="2000" b="1" dirty="0">
              <a:solidFill>
                <a:srgbClr val="22627E"/>
              </a:solidFill>
            </a:endParaRPr>
          </a:p>
        </p:txBody>
      </p:sp>
      <p:sp>
        <p:nvSpPr>
          <p:cNvPr id="124" name="Google Shape;124;p4">
            <a:extLst>
              <a:ext uri="{FF2B5EF4-FFF2-40B4-BE49-F238E27FC236}">
                <a16:creationId xmlns:a16="http://schemas.microsoft.com/office/drawing/2014/main" id="{D427A8E1-8C26-F8E9-3323-6E74E6274B10}"/>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s-ES" sz="2700" b="1" i="0" u="none" strike="noStrike" cap="none" noProof="0" dirty="0">
                <a:solidFill>
                  <a:srgbClr val="01415B"/>
                </a:solidFill>
                <a:latin typeface="Roboto"/>
                <a:ea typeface="Roboto"/>
                <a:cs typeface="Roboto"/>
                <a:sym typeface="Roboto"/>
              </a:rPr>
              <a:t>Reflexión y Debate </a:t>
            </a:r>
            <a:endParaRPr lang="en-US" sz="2700" b="1" i="0" u="none" strike="noStrike" cap="none" dirty="0">
              <a:solidFill>
                <a:srgbClr val="01415B"/>
              </a:solidFill>
              <a:latin typeface="Roboto"/>
              <a:ea typeface="Roboto"/>
              <a:cs typeface="Roboto"/>
              <a:sym typeface="Roboto"/>
            </a:endParaRPr>
          </a:p>
        </p:txBody>
      </p:sp>
    </p:spTree>
    <p:extLst>
      <p:ext uri="{BB962C8B-B14F-4D97-AF65-F5344CB8AC3E}">
        <p14:creationId xmlns:p14="http://schemas.microsoft.com/office/powerpoint/2010/main" val="36562612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6B491D88-2D01-02ED-3A91-2C40AE8789B2}"/>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ECF30D8C-54C6-0EED-784B-D119AA7925C1}"/>
              </a:ext>
            </a:extLst>
          </p:cNvPr>
          <p:cNvSpPr txBox="1">
            <a:spLocks noGrp="1"/>
          </p:cNvSpPr>
          <p:nvPr>
            <p:ph type="body" idx="1"/>
          </p:nvPr>
        </p:nvSpPr>
        <p:spPr>
          <a:xfrm>
            <a:off x="671499" y="1414448"/>
            <a:ext cx="9571835"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¿Problemas detectados?</a:t>
            </a:r>
          </a:p>
          <a:p>
            <a:pPr marL="0" indent="0">
              <a:buNone/>
            </a:pPr>
            <a:r>
              <a:rPr lang="es-ES" sz="2000" dirty="0">
                <a:solidFill>
                  <a:srgbClr val="22627E"/>
                </a:solidFill>
              </a:rPr>
              <a:t>Sin pruebas reales de uso, el sistema se validó solo desde dentro, no desde el usuario final.</a:t>
            </a:r>
          </a:p>
          <a:p>
            <a:pPr marL="0" indent="0">
              <a:buNone/>
            </a:pPr>
            <a:r>
              <a:rPr lang="es-ES" sz="2000" dirty="0">
                <a:solidFill>
                  <a:srgbClr val="22627E"/>
                </a:solidFill>
              </a:rPr>
              <a:t>La falta de comunicación con </a:t>
            </a:r>
            <a:r>
              <a:rPr lang="es-ES" sz="2000" dirty="0" err="1">
                <a:solidFill>
                  <a:srgbClr val="22627E"/>
                </a:solidFill>
              </a:rPr>
              <a:t>stakeholders</a:t>
            </a:r>
            <a:r>
              <a:rPr lang="es-ES" sz="2000" dirty="0">
                <a:solidFill>
                  <a:srgbClr val="22627E"/>
                </a:solidFill>
              </a:rPr>
              <a:t> externos frenó la adopción sin que se supiera por qué.</a:t>
            </a:r>
          </a:p>
          <a:p>
            <a:pPr marL="0" indent="0">
              <a:buNone/>
            </a:pPr>
            <a:r>
              <a:rPr lang="es-ES" sz="2000" dirty="0">
                <a:solidFill>
                  <a:srgbClr val="22627E"/>
                </a:solidFill>
              </a:rPr>
              <a:t>La ausencia de un comité de dirección común dejó el proyecto sin visión estratégica ni capacidad de reacción.</a:t>
            </a:r>
          </a:p>
          <a:p>
            <a:pPr marL="0" indent="0">
              <a:buNone/>
            </a:pPr>
            <a:endParaRPr lang="es-ES" sz="2000" dirty="0">
              <a:solidFill>
                <a:srgbClr val="22627E"/>
              </a:solidFill>
            </a:endParaRPr>
          </a:p>
          <a:p>
            <a:pPr marL="0" indent="0">
              <a:buNone/>
            </a:pPr>
            <a:r>
              <a:rPr lang="es-ES" sz="2000" b="1" dirty="0">
                <a:solidFill>
                  <a:srgbClr val="22627E"/>
                </a:solidFill>
              </a:rPr>
              <a:t>Debatir</a:t>
            </a:r>
          </a:p>
          <a:p>
            <a:pPr marL="0" indent="0">
              <a:buNone/>
            </a:pPr>
            <a:r>
              <a:rPr lang="es-ES" sz="2000" dirty="0">
                <a:solidFill>
                  <a:srgbClr val="22627E"/>
                </a:solidFill>
              </a:rPr>
              <a:t>¿Qué pruebas mínimas debieron realizarse antes de emitir los certificados?</a:t>
            </a:r>
          </a:p>
          <a:p>
            <a:pPr marL="0" indent="0">
              <a:buNone/>
            </a:pPr>
            <a:r>
              <a:rPr lang="es-ES" sz="2000" dirty="0">
                <a:solidFill>
                  <a:srgbClr val="22627E"/>
                </a:solidFill>
              </a:rPr>
              <a:t>¿Qué canales de comunicación faltaron para involucrar a los usuarios?</a:t>
            </a:r>
          </a:p>
          <a:p>
            <a:pPr marL="0" indent="0">
              <a:buNone/>
            </a:pPr>
            <a:r>
              <a:rPr lang="es-ES" sz="2000" dirty="0">
                <a:solidFill>
                  <a:srgbClr val="22627E"/>
                </a:solidFill>
              </a:rPr>
              <a:t>¿Cómo habría ayudado un </a:t>
            </a:r>
            <a:r>
              <a:rPr lang="es-ES" sz="2000" dirty="0" err="1">
                <a:solidFill>
                  <a:srgbClr val="22627E"/>
                </a:solidFill>
              </a:rPr>
              <a:t>steering</a:t>
            </a:r>
            <a:r>
              <a:rPr lang="es-ES" sz="2000" dirty="0">
                <a:solidFill>
                  <a:srgbClr val="22627E"/>
                </a:solidFill>
              </a:rPr>
              <a:t> </a:t>
            </a:r>
            <a:r>
              <a:rPr lang="es-ES" sz="2000" dirty="0" err="1">
                <a:solidFill>
                  <a:srgbClr val="22627E"/>
                </a:solidFill>
              </a:rPr>
              <a:t>committee</a:t>
            </a:r>
            <a:r>
              <a:rPr lang="es-ES" sz="2000" dirty="0">
                <a:solidFill>
                  <a:srgbClr val="22627E"/>
                </a:solidFill>
              </a:rPr>
              <a:t> en este caso?</a:t>
            </a:r>
          </a:p>
        </p:txBody>
      </p:sp>
      <p:sp>
        <p:nvSpPr>
          <p:cNvPr id="124" name="Google Shape;124;p4">
            <a:extLst>
              <a:ext uri="{FF2B5EF4-FFF2-40B4-BE49-F238E27FC236}">
                <a16:creationId xmlns:a16="http://schemas.microsoft.com/office/drawing/2014/main" id="{348DADAE-4B13-0EB9-467C-B948B8618762}"/>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s-ES" sz="2700" b="1" i="0" u="none" strike="noStrike" cap="none" noProof="0" dirty="0">
                <a:solidFill>
                  <a:srgbClr val="01415B"/>
                </a:solidFill>
                <a:latin typeface="Roboto"/>
                <a:ea typeface="Roboto"/>
                <a:cs typeface="Roboto"/>
                <a:sym typeface="Roboto"/>
              </a:rPr>
              <a:t>Reflexión y Debate </a:t>
            </a:r>
            <a:endParaRPr lang="en-US" sz="2700" b="1" i="0" u="none" strike="noStrike" cap="none" dirty="0">
              <a:solidFill>
                <a:srgbClr val="01415B"/>
              </a:solidFill>
              <a:latin typeface="Roboto"/>
              <a:ea typeface="Roboto"/>
              <a:cs typeface="Roboto"/>
              <a:sym typeface="Roboto"/>
            </a:endParaRPr>
          </a:p>
        </p:txBody>
      </p:sp>
    </p:spTree>
    <p:extLst>
      <p:ext uri="{BB962C8B-B14F-4D97-AF65-F5344CB8AC3E}">
        <p14:creationId xmlns:p14="http://schemas.microsoft.com/office/powerpoint/2010/main" val="23404733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1415B"/>
        </a:solidFill>
        <a:effectLst/>
      </p:bgPr>
    </p:bg>
    <p:spTree>
      <p:nvGrpSpPr>
        <p:cNvPr id="1" name="Shape 110">
          <a:extLst>
            <a:ext uri="{FF2B5EF4-FFF2-40B4-BE49-F238E27FC236}">
              <a16:creationId xmlns:a16="http://schemas.microsoft.com/office/drawing/2014/main" id="{BE0837E3-FBB1-065A-8013-44FC79E921B1}"/>
            </a:ext>
          </a:extLst>
        </p:cNvPr>
        <p:cNvGrpSpPr/>
        <p:nvPr/>
      </p:nvGrpSpPr>
      <p:grpSpPr>
        <a:xfrm>
          <a:off x="0" y="0"/>
          <a:ext cx="0" cy="0"/>
          <a:chOff x="0" y="0"/>
          <a:chExt cx="0" cy="0"/>
        </a:xfrm>
      </p:grpSpPr>
      <p:grpSp>
        <p:nvGrpSpPr>
          <p:cNvPr id="111" name="Google Shape;111;g1ea3c471214_0_9">
            <a:extLst>
              <a:ext uri="{FF2B5EF4-FFF2-40B4-BE49-F238E27FC236}">
                <a16:creationId xmlns:a16="http://schemas.microsoft.com/office/drawing/2014/main" id="{CA78ADBC-7B3B-598D-56A5-C726F6A3B8A9}"/>
              </a:ext>
            </a:extLst>
          </p:cNvPr>
          <p:cNvGrpSpPr/>
          <p:nvPr/>
        </p:nvGrpSpPr>
        <p:grpSpPr>
          <a:xfrm>
            <a:off x="2178127" y="2865504"/>
            <a:ext cx="7364281" cy="1146201"/>
            <a:chOff x="2990101" y="2717970"/>
            <a:chExt cx="6251512" cy="1144942"/>
          </a:xfrm>
        </p:grpSpPr>
        <p:sp>
          <p:nvSpPr>
            <p:cNvPr id="112" name="Google Shape;112;g1ea3c471214_0_9">
              <a:extLst>
                <a:ext uri="{FF2B5EF4-FFF2-40B4-BE49-F238E27FC236}">
                  <a16:creationId xmlns:a16="http://schemas.microsoft.com/office/drawing/2014/main" id="{ACE3F2EC-5E77-63B0-79AB-FDC627B826AB}"/>
                </a:ext>
              </a:extLst>
            </p:cNvPr>
            <p:cNvSpPr/>
            <p:nvPr/>
          </p:nvSpPr>
          <p:spPr>
            <a:xfrm>
              <a:off x="2990101" y="2717970"/>
              <a:ext cx="6251512" cy="1144942"/>
            </a:xfrm>
            <a:custGeom>
              <a:avLst/>
              <a:gdLst/>
              <a:ahLst/>
              <a:cxnLst/>
              <a:rect l="l" t="t" r="r" b="b"/>
              <a:pathLst>
                <a:path w="6251512" h="1144942" extrusionOk="0">
                  <a:moveTo>
                    <a:pt x="572471" y="0"/>
                  </a:moveTo>
                  <a:lnTo>
                    <a:pt x="5679041" y="0"/>
                  </a:lnTo>
                  <a:cubicBezTo>
                    <a:pt x="5995208" y="0"/>
                    <a:pt x="6251512" y="256304"/>
                    <a:pt x="6251512" y="572471"/>
                  </a:cubicBezTo>
                  <a:lnTo>
                    <a:pt x="6251512" y="572471"/>
                  </a:lnTo>
                  <a:cubicBezTo>
                    <a:pt x="6251512" y="888638"/>
                    <a:pt x="5995208" y="1144942"/>
                    <a:pt x="5679041" y="1144942"/>
                  </a:cubicBezTo>
                  <a:lnTo>
                    <a:pt x="572471" y="1144942"/>
                  </a:lnTo>
                  <a:cubicBezTo>
                    <a:pt x="256304" y="1144942"/>
                    <a:pt x="0" y="888638"/>
                    <a:pt x="0" y="572471"/>
                  </a:cubicBezTo>
                  <a:lnTo>
                    <a:pt x="0" y="572471"/>
                  </a:lnTo>
                  <a:cubicBezTo>
                    <a:pt x="0" y="256304"/>
                    <a:pt x="256304" y="0"/>
                    <a:pt x="572471" y="0"/>
                  </a:cubicBezTo>
                  <a:close/>
                </a:path>
              </a:pathLst>
            </a:custGeom>
            <a:noFill/>
            <a:ln w="9525" cap="flat" cmpd="sng">
              <a:solidFill>
                <a:srgbClr val="3298B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3" name="Google Shape;113;g1ea3c471214_0_9">
              <a:extLst>
                <a:ext uri="{FF2B5EF4-FFF2-40B4-BE49-F238E27FC236}">
                  <a16:creationId xmlns:a16="http://schemas.microsoft.com/office/drawing/2014/main" id="{A532DB17-31F7-9801-502A-AEEF619E8C61}"/>
                </a:ext>
              </a:extLst>
            </p:cNvPr>
            <p:cNvSpPr/>
            <p:nvPr/>
          </p:nvSpPr>
          <p:spPr>
            <a:xfrm>
              <a:off x="3113925" y="2822632"/>
              <a:ext cx="6034026" cy="924516"/>
            </a:xfrm>
            <a:custGeom>
              <a:avLst/>
              <a:gdLst/>
              <a:ahLst/>
              <a:cxnLst/>
              <a:rect l="l" t="t" r="r" b="b"/>
              <a:pathLst>
                <a:path w="6034026" h="924516" extrusionOk="0">
                  <a:moveTo>
                    <a:pt x="462258" y="0"/>
                  </a:moveTo>
                  <a:lnTo>
                    <a:pt x="5571768" y="0"/>
                  </a:lnTo>
                  <a:cubicBezTo>
                    <a:pt x="5827066" y="0"/>
                    <a:pt x="6034026" y="206960"/>
                    <a:pt x="6034026" y="462258"/>
                  </a:cubicBezTo>
                  <a:lnTo>
                    <a:pt x="6034026" y="462258"/>
                  </a:lnTo>
                  <a:cubicBezTo>
                    <a:pt x="6034026" y="717556"/>
                    <a:pt x="5827066" y="924516"/>
                    <a:pt x="5571768" y="924516"/>
                  </a:cubicBezTo>
                  <a:lnTo>
                    <a:pt x="462258" y="924516"/>
                  </a:lnTo>
                  <a:cubicBezTo>
                    <a:pt x="206960" y="924516"/>
                    <a:pt x="0" y="717556"/>
                    <a:pt x="0" y="462258"/>
                  </a:cubicBezTo>
                  <a:lnTo>
                    <a:pt x="0" y="462258"/>
                  </a:lnTo>
                  <a:cubicBezTo>
                    <a:pt x="0" y="206960"/>
                    <a:pt x="206960" y="0"/>
                    <a:pt x="462258" y="0"/>
                  </a:cubicBezTo>
                  <a:close/>
                </a:path>
              </a:pathLst>
            </a:custGeom>
            <a:solidFill>
              <a:srgbClr val="3298B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114" name="Google Shape;114;g1ea3c471214_0_9">
            <a:extLst>
              <a:ext uri="{FF2B5EF4-FFF2-40B4-BE49-F238E27FC236}">
                <a16:creationId xmlns:a16="http://schemas.microsoft.com/office/drawing/2014/main" id="{4F1A0220-2399-3224-92A9-FCD0102EAC6B}"/>
              </a:ext>
            </a:extLst>
          </p:cNvPr>
          <p:cNvSpPr/>
          <p:nvPr/>
        </p:nvSpPr>
        <p:spPr>
          <a:xfrm>
            <a:off x="8281900" y="2571750"/>
            <a:ext cx="1731900" cy="1714500"/>
          </a:xfrm>
          <a:prstGeom prst="ellipse">
            <a:avLst/>
          </a:prstGeom>
          <a:solidFill>
            <a:srgbClr val="01415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5" name="Google Shape;115;g1ea3c471214_0_9">
            <a:extLst>
              <a:ext uri="{FF2B5EF4-FFF2-40B4-BE49-F238E27FC236}">
                <a16:creationId xmlns:a16="http://schemas.microsoft.com/office/drawing/2014/main" id="{FEEB6942-5B68-D49A-1127-48BAB0A6392E}"/>
              </a:ext>
            </a:extLst>
          </p:cNvPr>
          <p:cNvSpPr txBox="1">
            <a:spLocks noGrp="1"/>
          </p:cNvSpPr>
          <p:nvPr>
            <p:ph type="body" idx="1"/>
          </p:nvPr>
        </p:nvSpPr>
        <p:spPr>
          <a:xfrm>
            <a:off x="3798800" y="3132137"/>
            <a:ext cx="5064000" cy="6129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FFFF"/>
              </a:buClr>
              <a:buSzPts val="2800"/>
              <a:buNone/>
            </a:pPr>
            <a:r>
              <a:rPr lang="en-US" sz="2800" b="1" i="0" u="none" dirty="0" err="1">
                <a:solidFill>
                  <a:srgbClr val="FFFFFF"/>
                </a:solidFill>
                <a:latin typeface="Roboto"/>
                <a:ea typeface="Roboto"/>
                <a:cs typeface="Roboto"/>
                <a:sym typeface="Roboto"/>
              </a:rPr>
              <a:t>Entrega</a:t>
            </a:r>
            <a:endParaRPr dirty="0"/>
          </a:p>
        </p:txBody>
      </p:sp>
      <p:sp>
        <p:nvSpPr>
          <p:cNvPr id="116" name="Google Shape;116;g1ea3c471214_0_9">
            <a:extLst>
              <a:ext uri="{FF2B5EF4-FFF2-40B4-BE49-F238E27FC236}">
                <a16:creationId xmlns:a16="http://schemas.microsoft.com/office/drawing/2014/main" id="{4884EB4E-D2C4-4DCA-3603-54B7B3D003F9}"/>
              </a:ext>
            </a:extLst>
          </p:cNvPr>
          <p:cNvSpPr/>
          <p:nvPr/>
        </p:nvSpPr>
        <p:spPr>
          <a:xfrm>
            <a:off x="8402550" y="2703512"/>
            <a:ext cx="1492200" cy="1390800"/>
          </a:xfrm>
          <a:prstGeom prst="ellipse">
            <a:avLst/>
          </a:prstGeom>
          <a:solidFill>
            <a:srgbClr val="3298B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17" name="Google Shape;117;g1ea3c471214_0_9">
            <a:extLst>
              <a:ext uri="{FF2B5EF4-FFF2-40B4-BE49-F238E27FC236}">
                <a16:creationId xmlns:a16="http://schemas.microsoft.com/office/drawing/2014/main" id="{3B1FD967-B57B-774D-2C0A-5544DDE25F58}"/>
              </a:ext>
            </a:extLst>
          </p:cNvPr>
          <p:cNvPicPr preferRelativeResize="0"/>
          <p:nvPr/>
        </p:nvPicPr>
        <p:blipFill rotWithShape="1">
          <a:blip r:embed="rId3">
            <a:alphaModFix/>
          </a:blip>
          <a:srcRect/>
          <a:stretch/>
        </p:blipFill>
        <p:spPr>
          <a:xfrm>
            <a:off x="8826413" y="3057525"/>
            <a:ext cx="742950" cy="742950"/>
          </a:xfrm>
          <a:prstGeom prst="rect">
            <a:avLst/>
          </a:prstGeom>
          <a:noFill/>
          <a:ln>
            <a:noFill/>
          </a:ln>
        </p:spPr>
      </p:pic>
    </p:spTree>
    <p:extLst>
      <p:ext uri="{BB962C8B-B14F-4D97-AF65-F5344CB8AC3E}">
        <p14:creationId xmlns:p14="http://schemas.microsoft.com/office/powerpoint/2010/main" val="11496380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D1B13E9D-0ED8-FC18-95A5-7152EA881488}"/>
            </a:ext>
          </a:extLst>
        </p:cNvPr>
        <p:cNvGrpSpPr/>
        <p:nvPr/>
      </p:nvGrpSpPr>
      <p:grpSpPr>
        <a:xfrm>
          <a:off x="0" y="0"/>
          <a:ext cx="0" cy="0"/>
          <a:chOff x="0" y="0"/>
          <a:chExt cx="0" cy="0"/>
        </a:xfrm>
      </p:grpSpPr>
      <p:sp>
        <p:nvSpPr>
          <p:cNvPr id="123" name="Google Shape;123;p4">
            <a:extLst>
              <a:ext uri="{FF2B5EF4-FFF2-40B4-BE49-F238E27FC236}">
                <a16:creationId xmlns:a16="http://schemas.microsoft.com/office/drawing/2014/main" id="{805D3434-117C-52CF-1084-6A655F3BAB88}"/>
              </a:ext>
            </a:extLst>
          </p:cNvPr>
          <p:cNvSpPr txBox="1">
            <a:spLocks noGrp="1"/>
          </p:cNvSpPr>
          <p:nvPr>
            <p:ph type="body" idx="1"/>
          </p:nvPr>
        </p:nvSpPr>
        <p:spPr>
          <a:xfrm>
            <a:off x="671500" y="1414448"/>
            <a:ext cx="8387328" cy="5241600"/>
          </a:xfrm>
          <a:prstGeom prst="rect">
            <a:avLst/>
          </a:prstGeom>
          <a:noFill/>
          <a:ln>
            <a:noFill/>
          </a:ln>
        </p:spPr>
        <p:txBody>
          <a:bodyPr spcFirstLastPara="1" wrap="square" lIns="91425" tIns="45700" rIns="91425" bIns="45700" anchor="t" anchorCtr="0">
            <a:noAutofit/>
          </a:bodyPr>
          <a:lstStyle/>
          <a:p>
            <a:pPr marL="0" indent="0">
              <a:buNone/>
            </a:pPr>
            <a:r>
              <a:rPr lang="es-ES" sz="2000" b="1" dirty="0">
                <a:solidFill>
                  <a:srgbClr val="22627E"/>
                </a:solidFill>
              </a:rPr>
              <a:t>No hubo una entrega completa ni efectiva</a:t>
            </a:r>
          </a:p>
          <a:p>
            <a:pPr marL="342900"/>
            <a:endParaRPr lang="es-ES" sz="2000" dirty="0">
              <a:solidFill>
                <a:srgbClr val="22627E"/>
              </a:solidFill>
            </a:endParaRPr>
          </a:p>
          <a:p>
            <a:pPr marL="342900"/>
            <a:r>
              <a:rPr lang="es-ES" sz="2000" dirty="0">
                <a:solidFill>
                  <a:srgbClr val="22627E"/>
                </a:solidFill>
              </a:rPr>
              <a:t>Los certificados existían, pero casi nadie los usaba ni sabía cómo validarlos.</a:t>
            </a:r>
          </a:p>
          <a:p>
            <a:pPr marL="342900"/>
            <a:r>
              <a:rPr lang="es-ES" sz="2000" dirty="0">
                <a:solidFill>
                  <a:srgbClr val="22627E"/>
                </a:solidFill>
              </a:rPr>
              <a:t>La entrega fue más simbólica que funcional: una demo bonita pero sin adopción ni impacto.</a:t>
            </a:r>
          </a:p>
          <a:p>
            <a:pPr marL="342900"/>
            <a:r>
              <a:rPr lang="es-ES" sz="2000" dirty="0">
                <a:solidFill>
                  <a:srgbClr val="22627E"/>
                </a:solidFill>
              </a:rPr>
              <a:t>Las universidades no volvieron a emitir regularmente en </a:t>
            </a:r>
            <a:r>
              <a:rPr lang="es-ES" sz="2000" dirty="0" err="1">
                <a:solidFill>
                  <a:srgbClr val="22627E"/>
                </a:solidFill>
              </a:rPr>
              <a:t>blockchain</a:t>
            </a:r>
            <a:r>
              <a:rPr lang="es-ES" sz="2000" dirty="0">
                <a:solidFill>
                  <a:srgbClr val="22627E"/>
                </a:solidFill>
              </a:rPr>
              <a:t> tras los pilotos, salvo alguna excepción puntual.</a:t>
            </a:r>
          </a:p>
        </p:txBody>
      </p:sp>
      <p:sp>
        <p:nvSpPr>
          <p:cNvPr id="124" name="Google Shape;124;p4">
            <a:extLst>
              <a:ext uri="{FF2B5EF4-FFF2-40B4-BE49-F238E27FC236}">
                <a16:creationId xmlns:a16="http://schemas.microsoft.com/office/drawing/2014/main" id="{D835A1F2-CA6C-8787-8ED7-9389A9C98A63}"/>
              </a:ext>
            </a:extLst>
          </p:cNvPr>
          <p:cNvSpPr txBox="1"/>
          <p:nvPr/>
        </p:nvSpPr>
        <p:spPr>
          <a:xfrm>
            <a:off x="0" y="307975"/>
            <a:ext cx="12192000" cy="693737"/>
          </a:xfrm>
          <a:prstGeom prst="rect">
            <a:avLst/>
          </a:prstGeom>
          <a:solidFill>
            <a:schemeClr val="lt2"/>
          </a:solidFill>
          <a:ln>
            <a:noFill/>
          </a:ln>
        </p:spPr>
        <p:txBody>
          <a:bodyPr spcFirstLastPara="1" wrap="square" lIns="91425" tIns="45700" rIns="91425" bIns="45700" anchor="ctr" anchorCtr="0">
            <a:noAutofit/>
          </a:bodyPr>
          <a:lstStyle/>
          <a:p>
            <a:pPr marL="457200" marR="0" lvl="1" indent="0" algn="l" rtl="0">
              <a:lnSpc>
                <a:spcPct val="100000"/>
              </a:lnSpc>
              <a:spcBef>
                <a:spcPts val="0"/>
              </a:spcBef>
              <a:spcAft>
                <a:spcPts val="0"/>
              </a:spcAft>
              <a:buClr>
                <a:srgbClr val="01415B"/>
              </a:buClr>
              <a:buSzPts val="2400"/>
              <a:buFont typeface="Roboto"/>
              <a:buNone/>
            </a:pPr>
            <a:r>
              <a:rPr lang="en-US" sz="2700" b="1" i="0" u="none" strike="noStrike" cap="none" dirty="0" err="1">
                <a:solidFill>
                  <a:srgbClr val="01415B"/>
                </a:solidFill>
                <a:latin typeface="Roboto"/>
                <a:ea typeface="Roboto"/>
                <a:cs typeface="Roboto"/>
                <a:sym typeface="Roboto"/>
              </a:rPr>
              <a:t>Entrega</a:t>
            </a:r>
            <a:endParaRPr lang="en-US" sz="2700" b="1" i="0" u="none" strike="noStrike" cap="none" dirty="0">
              <a:solidFill>
                <a:srgbClr val="01415B"/>
              </a:solidFill>
              <a:latin typeface="Roboto"/>
              <a:ea typeface="Roboto"/>
              <a:cs typeface="Roboto"/>
              <a:sym typeface="Roboto"/>
            </a:endParaRPr>
          </a:p>
        </p:txBody>
      </p:sp>
    </p:spTree>
    <p:extLst>
      <p:ext uri="{BB962C8B-B14F-4D97-AF65-F5344CB8AC3E}">
        <p14:creationId xmlns:p14="http://schemas.microsoft.com/office/powerpoint/2010/main" val="3169522333"/>
      </p:ext>
    </p:extLst>
  </p:cSld>
  <p:clrMapOvr>
    <a:masterClrMapping/>
  </p:clrMapOvr>
</p:sld>
</file>

<file path=ppt/theme/theme1.xml><?xml version="1.0" encoding="utf-8"?>
<a:theme xmlns:a="http://schemas.openxmlformats.org/drawingml/2006/main" name="Tema de Office">
  <a:themeElements>
    <a:clrScheme name="Custom 3">
      <a:dk1>
        <a:srgbClr val="01415B"/>
      </a:dk1>
      <a:lt1>
        <a:srgbClr val="FFFFFF"/>
      </a:lt1>
      <a:dk2>
        <a:srgbClr val="3298B3"/>
      </a:dk2>
      <a:lt2>
        <a:srgbClr val="D3DFE1"/>
      </a:lt2>
      <a:accent1>
        <a:srgbClr val="01415B"/>
      </a:accent1>
      <a:accent2>
        <a:srgbClr val="3298B3"/>
      </a:accent2>
      <a:accent3>
        <a:srgbClr val="6ACBB8"/>
      </a:accent3>
      <a:accent4>
        <a:srgbClr val="D3DFE1"/>
      </a:accent4>
      <a:accent5>
        <a:srgbClr val="FAFFFF"/>
      </a:accent5>
      <a:accent6>
        <a:srgbClr val="FAFFFF"/>
      </a:accent6>
      <a:hlink>
        <a:srgbClr val="6ACBB8"/>
      </a:hlink>
      <a:folHlink>
        <a:srgbClr val="D3DF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2715</Words>
  <Application>Microsoft Office PowerPoint</Application>
  <PresentationFormat>Panorámica</PresentationFormat>
  <Paragraphs>299</Paragraphs>
  <Slides>43</Slides>
  <Notes>43</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43</vt:i4>
      </vt:variant>
    </vt:vector>
  </HeadingPairs>
  <TitlesOfParts>
    <vt:vector size="47" baseType="lpstr">
      <vt:lpstr>Arial</vt:lpstr>
      <vt:lpstr>Roboto</vt:lpstr>
      <vt:lpstr>Calibri</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Diana Daleman</dc:creator>
  <cp:lastModifiedBy>Javier Nieto</cp:lastModifiedBy>
  <cp:revision>27</cp:revision>
  <dcterms:created xsi:type="dcterms:W3CDTF">2018-01-26T12:30:15Z</dcterms:created>
  <dcterms:modified xsi:type="dcterms:W3CDTF">2026-04-16T07:55:17Z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1b88ec2-a72b-4523-9e84-0458a1764731_Enabled">
    <vt:lpwstr>true</vt:lpwstr>
  </property>
  <property fmtid="{D5CDD505-2E9C-101B-9397-08002B2CF9AE}" pid="3" name="MSIP_Label_41b88ec2-a72b-4523-9e84-0458a1764731_SetDate">
    <vt:lpwstr>2024-03-13T11:04:25Z</vt:lpwstr>
  </property>
  <property fmtid="{D5CDD505-2E9C-101B-9397-08002B2CF9AE}" pid="4" name="MSIP_Label_41b88ec2-a72b-4523-9e84-0458a1764731_Method">
    <vt:lpwstr>Privileged</vt:lpwstr>
  </property>
  <property fmtid="{D5CDD505-2E9C-101B-9397-08002B2CF9AE}" pid="5" name="MSIP_Label_41b88ec2-a72b-4523-9e84-0458a1764731_Name">
    <vt:lpwstr>Public O365</vt:lpwstr>
  </property>
  <property fmtid="{D5CDD505-2E9C-101B-9397-08002B2CF9AE}" pid="6" name="MSIP_Label_41b88ec2-a72b-4523-9e84-0458a1764731_SiteId">
    <vt:lpwstr>35595a02-4d6d-44ac-99e1-f9ab4cd872db</vt:lpwstr>
  </property>
  <property fmtid="{D5CDD505-2E9C-101B-9397-08002B2CF9AE}" pid="7" name="MSIP_Label_41b88ec2-a72b-4523-9e84-0458a1764731_ActionId">
    <vt:lpwstr>f10c161c-961a-49e4-b689-bbaca9b69bf3</vt:lpwstr>
  </property>
  <property fmtid="{D5CDD505-2E9C-101B-9397-08002B2CF9AE}" pid="8" name="MSIP_Label_41b88ec2-a72b-4523-9e84-0458a1764731_ContentBits">
    <vt:lpwstr>0</vt:lpwstr>
  </property>
</Properties>
</file>