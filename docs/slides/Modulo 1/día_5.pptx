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523" r:id="rId2"/>
    <p:sldId id="526" r:id="rId3"/>
    <p:sldId id="452" r:id="rId4"/>
    <p:sldId id="453" r:id="rId5"/>
    <p:sldId id="454" r:id="rId6"/>
    <p:sldId id="455" r:id="rId7"/>
    <p:sldId id="456" r:id="rId8"/>
    <p:sldId id="428" r:id="rId9"/>
    <p:sldId id="352" r:id="rId10"/>
    <p:sldId id="382" r:id="rId11"/>
    <p:sldId id="381" r:id="rId12"/>
    <p:sldId id="353" r:id="rId13"/>
    <p:sldId id="354" r:id="rId14"/>
    <p:sldId id="355" r:id="rId15"/>
    <p:sldId id="356" r:id="rId16"/>
    <p:sldId id="380" r:id="rId17"/>
    <p:sldId id="357" r:id="rId18"/>
    <p:sldId id="358" r:id="rId19"/>
    <p:sldId id="391" r:id="rId20"/>
    <p:sldId id="392" r:id="rId21"/>
    <p:sldId id="416" r:id="rId22"/>
    <p:sldId id="417" r:id="rId23"/>
    <p:sldId id="418" r:id="rId24"/>
    <p:sldId id="419" r:id="rId25"/>
    <p:sldId id="420" r:id="rId26"/>
    <p:sldId id="415" r:id="rId27"/>
    <p:sldId id="406" r:id="rId28"/>
    <p:sldId id="408" r:id="rId29"/>
    <p:sldId id="407" r:id="rId30"/>
    <p:sldId id="409" r:id="rId31"/>
    <p:sldId id="411" r:id="rId32"/>
    <p:sldId id="410" r:id="rId33"/>
    <p:sldId id="412" r:id="rId34"/>
    <p:sldId id="404" r:id="rId35"/>
    <p:sldId id="398" r:id="rId36"/>
    <p:sldId id="399" r:id="rId37"/>
    <p:sldId id="400" r:id="rId38"/>
    <p:sldId id="401" r:id="rId39"/>
    <p:sldId id="402" r:id="rId40"/>
    <p:sldId id="414" r:id="rId4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103" d="100"/>
          <a:sy n="103" d="100"/>
        </p:scale>
        <p:origin x="120" y="7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A271E-D58E-4CD0-BF3B-0F895DAE6B1F}" type="datetimeFigureOut">
              <a:rPr lang="es-ES" smtClean="0"/>
              <a:t>22/03/2026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EDCB7-639D-4964-ACB1-CE6CDE200DCB}" type="slidenum">
              <a:rPr lang="es-ES" smtClean="0"/>
              <a:t>‹Nº›</a:t>
            </a:fld>
            <a:endParaRPr lang="es-ES"/>
          </a:p>
        </p:txBody>
      </p:sp>
    </p:spTree>
    <p:extLst>
      <p:ext uri="{BB962C8B-B14F-4D97-AF65-F5344CB8AC3E}">
        <p14:creationId xmlns:p14="http://schemas.microsoft.com/office/powerpoint/2010/main" val="45347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710407" y="4861441"/>
            <a:ext cx="5683250" cy="4605576"/>
          </a:xfrm>
          <a:prstGeom prst="rect">
            <a:avLst/>
          </a:prstGeom>
          <a:noFill/>
          <a:ln>
            <a:noFill/>
          </a:ln>
        </p:spPr>
        <p:txBody>
          <a:bodyPr spcFirstLastPara="1" wrap="square" lIns="99059" tIns="49516" rIns="99059" bIns="49516" anchor="t" anchorCtr="0">
            <a:noAutofit/>
          </a:bodyPr>
          <a:lstStyle/>
          <a:p>
            <a:pPr>
              <a:buSzPts val="1400"/>
            </a:pPr>
            <a:endParaRPr/>
          </a:p>
        </p:txBody>
      </p:sp>
      <p:sp>
        <p:nvSpPr>
          <p:cNvPr id="121" name="Google Shape;121;p4: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83E4452-9EDA-0350-3A0F-57D1E449E55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D69CD83F-627F-6E03-E74B-96A3138FBA6C}"/>
              </a:ext>
            </a:extLst>
          </p:cNvPr>
          <p:cNvSpPr txBox="1">
            <a:spLocks noGrp="1"/>
          </p:cNvSpPr>
          <p:nvPr>
            <p:ph type="body" idx="1"/>
          </p:nvPr>
        </p:nvSpPr>
        <p:spPr>
          <a:xfrm>
            <a:off x="710407" y="4861441"/>
            <a:ext cx="5683250" cy="4605576"/>
          </a:xfrm>
          <a:prstGeom prst="rect">
            <a:avLst/>
          </a:prstGeom>
          <a:noFill/>
          <a:ln>
            <a:noFill/>
          </a:ln>
        </p:spPr>
        <p:txBody>
          <a:bodyPr spcFirstLastPara="1" wrap="square" lIns="99059" tIns="49516" rIns="99059" bIns="49516" anchor="t" anchorCtr="0">
            <a:noAutofit/>
          </a:bodyPr>
          <a:lstStyle/>
          <a:p>
            <a:pPr>
              <a:buSzPts val="1400"/>
            </a:pPr>
            <a:endParaRPr/>
          </a:p>
        </p:txBody>
      </p:sp>
      <p:sp>
        <p:nvSpPr>
          <p:cNvPr id="121" name="Google Shape;121;p4:notes">
            <a:extLst>
              <a:ext uri="{FF2B5EF4-FFF2-40B4-BE49-F238E27FC236}">
                <a16:creationId xmlns:a16="http://schemas.microsoft.com/office/drawing/2014/main" id="{D295D0F3-2DB1-8965-D624-A2939C658E25}"/>
              </a:ext>
            </a:extLst>
          </p:cNvPr>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084919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43C0882-C60D-8518-5A5C-078031A35F8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EA1DA6E7-71EB-43FD-1108-438FC2635A71}"/>
              </a:ext>
            </a:extLst>
          </p:cNvPr>
          <p:cNvSpPr txBox="1">
            <a:spLocks noGrp="1"/>
          </p:cNvSpPr>
          <p:nvPr>
            <p:ph type="body" idx="1"/>
          </p:nvPr>
        </p:nvSpPr>
        <p:spPr>
          <a:xfrm>
            <a:off x="710407" y="4861441"/>
            <a:ext cx="5683250" cy="4605576"/>
          </a:xfrm>
          <a:prstGeom prst="rect">
            <a:avLst/>
          </a:prstGeom>
          <a:noFill/>
          <a:ln>
            <a:noFill/>
          </a:ln>
        </p:spPr>
        <p:txBody>
          <a:bodyPr spcFirstLastPara="1" wrap="square" lIns="99059" tIns="49516" rIns="99059" bIns="49516" anchor="t" anchorCtr="0">
            <a:noAutofit/>
          </a:bodyPr>
          <a:lstStyle/>
          <a:p>
            <a:pPr>
              <a:buSzPts val="1400"/>
            </a:pPr>
            <a:endParaRPr/>
          </a:p>
        </p:txBody>
      </p:sp>
      <p:sp>
        <p:nvSpPr>
          <p:cNvPr id="121" name="Google Shape;121;p4:notes">
            <a:extLst>
              <a:ext uri="{FF2B5EF4-FFF2-40B4-BE49-F238E27FC236}">
                <a16:creationId xmlns:a16="http://schemas.microsoft.com/office/drawing/2014/main" id="{F084BD05-D3C3-D23F-B5AD-78D33A0524EB}"/>
              </a:ext>
            </a:extLst>
          </p:cNvPr>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43298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510EB21E-816C-D4BF-6234-957DDF5C2F95}"/>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924559F-69F9-F0F5-82F2-0FC13AF0F8AD}"/>
              </a:ext>
            </a:extLst>
          </p:cNvPr>
          <p:cNvSpPr txBox="1">
            <a:spLocks noGrp="1"/>
          </p:cNvSpPr>
          <p:nvPr>
            <p:ph type="body" idx="1"/>
          </p:nvPr>
        </p:nvSpPr>
        <p:spPr>
          <a:xfrm>
            <a:off x="710407" y="4861441"/>
            <a:ext cx="5683250" cy="4605576"/>
          </a:xfrm>
          <a:prstGeom prst="rect">
            <a:avLst/>
          </a:prstGeom>
          <a:noFill/>
          <a:ln>
            <a:noFill/>
          </a:ln>
        </p:spPr>
        <p:txBody>
          <a:bodyPr spcFirstLastPara="1" wrap="square" lIns="99059" tIns="49516" rIns="99059" bIns="49516" anchor="t" anchorCtr="0">
            <a:noAutofit/>
          </a:bodyPr>
          <a:lstStyle/>
          <a:p>
            <a:pPr>
              <a:buSzPts val="1400"/>
            </a:pPr>
            <a:endParaRPr/>
          </a:p>
        </p:txBody>
      </p:sp>
      <p:sp>
        <p:nvSpPr>
          <p:cNvPr id="121" name="Google Shape;121;p4:notes">
            <a:extLst>
              <a:ext uri="{FF2B5EF4-FFF2-40B4-BE49-F238E27FC236}">
                <a16:creationId xmlns:a16="http://schemas.microsoft.com/office/drawing/2014/main" id="{4365D180-541E-95C9-BDD2-8E628A7DE7DF}"/>
              </a:ext>
            </a:extLst>
          </p:cNvPr>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374704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1ED517-8619-6178-FABA-097D6B87C23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6AE111A-C4B5-90D0-54C9-ED33E4D577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14DF974C-1E69-26BF-A727-0642A571E66D}"/>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5" name="Marcador de pie de página 4">
            <a:extLst>
              <a:ext uri="{FF2B5EF4-FFF2-40B4-BE49-F238E27FC236}">
                <a16:creationId xmlns:a16="http://schemas.microsoft.com/office/drawing/2014/main" id="{1C3C65A9-9BEE-6041-AA60-6D8A1D91176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1ECAC71-BA51-5D83-BAFA-FFD7786D83EA}"/>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397171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FA9108-F774-ED37-F484-CCAC640BE3F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4B6B886-1FD0-D255-5248-1B95CB202FA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4989335-64EC-4579-4489-1ED4BAE2F5B1}"/>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5" name="Marcador de pie de página 4">
            <a:extLst>
              <a:ext uri="{FF2B5EF4-FFF2-40B4-BE49-F238E27FC236}">
                <a16:creationId xmlns:a16="http://schemas.microsoft.com/office/drawing/2014/main" id="{D4F455DB-B87E-66D4-7F0D-0B83EC0C716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39F1FBC-1604-A774-A8A3-C6C472505CCA}"/>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1267167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4A920-A0F5-CFBE-6ED5-4FC1CF30139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D6AD45D-1CAC-E497-2B53-4601A3A8A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5CF70D2-1129-6F61-3938-9DFEF5B6E662}"/>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5" name="Marcador de pie de página 4">
            <a:extLst>
              <a:ext uri="{FF2B5EF4-FFF2-40B4-BE49-F238E27FC236}">
                <a16:creationId xmlns:a16="http://schemas.microsoft.com/office/drawing/2014/main" id="{3A9FE48C-516C-7D0A-CC6D-81303A3607F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5A5443B-59AB-A7B9-A74E-827159AC4D0E}"/>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558992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F595D7-423D-804A-8ACD-D090B64C0AD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0E82447-E9FE-E282-AB9F-69097E9B2FA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A14107C-D67C-24B6-D514-62288A3AA2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33F231E-B730-9B89-EE51-047C74E33720}"/>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6" name="Marcador de pie de página 5">
            <a:extLst>
              <a:ext uri="{FF2B5EF4-FFF2-40B4-BE49-F238E27FC236}">
                <a16:creationId xmlns:a16="http://schemas.microsoft.com/office/drawing/2014/main" id="{3198993D-F4FE-CAF3-2557-7269A3906D5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19D7DAC-DC52-7503-67FC-C75F26F598EC}"/>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900990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66EBFC-C2C5-05A4-B256-C273DC42EA4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EE3DF20-87FB-EF2A-F15D-77C3910C0F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3FF5742-9F50-D81B-DC65-8938781DAB9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1227F706-CCDD-BDFB-0DAA-277F63085E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5612D51-6E31-F331-2AC2-F88DAC8CA8B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B3DB40F-3833-5F4B-C44B-95AB5D2937C1}"/>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8" name="Marcador de pie de página 7">
            <a:extLst>
              <a:ext uri="{FF2B5EF4-FFF2-40B4-BE49-F238E27FC236}">
                <a16:creationId xmlns:a16="http://schemas.microsoft.com/office/drawing/2014/main" id="{C8FA7653-26D4-BA3B-9C8A-7D9E633EB145}"/>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192A0A1-3DDB-4B19-A6B4-87894891B6AA}"/>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1405884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7DF14A-46E9-638C-0412-A4E0F30577C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04B5A6F-A0DF-6FD4-7E45-3C2AE1B7B6D2}"/>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4" name="Marcador de pie de página 3">
            <a:extLst>
              <a:ext uri="{FF2B5EF4-FFF2-40B4-BE49-F238E27FC236}">
                <a16:creationId xmlns:a16="http://schemas.microsoft.com/office/drawing/2014/main" id="{ED659E37-9482-80C5-EF8D-5789F61A9BE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8D5C47F9-1067-EE91-FD7E-1DB91AED9E2D}"/>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3676021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6E59011-2CF6-96A3-0819-88E26FDDF67B}"/>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3" name="Marcador de pie de página 2">
            <a:extLst>
              <a:ext uri="{FF2B5EF4-FFF2-40B4-BE49-F238E27FC236}">
                <a16:creationId xmlns:a16="http://schemas.microsoft.com/office/drawing/2014/main" id="{BBBFBD82-0CA1-5E49-A878-7D7FE65539F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D976EE1D-5BBD-B1CD-80E2-AC140F2D7920}"/>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336527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774E3-0BB3-5482-C818-23F64F029F6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DCF6DDA-E408-C1AC-49BE-CEE9B3E99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C177259-95EC-3B8B-533B-5EBA9B185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814E488-928E-2C24-70B5-0AE32E105374}"/>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6" name="Marcador de pie de página 5">
            <a:extLst>
              <a:ext uri="{FF2B5EF4-FFF2-40B4-BE49-F238E27FC236}">
                <a16:creationId xmlns:a16="http://schemas.microsoft.com/office/drawing/2014/main" id="{D27A5454-E53A-FC55-D2D7-CC649F919E0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76413F8-CC99-AFA7-053E-004CD2E4D697}"/>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385336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6C0E50-A1F2-1D95-315C-5838D9ED536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69C674A-080A-5D21-75D8-DB1C5EF907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B673C0B0-A37A-F431-B7CF-C527E4BE9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3F991A-25B8-25BC-CC96-19E1FFA9FBFC}"/>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6" name="Marcador de pie de página 5">
            <a:extLst>
              <a:ext uri="{FF2B5EF4-FFF2-40B4-BE49-F238E27FC236}">
                <a16:creationId xmlns:a16="http://schemas.microsoft.com/office/drawing/2014/main" id="{4800574B-BA58-C427-FCE3-6B64046F87C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10B09F2-9B3B-7449-E307-E3E7A6598A3C}"/>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1872691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155642-C0EA-74E9-D40E-0C7553BC2C65}"/>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B04EC91-3C89-35D4-992F-4D0393B1B2E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4970531-3927-115C-96A4-5E3BCC6E5612}"/>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5" name="Marcador de pie de página 4">
            <a:extLst>
              <a:ext uri="{FF2B5EF4-FFF2-40B4-BE49-F238E27FC236}">
                <a16:creationId xmlns:a16="http://schemas.microsoft.com/office/drawing/2014/main" id="{3483CBDF-0289-C33D-413F-225FA0EF545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8EA7258-EE7D-7610-94C7-160269ABE8B7}"/>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1325083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80CDF2E-A7AD-06C9-502C-07047B03C33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F506AC4-25DF-624F-EBF5-7DD4C56408E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A03785A-CC9F-282D-F0B6-5F7B72E4E440}"/>
              </a:ext>
            </a:extLst>
          </p:cNvPr>
          <p:cNvSpPr>
            <a:spLocks noGrp="1"/>
          </p:cNvSpPr>
          <p:nvPr>
            <p:ph type="dt" sz="half" idx="10"/>
          </p:nvPr>
        </p:nvSpPr>
        <p:spPr/>
        <p:txBody>
          <a:bodyPr/>
          <a:lstStyle/>
          <a:p>
            <a:fld id="{57C0C10B-1526-4F28-90F5-B8A18B7C3BAB}" type="datetimeFigureOut">
              <a:rPr lang="es-ES" smtClean="0"/>
              <a:t>22/03/2026</a:t>
            </a:fld>
            <a:endParaRPr lang="es-ES"/>
          </a:p>
        </p:txBody>
      </p:sp>
      <p:sp>
        <p:nvSpPr>
          <p:cNvPr id="5" name="Marcador de pie de página 4">
            <a:extLst>
              <a:ext uri="{FF2B5EF4-FFF2-40B4-BE49-F238E27FC236}">
                <a16:creationId xmlns:a16="http://schemas.microsoft.com/office/drawing/2014/main" id="{55C59495-98FD-7773-9747-B4B6F6DE3C0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E16B6C8-CD1F-C1DC-1214-101CAF99589B}"/>
              </a:ext>
            </a:extLst>
          </p:cNvPr>
          <p:cNvSpPr>
            <a:spLocks noGrp="1"/>
          </p:cNvSpPr>
          <p:nvPr>
            <p:ph type="sldNum" sz="quarter" idx="12"/>
          </p:nvPr>
        </p:nvSpPr>
        <p:spPr/>
        <p:txBody>
          <a:bodyPr/>
          <a:lstStyle/>
          <a:p>
            <a:fld id="{F08C4B27-D625-4A8B-AA81-A9F7ABA4ED90}" type="slidenum">
              <a:rPr lang="es-ES" smtClean="0"/>
              <a:t>‹Nº›</a:t>
            </a:fld>
            <a:endParaRPr lang="es-ES"/>
          </a:p>
        </p:txBody>
      </p:sp>
    </p:spTree>
    <p:extLst>
      <p:ext uri="{BB962C8B-B14F-4D97-AF65-F5344CB8AC3E}">
        <p14:creationId xmlns:p14="http://schemas.microsoft.com/office/powerpoint/2010/main" val="3763737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3E5519-DD74-6029-DB9E-72939EFA3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ADD908AB-27E1-E166-CA1E-5D757083BC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D2D0572-83E4-DD30-887A-F3FF6C6BB8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C0C10B-1526-4F28-90F5-B8A18B7C3BAB}" type="datetimeFigureOut">
              <a:rPr lang="es-ES" smtClean="0"/>
              <a:t>22/03/2026</a:t>
            </a:fld>
            <a:endParaRPr lang="es-ES"/>
          </a:p>
        </p:txBody>
      </p:sp>
      <p:sp>
        <p:nvSpPr>
          <p:cNvPr id="5" name="Marcador de pie de página 4">
            <a:extLst>
              <a:ext uri="{FF2B5EF4-FFF2-40B4-BE49-F238E27FC236}">
                <a16:creationId xmlns:a16="http://schemas.microsoft.com/office/drawing/2014/main" id="{8CE5D605-EC92-25A6-DB46-08FDFE7B90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8569DAA5-9394-6C92-F660-989587ECE5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8C4B27-D625-4A8B-AA81-A9F7ABA4ED90}" type="slidenum">
              <a:rPr lang="es-ES" smtClean="0"/>
              <a:t>‹Nº›</a:t>
            </a:fld>
            <a:endParaRPr lang="es-ES"/>
          </a:p>
        </p:txBody>
      </p:sp>
    </p:spTree>
    <p:extLst>
      <p:ext uri="{BB962C8B-B14F-4D97-AF65-F5344CB8AC3E}">
        <p14:creationId xmlns:p14="http://schemas.microsoft.com/office/powerpoint/2010/main" val="1357225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www.freepik.es/autor/flaticon" TargetMode="External"/><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coinbase.com/es-la"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app.uniswap.or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gho.aave.com/fauce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31E3-2938-F70E-499F-07317A6E30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7DD579-F9FF-94AB-A540-CC1AA165EBD7}"/>
              </a:ext>
            </a:extLst>
          </p:cNvPr>
          <p:cNvSpPr>
            <a:spLocks noGrp="1"/>
          </p:cNvSpPr>
          <p:nvPr>
            <p:ph type="title"/>
          </p:nvPr>
        </p:nvSpPr>
        <p:spPr/>
        <p:txBody>
          <a:bodyPr/>
          <a:lstStyle/>
          <a:p>
            <a:r>
              <a:rPr lang="es-ES" dirty="0"/>
              <a:t>Repaso Día 4 (1ª parte)</a:t>
            </a:r>
          </a:p>
        </p:txBody>
      </p:sp>
      <p:sp>
        <p:nvSpPr>
          <p:cNvPr id="4" name="Marcador de contenido 2">
            <a:extLst>
              <a:ext uri="{FF2B5EF4-FFF2-40B4-BE49-F238E27FC236}">
                <a16:creationId xmlns:a16="http://schemas.microsoft.com/office/drawing/2014/main" id="{DE19143C-223E-D6AB-3A00-95565B7DEC93}"/>
              </a:ext>
            </a:extLst>
          </p:cNvPr>
          <p:cNvSpPr>
            <a:spLocks noGrp="1"/>
          </p:cNvSpPr>
          <p:nvPr>
            <p:ph idx="1"/>
          </p:nvPr>
        </p:nvSpPr>
        <p:spPr>
          <a:xfrm>
            <a:off x="838200" y="1825624"/>
            <a:ext cx="9766610" cy="4351338"/>
          </a:xfrm>
        </p:spPr>
        <p:txBody>
          <a:bodyPr>
            <a:normAutofit fontScale="55000" lnSpcReduction="20000"/>
          </a:bodyPr>
          <a:lstStyle/>
          <a:p>
            <a:pPr marL="0" indent="0">
              <a:buNone/>
            </a:pPr>
            <a:r>
              <a:rPr lang="es-ES" sz="2000" b="1"/>
              <a:t>Preguntas</a:t>
            </a:r>
          </a:p>
          <a:p>
            <a:r>
              <a:rPr lang="es-ES" sz="2000"/>
              <a:t>Las custodial wallets son más seguras porque permiten recuperar la clave con 12 palabras. ¿Verdadero o falso? Razona la respuesta.</a:t>
            </a:r>
          </a:p>
          <a:p>
            <a:r>
              <a:rPr lang="es-ES" sz="2000"/>
              <a:t>La non-custodial wallet elimina la intermedición de cualquier tercero y hace al usuario final responsable de todos los moviminetos. ¿Verdadero o falso? Razona la respuesta.</a:t>
            </a:r>
          </a:p>
          <a:p>
            <a:r>
              <a:rPr lang="es-ES" sz="2000"/>
              <a:t>Un smart contract es un programa que envía transacciones a la red blockchain. ¿Verdadero o falso? Razona la respuesta.</a:t>
            </a:r>
          </a:p>
          <a:p>
            <a:r>
              <a:rPr lang="es-ES" sz="2000"/>
              <a:t>¿Qué papel cumplen los mineros en la ejecución de un </a:t>
            </a:r>
            <a:r>
              <a:rPr lang="es-ES" sz="2000" i="1"/>
              <a:t>smart contract</a:t>
            </a:r>
            <a:r>
              <a:rPr lang="es-ES" sz="2000"/>
              <a:t>?</a:t>
            </a:r>
          </a:p>
          <a:p>
            <a:r>
              <a:rPr lang="es-ES" sz="2000"/>
              <a:t>¿Por qué Ethereum se considera pionera en </a:t>
            </a:r>
            <a:r>
              <a:rPr lang="es-ES" sz="2000" i="1"/>
              <a:t>smart contracts</a:t>
            </a:r>
            <a:r>
              <a:rPr lang="es-ES" sz="2000"/>
              <a:t>?</a:t>
            </a:r>
          </a:p>
          <a:p>
            <a:r>
              <a:rPr lang="es-ES" sz="2000"/>
              <a:t>¿Qué condiciones debe cumplirse para que un </a:t>
            </a:r>
            <a:r>
              <a:rPr lang="es-ES" sz="2000" i="1"/>
              <a:t>smart contract</a:t>
            </a:r>
            <a:r>
              <a:rPr lang="es-ES" sz="2000"/>
              <a:t> se ejecute automáticamente?</a:t>
            </a:r>
          </a:p>
          <a:p>
            <a:r>
              <a:rPr lang="es-ES" sz="2000"/>
              <a:t>¿Qué ocurre si un </a:t>
            </a:r>
            <a:r>
              <a:rPr lang="es-ES" sz="2000" i="1"/>
              <a:t>smart contract</a:t>
            </a:r>
            <a:r>
              <a:rPr lang="es-ES" sz="2000"/>
              <a:t> tiene un error en el código?</a:t>
            </a:r>
          </a:p>
          <a:p>
            <a:r>
              <a:rPr lang="es-ES" sz="2000"/>
              <a:t>¿Por qué la transparencia puede ser a la vez una fortaleza y una debilidad?</a:t>
            </a:r>
          </a:p>
          <a:p>
            <a:r>
              <a:rPr lang="es-ES" sz="2000"/>
              <a:t>¿Puede un Smart contract llamar a otro Smart contract?</a:t>
            </a:r>
          </a:p>
          <a:p>
            <a:r>
              <a:rPr lang="es-ES" sz="2000"/>
              <a:t>¿Qué papel cumplen los </a:t>
            </a:r>
            <a:r>
              <a:rPr lang="es-ES" sz="2000" i="1"/>
              <a:t>oráculos</a:t>
            </a:r>
            <a:r>
              <a:rPr lang="es-ES" sz="2000"/>
              <a:t> en los </a:t>
            </a:r>
            <a:r>
              <a:rPr lang="es-ES" sz="2000" i="1"/>
              <a:t>smart contracts</a:t>
            </a:r>
            <a:r>
              <a:rPr lang="es-ES" sz="2000"/>
              <a:t>?</a:t>
            </a:r>
          </a:p>
          <a:p>
            <a:r>
              <a:rPr lang="es-ES" sz="2000"/>
              <a:t>¿Dónde se guarda la calve privada del address en la que se despliega un Smart contract?</a:t>
            </a:r>
          </a:p>
          <a:p>
            <a:r>
              <a:rPr lang="es-ES" sz="2000"/>
              <a:t>¿Qué pasa si se pierde la clave privada del propietario del Smart contract?</a:t>
            </a:r>
          </a:p>
          <a:p>
            <a:r>
              <a:rPr lang="es-ES" sz="2000"/>
              <a:t>¿Por qué crees que los </a:t>
            </a:r>
            <a:r>
              <a:rPr lang="es-ES" sz="2000" i="1"/>
              <a:t>smart contracts</a:t>
            </a:r>
            <a:r>
              <a:rPr lang="es-ES" sz="2000"/>
              <a:t> no pueden acceder directamente a internet?</a:t>
            </a:r>
          </a:p>
          <a:p>
            <a:r>
              <a:rPr lang="es-ES" sz="2000"/>
              <a:t>¿Qué ventajas tiene probar un contrato en una red de test como Sepolia antes del despliegue real?</a:t>
            </a:r>
          </a:p>
          <a:p>
            <a:r>
              <a:rPr lang="es-ES" sz="2000"/>
              <a:t>¿Cómo garantizan los oráculos descentralizados (como Chainlink) la fiabilidad de los datos?</a:t>
            </a:r>
          </a:p>
          <a:p>
            <a:endParaRPr lang="es-ES" sz="2000"/>
          </a:p>
          <a:p>
            <a:endParaRPr lang="es-ES" sz="2000"/>
          </a:p>
          <a:p>
            <a:endParaRPr lang="es-ES" sz="2000"/>
          </a:p>
        </p:txBody>
      </p:sp>
    </p:spTree>
    <p:extLst>
      <p:ext uri="{BB962C8B-B14F-4D97-AF65-F5344CB8AC3E}">
        <p14:creationId xmlns:p14="http://schemas.microsoft.com/office/powerpoint/2010/main" val="1626143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F5B9-EBBF-798D-B7A7-35F4E14574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91CB2C-969F-8A4C-C963-37AA171BE84A}"/>
              </a:ext>
            </a:extLst>
          </p:cNvPr>
          <p:cNvSpPr>
            <a:spLocks noGrp="1"/>
          </p:cNvSpPr>
          <p:nvPr>
            <p:ph type="title"/>
          </p:nvPr>
        </p:nvSpPr>
        <p:spPr/>
        <p:txBody>
          <a:bodyPr/>
          <a:lstStyle/>
          <a:p>
            <a:r>
              <a:rPr lang="es-ES" dirty="0"/>
              <a:t>Repaso Día 4 (2ª parte)</a:t>
            </a:r>
          </a:p>
        </p:txBody>
      </p:sp>
      <p:sp>
        <p:nvSpPr>
          <p:cNvPr id="4" name="Marcador de contenido 2">
            <a:extLst>
              <a:ext uri="{FF2B5EF4-FFF2-40B4-BE49-F238E27FC236}">
                <a16:creationId xmlns:a16="http://schemas.microsoft.com/office/drawing/2014/main" id="{31C11CC7-E6BB-842B-CE01-6C45F96884C3}"/>
              </a:ext>
            </a:extLst>
          </p:cNvPr>
          <p:cNvSpPr>
            <a:spLocks noGrp="1"/>
          </p:cNvSpPr>
          <p:nvPr>
            <p:ph idx="1"/>
          </p:nvPr>
        </p:nvSpPr>
        <p:spPr>
          <a:xfrm>
            <a:off x="838200" y="1825624"/>
            <a:ext cx="9766610" cy="4351338"/>
          </a:xfrm>
        </p:spPr>
        <p:txBody>
          <a:bodyPr>
            <a:normAutofit fontScale="55000" lnSpcReduction="20000"/>
          </a:bodyPr>
          <a:lstStyle/>
          <a:p>
            <a:pPr marL="0" indent="0">
              <a:buNone/>
            </a:pPr>
            <a:r>
              <a:rPr lang="es-ES" sz="2000" b="1"/>
              <a:t>Preguntas</a:t>
            </a:r>
          </a:p>
          <a:p>
            <a:r>
              <a:rPr lang="es-ES" sz="2000"/>
              <a:t>Un elemento fungible es aquel que se puede intercarbiar por dinero en cualquier mercado. ¿Verdadero o falso? Razona la respuesta.</a:t>
            </a:r>
          </a:p>
          <a:p>
            <a:r>
              <a:rPr lang="es-ES" sz="2000"/>
              <a:t>Un NFT es un Nearly Funded Token y represente un contratr ERC20. ¿Verdadero o falso? Razona la respuesta.</a:t>
            </a:r>
          </a:p>
          <a:p>
            <a:r>
              <a:rPr lang="es-ES" sz="2000"/>
              <a:t>Ha elementos que pueden ser fungibles o no según características concretas que tengan. ¿Verdadero o falso? Razona la respuesta.</a:t>
            </a:r>
          </a:p>
          <a:p>
            <a:r>
              <a:rPr lang="es-ES" sz="2000"/>
              <a:t>Un ERC20 es un tipo de Smart contract que representa elementos fungibles. ¿Verdadero o falso? Razona la respuesta.</a:t>
            </a:r>
          </a:p>
          <a:p>
            <a:r>
              <a:rPr lang="es-ES" sz="2000"/>
              <a:t>Un ERC1155 se puede ver como una colección de ERC20. ¿Verdadero o falso? Razona la respuesta.</a:t>
            </a:r>
          </a:p>
          <a:p>
            <a:r>
              <a:rPr lang="es-ES" sz="2000"/>
              <a:t>La composabilidad es la capacidad de orquestar llamadas entre varios Smart Contracts en una sola transacción en un bloque. ¿Verdadero o falso? Razona la respuesta.</a:t>
            </a:r>
          </a:p>
          <a:p>
            <a:r>
              <a:rPr lang="es-ES" sz="2000"/>
              <a:t>Un ERC 721 representa una una lista de elementos fungibles. ¿Verdadero o falso? Razona la respuesta.</a:t>
            </a:r>
          </a:p>
          <a:p>
            <a:r>
              <a:rPr lang="es-ES" sz="2000"/>
              <a:t>La estructura de datos que sirve para representar un ERC20, un ERC721 o un ERC1155 es la misma, el mapping. ¿Verdadero o falso? Razona la respuesta.</a:t>
            </a:r>
          </a:p>
          <a:p>
            <a:r>
              <a:rPr lang="es-ES" sz="2000"/>
              <a:t>Un mapping es una lista en la que se asocia un valor a un índice único e irrepetible. ¿Verdadero o falso? Razona la respuesta.</a:t>
            </a:r>
          </a:p>
          <a:p>
            <a:r>
              <a:rPr lang="es-ES" sz="2000"/>
              <a:t>Los estándares más usados en Ethereum son el ERC20 (token funglible), ERC721 (token no fungible) y ERC1155 (token parciarlmente fungible). ¿Verdadero o falso? Razona la respuesta.</a:t>
            </a:r>
          </a:p>
          <a:p>
            <a:r>
              <a:rPr lang="es-ES" sz="2000"/>
              <a:t>Que un contrato siga un estándar significa que debe exponer una serie de funciones conocidas a las que cualquiera pueda llamar. ¿Verdadero o falso? Razona la respuesta.</a:t>
            </a:r>
          </a:p>
          <a:p>
            <a:r>
              <a:rPr lang="es-ES" sz="2000"/>
              <a:t>Un contrato proxy es un truco por el que cualquiera puede modificar Smart contracts ya desplegados en blockchain. ¿Verdadero o falso? Razona la respuesta.</a:t>
            </a:r>
          </a:p>
          <a:p>
            <a:r>
              <a:rPr lang="es-ES" sz="2000"/>
              <a:t>Explica los pros y contras de los contratos proxy.</a:t>
            </a:r>
          </a:p>
          <a:p>
            <a:r>
              <a:rPr lang="es-ES" sz="2000"/>
              <a:t>Igual que puedo mandar Ethers a un Smart Contract, puedo mandar tokens ERC20 a un Smart contract. ¿Verdadero o falso? Razona la respuesta.</a:t>
            </a:r>
          </a:p>
        </p:txBody>
      </p:sp>
    </p:spTree>
    <p:extLst>
      <p:ext uri="{BB962C8B-B14F-4D97-AF65-F5344CB8AC3E}">
        <p14:creationId xmlns:p14="http://schemas.microsoft.com/office/powerpoint/2010/main" val="457627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14DDD-E7FD-0EE4-516D-58658E015B3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9F35D2-5971-395B-6E85-3ACB0203C0EE}"/>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9BE95264-0FDE-893B-1200-C72EFA26F25A}"/>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Tokenización</a:t>
            </a:r>
          </a:p>
          <a:p>
            <a:pPr marL="0" indent="0" algn="ctr">
              <a:buNone/>
            </a:pPr>
            <a:endParaRPr lang="es-ES" sz="8800"/>
          </a:p>
        </p:txBody>
      </p:sp>
    </p:spTree>
    <p:extLst>
      <p:ext uri="{BB962C8B-B14F-4D97-AF65-F5344CB8AC3E}">
        <p14:creationId xmlns:p14="http://schemas.microsoft.com/office/powerpoint/2010/main" val="2057274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SzPts val="1800"/>
              <a:buNone/>
            </a:pPr>
            <a:r>
              <a:rPr lang="es-ES" sz="1600" dirty="0">
                <a:solidFill>
                  <a:srgbClr val="22627E"/>
                </a:solidFill>
              </a:rPr>
              <a:t>La </a:t>
            </a:r>
            <a:r>
              <a:rPr lang="es-ES" sz="1600" dirty="0" err="1">
                <a:solidFill>
                  <a:srgbClr val="22627E"/>
                </a:solidFill>
              </a:rPr>
              <a:t>tokenización</a:t>
            </a:r>
            <a:r>
              <a:rPr lang="es-ES" sz="1600" dirty="0">
                <a:solidFill>
                  <a:srgbClr val="22627E"/>
                </a:solidFill>
              </a:rPr>
              <a:t> de activos implica la representación digital de activos reales en registros distribuidos o la emisión de activos tradicionales en formato </a:t>
            </a:r>
            <a:r>
              <a:rPr lang="es-ES" sz="1600" dirty="0" err="1">
                <a:solidFill>
                  <a:srgbClr val="22627E"/>
                </a:solidFill>
              </a:rPr>
              <a:t>tokenizado</a:t>
            </a:r>
            <a:r>
              <a:rPr lang="en-US" sz="1600" dirty="0">
                <a:solidFill>
                  <a:srgbClr val="22627E"/>
                </a:solidFill>
              </a:rPr>
              <a:t>. </a:t>
            </a:r>
            <a:r>
              <a:rPr lang="es-ES" sz="1600" dirty="0">
                <a:solidFill>
                  <a:srgbClr val="22627E"/>
                </a:solidFill>
              </a:rPr>
              <a:t>El potencial de la </a:t>
            </a:r>
            <a:r>
              <a:rPr lang="es-ES" sz="1600" dirty="0" err="1">
                <a:solidFill>
                  <a:srgbClr val="22627E"/>
                </a:solidFill>
              </a:rPr>
              <a:t>tokenización</a:t>
            </a:r>
            <a:r>
              <a:rPr lang="es-ES" sz="1600" dirty="0">
                <a:solidFill>
                  <a:srgbClr val="22627E"/>
                </a:solidFill>
              </a:rPr>
              <a:t> de activos es teóricamente ilimitado, ya que cualquier activo real puede, supuestamente, incorporarse a la cadena de bloques.</a:t>
            </a:r>
            <a:endParaRPr lang="en-US" sz="1600" dirty="0">
              <a:solidFill>
                <a:srgbClr val="22627E"/>
              </a:solidFill>
            </a:endParaRPr>
          </a:p>
          <a:p>
            <a:pPr marL="0" marR="0" lvl="0" indent="0" algn="l" rtl="0">
              <a:lnSpc>
                <a:spcPct val="90000"/>
              </a:lnSpc>
              <a:spcBef>
                <a:spcPts val="0"/>
              </a:spcBef>
              <a:spcAft>
                <a:spcPts val="0"/>
              </a:spcAft>
              <a:buSzPts val="1800"/>
              <a:buNone/>
            </a:pPr>
            <a:endParaRPr lang="en-US" sz="1600" dirty="0">
              <a:solidFill>
                <a:srgbClr val="22627E"/>
              </a:solidFill>
            </a:endParaRPr>
          </a:p>
          <a:p>
            <a:pPr marL="0" marR="0" lvl="0" indent="0" algn="l" rtl="0">
              <a:lnSpc>
                <a:spcPct val="90000"/>
              </a:lnSpc>
              <a:spcBef>
                <a:spcPts val="0"/>
              </a:spcBef>
              <a:spcAft>
                <a:spcPts val="0"/>
              </a:spcAft>
              <a:buSzPts val="1800"/>
              <a:buNone/>
            </a:pPr>
            <a:endParaRPr lang="en-US" sz="2000" b="1" i="0" u="none" dirty="0">
              <a:solidFill>
                <a:srgbClr val="22627E"/>
              </a:solidFill>
              <a:latin typeface="Roboto"/>
              <a:ea typeface="Roboto"/>
              <a:cs typeface="Roboto"/>
              <a:sym typeface="Roboto"/>
            </a:endParaRPr>
          </a:p>
        </p:txBody>
      </p:sp>
      <p:sp>
        <p:nvSpPr>
          <p:cNvPr id="6" name="Rectángulo redondeado 5">
            <a:extLst>
              <a:ext uri="{FF2B5EF4-FFF2-40B4-BE49-F238E27FC236}">
                <a16:creationId xmlns:a16="http://schemas.microsoft.com/office/drawing/2014/main" id="{A8E858B1-4632-EEA7-771D-094CD50BC62A}"/>
              </a:ext>
            </a:extLst>
          </p:cNvPr>
          <p:cNvSpPr/>
          <p:nvPr/>
        </p:nvSpPr>
        <p:spPr>
          <a:xfrm>
            <a:off x="720800" y="2905767"/>
            <a:ext cx="4687747" cy="439838"/>
          </a:xfrm>
          <a:prstGeom prst="roundRect">
            <a:avLst/>
          </a:prstGeom>
          <a:solidFill>
            <a:sysClr val="window" lastClr="FFFFFF"/>
          </a:solidFill>
          <a:ln w="25400" cap="flat" cmpd="sng" algn="ctr">
            <a:noFill/>
            <a:prstDash val="solid"/>
          </a:ln>
          <a:effectLst>
            <a:glow rad="63500">
              <a:sysClr val="window" lastClr="FFFFFF">
                <a:lumMod val="85000"/>
                <a:alpha val="40000"/>
              </a:sysClr>
            </a:glow>
          </a:effectLst>
        </p:spPr>
        <p:txBody>
          <a:bodyPr rtlCol="0" anchor="ctr"/>
          <a:lstStyle/>
          <a:p>
            <a:pPr marL="0" marR="0" lvl="0" indent="0" algn="ctr" defTabSz="914400" eaLnBrk="1" fontAlgn="auto" latinLnBrk="0" hangingPunct="1">
              <a:lnSpc>
                <a:spcPct val="100000"/>
              </a:lnSpc>
              <a:spcBef>
                <a:spcPts val="300"/>
              </a:spcBef>
              <a:spcAft>
                <a:spcPts val="300"/>
              </a:spcAft>
              <a:buClr>
                <a:srgbClr val="9D3566"/>
              </a:buClr>
              <a:buSzPct val="70000"/>
              <a:buFontTx/>
              <a:buNone/>
              <a:tabLst/>
              <a:defRPr/>
            </a:pPr>
            <a:r>
              <a:rPr kumimoji="0" lang="es-ES" sz="1400" b="1" i="0" u="none" strike="noStrike" kern="1200" cap="none" spc="0" normalizeH="0" baseline="0" noProof="0" dirty="0">
                <a:ln>
                  <a:noFill/>
                </a:ln>
                <a:solidFill>
                  <a:prstClr val="black"/>
                </a:solidFill>
                <a:effectLst/>
                <a:uLnTx/>
                <a:uFillTx/>
                <a:latin typeface="Santander Text" panose="020B0504020201020104" pitchFamily="34" charset="77"/>
                <a:ea typeface="+mn-ea"/>
                <a:cs typeface="+mn-cs"/>
              </a:rPr>
              <a:t>Tokens que representan un activo real </a:t>
            </a:r>
            <a:endParaRPr kumimoji="0" lang="en-GB" sz="1400" b="1" i="0" u="none" strike="noStrike" kern="1200" cap="none" spc="0" normalizeH="0" baseline="0" noProof="0" dirty="0">
              <a:ln>
                <a:noFill/>
              </a:ln>
              <a:solidFill>
                <a:prstClr val="black"/>
              </a:solidFill>
              <a:effectLst/>
              <a:uLnTx/>
              <a:uFillTx/>
              <a:latin typeface="Santander Text" panose="020B0504020201020104" pitchFamily="34" charset="77"/>
              <a:ea typeface="+mn-ea"/>
              <a:cs typeface="+mn-cs"/>
            </a:endParaRPr>
          </a:p>
        </p:txBody>
      </p:sp>
      <p:sp>
        <p:nvSpPr>
          <p:cNvPr id="8" name="Rectángulo redondeado 5">
            <a:extLst>
              <a:ext uri="{FF2B5EF4-FFF2-40B4-BE49-F238E27FC236}">
                <a16:creationId xmlns:a16="http://schemas.microsoft.com/office/drawing/2014/main" id="{DC09BC5B-50ED-16F4-465A-0FCF9BB67CAB}"/>
              </a:ext>
            </a:extLst>
          </p:cNvPr>
          <p:cNvSpPr/>
          <p:nvPr/>
        </p:nvSpPr>
        <p:spPr>
          <a:xfrm>
            <a:off x="6194230" y="2905767"/>
            <a:ext cx="4687747" cy="439838"/>
          </a:xfrm>
          <a:prstGeom prst="roundRect">
            <a:avLst/>
          </a:prstGeom>
          <a:solidFill>
            <a:sysClr val="window" lastClr="FFFFFF"/>
          </a:solidFill>
          <a:ln w="25400" cap="flat" cmpd="sng" algn="ctr">
            <a:noFill/>
            <a:prstDash val="solid"/>
          </a:ln>
          <a:effectLst>
            <a:glow rad="63500">
              <a:sysClr val="window" lastClr="FFFFFF">
                <a:lumMod val="85000"/>
                <a:alpha val="40000"/>
              </a:sysClr>
            </a:glow>
          </a:effectLst>
        </p:spPr>
        <p:txBody>
          <a:bodyPr rtlCol="0" anchor="ctr"/>
          <a:lstStyle/>
          <a:p>
            <a:pPr marL="0" marR="0" lvl="0" indent="0" algn="ctr" defTabSz="914400" eaLnBrk="1" fontAlgn="auto" latinLnBrk="0" hangingPunct="1">
              <a:lnSpc>
                <a:spcPct val="100000"/>
              </a:lnSpc>
              <a:spcBef>
                <a:spcPts val="300"/>
              </a:spcBef>
              <a:spcAft>
                <a:spcPts val="300"/>
              </a:spcAft>
              <a:buClr>
                <a:srgbClr val="9D3566"/>
              </a:buClr>
              <a:buSzPct val="70000"/>
              <a:buFontTx/>
              <a:buNone/>
              <a:tabLst/>
              <a:defRPr/>
            </a:pPr>
            <a:r>
              <a:rPr kumimoji="0" lang="es-ES" sz="1400" b="1" i="0" u="none" strike="noStrike" kern="1200" cap="none" spc="0" normalizeH="0" baseline="0" noProof="0" dirty="0">
                <a:ln>
                  <a:noFill/>
                </a:ln>
                <a:solidFill>
                  <a:prstClr val="black"/>
                </a:solidFill>
                <a:effectLst/>
                <a:uLnTx/>
                <a:uFillTx/>
                <a:latin typeface="Santander Text" panose="020B0504020201020104" pitchFamily="34" charset="77"/>
                <a:ea typeface="+mn-ea"/>
                <a:cs typeface="+mn-cs"/>
              </a:rPr>
              <a:t>Tokens Nativos, no representan un activo real </a:t>
            </a:r>
            <a:endParaRPr kumimoji="0" lang="en-GB" sz="1400" b="1" i="0" u="none" strike="noStrike" kern="1200" cap="none" spc="0" normalizeH="0" baseline="0" noProof="0" dirty="0">
              <a:ln>
                <a:noFill/>
              </a:ln>
              <a:solidFill>
                <a:prstClr val="black"/>
              </a:solidFill>
              <a:effectLst/>
              <a:uLnTx/>
              <a:uFillTx/>
              <a:latin typeface="Santander Text" panose="020B0504020201020104" pitchFamily="34" charset="77"/>
              <a:ea typeface="+mn-ea"/>
              <a:cs typeface="+mn-cs"/>
            </a:endParaRPr>
          </a:p>
        </p:txBody>
      </p:sp>
      <p:pic>
        <p:nvPicPr>
          <p:cNvPr id="9" name="Picture 2" descr="Ilustración de concepto abstracto de aplicación descentralizada">
            <a:extLst>
              <a:ext uri="{FF2B5EF4-FFF2-40B4-BE49-F238E27FC236}">
                <a16:creationId xmlns:a16="http://schemas.microsoft.com/office/drawing/2014/main" id="{A9500C98-5482-F72D-034B-F410A6A02F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7941" y="3474695"/>
            <a:ext cx="1964827" cy="1964827"/>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B80963C0-6284-DE10-1526-134D741241B4}"/>
              </a:ext>
            </a:extLst>
          </p:cNvPr>
          <p:cNvSpPr/>
          <p:nvPr/>
        </p:nvSpPr>
        <p:spPr>
          <a:xfrm>
            <a:off x="425154" y="3591584"/>
            <a:ext cx="5375200" cy="2354491"/>
          </a:xfrm>
          <a:prstGeom prst="rect">
            <a:avLst/>
          </a:prstGeom>
        </p:spPr>
        <p:txBody>
          <a:bodyPr wrap="square">
            <a:spAutoFit/>
          </a:bodyPr>
          <a:lstStyle/>
          <a:p>
            <a:pPr marL="285750"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Existen y se negocian tanto dentro como fuera de la cadena.</a:t>
            </a:r>
          </a:p>
          <a:p>
            <a:pPr marL="285750"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Algunos ejemplos de activos:</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Activos financieros (valores) y </a:t>
            </a:r>
            <a:r>
              <a:rPr lang="es-ES" sz="1400" kern="1200" dirty="0" err="1">
                <a:solidFill>
                  <a:schemeClr val="tx1">
                    <a:lumMod val="75000"/>
                    <a:lumOff val="25000"/>
                  </a:schemeClr>
                </a:solidFill>
                <a:latin typeface="Santander Text" panose="020B0504020201020104" pitchFamily="34" charset="77"/>
                <a:ea typeface="+mn-ea"/>
                <a:cs typeface="+mn-cs"/>
              </a:rPr>
              <a:t>STOs</a:t>
            </a:r>
            <a:endParaRPr lang="es-ES" sz="1400" kern="1200" dirty="0">
              <a:solidFill>
                <a:schemeClr val="tx1">
                  <a:lumMod val="75000"/>
                  <a:lumOff val="25000"/>
                </a:schemeClr>
              </a:solidFill>
              <a:latin typeface="Santander Text" panose="020B0504020201020104" pitchFamily="34" charset="77"/>
              <a:ea typeface="+mn-ea"/>
              <a:cs typeface="+mn-cs"/>
            </a:endParaRP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Activos no financieros (p. ej., bienes raíces, arte)</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Materias primas (p. ej., oro)</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En teoría: todo</a:t>
            </a:r>
          </a:p>
          <a:p>
            <a:pPr marL="285750" indent="-285750">
              <a:spcBef>
                <a:spcPts val="300"/>
              </a:spcBef>
              <a:spcAft>
                <a:spcPts val="300"/>
              </a:spcAft>
              <a:buClr>
                <a:srgbClr val="9D3566"/>
              </a:buClr>
              <a:buSzPct val="70000"/>
              <a:buFont typeface="Arial" panose="020B0604020202020204" pitchFamily="34" charset="0"/>
              <a:buChar char="•"/>
            </a:pPr>
            <a:endParaRPr lang="es-ES" sz="1400" kern="1200" dirty="0">
              <a:solidFill>
                <a:schemeClr val="tx1">
                  <a:lumMod val="75000"/>
                  <a:lumOff val="25000"/>
                </a:schemeClr>
              </a:solidFill>
              <a:latin typeface="Santander Text" panose="020B0504020201020104" pitchFamily="34" charset="77"/>
              <a:ea typeface="+mn-ea"/>
              <a:cs typeface="+mn-cs"/>
            </a:endParaRPr>
          </a:p>
          <a:p>
            <a:pPr marL="285750"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Respaldados por activos reales que existen fuera del libro contable</a:t>
            </a:r>
            <a:endParaRPr lang="en-GB" sz="1400" kern="1200" dirty="0">
              <a:solidFill>
                <a:schemeClr val="tx1">
                  <a:lumMod val="75000"/>
                  <a:lumOff val="25000"/>
                </a:schemeClr>
              </a:solidFill>
              <a:latin typeface="Santander Text" panose="020B0504020201020104" pitchFamily="34" charset="77"/>
              <a:ea typeface="+mn-ea"/>
              <a:cs typeface="+mn-cs"/>
            </a:endParaRPr>
          </a:p>
        </p:txBody>
      </p:sp>
      <p:sp>
        <p:nvSpPr>
          <p:cNvPr id="11" name="Rectángulo 10">
            <a:extLst>
              <a:ext uri="{FF2B5EF4-FFF2-40B4-BE49-F238E27FC236}">
                <a16:creationId xmlns:a16="http://schemas.microsoft.com/office/drawing/2014/main" id="{CAC4F5DF-9FF3-B64C-494F-3AE9B9F8CFE5}"/>
              </a:ext>
            </a:extLst>
          </p:cNvPr>
          <p:cNvSpPr/>
          <p:nvPr/>
        </p:nvSpPr>
        <p:spPr>
          <a:xfrm>
            <a:off x="6391646" y="3541974"/>
            <a:ext cx="5375200" cy="2354491"/>
          </a:xfrm>
          <a:prstGeom prst="rect">
            <a:avLst/>
          </a:prstGeom>
        </p:spPr>
        <p:txBody>
          <a:bodyPr wrap="square">
            <a:spAutoFit/>
          </a:bodyPr>
          <a:lstStyle/>
          <a:p>
            <a:pPr marL="285750"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Existen y se negocian </a:t>
            </a:r>
            <a:r>
              <a:rPr lang="es-ES" sz="1400" kern="1200" dirty="0" err="1">
                <a:solidFill>
                  <a:schemeClr val="tx1">
                    <a:lumMod val="75000"/>
                    <a:lumOff val="25000"/>
                  </a:schemeClr>
                </a:solidFill>
                <a:latin typeface="Santander Text" panose="020B0504020201020104" pitchFamily="34" charset="77"/>
                <a:ea typeface="+mn-ea"/>
                <a:cs typeface="+mn-cs"/>
              </a:rPr>
              <a:t>on-chain</a:t>
            </a:r>
            <a:r>
              <a:rPr lang="es-ES" sz="1400" kern="1200" dirty="0">
                <a:solidFill>
                  <a:schemeClr val="tx1">
                    <a:lumMod val="75000"/>
                    <a:lumOff val="25000"/>
                  </a:schemeClr>
                </a:solidFill>
                <a:latin typeface="Santander Text" panose="020B0504020201020104" pitchFamily="34" charset="77"/>
                <a:ea typeface="+mn-ea"/>
                <a:cs typeface="+mn-cs"/>
              </a:rPr>
              <a:t>.</a:t>
            </a:r>
          </a:p>
          <a:p>
            <a:pPr marL="285750"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Algunos ejemplos de tokens:</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Tokens de utilidad e ICO</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Tokens de gobernanza</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Tokens sociales</a:t>
            </a:r>
          </a:p>
          <a:p>
            <a:pPr marL="285750" indent="-285750">
              <a:spcBef>
                <a:spcPts val="300"/>
              </a:spcBef>
              <a:spcAft>
                <a:spcPts val="300"/>
              </a:spcAft>
              <a:buClr>
                <a:srgbClr val="9D3566"/>
              </a:buClr>
              <a:buSzPct val="70000"/>
              <a:buFont typeface="Arial" panose="020B0604020202020204" pitchFamily="34" charset="0"/>
              <a:buChar char="•"/>
            </a:pPr>
            <a:endParaRPr lang="es-ES" sz="1400" kern="1200" dirty="0">
              <a:solidFill>
                <a:schemeClr val="tx1">
                  <a:lumMod val="75000"/>
                  <a:lumOff val="25000"/>
                </a:schemeClr>
              </a:solidFill>
              <a:latin typeface="Santander Text" panose="020B0504020201020104" pitchFamily="34" charset="77"/>
              <a:ea typeface="+mn-ea"/>
              <a:cs typeface="+mn-cs"/>
            </a:endParaRPr>
          </a:p>
          <a:p>
            <a:pPr marL="285750"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Se definen por su existencia en el libro mayor.</a:t>
            </a:r>
          </a:p>
          <a:p>
            <a:pPr marL="742950" lvl="1" indent="-285750">
              <a:spcBef>
                <a:spcPts val="300"/>
              </a:spcBef>
              <a:spcAft>
                <a:spcPts val="300"/>
              </a:spcAft>
              <a:buClr>
                <a:srgbClr val="9D3566"/>
              </a:buClr>
              <a:buSzPct val="70000"/>
              <a:buFont typeface="Arial" panose="020B0604020202020204" pitchFamily="34" charset="0"/>
              <a:buChar char="•"/>
            </a:pPr>
            <a:r>
              <a:rPr lang="es-ES" sz="1400" kern="1200" dirty="0">
                <a:solidFill>
                  <a:schemeClr val="tx1">
                    <a:lumMod val="75000"/>
                    <a:lumOff val="25000"/>
                  </a:schemeClr>
                </a:solidFill>
                <a:latin typeface="Santander Text" panose="020B0504020201020104" pitchFamily="34" charset="77"/>
                <a:ea typeface="+mn-ea"/>
                <a:cs typeface="+mn-cs"/>
              </a:rPr>
              <a:t>Son independientes de los mercados tradicionales.</a:t>
            </a:r>
            <a:endParaRPr lang="en-GB" sz="1400" kern="1200" dirty="0">
              <a:solidFill>
                <a:schemeClr val="tx1">
                  <a:lumMod val="75000"/>
                  <a:lumOff val="25000"/>
                </a:schemeClr>
              </a:solidFill>
              <a:latin typeface="Santander Text" panose="020B0504020201020104" pitchFamily="34" charset="77"/>
              <a:ea typeface="+mn-ea"/>
              <a:cs typeface="+mn-cs"/>
            </a:endParaRPr>
          </a:p>
        </p:txBody>
      </p:sp>
      <p:sp>
        <p:nvSpPr>
          <p:cNvPr id="2" name="Título 1">
            <a:extLst>
              <a:ext uri="{FF2B5EF4-FFF2-40B4-BE49-F238E27FC236}">
                <a16:creationId xmlns:a16="http://schemas.microsoft.com/office/drawing/2014/main" id="{7CF2CD76-14B0-1279-09CF-F4F7577021CD}"/>
              </a:ext>
            </a:extLst>
          </p:cNvPr>
          <p:cNvSpPr>
            <a:spLocks noGrp="1"/>
          </p:cNvSpPr>
          <p:nvPr>
            <p:ph type="title"/>
          </p:nvPr>
        </p:nvSpPr>
        <p:spPr>
          <a:xfrm>
            <a:off x="671500" y="249143"/>
            <a:ext cx="10515600" cy="1325563"/>
          </a:xfrm>
        </p:spPr>
        <p:txBody>
          <a:bodyPr/>
          <a:lstStyle/>
          <a:p>
            <a:r>
              <a:rPr lang="es-ES"/>
              <a:t>¿Qué es la tokenización?</a:t>
            </a:r>
            <a:endParaRPr lang="es-E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7E4ACB3-8CBD-59BD-48DB-9593CCEAB07B}"/>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8159E521-AACE-39EB-F1E6-6E1EDF642C18}"/>
              </a:ext>
            </a:extLst>
          </p:cNvPr>
          <p:cNvSpPr/>
          <p:nvPr/>
        </p:nvSpPr>
        <p:spPr>
          <a:xfrm>
            <a:off x="697293" y="3645964"/>
            <a:ext cx="2063195" cy="1338828"/>
          </a:xfrm>
          <a:prstGeom prst="rect">
            <a:avLst/>
          </a:prstGeom>
        </p:spPr>
        <p:txBody>
          <a:bodyPr wrap="square">
            <a:spAutoFit/>
          </a:bodyPr>
          <a:lstStyle/>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a:ln>
                  <a:noFill/>
                </a:ln>
                <a:solidFill>
                  <a:schemeClr val="tx1">
                    <a:lumMod val="75000"/>
                    <a:lumOff val="25000"/>
                  </a:schemeClr>
                </a:solidFill>
                <a:effectLst/>
                <a:uLnTx/>
                <a:uFillTx/>
                <a:latin typeface="Santander Text" panose="020B0504020201020104" pitchFamily="34" charset="77"/>
                <a:ea typeface="+mn-ea"/>
                <a:cs typeface="+mn-cs"/>
              </a:rPr>
              <a:t>Fiat backed </a:t>
            </a:r>
            <a:r>
              <a:rPr kumimoji="0" lang="en-GB" sz="1100" b="0" i="0" u="none" strike="noStrike" kern="1200" cap="none" spc="0" normalizeH="0" baseline="0" err="1">
                <a:ln>
                  <a:noFill/>
                </a:ln>
                <a:solidFill>
                  <a:schemeClr val="tx1">
                    <a:lumMod val="75000"/>
                    <a:lumOff val="25000"/>
                  </a:schemeClr>
                </a:solidFill>
                <a:effectLst/>
                <a:uLnTx/>
                <a:uFillTx/>
                <a:latin typeface="Santander Text" panose="020B0504020201020104" pitchFamily="34" charset="77"/>
                <a:ea typeface="+mn-ea"/>
                <a:cs typeface="+mn-cs"/>
              </a:rPr>
              <a:t>Stablecoins</a:t>
            </a:r>
            <a:endParaRPr kumimoji="0" lang="en-GB" sz="1100" b="0" i="0" u="none" strike="noStrike" kern="1200" cap="none" spc="0" normalizeH="0" baseline="0">
              <a:ln>
                <a:noFill/>
              </a:ln>
              <a:solidFill>
                <a:schemeClr val="tx1">
                  <a:lumMod val="75000"/>
                  <a:lumOff val="25000"/>
                </a:schemeClr>
              </a:solidFill>
              <a:effectLst/>
              <a:uLnTx/>
              <a:uFillTx/>
              <a:latin typeface="Santander Text" panose="020B0504020201020104" pitchFamily="34" charset="77"/>
              <a:ea typeface="+mn-ea"/>
              <a:cs typeface="+mn-cs"/>
            </a:endParaRP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Central Bank Digital Currencies (CBDCs)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Reserves Backed Digital Currencies (RBDCs)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a:t>
            </a:r>
          </a:p>
        </p:txBody>
      </p:sp>
      <p:sp>
        <p:nvSpPr>
          <p:cNvPr id="5" name="Rectángulo 4">
            <a:extLst>
              <a:ext uri="{FF2B5EF4-FFF2-40B4-BE49-F238E27FC236}">
                <a16:creationId xmlns:a16="http://schemas.microsoft.com/office/drawing/2014/main" id="{F7416138-CE9E-4B88-7764-93A1C37C1A31}"/>
              </a:ext>
            </a:extLst>
          </p:cNvPr>
          <p:cNvSpPr/>
          <p:nvPr/>
        </p:nvSpPr>
        <p:spPr>
          <a:xfrm>
            <a:off x="3385681" y="3619122"/>
            <a:ext cx="2353569" cy="1985159"/>
          </a:xfrm>
          <a:prstGeom prst="rect">
            <a:avLst/>
          </a:prstGeom>
        </p:spPr>
        <p:txBody>
          <a:bodyPr wrap="square">
            <a:spAutoFit/>
          </a:bodyPr>
          <a:lstStyle/>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dirty="0" err="1">
                <a:ln>
                  <a:noFill/>
                </a:ln>
                <a:solidFill>
                  <a:schemeClr val="tx1">
                    <a:lumMod val="75000"/>
                    <a:lumOff val="25000"/>
                  </a:schemeClr>
                </a:solidFill>
                <a:effectLst/>
                <a:uLnTx/>
                <a:uFillTx/>
                <a:latin typeface="Santander Text" panose="020B0504020201020104" pitchFamily="34" charset="77"/>
                <a:ea typeface="+mn-ea"/>
                <a:cs typeface="+mn-cs"/>
              </a:rPr>
              <a:t>Licencias</a:t>
            </a:r>
            <a:endPar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endParaRPr>
          </a:p>
          <a:p>
            <a:pPr marL="285750" lvl="0" indent="-285750">
              <a:spcBef>
                <a:spcPts val="300"/>
              </a:spcBef>
              <a:spcAft>
                <a:spcPts val="300"/>
              </a:spcAft>
              <a:buClr>
                <a:srgbClr val="9D3566"/>
              </a:buClr>
              <a:buSzPct val="70000"/>
              <a:buFont typeface="Arial" panose="020B0604020202020204" pitchFamily="34" charset="0"/>
              <a:buChar char="•"/>
              <a:defRPr/>
            </a:pPr>
            <a:r>
              <a:rPr lang="en-GB" sz="1100" dirty="0" err="1">
                <a:solidFill>
                  <a:schemeClr val="tx1">
                    <a:lumMod val="75000"/>
                    <a:lumOff val="25000"/>
                  </a:schemeClr>
                </a:solidFill>
                <a:latin typeface="Santander Text" panose="020B0504020201020104" pitchFamily="34" charset="77"/>
              </a:rPr>
              <a:t>Derechos</a:t>
            </a:r>
            <a:r>
              <a:rPr lang="en-GB" sz="1100" dirty="0">
                <a:solidFill>
                  <a:schemeClr val="tx1">
                    <a:lumMod val="75000"/>
                    <a:lumOff val="25000"/>
                  </a:schemeClr>
                </a:solidFill>
                <a:latin typeface="Santander Text" panose="020B0504020201020104" pitchFamily="34" charset="77"/>
              </a:rPr>
              <a:t> </a:t>
            </a:r>
          </a:p>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rPr>
              <a:t>Trademarks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dirty="0">
                <a:solidFill>
                  <a:schemeClr val="tx1">
                    <a:lumMod val="75000"/>
                    <a:lumOff val="25000"/>
                  </a:schemeClr>
                </a:solidFill>
                <a:latin typeface="Santander Text" panose="020B0504020201020104" pitchFamily="34" charset="77"/>
              </a:rPr>
              <a:t>Copyright</a:t>
            </a:r>
          </a:p>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rPr>
              <a:t>Royalties</a:t>
            </a:r>
            <a:endParaRPr lang="es-ES" sz="1100" dirty="0">
              <a:solidFill>
                <a:schemeClr val="tx1">
                  <a:lumMod val="75000"/>
                  <a:lumOff val="25000"/>
                </a:schemeClr>
              </a:solidFill>
              <a:latin typeface="Santander Text" panose="020B0504020201020104" pitchFamily="34" charset="77"/>
            </a:endParaRPr>
          </a:p>
          <a:p>
            <a:pPr marL="285750" lvl="0" indent="-285750">
              <a:spcBef>
                <a:spcPts val="300"/>
              </a:spcBef>
              <a:spcAft>
                <a:spcPts val="300"/>
              </a:spcAft>
              <a:buClr>
                <a:srgbClr val="9D3566"/>
              </a:buClr>
              <a:buSzPct val="70000"/>
              <a:buFont typeface="Arial" panose="020B0604020202020204" pitchFamily="34" charset="0"/>
              <a:buChar char="•"/>
              <a:defRPr/>
            </a:pPr>
            <a:r>
              <a:rPr lang="es-ES" sz="1100" dirty="0">
                <a:solidFill>
                  <a:schemeClr val="tx1">
                    <a:lumMod val="75000"/>
                    <a:lumOff val="25000"/>
                  </a:schemeClr>
                </a:solidFill>
                <a:latin typeface="Santander Text" panose="020B0504020201020104" pitchFamily="34" charset="77"/>
              </a:rPr>
              <a:t>Propiedad intelectual</a:t>
            </a:r>
          </a:p>
          <a:p>
            <a:pPr marL="285750" lvl="0" indent="-285750">
              <a:spcBef>
                <a:spcPts val="300"/>
              </a:spcBef>
              <a:spcAft>
                <a:spcPts val="300"/>
              </a:spcAft>
              <a:buClr>
                <a:srgbClr val="9D3566"/>
              </a:buClr>
              <a:buSzPct val="70000"/>
              <a:buFont typeface="Arial" panose="020B0604020202020204" pitchFamily="34" charset="0"/>
              <a:buChar char="•"/>
              <a:defRPr/>
            </a:pPr>
            <a:r>
              <a:rPr lang="es-ES" sz="1100" dirty="0">
                <a:solidFill>
                  <a:schemeClr val="tx1">
                    <a:lumMod val="75000"/>
                    <a:lumOff val="25000"/>
                  </a:schemeClr>
                </a:solidFill>
                <a:latin typeface="Santander Text" panose="020B0504020201020104" pitchFamily="34" charset="77"/>
              </a:rPr>
              <a:t>Patentes</a:t>
            </a:r>
          </a:p>
          <a:p>
            <a:pPr marL="285750" lvl="0" indent="-285750">
              <a:spcBef>
                <a:spcPts val="300"/>
              </a:spcBef>
              <a:spcAft>
                <a:spcPts val="300"/>
              </a:spcAft>
              <a:buClr>
                <a:srgbClr val="9D3566"/>
              </a:buClr>
              <a:buSzPct val="70000"/>
              <a:buFont typeface="Arial" panose="020B0604020202020204" pitchFamily="34" charset="0"/>
              <a:buChar char="•"/>
              <a:defRPr/>
            </a:pPr>
            <a:r>
              <a:rPr lang="es-ES" sz="1100" dirty="0">
                <a:solidFill>
                  <a:schemeClr val="tx1">
                    <a:lumMod val="75000"/>
                    <a:lumOff val="25000"/>
                  </a:schemeClr>
                </a:solidFill>
                <a:latin typeface="Santander Text" panose="020B0504020201020104" pitchFamily="34" charset="77"/>
              </a:rPr>
              <a:t>Acceso a productos/servicios</a:t>
            </a:r>
            <a:endPar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endParaRPr>
          </a:p>
        </p:txBody>
      </p:sp>
      <p:sp>
        <p:nvSpPr>
          <p:cNvPr id="7" name="Rectángulo 6">
            <a:extLst>
              <a:ext uri="{FF2B5EF4-FFF2-40B4-BE49-F238E27FC236}">
                <a16:creationId xmlns:a16="http://schemas.microsoft.com/office/drawing/2014/main" id="{F655D47A-A0DC-F60F-D316-80C608939C30}"/>
              </a:ext>
            </a:extLst>
          </p:cNvPr>
          <p:cNvSpPr/>
          <p:nvPr/>
        </p:nvSpPr>
        <p:spPr>
          <a:xfrm>
            <a:off x="6017711" y="3683871"/>
            <a:ext cx="1914939" cy="1492716"/>
          </a:xfrm>
          <a:prstGeom prst="rect">
            <a:avLst/>
          </a:prstGeom>
        </p:spPr>
        <p:txBody>
          <a:bodyPr wrap="square">
            <a:spAutoFit/>
          </a:bodyPr>
          <a:lstStyle/>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rPr>
              <a:t>Commodities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dirty="0">
                <a:solidFill>
                  <a:schemeClr val="tx1">
                    <a:lumMod val="75000"/>
                    <a:lumOff val="25000"/>
                  </a:schemeClr>
                </a:solidFill>
                <a:latin typeface="Santander Text" panose="020B0504020201020104" pitchFamily="34" charset="77"/>
              </a:rPr>
              <a:t>Consumibles</a:t>
            </a:r>
          </a:p>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dirty="0" err="1">
                <a:ln>
                  <a:noFill/>
                </a:ln>
                <a:solidFill>
                  <a:schemeClr val="tx1">
                    <a:lumMod val="75000"/>
                    <a:lumOff val="25000"/>
                  </a:schemeClr>
                </a:solidFill>
                <a:effectLst/>
                <a:uLnTx/>
                <a:uFillTx/>
                <a:latin typeface="Santander Text" panose="020B0504020201020104" pitchFamily="34" charset="77"/>
                <a:ea typeface="+mn-ea"/>
                <a:cs typeface="+mn-cs"/>
              </a:rPr>
              <a:t>Coleccionables</a:t>
            </a:r>
            <a:r>
              <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rPr>
              <a:t> </a:t>
            </a:r>
          </a:p>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dirty="0" err="1">
                <a:ln>
                  <a:noFill/>
                </a:ln>
                <a:solidFill>
                  <a:schemeClr val="tx1">
                    <a:lumMod val="75000"/>
                    <a:lumOff val="25000"/>
                  </a:schemeClr>
                </a:solidFill>
                <a:effectLst/>
                <a:uLnTx/>
                <a:uFillTx/>
                <a:latin typeface="Santander Text" panose="020B0504020201020104" pitchFamily="34" charset="77"/>
                <a:ea typeface="+mn-ea"/>
                <a:cs typeface="+mn-cs"/>
              </a:rPr>
              <a:t>Dispositivos</a:t>
            </a:r>
            <a:endPar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endParaRPr>
          </a:p>
          <a:p>
            <a:pPr marL="285750" lvl="0" indent="-285750">
              <a:spcBef>
                <a:spcPts val="300"/>
              </a:spcBef>
              <a:spcAft>
                <a:spcPts val="300"/>
              </a:spcAft>
              <a:buClr>
                <a:srgbClr val="9D3566"/>
              </a:buClr>
              <a:buSzPct val="70000"/>
              <a:buFont typeface="Arial" panose="020B0604020202020204" pitchFamily="34" charset="0"/>
              <a:buChar char="•"/>
              <a:defRPr/>
            </a:pPr>
            <a:r>
              <a:rPr lang="en-GB" sz="1100" dirty="0">
                <a:solidFill>
                  <a:schemeClr val="tx1">
                    <a:lumMod val="75000"/>
                    <a:lumOff val="25000"/>
                  </a:schemeClr>
                </a:solidFill>
                <a:latin typeface="Santander Text" panose="020B0504020201020104" pitchFamily="34" charset="77"/>
              </a:rPr>
              <a:t>Real Estate</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dirty="0">
                <a:solidFill>
                  <a:schemeClr val="tx1">
                    <a:lumMod val="75000"/>
                    <a:lumOff val="25000"/>
                  </a:schemeClr>
                </a:solidFill>
                <a:latin typeface="Santander Text" panose="020B0504020201020104" pitchFamily="34" charset="77"/>
              </a:rPr>
              <a:t>…</a:t>
            </a:r>
            <a:endParaRPr kumimoji="0" lang="en-GB" sz="11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a typeface="+mn-ea"/>
              <a:cs typeface="+mn-cs"/>
            </a:endParaRPr>
          </a:p>
        </p:txBody>
      </p:sp>
      <p:sp>
        <p:nvSpPr>
          <p:cNvPr id="12" name="Rectángulo 11">
            <a:extLst>
              <a:ext uri="{FF2B5EF4-FFF2-40B4-BE49-F238E27FC236}">
                <a16:creationId xmlns:a16="http://schemas.microsoft.com/office/drawing/2014/main" id="{5A58FF13-348A-70FD-90F6-ED69F2ABB741}"/>
              </a:ext>
            </a:extLst>
          </p:cNvPr>
          <p:cNvSpPr/>
          <p:nvPr/>
        </p:nvSpPr>
        <p:spPr>
          <a:xfrm>
            <a:off x="8605230" y="3655744"/>
            <a:ext cx="2831689" cy="1492716"/>
          </a:xfrm>
          <a:prstGeom prst="rect">
            <a:avLst/>
          </a:prstGeom>
        </p:spPr>
        <p:txBody>
          <a:bodyPr wrap="square">
            <a:spAutoFit/>
          </a:bodyPr>
          <a:lstStyle/>
          <a:p>
            <a:pPr marL="285750" lvl="0" indent="-285750">
              <a:spcBef>
                <a:spcPts val="300"/>
              </a:spcBef>
              <a:spcAft>
                <a:spcPts val="300"/>
              </a:spcAft>
              <a:buClr>
                <a:srgbClr val="9D3566"/>
              </a:buClr>
              <a:buSzPct val="70000"/>
              <a:buFont typeface="Arial" panose="020B0604020202020204" pitchFamily="34" charset="0"/>
              <a:buChar char="•"/>
              <a:defRPr/>
            </a:pPr>
            <a:r>
              <a:rPr kumimoji="0" lang="en-GB" sz="1100" b="0" i="0" u="none" strike="noStrike" kern="1200" cap="none" spc="0" normalizeH="0" baseline="0">
                <a:ln>
                  <a:noFill/>
                </a:ln>
                <a:solidFill>
                  <a:schemeClr val="tx1">
                    <a:lumMod val="75000"/>
                    <a:lumOff val="25000"/>
                  </a:schemeClr>
                </a:solidFill>
                <a:effectLst/>
                <a:uLnTx/>
                <a:uFillTx/>
                <a:latin typeface="Santander Text" panose="020B0504020201020104" pitchFamily="34" charset="77"/>
                <a:ea typeface="+mn-ea"/>
                <a:cs typeface="+mn-cs"/>
              </a:rPr>
              <a:t>Fixed income</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Equities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Futuros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Opciones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Stocks</a:t>
            </a:r>
          </a:p>
          <a:p>
            <a:pPr marL="285750" lvl="0" indent="-285750">
              <a:spcBef>
                <a:spcPts val="300"/>
              </a:spcBef>
              <a:spcAft>
                <a:spcPts val="300"/>
              </a:spcAft>
              <a:buClr>
                <a:srgbClr val="9D3566"/>
              </a:buClr>
              <a:buSzPct val="70000"/>
              <a:buFont typeface="Arial" panose="020B0604020202020204" pitchFamily="34" charset="0"/>
              <a:buChar char="•"/>
              <a:defRPr/>
            </a:pPr>
            <a:r>
              <a:rPr lang="en-GB" sz="1100">
                <a:solidFill>
                  <a:schemeClr val="tx1">
                    <a:lumMod val="75000"/>
                    <a:lumOff val="25000"/>
                  </a:schemeClr>
                </a:solidFill>
                <a:latin typeface="Santander Text" panose="020B0504020201020104" pitchFamily="34" charset="77"/>
              </a:rPr>
              <a:t>…</a:t>
            </a:r>
          </a:p>
        </p:txBody>
      </p:sp>
      <p:sp>
        <p:nvSpPr>
          <p:cNvPr id="13" name="Recortar rectángulo de esquina del mismo lado 2">
            <a:extLst>
              <a:ext uri="{FF2B5EF4-FFF2-40B4-BE49-F238E27FC236}">
                <a16:creationId xmlns:a16="http://schemas.microsoft.com/office/drawing/2014/main" id="{03F19913-9B59-23C9-B02B-C2D45C03827B}"/>
              </a:ext>
            </a:extLst>
          </p:cNvPr>
          <p:cNvSpPr/>
          <p:nvPr/>
        </p:nvSpPr>
        <p:spPr>
          <a:xfrm>
            <a:off x="788209" y="2597712"/>
            <a:ext cx="1660189" cy="860566"/>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14" name="Elipse 13">
            <a:extLst>
              <a:ext uri="{FF2B5EF4-FFF2-40B4-BE49-F238E27FC236}">
                <a16:creationId xmlns:a16="http://schemas.microsoft.com/office/drawing/2014/main" id="{55044538-6509-ECDC-5E4E-68D22DE359F6}"/>
              </a:ext>
            </a:extLst>
          </p:cNvPr>
          <p:cNvSpPr/>
          <p:nvPr/>
        </p:nvSpPr>
        <p:spPr>
          <a:xfrm>
            <a:off x="1163255" y="2167429"/>
            <a:ext cx="961242" cy="860567"/>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15" name="Recortar rectángulo de esquina del mismo lado 6">
            <a:extLst>
              <a:ext uri="{FF2B5EF4-FFF2-40B4-BE49-F238E27FC236}">
                <a16:creationId xmlns:a16="http://schemas.microsoft.com/office/drawing/2014/main" id="{AAFBBFCD-1E9E-3912-6E52-23B5C1E76D5A}"/>
              </a:ext>
            </a:extLst>
          </p:cNvPr>
          <p:cNvSpPr/>
          <p:nvPr/>
        </p:nvSpPr>
        <p:spPr>
          <a:xfrm>
            <a:off x="3461818" y="2597712"/>
            <a:ext cx="1660189" cy="860566"/>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16" name="Elipse 15">
            <a:extLst>
              <a:ext uri="{FF2B5EF4-FFF2-40B4-BE49-F238E27FC236}">
                <a16:creationId xmlns:a16="http://schemas.microsoft.com/office/drawing/2014/main" id="{8D0BE5D6-B13C-9B50-1695-871A8528DF4A}"/>
              </a:ext>
            </a:extLst>
          </p:cNvPr>
          <p:cNvSpPr/>
          <p:nvPr/>
        </p:nvSpPr>
        <p:spPr>
          <a:xfrm>
            <a:off x="3836864" y="2167429"/>
            <a:ext cx="961242" cy="860567"/>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17" name="Recortar rectángulo de esquina del mismo lado 10">
            <a:extLst>
              <a:ext uri="{FF2B5EF4-FFF2-40B4-BE49-F238E27FC236}">
                <a16:creationId xmlns:a16="http://schemas.microsoft.com/office/drawing/2014/main" id="{7F0D71E1-171A-0264-F559-8D435976902C}"/>
              </a:ext>
            </a:extLst>
          </p:cNvPr>
          <p:cNvSpPr/>
          <p:nvPr/>
        </p:nvSpPr>
        <p:spPr>
          <a:xfrm>
            <a:off x="6079728" y="2597331"/>
            <a:ext cx="1660189" cy="860566"/>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18" name="Elipse 17">
            <a:extLst>
              <a:ext uri="{FF2B5EF4-FFF2-40B4-BE49-F238E27FC236}">
                <a16:creationId xmlns:a16="http://schemas.microsoft.com/office/drawing/2014/main" id="{3D624239-3AA3-924A-DED7-D8BE5F210566}"/>
              </a:ext>
            </a:extLst>
          </p:cNvPr>
          <p:cNvSpPr/>
          <p:nvPr/>
        </p:nvSpPr>
        <p:spPr>
          <a:xfrm>
            <a:off x="6454775" y="2167048"/>
            <a:ext cx="961242" cy="860567"/>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19" name="Recortar rectángulo de esquina del mismo lado 23">
            <a:extLst>
              <a:ext uri="{FF2B5EF4-FFF2-40B4-BE49-F238E27FC236}">
                <a16:creationId xmlns:a16="http://schemas.microsoft.com/office/drawing/2014/main" id="{5D2B9B56-32B6-BF5E-D9F6-1F891BF3F7F7}"/>
              </a:ext>
            </a:extLst>
          </p:cNvPr>
          <p:cNvSpPr/>
          <p:nvPr/>
        </p:nvSpPr>
        <p:spPr>
          <a:xfrm>
            <a:off x="8684786" y="2585695"/>
            <a:ext cx="1660189" cy="860566"/>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20" name="Elipse 19">
            <a:extLst>
              <a:ext uri="{FF2B5EF4-FFF2-40B4-BE49-F238E27FC236}">
                <a16:creationId xmlns:a16="http://schemas.microsoft.com/office/drawing/2014/main" id="{36B51863-350D-EC05-957E-D40B005CABB6}"/>
              </a:ext>
            </a:extLst>
          </p:cNvPr>
          <p:cNvSpPr/>
          <p:nvPr/>
        </p:nvSpPr>
        <p:spPr>
          <a:xfrm>
            <a:off x="9059833" y="2155412"/>
            <a:ext cx="961242" cy="860567"/>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21" name="CuadroTexto 20">
            <a:extLst>
              <a:ext uri="{FF2B5EF4-FFF2-40B4-BE49-F238E27FC236}">
                <a16:creationId xmlns:a16="http://schemas.microsoft.com/office/drawing/2014/main" id="{B41EE637-F112-560A-B5C0-DC66CDAE82E3}"/>
              </a:ext>
            </a:extLst>
          </p:cNvPr>
          <p:cNvSpPr txBox="1"/>
          <p:nvPr/>
        </p:nvSpPr>
        <p:spPr>
          <a:xfrm>
            <a:off x="634853" y="3076658"/>
            <a:ext cx="2063195" cy="430887"/>
          </a:xfrm>
          <a:prstGeom prst="rect">
            <a:avLst/>
          </a:prstGeom>
          <a:noFill/>
        </p:spPr>
        <p:txBody>
          <a:bodyPr wrap="square">
            <a:spAutoFit/>
          </a:bodyPr>
          <a:lstStyle/>
          <a:p>
            <a:pPr algn="ctr"/>
            <a:r>
              <a:rPr lang="en-US" sz="1100" b="1" dirty="0">
                <a:solidFill>
                  <a:schemeClr val="bg1"/>
                </a:solidFill>
                <a:latin typeface="Santander Headline" panose="020B0504020201020104" pitchFamily="34" charset="77"/>
                <a:ea typeface="+mj-ea"/>
                <a:cs typeface="+mj-cs"/>
              </a:rPr>
              <a:t>Dinero</a:t>
            </a:r>
          </a:p>
          <a:p>
            <a:pPr algn="ctr"/>
            <a:endParaRPr lang="en-US" sz="1100" b="1" dirty="0">
              <a:solidFill>
                <a:schemeClr val="bg1"/>
              </a:solidFill>
              <a:latin typeface="Santander Headline" panose="020B0504020201020104" pitchFamily="34" charset="77"/>
              <a:ea typeface="+mj-ea"/>
              <a:cs typeface="+mj-cs"/>
            </a:endParaRPr>
          </a:p>
        </p:txBody>
      </p:sp>
      <p:sp>
        <p:nvSpPr>
          <p:cNvPr id="22" name="CuadroTexto 21">
            <a:extLst>
              <a:ext uri="{FF2B5EF4-FFF2-40B4-BE49-F238E27FC236}">
                <a16:creationId xmlns:a16="http://schemas.microsoft.com/office/drawing/2014/main" id="{B3AC9AFD-3A2F-D844-9578-0532F0F69BFC}"/>
              </a:ext>
            </a:extLst>
          </p:cNvPr>
          <p:cNvSpPr txBox="1"/>
          <p:nvPr/>
        </p:nvSpPr>
        <p:spPr>
          <a:xfrm>
            <a:off x="3467550" y="3060854"/>
            <a:ext cx="1660189" cy="261610"/>
          </a:xfrm>
          <a:prstGeom prst="rect">
            <a:avLst/>
          </a:prstGeom>
          <a:noFill/>
        </p:spPr>
        <p:txBody>
          <a:bodyPr wrap="square">
            <a:spAutoFit/>
          </a:bodyPr>
          <a:lstStyle/>
          <a:p>
            <a:pPr algn="ctr"/>
            <a:r>
              <a:rPr lang="en-US" sz="1100" b="1" dirty="0">
                <a:solidFill>
                  <a:schemeClr val="bg1"/>
                </a:solidFill>
                <a:latin typeface="Santander Headline" panose="020B0504020201020104" pitchFamily="34" charset="77"/>
                <a:ea typeface="+mj-ea"/>
                <a:cs typeface="+mj-cs"/>
              </a:rPr>
              <a:t>Activos Intangibles</a:t>
            </a:r>
          </a:p>
        </p:txBody>
      </p:sp>
      <p:sp>
        <p:nvSpPr>
          <p:cNvPr id="23" name="CuadroTexto 22">
            <a:extLst>
              <a:ext uri="{FF2B5EF4-FFF2-40B4-BE49-F238E27FC236}">
                <a16:creationId xmlns:a16="http://schemas.microsoft.com/office/drawing/2014/main" id="{4136FA3C-06A5-6666-169B-02689B9028C3}"/>
              </a:ext>
            </a:extLst>
          </p:cNvPr>
          <p:cNvSpPr txBox="1"/>
          <p:nvPr/>
        </p:nvSpPr>
        <p:spPr>
          <a:xfrm>
            <a:off x="8460072" y="3086412"/>
            <a:ext cx="2109615" cy="261610"/>
          </a:xfrm>
          <a:prstGeom prst="rect">
            <a:avLst/>
          </a:prstGeom>
          <a:noFill/>
        </p:spPr>
        <p:txBody>
          <a:bodyPr wrap="square">
            <a:spAutoFit/>
          </a:bodyPr>
          <a:lstStyle/>
          <a:p>
            <a:pPr algn="ctr"/>
            <a:r>
              <a:rPr lang="en-US" sz="1100" b="1" dirty="0" err="1">
                <a:solidFill>
                  <a:schemeClr val="bg1"/>
                </a:solidFill>
                <a:latin typeface="Santander Headline" panose="020B0504020201020104" pitchFamily="34" charset="77"/>
                <a:ea typeface="+mj-ea"/>
                <a:cs typeface="+mj-cs"/>
              </a:rPr>
              <a:t>Instrumentos</a:t>
            </a:r>
            <a:r>
              <a:rPr lang="en-US" sz="1100" b="1" dirty="0">
                <a:solidFill>
                  <a:schemeClr val="bg1"/>
                </a:solidFill>
                <a:latin typeface="Santander Headline" panose="020B0504020201020104" pitchFamily="34" charset="77"/>
                <a:ea typeface="+mj-ea"/>
                <a:cs typeface="+mj-cs"/>
              </a:rPr>
              <a:t> </a:t>
            </a:r>
            <a:r>
              <a:rPr lang="en-US" sz="1100" b="1" dirty="0" err="1">
                <a:solidFill>
                  <a:schemeClr val="bg1"/>
                </a:solidFill>
                <a:latin typeface="Santander Headline" panose="020B0504020201020104" pitchFamily="34" charset="77"/>
                <a:ea typeface="+mj-ea"/>
                <a:cs typeface="+mj-cs"/>
              </a:rPr>
              <a:t>Financieros</a:t>
            </a:r>
            <a:endParaRPr lang="en-US" sz="1100" b="1" dirty="0">
              <a:solidFill>
                <a:schemeClr val="bg1"/>
              </a:solidFill>
              <a:latin typeface="Santander Headline" panose="020B0504020201020104" pitchFamily="34" charset="77"/>
              <a:ea typeface="+mj-ea"/>
              <a:cs typeface="+mj-cs"/>
            </a:endParaRPr>
          </a:p>
        </p:txBody>
      </p:sp>
      <p:sp>
        <p:nvSpPr>
          <p:cNvPr id="24" name="CuadroTexto 23">
            <a:extLst>
              <a:ext uri="{FF2B5EF4-FFF2-40B4-BE49-F238E27FC236}">
                <a16:creationId xmlns:a16="http://schemas.microsoft.com/office/drawing/2014/main" id="{763E4D9A-1AAF-A298-A0CC-51F5E54E6093}"/>
              </a:ext>
            </a:extLst>
          </p:cNvPr>
          <p:cNvSpPr txBox="1"/>
          <p:nvPr/>
        </p:nvSpPr>
        <p:spPr>
          <a:xfrm>
            <a:off x="6073996" y="3086412"/>
            <a:ext cx="1660189" cy="261610"/>
          </a:xfrm>
          <a:prstGeom prst="rect">
            <a:avLst/>
          </a:prstGeom>
          <a:noFill/>
        </p:spPr>
        <p:txBody>
          <a:bodyPr wrap="square">
            <a:spAutoFit/>
          </a:bodyPr>
          <a:lstStyle/>
          <a:p>
            <a:pPr algn="ctr"/>
            <a:r>
              <a:rPr lang="en-US" sz="1100" b="1" dirty="0" err="1">
                <a:solidFill>
                  <a:schemeClr val="bg1"/>
                </a:solidFill>
                <a:latin typeface="Santander Headline" panose="020B0504020201020104" pitchFamily="34" charset="77"/>
                <a:ea typeface="+mj-ea"/>
                <a:cs typeface="+mj-cs"/>
              </a:rPr>
              <a:t>Objectos</a:t>
            </a:r>
            <a:r>
              <a:rPr lang="en-US" sz="1100" b="1" dirty="0">
                <a:solidFill>
                  <a:schemeClr val="bg1"/>
                </a:solidFill>
                <a:latin typeface="Santander Headline" panose="020B0504020201020104" pitchFamily="34" charset="77"/>
                <a:ea typeface="+mj-ea"/>
                <a:cs typeface="+mj-cs"/>
              </a:rPr>
              <a:t> </a:t>
            </a:r>
            <a:r>
              <a:rPr lang="en-US" sz="1100" b="1" dirty="0" err="1">
                <a:solidFill>
                  <a:schemeClr val="bg1"/>
                </a:solidFill>
                <a:latin typeface="Santander Headline" panose="020B0504020201020104" pitchFamily="34" charset="77"/>
                <a:ea typeface="+mj-ea"/>
                <a:cs typeface="+mj-cs"/>
              </a:rPr>
              <a:t>Físicos</a:t>
            </a:r>
            <a:endParaRPr lang="en-US" sz="1100" b="1" dirty="0">
              <a:solidFill>
                <a:schemeClr val="bg1"/>
              </a:solidFill>
              <a:latin typeface="Santander Headline" panose="020B0504020201020104" pitchFamily="34" charset="77"/>
              <a:ea typeface="+mj-ea"/>
              <a:cs typeface="+mj-cs"/>
            </a:endParaRPr>
          </a:p>
        </p:txBody>
      </p:sp>
      <p:pic>
        <p:nvPicPr>
          <p:cNvPr id="25" name="Gráfico 24" descr="Dinero contorno">
            <a:extLst>
              <a:ext uri="{FF2B5EF4-FFF2-40B4-BE49-F238E27FC236}">
                <a16:creationId xmlns:a16="http://schemas.microsoft.com/office/drawing/2014/main" id="{D7D727F2-AD5A-B0ED-A0C1-D8DCA07A0E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26243" y="2372528"/>
            <a:ext cx="457200" cy="457200"/>
          </a:xfrm>
          <a:prstGeom prst="rect">
            <a:avLst/>
          </a:prstGeom>
        </p:spPr>
      </p:pic>
      <p:pic>
        <p:nvPicPr>
          <p:cNvPr id="26" name="Gráfico 25" descr="Buena idea contorno">
            <a:extLst>
              <a:ext uri="{FF2B5EF4-FFF2-40B4-BE49-F238E27FC236}">
                <a16:creationId xmlns:a16="http://schemas.microsoft.com/office/drawing/2014/main" id="{46F39D85-37D4-9382-37A7-3371D2CE42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00111" y="2372528"/>
            <a:ext cx="457200" cy="457200"/>
          </a:xfrm>
          <a:prstGeom prst="rect">
            <a:avLst/>
          </a:prstGeom>
        </p:spPr>
      </p:pic>
      <p:pic>
        <p:nvPicPr>
          <p:cNvPr id="27" name="Gráfico 26" descr="Lingotes de oro contorno">
            <a:extLst>
              <a:ext uri="{FF2B5EF4-FFF2-40B4-BE49-F238E27FC236}">
                <a16:creationId xmlns:a16="http://schemas.microsoft.com/office/drawing/2014/main" id="{EA6FD401-747E-A313-4045-F5823AC7463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11383" y="2349409"/>
            <a:ext cx="527596" cy="527596"/>
          </a:xfrm>
          <a:prstGeom prst="rect">
            <a:avLst/>
          </a:prstGeom>
        </p:spPr>
      </p:pic>
      <p:pic>
        <p:nvPicPr>
          <p:cNvPr id="28" name="Gráfico 27" descr="Tendencia al alza contorno">
            <a:extLst>
              <a:ext uri="{FF2B5EF4-FFF2-40B4-BE49-F238E27FC236}">
                <a16:creationId xmlns:a16="http://schemas.microsoft.com/office/drawing/2014/main" id="{5A2B79D3-F926-296A-3597-7D75BA356E9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95533" y="2382308"/>
            <a:ext cx="460863" cy="460863"/>
          </a:xfrm>
          <a:prstGeom prst="rect">
            <a:avLst/>
          </a:prstGeom>
        </p:spPr>
      </p:pic>
      <p:sp>
        <p:nvSpPr>
          <p:cNvPr id="3" name="Título 1">
            <a:extLst>
              <a:ext uri="{FF2B5EF4-FFF2-40B4-BE49-F238E27FC236}">
                <a16:creationId xmlns:a16="http://schemas.microsoft.com/office/drawing/2014/main" id="{68A3095A-159F-5EB1-3DFE-C0A65094D6CC}"/>
              </a:ext>
            </a:extLst>
          </p:cNvPr>
          <p:cNvSpPr>
            <a:spLocks noGrp="1"/>
          </p:cNvSpPr>
          <p:nvPr>
            <p:ph type="title"/>
          </p:nvPr>
        </p:nvSpPr>
        <p:spPr>
          <a:xfrm>
            <a:off x="838200" y="365125"/>
            <a:ext cx="10515600" cy="1325563"/>
          </a:xfrm>
        </p:spPr>
        <p:txBody>
          <a:bodyPr/>
          <a:lstStyle/>
          <a:p>
            <a:r>
              <a:rPr lang="es-ES"/>
              <a:t>¿Qué se puede Tokenizar?</a:t>
            </a:r>
            <a:endParaRPr lang="es-ES" dirty="0"/>
          </a:p>
        </p:txBody>
      </p:sp>
    </p:spTree>
    <p:extLst>
      <p:ext uri="{BB962C8B-B14F-4D97-AF65-F5344CB8AC3E}">
        <p14:creationId xmlns:p14="http://schemas.microsoft.com/office/powerpoint/2010/main" val="1890682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E6DB580-6FC7-DEE6-DA0F-F749F01A6C9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87A9F3A-5E94-82A0-0E7C-57CFFDCD373F}"/>
              </a:ext>
            </a:extLst>
          </p:cNvPr>
          <p:cNvSpPr/>
          <p:nvPr/>
        </p:nvSpPr>
        <p:spPr>
          <a:xfrm>
            <a:off x="217147" y="1359441"/>
            <a:ext cx="11087809" cy="1277273"/>
          </a:xfrm>
          <a:prstGeom prst="rect">
            <a:avLst/>
          </a:prstGeom>
        </p:spPr>
        <p:txBody>
          <a:bodyPr wrap="square">
            <a:spAutoFit/>
          </a:bodyPr>
          <a:lstStyle/>
          <a:p>
            <a:pPr lvl="0">
              <a:spcBef>
                <a:spcPts val="300"/>
              </a:spcBef>
              <a:spcAft>
                <a:spcPts val="300"/>
              </a:spcAft>
              <a:buClr>
                <a:srgbClr val="9D3566"/>
              </a:buClr>
              <a:buSzPct val="70000"/>
              <a:defRPr/>
            </a:pPr>
            <a:r>
              <a:rPr lang="es-ES" sz="1200" dirty="0">
                <a:solidFill>
                  <a:schemeClr val="tx1">
                    <a:lumMod val="75000"/>
                    <a:lumOff val="25000"/>
                  </a:schemeClr>
                </a:solidFill>
                <a:latin typeface="Santander Text" panose="020B0504020201020104" pitchFamily="34" charset="77"/>
              </a:rPr>
              <a:t>La aplicación de DLT y contratos inteligentes en la </a:t>
            </a:r>
            <a:r>
              <a:rPr lang="es-ES" sz="1200" dirty="0" err="1">
                <a:solidFill>
                  <a:schemeClr val="tx1">
                    <a:lumMod val="75000"/>
                    <a:lumOff val="25000"/>
                  </a:schemeClr>
                </a:solidFill>
                <a:latin typeface="Santander Text" panose="020B0504020201020104" pitchFamily="34" charset="77"/>
              </a:rPr>
              <a:t>tokenización</a:t>
            </a:r>
            <a:r>
              <a:rPr lang="es-ES" sz="1200" dirty="0">
                <a:solidFill>
                  <a:schemeClr val="tx1">
                    <a:lumMod val="75000"/>
                    <a:lumOff val="25000"/>
                  </a:schemeClr>
                </a:solidFill>
                <a:latin typeface="Santander Text" panose="020B0504020201020104" pitchFamily="34" charset="77"/>
              </a:rPr>
              <a:t> de activos ofrece el potencial de ofrecer diversos beneficios, como mejoras de eficiencia impulsadas por la automatización y la desintermediación; transparencia; mayor potencial de liquidez y negociabilidad de activos con liquidez prácticamente nula, al añadir liquidez a activos actualmente ilíquidos; y una compensación y liquidación más rápidas y potencialmente más eficientes.</a:t>
            </a:r>
          </a:p>
          <a:p>
            <a:pPr lvl="0">
              <a:spcBef>
                <a:spcPts val="300"/>
              </a:spcBef>
              <a:spcAft>
                <a:spcPts val="300"/>
              </a:spcAft>
              <a:buClr>
                <a:srgbClr val="9D3566"/>
              </a:buClr>
              <a:buSzPct val="70000"/>
              <a:defRPr/>
            </a:pPr>
            <a:r>
              <a:rPr lang="es-ES" sz="1200" dirty="0">
                <a:solidFill>
                  <a:schemeClr val="tx1">
                    <a:lumMod val="75000"/>
                    <a:lumOff val="25000"/>
                  </a:schemeClr>
                </a:solidFill>
                <a:latin typeface="Santander Text" panose="020B0504020201020104" pitchFamily="34" charset="77"/>
              </a:rPr>
              <a:t>Permite la propiedad fraccionada de activos, lo que, a su vez, podría reducir las barreras a la inversión y promover un acceso más inclusivo por parte de los inversores minoristas a clases de activos anteriormente inasequibles o con escasa capacidad de división, permitiendo que fondos globales de capital accedan a segmentos de los mercados financieros anteriormente reservados a los grandes inversores.</a:t>
            </a:r>
            <a:endParaRPr kumimoji="0" lang="en-GB" sz="120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ndParaRPr>
          </a:p>
        </p:txBody>
      </p:sp>
      <p:sp>
        <p:nvSpPr>
          <p:cNvPr id="3" name="Rectángulo 2">
            <a:extLst>
              <a:ext uri="{FF2B5EF4-FFF2-40B4-BE49-F238E27FC236}">
                <a16:creationId xmlns:a16="http://schemas.microsoft.com/office/drawing/2014/main" id="{3A39E18D-AE30-B08D-012E-7F6C3763EF2C}"/>
              </a:ext>
            </a:extLst>
          </p:cNvPr>
          <p:cNvSpPr/>
          <p:nvPr/>
        </p:nvSpPr>
        <p:spPr>
          <a:xfrm>
            <a:off x="890990" y="4108250"/>
            <a:ext cx="1761467" cy="1869743"/>
          </a:xfrm>
          <a:prstGeom prst="rect">
            <a:avLst/>
          </a:prstGeom>
        </p:spPr>
        <p:txBody>
          <a:bodyPr wrap="square">
            <a:spAutoFit/>
          </a:bodyPr>
          <a:lstStyle/>
          <a:p>
            <a:pPr lvl="0">
              <a:spcBef>
                <a:spcPts val="300"/>
              </a:spcBef>
              <a:spcAft>
                <a:spcPts val="300"/>
              </a:spcAft>
              <a:buClr>
                <a:srgbClr val="9D3566"/>
              </a:buClr>
              <a:buSzPct val="70000"/>
              <a:defRPr/>
            </a:pPr>
            <a:r>
              <a:rPr lang="es-ES" sz="1050" dirty="0">
                <a:solidFill>
                  <a:schemeClr val="tx1">
                    <a:lumMod val="75000"/>
                    <a:lumOff val="25000"/>
                  </a:schemeClr>
                </a:solidFill>
                <a:latin typeface="Santander Text" panose="020B0504020201020104" pitchFamily="34" charset="77"/>
              </a:rPr>
              <a:t>Los activos tradicionales, como los bienes raíces comerciales y las obras de arte, suelen caracterizarse por un alto precio unitario. La </a:t>
            </a:r>
            <a:r>
              <a:rPr lang="es-ES" sz="1050" dirty="0" err="1">
                <a:solidFill>
                  <a:schemeClr val="tx1">
                    <a:lumMod val="75000"/>
                    <a:lumOff val="25000"/>
                  </a:schemeClr>
                </a:solidFill>
                <a:latin typeface="Santander Text" panose="020B0504020201020104" pitchFamily="34" charset="77"/>
              </a:rPr>
              <a:t>tokenización</a:t>
            </a:r>
            <a:r>
              <a:rPr lang="es-ES" sz="1050" dirty="0">
                <a:solidFill>
                  <a:schemeClr val="tx1">
                    <a:lumMod val="75000"/>
                    <a:lumOff val="25000"/>
                  </a:schemeClr>
                </a:solidFill>
                <a:latin typeface="Santander Text" panose="020B0504020201020104" pitchFamily="34" charset="77"/>
              </a:rPr>
              <a:t> de un activo ofrece una vía eficiente para fraccionar su valor, haciéndolo más accesible al reducir eficazmente el umbral mínimo de inversión.</a:t>
            </a:r>
          </a:p>
        </p:txBody>
      </p:sp>
      <p:sp>
        <p:nvSpPr>
          <p:cNvPr id="6" name="Rectángulo 5">
            <a:extLst>
              <a:ext uri="{FF2B5EF4-FFF2-40B4-BE49-F238E27FC236}">
                <a16:creationId xmlns:a16="http://schemas.microsoft.com/office/drawing/2014/main" id="{EAD7B9B9-5994-7A1C-5302-FC1B1B5B1F3C}"/>
              </a:ext>
            </a:extLst>
          </p:cNvPr>
          <p:cNvSpPr/>
          <p:nvPr/>
        </p:nvSpPr>
        <p:spPr>
          <a:xfrm>
            <a:off x="5042443" y="4112197"/>
            <a:ext cx="1761467" cy="1546577"/>
          </a:xfrm>
          <a:prstGeom prst="rect">
            <a:avLst/>
          </a:prstGeom>
        </p:spPr>
        <p:txBody>
          <a:bodyPr wrap="square">
            <a:spAutoFit/>
          </a:bodyPr>
          <a:lstStyle/>
          <a:p>
            <a:pPr lvl="0">
              <a:spcBef>
                <a:spcPts val="300"/>
              </a:spcBef>
              <a:spcAft>
                <a:spcPts val="300"/>
              </a:spcAft>
              <a:buClr>
                <a:srgbClr val="9D3566"/>
              </a:buClr>
              <a:buSzPct val="70000"/>
              <a:defRPr/>
            </a:pPr>
            <a:r>
              <a:rPr lang="es-ES" sz="1050" dirty="0">
                <a:solidFill>
                  <a:schemeClr val="tx1">
                    <a:lumMod val="75000"/>
                    <a:lumOff val="25000"/>
                  </a:schemeClr>
                </a:solidFill>
                <a:latin typeface="Santander Text" panose="020B0504020201020104" pitchFamily="34" charset="77"/>
              </a:rPr>
              <a:t>Como resultado de la propiedad fraccionada, también se espera que los tokens mejoren la liquidez porque permiten que una base mucho más amplia de inversores de menor capitalización participen en el mercado.</a:t>
            </a:r>
          </a:p>
        </p:txBody>
      </p:sp>
      <p:sp>
        <p:nvSpPr>
          <p:cNvPr id="8" name="Rectángulo 7">
            <a:extLst>
              <a:ext uri="{FF2B5EF4-FFF2-40B4-BE49-F238E27FC236}">
                <a16:creationId xmlns:a16="http://schemas.microsoft.com/office/drawing/2014/main" id="{A58AC6C0-2248-03EA-3AF9-9EED9DC51FB5}"/>
              </a:ext>
            </a:extLst>
          </p:cNvPr>
          <p:cNvSpPr/>
          <p:nvPr/>
        </p:nvSpPr>
        <p:spPr>
          <a:xfrm>
            <a:off x="9099130" y="4102525"/>
            <a:ext cx="1761467" cy="1384995"/>
          </a:xfrm>
          <a:prstGeom prst="rect">
            <a:avLst/>
          </a:prstGeom>
        </p:spPr>
        <p:txBody>
          <a:bodyPr wrap="square">
            <a:spAutoFit/>
          </a:bodyPr>
          <a:lstStyle/>
          <a:p>
            <a:pPr lvl="0">
              <a:spcBef>
                <a:spcPts val="300"/>
              </a:spcBef>
              <a:spcAft>
                <a:spcPts val="300"/>
              </a:spcAft>
              <a:buClr>
                <a:srgbClr val="9D3566"/>
              </a:buClr>
              <a:buSzPct val="70000"/>
              <a:defRPr/>
            </a:pPr>
            <a:r>
              <a:rPr lang="es-ES" sz="1050" dirty="0">
                <a:solidFill>
                  <a:schemeClr val="tx1">
                    <a:lumMod val="75000"/>
                    <a:lumOff val="25000"/>
                  </a:schemeClr>
                </a:solidFill>
                <a:latin typeface="Santander Text" panose="020B0504020201020104" pitchFamily="34" charset="77"/>
              </a:rPr>
              <a:t>La transparencia e inmutabilidad de las DLT ayudan a reducir la dependencia de una única autoridad central para mitigar los riesgos de contraparte en el proceso de liquidación.</a:t>
            </a:r>
          </a:p>
        </p:txBody>
      </p:sp>
      <p:sp>
        <p:nvSpPr>
          <p:cNvPr id="9" name="Rectángulo 8">
            <a:extLst>
              <a:ext uri="{FF2B5EF4-FFF2-40B4-BE49-F238E27FC236}">
                <a16:creationId xmlns:a16="http://schemas.microsoft.com/office/drawing/2014/main" id="{E5A52146-BEBA-6E71-4633-447FB7E403A8}"/>
              </a:ext>
            </a:extLst>
          </p:cNvPr>
          <p:cNvSpPr/>
          <p:nvPr/>
        </p:nvSpPr>
        <p:spPr>
          <a:xfrm>
            <a:off x="2898856" y="4111151"/>
            <a:ext cx="1829724" cy="2031325"/>
          </a:xfrm>
          <a:prstGeom prst="rect">
            <a:avLst/>
          </a:prstGeom>
        </p:spPr>
        <p:txBody>
          <a:bodyPr wrap="square">
            <a:spAutoFit/>
          </a:bodyPr>
          <a:lstStyle/>
          <a:p>
            <a:pPr lvl="0">
              <a:spcBef>
                <a:spcPts val="300"/>
              </a:spcBef>
              <a:spcAft>
                <a:spcPts val="300"/>
              </a:spcAft>
              <a:buClr>
                <a:srgbClr val="9D3566"/>
              </a:buClr>
              <a:buSzPct val="70000"/>
              <a:defRPr/>
            </a:pPr>
            <a:r>
              <a:rPr lang="es-ES" sz="1050" dirty="0">
                <a:solidFill>
                  <a:schemeClr val="tx1">
                    <a:lumMod val="75000"/>
                    <a:lumOff val="25000"/>
                  </a:schemeClr>
                </a:solidFill>
                <a:latin typeface="Santander Text" panose="020B0504020201020104" pitchFamily="34" charset="77"/>
              </a:rPr>
              <a:t>Los contratos inteligentes integrados en muchas plataformas de activos </a:t>
            </a:r>
            <a:r>
              <a:rPr lang="es-ES" sz="1050" dirty="0" err="1">
                <a:solidFill>
                  <a:schemeClr val="tx1">
                    <a:lumMod val="75000"/>
                    <a:lumOff val="25000"/>
                  </a:schemeClr>
                </a:solidFill>
                <a:latin typeface="Santander Text" panose="020B0504020201020104" pitchFamily="34" charset="77"/>
              </a:rPr>
              <a:t>tokenizados</a:t>
            </a:r>
            <a:r>
              <a:rPr lang="es-ES" sz="1050" dirty="0">
                <a:solidFill>
                  <a:schemeClr val="tx1">
                    <a:lumMod val="75000"/>
                    <a:lumOff val="25000"/>
                  </a:schemeClr>
                </a:solidFill>
                <a:latin typeface="Santander Text" panose="020B0504020201020104" pitchFamily="34" charset="77"/>
              </a:rPr>
              <a:t> ayudan a automatizar la ejecución de transacciones complejas y a acortar los ciclos de liquidación. También tienen el potencial de optimizar los procesos de supervisión del cumplimiento normativo, como KYC/AML.</a:t>
            </a:r>
          </a:p>
        </p:txBody>
      </p:sp>
      <p:sp>
        <p:nvSpPr>
          <p:cNvPr id="10" name="Rectángulo 9">
            <a:extLst>
              <a:ext uri="{FF2B5EF4-FFF2-40B4-BE49-F238E27FC236}">
                <a16:creationId xmlns:a16="http://schemas.microsoft.com/office/drawing/2014/main" id="{412E9E74-62C2-8C3D-1638-B2FE1430AF55}"/>
              </a:ext>
            </a:extLst>
          </p:cNvPr>
          <p:cNvSpPr/>
          <p:nvPr/>
        </p:nvSpPr>
        <p:spPr>
          <a:xfrm>
            <a:off x="7020258" y="4102576"/>
            <a:ext cx="1860116" cy="2593018"/>
          </a:xfrm>
          <a:prstGeom prst="rect">
            <a:avLst/>
          </a:prstGeom>
        </p:spPr>
        <p:txBody>
          <a:bodyPr wrap="square">
            <a:spAutoFit/>
          </a:bodyPr>
          <a:lstStyle/>
          <a:p>
            <a:pPr lvl="0">
              <a:spcBef>
                <a:spcPts val="300"/>
              </a:spcBef>
              <a:spcAft>
                <a:spcPts val="300"/>
              </a:spcAft>
              <a:buClr>
                <a:srgbClr val="9D3566"/>
              </a:buClr>
              <a:buSzPct val="70000"/>
              <a:defRPr/>
            </a:pPr>
            <a:r>
              <a:rPr lang="es-ES" sz="1050" dirty="0">
                <a:solidFill>
                  <a:schemeClr val="tx1">
                    <a:lumMod val="75000"/>
                    <a:lumOff val="25000"/>
                  </a:schemeClr>
                </a:solidFill>
                <a:latin typeface="Santander Text" panose="020B0504020201020104" pitchFamily="34" charset="77"/>
              </a:rPr>
              <a:t>Se puede abrir una billetera digital/criptomoneda en línea casi al instante, sin necesidad de ir a un banco ni abrir una cuenta con un bróker. Esta característica hace que los activos digitales sean más accesibles que los instrumentos financieros tradicionales.</a:t>
            </a:r>
          </a:p>
          <a:p>
            <a:pPr lvl="0">
              <a:spcBef>
                <a:spcPts val="300"/>
              </a:spcBef>
              <a:spcAft>
                <a:spcPts val="300"/>
              </a:spcAft>
              <a:buClr>
                <a:srgbClr val="9D3566"/>
              </a:buClr>
              <a:buSzPct val="70000"/>
              <a:defRPr/>
            </a:pPr>
            <a:r>
              <a:rPr lang="es-ES" sz="1050" dirty="0">
                <a:solidFill>
                  <a:schemeClr val="tx1">
                    <a:lumMod val="75000"/>
                    <a:lumOff val="25000"/>
                  </a:schemeClr>
                </a:solidFill>
                <a:latin typeface="Santander Text" panose="020B0504020201020104" pitchFamily="34" charset="77"/>
              </a:rPr>
              <a:t>Los activos digitales suelen ser las primeras inversiones financieras que adquieren los nuevos inversores en el mercado.</a:t>
            </a:r>
            <a:endParaRPr kumimoji="0" lang="en-GB" sz="1050" b="0" i="0" u="none" strike="noStrike" kern="1200" cap="none" spc="0" normalizeH="0" baseline="0" dirty="0">
              <a:ln>
                <a:noFill/>
              </a:ln>
              <a:solidFill>
                <a:schemeClr val="tx1">
                  <a:lumMod val="75000"/>
                  <a:lumOff val="25000"/>
                </a:schemeClr>
              </a:solidFill>
              <a:effectLst/>
              <a:uLnTx/>
              <a:uFillTx/>
              <a:latin typeface="Santander Text" panose="020B0504020201020104" pitchFamily="34" charset="77"/>
            </a:endParaRPr>
          </a:p>
        </p:txBody>
      </p:sp>
      <p:sp>
        <p:nvSpPr>
          <p:cNvPr id="11" name="Rectangle 10">
            <a:hlinkClick r:id="rId3"/>
            <a:extLst>
              <a:ext uri="{FF2B5EF4-FFF2-40B4-BE49-F238E27FC236}">
                <a16:creationId xmlns:a16="http://schemas.microsoft.com/office/drawing/2014/main" id="{743A8F57-470A-951D-4B56-1F35DB066670}"/>
              </a:ext>
            </a:extLst>
          </p:cNvPr>
          <p:cNvSpPr>
            <a:spLocks noChangeArrowheads="1"/>
          </p:cNvSpPr>
          <p:nvPr/>
        </p:nvSpPr>
        <p:spPr bwMode="auto">
          <a:xfrm>
            <a:off x="8549941" y="2666245"/>
            <a:ext cx="28114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ES" altLang="es-ES" sz="1600" b="0" i="0" u="none" strike="noStrike" cap="none" normalizeH="0" baseline="0">
                <a:ln>
                  <a:noFill/>
                </a:ln>
                <a:solidFill>
                  <a:schemeClr val="tx1"/>
                </a:solidFill>
                <a:effectLst/>
                <a:latin typeface="Arial" panose="020B0604020202020204" pitchFamily="34" charset="0"/>
              </a:rPr>
            </a:br>
            <a:endParaRPr kumimoji="0" lang="es-ES" altLang="es-ES" sz="1600" b="0" i="0" u="none" strike="noStrike" cap="none" normalizeH="0" baseline="0">
              <a:ln>
                <a:noFill/>
              </a:ln>
              <a:solidFill>
                <a:schemeClr val="tx1"/>
              </a:solidFill>
              <a:effectLst/>
              <a:latin typeface="Arial" panose="020B0604020202020204" pitchFamily="34" charset="0"/>
            </a:endParaRPr>
          </a:p>
        </p:txBody>
      </p:sp>
      <p:grpSp>
        <p:nvGrpSpPr>
          <p:cNvPr id="29" name="Grupo 28">
            <a:extLst>
              <a:ext uri="{FF2B5EF4-FFF2-40B4-BE49-F238E27FC236}">
                <a16:creationId xmlns:a16="http://schemas.microsoft.com/office/drawing/2014/main" id="{AE94306E-94DE-0A60-F3D0-04F490127197}"/>
              </a:ext>
            </a:extLst>
          </p:cNvPr>
          <p:cNvGrpSpPr/>
          <p:nvPr/>
        </p:nvGrpSpPr>
        <p:grpSpPr>
          <a:xfrm>
            <a:off x="152400" y="2688068"/>
            <a:ext cx="10745701" cy="1323805"/>
            <a:chOff x="114896" y="2479009"/>
            <a:chExt cx="10918572" cy="1507691"/>
          </a:xfrm>
        </p:grpSpPr>
        <p:grpSp>
          <p:nvGrpSpPr>
            <p:cNvPr id="30" name="Grupo 29">
              <a:extLst>
                <a:ext uri="{FF2B5EF4-FFF2-40B4-BE49-F238E27FC236}">
                  <a16:creationId xmlns:a16="http://schemas.microsoft.com/office/drawing/2014/main" id="{31B8F0BC-224F-68AF-ACCD-58CE5A439B5D}"/>
                </a:ext>
              </a:extLst>
            </p:cNvPr>
            <p:cNvGrpSpPr/>
            <p:nvPr/>
          </p:nvGrpSpPr>
          <p:grpSpPr>
            <a:xfrm>
              <a:off x="114896" y="2479009"/>
              <a:ext cx="10918572" cy="1507691"/>
              <a:chOff x="-99424" y="2479009"/>
              <a:chExt cx="10918572" cy="1507691"/>
            </a:xfrm>
          </p:grpSpPr>
          <p:grpSp>
            <p:nvGrpSpPr>
              <p:cNvPr id="36" name="Grupo 35">
                <a:extLst>
                  <a:ext uri="{FF2B5EF4-FFF2-40B4-BE49-F238E27FC236}">
                    <a16:creationId xmlns:a16="http://schemas.microsoft.com/office/drawing/2014/main" id="{15F433DF-AC93-C825-7D1E-B3031C6CAD48}"/>
                  </a:ext>
                </a:extLst>
              </p:cNvPr>
              <p:cNvGrpSpPr/>
              <p:nvPr/>
            </p:nvGrpSpPr>
            <p:grpSpPr>
              <a:xfrm>
                <a:off x="589302" y="2479009"/>
                <a:ext cx="10190203" cy="1507691"/>
                <a:chOff x="586887" y="2431223"/>
                <a:chExt cx="9117515" cy="1270860"/>
              </a:xfrm>
            </p:grpSpPr>
            <p:sp>
              <p:nvSpPr>
                <p:cNvPr id="38" name="Rectangle 2">
                  <a:hlinkClick r:id="rId3"/>
                  <a:extLst>
                    <a:ext uri="{FF2B5EF4-FFF2-40B4-BE49-F238E27FC236}">
                      <a16:creationId xmlns:a16="http://schemas.microsoft.com/office/drawing/2014/main" id="{5D54EF1C-BDF2-C1B0-FEA3-56FE599BF621}"/>
                    </a:ext>
                  </a:extLst>
                </p:cNvPr>
                <p:cNvSpPr>
                  <a:spLocks noChangeArrowheads="1"/>
                </p:cNvSpPr>
                <p:nvPr/>
              </p:nvSpPr>
              <p:spPr bwMode="auto">
                <a:xfrm>
                  <a:off x="726307" y="2480226"/>
                  <a:ext cx="2811463" cy="56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ES" altLang="es-ES" sz="1600" b="0" i="0" u="none" strike="noStrike" cap="none" normalizeH="0" baseline="0">
                      <a:ln>
                        <a:noFill/>
                      </a:ln>
                      <a:solidFill>
                        <a:schemeClr val="tx1"/>
                      </a:solidFill>
                      <a:effectLst/>
                      <a:latin typeface="Arial" panose="020B0604020202020204" pitchFamily="34" charset="0"/>
                    </a:rPr>
                  </a:br>
                  <a:endParaRPr kumimoji="0" lang="es-ES" altLang="es-ES" sz="1600" b="0" i="0" u="none" strike="noStrike" cap="none" normalizeH="0" baseline="0">
                    <a:ln>
                      <a:noFill/>
                    </a:ln>
                    <a:solidFill>
                      <a:schemeClr val="tx1"/>
                    </a:solidFill>
                    <a:effectLst/>
                    <a:latin typeface="Arial" panose="020B0604020202020204" pitchFamily="34" charset="0"/>
                  </a:endParaRPr>
                </a:p>
              </p:txBody>
            </p:sp>
            <p:sp>
              <p:nvSpPr>
                <p:cNvPr id="39" name="Recortar rectángulo de esquina del mismo lado 18">
                  <a:extLst>
                    <a:ext uri="{FF2B5EF4-FFF2-40B4-BE49-F238E27FC236}">
                      <a16:creationId xmlns:a16="http://schemas.microsoft.com/office/drawing/2014/main" id="{AF35940D-E27E-E66B-F049-E3850DFCABBA}"/>
                    </a:ext>
                  </a:extLst>
                </p:cNvPr>
                <p:cNvSpPr/>
                <p:nvPr/>
              </p:nvSpPr>
              <p:spPr>
                <a:xfrm>
                  <a:off x="726307" y="2875935"/>
                  <a:ext cx="1509323" cy="826148"/>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40" name="Elipse 39">
                  <a:extLst>
                    <a:ext uri="{FF2B5EF4-FFF2-40B4-BE49-F238E27FC236}">
                      <a16:creationId xmlns:a16="http://schemas.microsoft.com/office/drawing/2014/main" id="{E5639439-E2D7-80A0-F4C0-FC6F1720FF4B}"/>
                    </a:ext>
                  </a:extLst>
                </p:cNvPr>
                <p:cNvSpPr/>
                <p:nvPr/>
              </p:nvSpPr>
              <p:spPr>
                <a:xfrm>
                  <a:off x="1067272" y="2462861"/>
                  <a:ext cx="873891" cy="826149"/>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41" name="Recortar rectángulo de esquina del mismo lado 20">
                  <a:extLst>
                    <a:ext uri="{FF2B5EF4-FFF2-40B4-BE49-F238E27FC236}">
                      <a16:creationId xmlns:a16="http://schemas.microsoft.com/office/drawing/2014/main" id="{F6AEEAD4-08B3-41BA-1C40-E0B260FB990D}"/>
                    </a:ext>
                  </a:extLst>
                </p:cNvPr>
                <p:cNvSpPr/>
                <p:nvPr/>
              </p:nvSpPr>
              <p:spPr>
                <a:xfrm>
                  <a:off x="2576595" y="2875935"/>
                  <a:ext cx="1509323" cy="826148"/>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42" name="Elipse 41">
                  <a:extLst>
                    <a:ext uri="{FF2B5EF4-FFF2-40B4-BE49-F238E27FC236}">
                      <a16:creationId xmlns:a16="http://schemas.microsoft.com/office/drawing/2014/main" id="{E2E037EF-6316-AF8C-ABED-9AA1E31AC607}"/>
                    </a:ext>
                  </a:extLst>
                </p:cNvPr>
                <p:cNvSpPr/>
                <p:nvPr/>
              </p:nvSpPr>
              <p:spPr>
                <a:xfrm>
                  <a:off x="2917560" y="2462861"/>
                  <a:ext cx="873891" cy="826149"/>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43" name="Recortar rectángulo de esquina del mismo lado 22">
                  <a:extLst>
                    <a:ext uri="{FF2B5EF4-FFF2-40B4-BE49-F238E27FC236}">
                      <a16:creationId xmlns:a16="http://schemas.microsoft.com/office/drawing/2014/main" id="{E229D2BF-D910-2490-4CFD-7C7714DC5593}"/>
                    </a:ext>
                  </a:extLst>
                </p:cNvPr>
                <p:cNvSpPr/>
                <p:nvPr/>
              </p:nvSpPr>
              <p:spPr>
                <a:xfrm>
                  <a:off x="4426883" y="2844297"/>
                  <a:ext cx="1509323" cy="826148"/>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44" name="Elipse 43">
                  <a:extLst>
                    <a:ext uri="{FF2B5EF4-FFF2-40B4-BE49-F238E27FC236}">
                      <a16:creationId xmlns:a16="http://schemas.microsoft.com/office/drawing/2014/main" id="{5C7A4422-0197-5C29-FDF0-15509182222F}"/>
                    </a:ext>
                  </a:extLst>
                </p:cNvPr>
                <p:cNvSpPr/>
                <p:nvPr/>
              </p:nvSpPr>
              <p:spPr>
                <a:xfrm>
                  <a:off x="4767848" y="2431223"/>
                  <a:ext cx="873891" cy="826149"/>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45" name="Recortar rectángulo de esquina del mismo lado 24">
                  <a:extLst>
                    <a:ext uri="{FF2B5EF4-FFF2-40B4-BE49-F238E27FC236}">
                      <a16:creationId xmlns:a16="http://schemas.microsoft.com/office/drawing/2014/main" id="{D66D4456-05FC-C9AB-CEE9-650AD2D26B13}"/>
                    </a:ext>
                  </a:extLst>
                </p:cNvPr>
                <p:cNvSpPr/>
                <p:nvPr/>
              </p:nvSpPr>
              <p:spPr>
                <a:xfrm>
                  <a:off x="6277171" y="2844297"/>
                  <a:ext cx="1509323" cy="826148"/>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46" name="Elipse 45">
                  <a:extLst>
                    <a:ext uri="{FF2B5EF4-FFF2-40B4-BE49-F238E27FC236}">
                      <a16:creationId xmlns:a16="http://schemas.microsoft.com/office/drawing/2014/main" id="{A932CF0C-77B8-CFAD-A571-9810BA872437}"/>
                    </a:ext>
                  </a:extLst>
                </p:cNvPr>
                <p:cNvSpPr/>
                <p:nvPr/>
              </p:nvSpPr>
              <p:spPr>
                <a:xfrm>
                  <a:off x="6618136" y="2431223"/>
                  <a:ext cx="873891" cy="826149"/>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47" name="Recortar rectángulo de esquina del mismo lado 26">
                  <a:extLst>
                    <a:ext uri="{FF2B5EF4-FFF2-40B4-BE49-F238E27FC236}">
                      <a16:creationId xmlns:a16="http://schemas.microsoft.com/office/drawing/2014/main" id="{6F6C5565-BF0E-79BA-E873-76EAC64EBEEB}"/>
                    </a:ext>
                  </a:extLst>
                </p:cNvPr>
                <p:cNvSpPr/>
                <p:nvPr/>
              </p:nvSpPr>
              <p:spPr>
                <a:xfrm>
                  <a:off x="8127459" y="2844297"/>
                  <a:ext cx="1509323" cy="826148"/>
                </a:xfrm>
                <a:prstGeom prst="snip2SameRect">
                  <a:avLst/>
                </a:prstGeom>
                <a:solidFill>
                  <a:schemeClr val="accent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s-ES" sz="1400" b="1">
                    <a:solidFill>
                      <a:schemeClr val="tx1"/>
                    </a:solidFill>
                    <a:latin typeface="Santander Headline" panose="020B0504020201020104" pitchFamily="34" charset="77"/>
                    <a:ea typeface="+mj-ea"/>
                    <a:cs typeface="+mj-cs"/>
                  </a:endParaRPr>
                </a:p>
              </p:txBody>
            </p:sp>
            <p:sp>
              <p:nvSpPr>
                <p:cNvPr id="48" name="Elipse 47">
                  <a:extLst>
                    <a:ext uri="{FF2B5EF4-FFF2-40B4-BE49-F238E27FC236}">
                      <a16:creationId xmlns:a16="http://schemas.microsoft.com/office/drawing/2014/main" id="{6C666328-A686-1A7F-E119-45C92FE181FF}"/>
                    </a:ext>
                  </a:extLst>
                </p:cNvPr>
                <p:cNvSpPr/>
                <p:nvPr/>
              </p:nvSpPr>
              <p:spPr>
                <a:xfrm>
                  <a:off x="8468424" y="2431223"/>
                  <a:ext cx="873891" cy="826149"/>
                </a:xfrm>
                <a:prstGeom prst="ellipse">
                  <a:avLst/>
                </a:prstGeom>
                <a:solidFill>
                  <a:schemeClr val="bg1"/>
                </a:solidFill>
                <a:ln>
                  <a:noFill/>
                </a:ln>
                <a:effectLst>
                  <a:glow rad="635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pPr>
                  <a:endParaRPr lang="en-GB" sz="1400" b="1">
                    <a:solidFill>
                      <a:schemeClr val="tx1"/>
                    </a:solidFill>
                    <a:latin typeface="Santander Headline" panose="020B0504020201020104" pitchFamily="34" charset="77"/>
                    <a:ea typeface="+mj-ea"/>
                    <a:cs typeface="+mj-cs"/>
                  </a:endParaRPr>
                </a:p>
              </p:txBody>
            </p:sp>
            <p:sp>
              <p:nvSpPr>
                <p:cNvPr id="49" name="CuadroTexto 48">
                  <a:extLst>
                    <a:ext uri="{FF2B5EF4-FFF2-40B4-BE49-F238E27FC236}">
                      <a16:creationId xmlns:a16="http://schemas.microsoft.com/office/drawing/2014/main" id="{85FA9F39-86FB-B336-5A5F-C0FBE48E7606}"/>
                    </a:ext>
                  </a:extLst>
                </p:cNvPr>
                <p:cNvSpPr txBox="1"/>
                <p:nvPr/>
              </p:nvSpPr>
              <p:spPr>
                <a:xfrm>
                  <a:off x="586887" y="3335725"/>
                  <a:ext cx="1875707" cy="251147"/>
                </a:xfrm>
                <a:prstGeom prst="rect">
                  <a:avLst/>
                </a:prstGeom>
                <a:noFill/>
              </p:spPr>
              <p:txBody>
                <a:bodyPr wrap="square">
                  <a:spAutoFit/>
                </a:bodyPr>
                <a:lstStyle/>
                <a:p>
                  <a:pPr algn="ctr"/>
                  <a:r>
                    <a:rPr lang="en-US" sz="1100" b="1" dirty="0" err="1">
                      <a:solidFill>
                        <a:schemeClr val="bg1"/>
                      </a:solidFill>
                      <a:latin typeface="Santander Headline" panose="020B0504020201020104" pitchFamily="34" charset="77"/>
                      <a:ea typeface="+mj-ea"/>
                      <a:cs typeface="+mj-cs"/>
                    </a:rPr>
                    <a:t>Propiedad</a:t>
                  </a:r>
                  <a:r>
                    <a:rPr lang="en-US" sz="1100" b="1" dirty="0">
                      <a:solidFill>
                        <a:schemeClr val="bg1"/>
                      </a:solidFill>
                      <a:latin typeface="Santander Headline" panose="020B0504020201020104" pitchFamily="34" charset="77"/>
                      <a:ea typeface="+mj-ea"/>
                      <a:cs typeface="+mj-cs"/>
                    </a:rPr>
                    <a:t> </a:t>
                  </a:r>
                  <a:r>
                    <a:rPr lang="en-US" sz="1100" b="1" dirty="0" err="1">
                      <a:solidFill>
                        <a:schemeClr val="bg1"/>
                      </a:solidFill>
                      <a:latin typeface="Santander Headline" panose="020B0504020201020104" pitchFamily="34" charset="77"/>
                      <a:ea typeface="+mj-ea"/>
                      <a:cs typeface="+mj-cs"/>
                    </a:rPr>
                    <a:t>fraccionada</a:t>
                  </a:r>
                  <a:endParaRPr lang="en-US" sz="1100" b="1" dirty="0">
                    <a:solidFill>
                      <a:schemeClr val="bg1"/>
                    </a:solidFill>
                    <a:latin typeface="Santander Headline" panose="020B0504020201020104" pitchFamily="34" charset="77"/>
                    <a:ea typeface="+mj-ea"/>
                    <a:cs typeface="+mj-cs"/>
                  </a:endParaRPr>
                </a:p>
              </p:txBody>
            </p:sp>
            <p:sp>
              <p:nvSpPr>
                <p:cNvPr id="50" name="CuadroTexto 49">
                  <a:extLst>
                    <a:ext uri="{FF2B5EF4-FFF2-40B4-BE49-F238E27FC236}">
                      <a16:creationId xmlns:a16="http://schemas.microsoft.com/office/drawing/2014/main" id="{4C13D838-E784-B90B-B2D7-6E6CB60544D3}"/>
                    </a:ext>
                  </a:extLst>
                </p:cNvPr>
                <p:cNvSpPr txBox="1"/>
                <p:nvPr/>
              </p:nvSpPr>
              <p:spPr>
                <a:xfrm>
                  <a:off x="2581806" y="3320554"/>
                  <a:ext cx="1509323" cy="251147"/>
                </a:xfrm>
                <a:prstGeom prst="rect">
                  <a:avLst/>
                </a:prstGeom>
                <a:noFill/>
              </p:spPr>
              <p:txBody>
                <a:bodyPr wrap="square">
                  <a:spAutoFit/>
                </a:bodyPr>
                <a:lstStyle/>
                <a:p>
                  <a:pPr algn="ctr"/>
                  <a:r>
                    <a:rPr lang="en-US" sz="1100" b="1" dirty="0" err="1">
                      <a:solidFill>
                        <a:schemeClr val="bg1"/>
                      </a:solidFill>
                      <a:latin typeface="Santander Headline" panose="020B0504020201020104" pitchFamily="34" charset="77"/>
                      <a:ea typeface="+mj-ea"/>
                      <a:cs typeface="+mj-cs"/>
                    </a:rPr>
                    <a:t>Programabilidad</a:t>
                  </a:r>
                  <a:endParaRPr lang="en-US" sz="1100" b="1" dirty="0">
                    <a:solidFill>
                      <a:schemeClr val="bg1"/>
                    </a:solidFill>
                    <a:latin typeface="Santander Headline" panose="020B0504020201020104" pitchFamily="34" charset="77"/>
                    <a:ea typeface="+mj-ea"/>
                    <a:cs typeface="+mj-cs"/>
                  </a:endParaRPr>
                </a:p>
              </p:txBody>
            </p:sp>
            <p:sp>
              <p:nvSpPr>
                <p:cNvPr id="51" name="CuadroTexto 50">
                  <a:extLst>
                    <a:ext uri="{FF2B5EF4-FFF2-40B4-BE49-F238E27FC236}">
                      <a16:creationId xmlns:a16="http://schemas.microsoft.com/office/drawing/2014/main" id="{F2BAC9D3-F441-1F7A-8743-D92B6C2A982A}"/>
                    </a:ext>
                  </a:extLst>
                </p:cNvPr>
                <p:cNvSpPr txBox="1"/>
                <p:nvPr/>
              </p:nvSpPr>
              <p:spPr>
                <a:xfrm>
                  <a:off x="4383468" y="3318161"/>
                  <a:ext cx="1588223" cy="251147"/>
                </a:xfrm>
                <a:prstGeom prst="rect">
                  <a:avLst/>
                </a:prstGeom>
                <a:noFill/>
              </p:spPr>
              <p:txBody>
                <a:bodyPr wrap="square">
                  <a:spAutoFit/>
                </a:bodyPr>
                <a:lstStyle/>
                <a:p>
                  <a:pPr algn="ctr"/>
                  <a:r>
                    <a:rPr lang="en-US" sz="1100" b="1" dirty="0">
                      <a:solidFill>
                        <a:schemeClr val="bg1"/>
                      </a:solidFill>
                      <a:latin typeface="Santander Headline" panose="020B0504020201020104" pitchFamily="34" charset="77"/>
                      <a:ea typeface="+mj-ea"/>
                      <a:cs typeface="+mj-cs"/>
                    </a:rPr>
                    <a:t>Mayor </a:t>
                  </a:r>
                  <a:r>
                    <a:rPr lang="en-US" sz="1100" b="1" dirty="0" err="1">
                      <a:solidFill>
                        <a:schemeClr val="bg1"/>
                      </a:solidFill>
                      <a:latin typeface="Santander Headline" panose="020B0504020201020104" pitchFamily="34" charset="77"/>
                      <a:ea typeface="+mj-ea"/>
                      <a:cs typeface="+mj-cs"/>
                    </a:rPr>
                    <a:t>Liquidez</a:t>
                  </a:r>
                  <a:endParaRPr lang="en-US" sz="1100" b="1" dirty="0">
                    <a:solidFill>
                      <a:schemeClr val="bg1"/>
                    </a:solidFill>
                    <a:latin typeface="Santander Headline" panose="020B0504020201020104" pitchFamily="34" charset="77"/>
                    <a:ea typeface="+mj-ea"/>
                    <a:cs typeface="+mj-cs"/>
                  </a:endParaRPr>
                </a:p>
              </p:txBody>
            </p:sp>
            <p:sp>
              <p:nvSpPr>
                <p:cNvPr id="52" name="CuadroTexto 51">
                  <a:extLst>
                    <a:ext uri="{FF2B5EF4-FFF2-40B4-BE49-F238E27FC236}">
                      <a16:creationId xmlns:a16="http://schemas.microsoft.com/office/drawing/2014/main" id="{3511BA07-1556-C202-FCE8-B9FED904248B}"/>
                    </a:ext>
                  </a:extLst>
                </p:cNvPr>
                <p:cNvSpPr txBox="1"/>
                <p:nvPr/>
              </p:nvSpPr>
              <p:spPr>
                <a:xfrm>
                  <a:off x="6116774" y="3334377"/>
                  <a:ext cx="1917909" cy="251147"/>
                </a:xfrm>
                <a:prstGeom prst="rect">
                  <a:avLst/>
                </a:prstGeom>
                <a:noFill/>
              </p:spPr>
              <p:txBody>
                <a:bodyPr wrap="square">
                  <a:spAutoFit/>
                </a:bodyPr>
                <a:lstStyle/>
                <a:p>
                  <a:pPr algn="ctr"/>
                  <a:r>
                    <a:rPr lang="en-US" sz="1100" b="1" dirty="0" err="1">
                      <a:solidFill>
                        <a:schemeClr val="bg1"/>
                      </a:solidFill>
                      <a:latin typeface="Santander Headline" panose="020B0504020201020104" pitchFamily="34" charset="77"/>
                      <a:ea typeface="+mj-ea"/>
                      <a:cs typeface="+mj-cs"/>
                    </a:rPr>
                    <a:t>Accessibilidad</a:t>
                  </a:r>
                  <a:endParaRPr lang="en-US" sz="1100" b="1" dirty="0">
                    <a:solidFill>
                      <a:schemeClr val="bg1"/>
                    </a:solidFill>
                    <a:latin typeface="Santander Headline" panose="020B0504020201020104" pitchFamily="34" charset="77"/>
                    <a:ea typeface="+mj-ea"/>
                    <a:cs typeface="+mj-cs"/>
                  </a:endParaRPr>
                </a:p>
              </p:txBody>
            </p:sp>
            <p:sp>
              <p:nvSpPr>
                <p:cNvPr id="53" name="CuadroTexto 52">
                  <a:extLst>
                    <a:ext uri="{FF2B5EF4-FFF2-40B4-BE49-F238E27FC236}">
                      <a16:creationId xmlns:a16="http://schemas.microsoft.com/office/drawing/2014/main" id="{0F6E5AF7-D97B-2D5B-55E6-EBC0CD455273}"/>
                    </a:ext>
                  </a:extLst>
                </p:cNvPr>
                <p:cNvSpPr txBox="1"/>
                <p:nvPr/>
              </p:nvSpPr>
              <p:spPr>
                <a:xfrm>
                  <a:off x="8195079" y="3320553"/>
                  <a:ext cx="1509323" cy="251147"/>
                </a:xfrm>
                <a:prstGeom prst="rect">
                  <a:avLst/>
                </a:prstGeom>
                <a:noFill/>
              </p:spPr>
              <p:txBody>
                <a:bodyPr wrap="square">
                  <a:spAutoFit/>
                </a:bodyPr>
                <a:lstStyle/>
                <a:p>
                  <a:pPr algn="ctr"/>
                  <a:r>
                    <a:rPr lang="en-US" sz="1100" b="1" dirty="0">
                      <a:solidFill>
                        <a:schemeClr val="bg1"/>
                      </a:solidFill>
                      <a:latin typeface="Santander Headline" panose="020B0504020201020104" pitchFamily="34" charset="77"/>
                      <a:ea typeface="+mj-ea"/>
                      <a:cs typeface="+mj-cs"/>
                    </a:rPr>
                    <a:t>Mayor </a:t>
                  </a:r>
                  <a:r>
                    <a:rPr lang="en-US" sz="1100" b="1" dirty="0" err="1">
                      <a:solidFill>
                        <a:schemeClr val="bg1"/>
                      </a:solidFill>
                      <a:latin typeface="Santander Headline" panose="020B0504020201020104" pitchFamily="34" charset="77"/>
                      <a:ea typeface="+mj-ea"/>
                      <a:cs typeface="+mj-cs"/>
                    </a:rPr>
                    <a:t>Confianza</a:t>
                  </a:r>
                  <a:endParaRPr lang="en-US" sz="1100" b="1" dirty="0">
                    <a:solidFill>
                      <a:schemeClr val="bg1"/>
                    </a:solidFill>
                    <a:latin typeface="Santander Headline" panose="020B0504020201020104" pitchFamily="34" charset="77"/>
                    <a:ea typeface="+mj-ea"/>
                    <a:cs typeface="+mj-cs"/>
                  </a:endParaRPr>
                </a:p>
              </p:txBody>
            </p:sp>
          </p:grpSp>
          <p:cxnSp>
            <p:nvCxnSpPr>
              <p:cNvPr id="37" name="Conector recto 36">
                <a:extLst>
                  <a:ext uri="{FF2B5EF4-FFF2-40B4-BE49-F238E27FC236}">
                    <a16:creationId xmlns:a16="http://schemas.microsoft.com/office/drawing/2014/main" id="{EB6246E0-3BB3-870D-B34E-86E64CEEE00D}"/>
                  </a:ext>
                </a:extLst>
              </p:cNvPr>
              <p:cNvCxnSpPr>
                <a:cxnSpLocks/>
              </p:cNvCxnSpPr>
              <p:nvPr/>
            </p:nvCxnSpPr>
            <p:spPr>
              <a:xfrm flipV="1">
                <a:off x="-99424" y="3846709"/>
                <a:ext cx="10918572" cy="59348"/>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pic>
          <p:nvPicPr>
            <p:cNvPr id="31" name="Picture 1" descr="Gráfico circular">
              <a:extLst>
                <a:ext uri="{FF2B5EF4-FFF2-40B4-BE49-F238E27FC236}">
                  <a16:creationId xmlns:a16="http://schemas.microsoft.com/office/drawing/2014/main" id="{DF618865-AEC3-09DF-A5E8-C3A6FDE272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9656" y="2829737"/>
              <a:ext cx="378444" cy="37844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 descr="Código">
              <a:extLst>
                <a:ext uri="{FF2B5EF4-FFF2-40B4-BE49-F238E27FC236}">
                  <a16:creationId xmlns:a16="http://schemas.microsoft.com/office/drawing/2014/main" id="{910571D1-240B-01C6-CCCB-62B2405571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6774" y="2829738"/>
              <a:ext cx="378443" cy="37844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5" descr="Intercambio">
              <a:extLst>
                <a:ext uri="{FF2B5EF4-FFF2-40B4-BE49-F238E27FC236}">
                  <a16:creationId xmlns:a16="http://schemas.microsoft.com/office/drawing/2014/main" id="{2FA16EF7-C8E9-B011-2017-F1BC8AF8D0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3777" y="2793976"/>
              <a:ext cx="378444" cy="3784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7" descr="Palabra clave">
              <a:extLst>
                <a:ext uri="{FF2B5EF4-FFF2-40B4-BE49-F238E27FC236}">
                  <a16:creationId xmlns:a16="http://schemas.microsoft.com/office/drawing/2014/main" id="{F367534A-C6D0-878A-D45F-B512E6D99E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9259" y="2793976"/>
              <a:ext cx="378445" cy="3784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9" descr="Fiabilidad">
              <a:extLst>
                <a:ext uri="{FF2B5EF4-FFF2-40B4-BE49-F238E27FC236}">
                  <a16:creationId xmlns:a16="http://schemas.microsoft.com/office/drawing/2014/main" id="{AF0B30CA-0562-C125-E3F1-DBD3865C4B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41544" y="2834572"/>
              <a:ext cx="378444" cy="378444"/>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ítulo 1">
            <a:extLst>
              <a:ext uri="{FF2B5EF4-FFF2-40B4-BE49-F238E27FC236}">
                <a16:creationId xmlns:a16="http://schemas.microsoft.com/office/drawing/2014/main" id="{840C6028-1DE7-33A1-638B-96B13C1725FD}"/>
              </a:ext>
            </a:extLst>
          </p:cNvPr>
          <p:cNvSpPr>
            <a:spLocks noGrp="1"/>
          </p:cNvSpPr>
          <p:nvPr>
            <p:ph type="title"/>
          </p:nvPr>
        </p:nvSpPr>
        <p:spPr>
          <a:xfrm>
            <a:off x="442993" y="215022"/>
            <a:ext cx="10515600" cy="1325563"/>
          </a:xfrm>
        </p:spPr>
        <p:txBody>
          <a:bodyPr/>
          <a:lstStyle/>
          <a:p>
            <a:r>
              <a:rPr lang="es-ES"/>
              <a:t>Beneficios de Tokenizar en DLT</a:t>
            </a:r>
            <a:endParaRPr lang="es-ES" dirty="0"/>
          </a:p>
        </p:txBody>
      </p:sp>
    </p:spTree>
    <p:extLst>
      <p:ext uri="{BB962C8B-B14F-4D97-AF65-F5344CB8AC3E}">
        <p14:creationId xmlns:p14="http://schemas.microsoft.com/office/powerpoint/2010/main" val="2319707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02D303D1-4F35-2A17-EBDF-CE8D505EF4F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4172416-A688-A62F-9F16-3A368BCD6AC4}"/>
              </a:ext>
            </a:extLst>
          </p:cNvPr>
          <p:cNvPicPr>
            <a:picLocks noChangeAspect="1"/>
          </p:cNvPicPr>
          <p:nvPr/>
        </p:nvPicPr>
        <p:blipFill>
          <a:blip r:embed="rId3">
            <a:duotone>
              <a:schemeClr val="accent1">
                <a:shade val="45000"/>
                <a:satMod val="135000"/>
              </a:schemeClr>
              <a:prstClr val="white"/>
            </a:duotone>
          </a:blip>
          <a:stretch>
            <a:fillRect/>
          </a:stretch>
        </p:blipFill>
        <p:spPr>
          <a:xfrm>
            <a:off x="5452994" y="2717169"/>
            <a:ext cx="757930" cy="757930"/>
          </a:xfrm>
          <a:prstGeom prst="rect">
            <a:avLst/>
          </a:prstGeom>
        </p:spPr>
      </p:pic>
      <p:sp>
        <p:nvSpPr>
          <p:cNvPr id="5" name="Pentágono 3">
            <a:extLst>
              <a:ext uri="{FF2B5EF4-FFF2-40B4-BE49-F238E27FC236}">
                <a16:creationId xmlns:a16="http://schemas.microsoft.com/office/drawing/2014/main" id="{52075A68-CD5D-05B7-E847-08A137243632}"/>
              </a:ext>
            </a:extLst>
          </p:cNvPr>
          <p:cNvSpPr/>
          <p:nvPr/>
        </p:nvSpPr>
        <p:spPr>
          <a:xfrm>
            <a:off x="7655787" y="1567712"/>
            <a:ext cx="4058376" cy="596900"/>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b="1">
                <a:solidFill>
                  <a:schemeClr val="bg1"/>
                </a:solidFill>
                <a:latin typeface="Santander Headline" panose="020B0504020201020104" pitchFamily="34" charset="77"/>
                <a:ea typeface="+mj-ea"/>
                <a:cs typeface="+mj-cs"/>
              </a:rPr>
              <a:t>Post-trading</a:t>
            </a:r>
          </a:p>
        </p:txBody>
      </p:sp>
      <p:sp>
        <p:nvSpPr>
          <p:cNvPr id="7" name="Pentágono 4">
            <a:extLst>
              <a:ext uri="{FF2B5EF4-FFF2-40B4-BE49-F238E27FC236}">
                <a16:creationId xmlns:a16="http://schemas.microsoft.com/office/drawing/2014/main" id="{95143629-8F5E-CADB-7954-3593F53F60E8}"/>
              </a:ext>
            </a:extLst>
          </p:cNvPr>
          <p:cNvSpPr/>
          <p:nvPr/>
        </p:nvSpPr>
        <p:spPr>
          <a:xfrm>
            <a:off x="3726748" y="1567712"/>
            <a:ext cx="5027440" cy="5969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latin typeface="Santander Headline" panose="020B0504020201020104" pitchFamily="34" charset="77"/>
                <a:ea typeface="+mj-ea"/>
                <a:cs typeface="+mj-cs"/>
              </a:rPr>
              <a:t>Trading</a:t>
            </a:r>
          </a:p>
        </p:txBody>
      </p:sp>
      <p:sp>
        <p:nvSpPr>
          <p:cNvPr id="12" name="Pentágono 5">
            <a:extLst>
              <a:ext uri="{FF2B5EF4-FFF2-40B4-BE49-F238E27FC236}">
                <a16:creationId xmlns:a16="http://schemas.microsoft.com/office/drawing/2014/main" id="{5467E8F7-B8CE-0509-9985-4E5FE96CE8EB}"/>
              </a:ext>
            </a:extLst>
          </p:cNvPr>
          <p:cNvSpPr/>
          <p:nvPr/>
        </p:nvSpPr>
        <p:spPr>
          <a:xfrm>
            <a:off x="576263" y="1567712"/>
            <a:ext cx="3539763" cy="596900"/>
          </a:xfrm>
          <a:prstGeom prst="homePlat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latin typeface="Santander Headline" panose="020B0504020201020104" pitchFamily="34" charset="77"/>
                <a:ea typeface="+mj-ea"/>
                <a:cs typeface="+mj-cs"/>
              </a:rPr>
              <a:t>Emisión</a:t>
            </a:r>
            <a:endParaRPr lang="en-US" b="1" dirty="0">
              <a:solidFill>
                <a:schemeClr val="bg1"/>
              </a:solidFill>
              <a:latin typeface="Santander Headline" panose="020B0504020201020104" pitchFamily="34" charset="77"/>
              <a:ea typeface="+mj-ea"/>
              <a:cs typeface="+mj-cs"/>
            </a:endParaRPr>
          </a:p>
        </p:txBody>
      </p:sp>
      <p:sp>
        <p:nvSpPr>
          <p:cNvPr id="13" name="CuadroTexto 12">
            <a:extLst>
              <a:ext uri="{FF2B5EF4-FFF2-40B4-BE49-F238E27FC236}">
                <a16:creationId xmlns:a16="http://schemas.microsoft.com/office/drawing/2014/main" id="{A3E4EEDF-A592-293E-1CAA-06BA3A34A122}"/>
              </a:ext>
            </a:extLst>
          </p:cNvPr>
          <p:cNvSpPr txBox="1"/>
          <p:nvPr/>
        </p:nvSpPr>
        <p:spPr>
          <a:xfrm>
            <a:off x="909092" y="3409212"/>
            <a:ext cx="833883" cy="584775"/>
          </a:xfrm>
          <a:prstGeom prst="rect">
            <a:avLst/>
          </a:prstGeom>
          <a:noFill/>
        </p:spPr>
        <p:txBody>
          <a:bodyPr wrap="none" rtlCol="0">
            <a:spAutoFit/>
          </a:bodyPr>
          <a:lstStyle/>
          <a:p>
            <a:r>
              <a:rPr lang="en-US" sz="1400" b="1" dirty="0" err="1">
                <a:solidFill>
                  <a:schemeClr val="tx1">
                    <a:lumMod val="75000"/>
                    <a:lumOff val="25000"/>
                  </a:schemeClr>
                </a:solidFill>
                <a:latin typeface="Santander Text" panose="020B0504020201020104" pitchFamily="34" charset="77"/>
              </a:rPr>
              <a:t>Creación</a:t>
            </a:r>
            <a:r>
              <a:rPr lang="en-US" sz="1600" u="sng" dirty="0">
                <a:solidFill>
                  <a:schemeClr val="tx1">
                    <a:lumMod val="75000"/>
                    <a:lumOff val="25000"/>
                  </a:schemeClr>
                </a:solidFill>
              </a:rPr>
              <a:t>
</a:t>
            </a:r>
          </a:p>
        </p:txBody>
      </p:sp>
      <p:sp>
        <p:nvSpPr>
          <p:cNvPr id="14" name="CuadroTexto 13">
            <a:extLst>
              <a:ext uri="{FF2B5EF4-FFF2-40B4-BE49-F238E27FC236}">
                <a16:creationId xmlns:a16="http://schemas.microsoft.com/office/drawing/2014/main" id="{5FF24DF8-6A64-C7B2-2BDB-9E45EF9516ED}"/>
              </a:ext>
            </a:extLst>
          </p:cNvPr>
          <p:cNvSpPr txBox="1"/>
          <p:nvPr/>
        </p:nvSpPr>
        <p:spPr>
          <a:xfrm>
            <a:off x="2338470" y="3409212"/>
            <a:ext cx="1091966" cy="523220"/>
          </a:xfrm>
          <a:prstGeom prst="rect">
            <a:avLst/>
          </a:prstGeom>
          <a:noFill/>
        </p:spPr>
        <p:txBody>
          <a:bodyPr wrap="none" rtlCol="0">
            <a:spAutoFit/>
          </a:bodyPr>
          <a:lstStyle>
            <a:defPPr>
              <a:defRPr lang="es-ES"/>
            </a:defPPr>
            <a:lvl1pPr>
              <a:defRPr sz="1600" b="1">
                <a:latin typeface="Santander Text" panose="020B0504020201020104" pitchFamily="34" charset="77"/>
              </a:defRPr>
            </a:lvl1pPr>
          </a:lstStyle>
          <a:p>
            <a:r>
              <a:rPr lang="en-US" sz="1400" dirty="0" err="1">
                <a:solidFill>
                  <a:schemeClr val="tx1">
                    <a:lumMod val="75000"/>
                    <a:lumOff val="25000"/>
                  </a:schemeClr>
                </a:solidFill>
              </a:rPr>
              <a:t>Distribución</a:t>
            </a:r>
            <a:r>
              <a:rPr lang="en-US" sz="1400" dirty="0">
                <a:solidFill>
                  <a:schemeClr val="tx1">
                    <a:lumMod val="75000"/>
                    <a:lumOff val="25000"/>
                  </a:schemeClr>
                </a:solidFill>
              </a:rPr>
              <a:t>
</a:t>
            </a:r>
          </a:p>
        </p:txBody>
      </p:sp>
      <p:sp>
        <p:nvSpPr>
          <p:cNvPr id="15" name="CuadroTexto 14">
            <a:extLst>
              <a:ext uri="{FF2B5EF4-FFF2-40B4-BE49-F238E27FC236}">
                <a16:creationId xmlns:a16="http://schemas.microsoft.com/office/drawing/2014/main" id="{1C70CF5E-8C5D-E657-FFA9-C95F59115EA2}"/>
              </a:ext>
            </a:extLst>
          </p:cNvPr>
          <p:cNvSpPr txBox="1"/>
          <p:nvPr/>
        </p:nvSpPr>
        <p:spPr>
          <a:xfrm>
            <a:off x="4050630" y="3409212"/>
            <a:ext cx="627095" cy="523220"/>
          </a:xfrm>
          <a:prstGeom prst="rect">
            <a:avLst/>
          </a:prstGeom>
          <a:noFill/>
        </p:spPr>
        <p:txBody>
          <a:bodyPr wrap="none" rtlCol="0">
            <a:spAutoFit/>
          </a:bodyPr>
          <a:lstStyle>
            <a:defPPr>
              <a:defRPr lang="es-ES"/>
            </a:defPPr>
            <a:lvl1pPr>
              <a:defRPr sz="1600" b="1">
                <a:latin typeface="Santander Text" panose="020B0504020201020104" pitchFamily="34" charset="77"/>
              </a:defRPr>
            </a:lvl1pPr>
          </a:lstStyle>
          <a:p>
            <a:r>
              <a:rPr lang="en-US" sz="1400" dirty="0">
                <a:solidFill>
                  <a:schemeClr val="tx1">
                    <a:lumMod val="75000"/>
                    <a:lumOff val="25000"/>
                  </a:schemeClr>
                </a:solidFill>
              </a:rPr>
              <a:t>Venta
</a:t>
            </a:r>
          </a:p>
        </p:txBody>
      </p:sp>
      <p:sp>
        <p:nvSpPr>
          <p:cNvPr id="16" name="CuadroTexto 15">
            <a:extLst>
              <a:ext uri="{FF2B5EF4-FFF2-40B4-BE49-F238E27FC236}">
                <a16:creationId xmlns:a16="http://schemas.microsoft.com/office/drawing/2014/main" id="{48822518-0A35-9DA9-04DD-8A423562545A}"/>
              </a:ext>
            </a:extLst>
          </p:cNvPr>
          <p:cNvSpPr txBox="1"/>
          <p:nvPr/>
        </p:nvSpPr>
        <p:spPr>
          <a:xfrm>
            <a:off x="5447507" y="3384785"/>
            <a:ext cx="792205" cy="523220"/>
          </a:xfrm>
          <a:prstGeom prst="rect">
            <a:avLst/>
          </a:prstGeom>
          <a:noFill/>
        </p:spPr>
        <p:txBody>
          <a:bodyPr wrap="none" rtlCol="0">
            <a:spAutoFit/>
          </a:bodyPr>
          <a:lstStyle>
            <a:defPPr>
              <a:defRPr lang="es-ES"/>
            </a:defPPr>
            <a:lvl1pPr>
              <a:defRPr sz="1600" b="1">
                <a:latin typeface="Santander Text" panose="020B0504020201020104" pitchFamily="34" charset="77"/>
              </a:defRPr>
            </a:lvl1pPr>
          </a:lstStyle>
          <a:p>
            <a:r>
              <a:rPr lang="en-US" sz="1400" dirty="0">
                <a:solidFill>
                  <a:schemeClr val="tx1">
                    <a:lumMod val="75000"/>
                    <a:lumOff val="25000"/>
                  </a:schemeClr>
                </a:solidFill>
              </a:rPr>
              <a:t>Clearing
</a:t>
            </a:r>
          </a:p>
        </p:txBody>
      </p:sp>
      <p:sp>
        <p:nvSpPr>
          <p:cNvPr id="17" name="CuadroTexto 16">
            <a:extLst>
              <a:ext uri="{FF2B5EF4-FFF2-40B4-BE49-F238E27FC236}">
                <a16:creationId xmlns:a16="http://schemas.microsoft.com/office/drawing/2014/main" id="{BA983665-D27C-C0C6-14ED-1C7123A12E00}"/>
              </a:ext>
            </a:extLst>
          </p:cNvPr>
          <p:cNvSpPr txBox="1"/>
          <p:nvPr/>
        </p:nvSpPr>
        <p:spPr>
          <a:xfrm>
            <a:off x="6856760" y="3409212"/>
            <a:ext cx="1008418" cy="307777"/>
          </a:xfrm>
          <a:prstGeom prst="rect">
            <a:avLst/>
          </a:prstGeom>
          <a:noFill/>
        </p:spPr>
        <p:txBody>
          <a:bodyPr wrap="none" rtlCol="0">
            <a:spAutoFit/>
          </a:bodyPr>
          <a:lstStyle>
            <a:defPPr>
              <a:defRPr lang="es-ES"/>
            </a:defPPr>
            <a:lvl1pPr>
              <a:defRPr sz="1600" b="1">
                <a:latin typeface="Santander Text" panose="020B0504020201020104" pitchFamily="34" charset="77"/>
              </a:defRPr>
            </a:lvl1pPr>
          </a:lstStyle>
          <a:p>
            <a:r>
              <a:rPr lang="en-US" sz="1400">
                <a:solidFill>
                  <a:schemeClr val="tx1">
                    <a:lumMod val="75000"/>
                    <a:lumOff val="25000"/>
                  </a:schemeClr>
                </a:solidFill>
              </a:rPr>
              <a:t>Settlement</a:t>
            </a:r>
          </a:p>
        </p:txBody>
      </p:sp>
      <p:sp>
        <p:nvSpPr>
          <p:cNvPr id="18" name="CuadroTexto 17">
            <a:extLst>
              <a:ext uri="{FF2B5EF4-FFF2-40B4-BE49-F238E27FC236}">
                <a16:creationId xmlns:a16="http://schemas.microsoft.com/office/drawing/2014/main" id="{73A735DE-6715-B3D2-EA91-AE7833E72C08}"/>
              </a:ext>
            </a:extLst>
          </p:cNvPr>
          <p:cNvSpPr txBox="1"/>
          <p:nvPr/>
        </p:nvSpPr>
        <p:spPr>
          <a:xfrm>
            <a:off x="8684138" y="3409212"/>
            <a:ext cx="835485" cy="523220"/>
          </a:xfrm>
          <a:prstGeom prst="rect">
            <a:avLst/>
          </a:prstGeom>
          <a:noFill/>
        </p:spPr>
        <p:txBody>
          <a:bodyPr wrap="none" rtlCol="0">
            <a:spAutoFit/>
          </a:bodyPr>
          <a:lstStyle>
            <a:defPPr>
              <a:defRPr lang="es-ES"/>
            </a:defPPr>
            <a:lvl1pPr>
              <a:defRPr sz="1600" b="1">
                <a:latin typeface="Santander Text" panose="020B0504020201020104" pitchFamily="34" charset="77"/>
              </a:defRPr>
            </a:lvl1pPr>
          </a:lstStyle>
          <a:p>
            <a:r>
              <a:rPr lang="en-US" sz="1400" dirty="0">
                <a:solidFill>
                  <a:schemeClr val="tx1">
                    <a:lumMod val="75000"/>
                    <a:lumOff val="25000"/>
                  </a:schemeClr>
                </a:solidFill>
              </a:rPr>
              <a:t>Custodia
</a:t>
            </a:r>
          </a:p>
        </p:txBody>
      </p:sp>
      <p:sp>
        <p:nvSpPr>
          <p:cNvPr id="19" name="CuadroTexto 18">
            <a:extLst>
              <a:ext uri="{FF2B5EF4-FFF2-40B4-BE49-F238E27FC236}">
                <a16:creationId xmlns:a16="http://schemas.microsoft.com/office/drawing/2014/main" id="{94984300-6F77-46A4-60F7-3143127C6AB4}"/>
              </a:ext>
            </a:extLst>
          </p:cNvPr>
          <p:cNvSpPr txBox="1"/>
          <p:nvPr/>
        </p:nvSpPr>
        <p:spPr>
          <a:xfrm>
            <a:off x="9961097" y="3409212"/>
            <a:ext cx="1285929" cy="523220"/>
          </a:xfrm>
          <a:prstGeom prst="rect">
            <a:avLst/>
          </a:prstGeom>
          <a:noFill/>
        </p:spPr>
        <p:txBody>
          <a:bodyPr wrap="none" rtlCol="0">
            <a:spAutoFit/>
          </a:bodyPr>
          <a:lstStyle>
            <a:defPPr>
              <a:defRPr lang="es-ES"/>
            </a:defPPr>
            <a:lvl1pPr>
              <a:defRPr sz="1600" b="1">
                <a:latin typeface="Santander Text" panose="020B0504020201020104" pitchFamily="34" charset="77"/>
              </a:defRPr>
            </a:lvl1pPr>
          </a:lstStyle>
          <a:p>
            <a:r>
              <a:rPr lang="en-US" sz="1400" dirty="0" err="1">
                <a:solidFill>
                  <a:schemeClr val="tx1">
                    <a:lumMod val="75000"/>
                    <a:lumOff val="25000"/>
                  </a:schemeClr>
                </a:solidFill>
              </a:rPr>
              <a:t>Otros</a:t>
            </a:r>
            <a:r>
              <a:rPr lang="en-US" sz="1400" dirty="0">
                <a:solidFill>
                  <a:schemeClr val="tx1">
                    <a:lumMod val="75000"/>
                    <a:lumOff val="25000"/>
                  </a:schemeClr>
                </a:solidFill>
              </a:rPr>
              <a:t> </a:t>
            </a:r>
            <a:r>
              <a:rPr lang="en-US" sz="1400" dirty="0" err="1">
                <a:solidFill>
                  <a:schemeClr val="tx1">
                    <a:lumMod val="75000"/>
                    <a:lumOff val="25000"/>
                  </a:schemeClr>
                </a:solidFill>
              </a:rPr>
              <a:t>servicios</a:t>
            </a:r>
            <a:r>
              <a:rPr lang="en-US" sz="1400" dirty="0">
                <a:solidFill>
                  <a:schemeClr val="tx1">
                    <a:lumMod val="75000"/>
                    <a:lumOff val="25000"/>
                  </a:schemeClr>
                </a:solidFill>
              </a:rPr>
              <a:t>
</a:t>
            </a:r>
          </a:p>
        </p:txBody>
      </p:sp>
      <p:sp>
        <p:nvSpPr>
          <p:cNvPr id="20" name="CuadroTexto 19">
            <a:extLst>
              <a:ext uri="{FF2B5EF4-FFF2-40B4-BE49-F238E27FC236}">
                <a16:creationId xmlns:a16="http://schemas.microsoft.com/office/drawing/2014/main" id="{B503DE65-9111-E2E4-3B19-A24FF73825E6}"/>
              </a:ext>
            </a:extLst>
          </p:cNvPr>
          <p:cNvSpPr txBox="1"/>
          <p:nvPr/>
        </p:nvSpPr>
        <p:spPr>
          <a:xfrm>
            <a:off x="576263" y="3811724"/>
            <a:ext cx="1483061" cy="1831271"/>
          </a:xfrm>
          <a:prstGeom prst="rect">
            <a:avLst/>
          </a:prstGeom>
        </p:spPr>
        <p:txBody>
          <a:bodyPr wrap="square">
            <a:spAutoFit/>
          </a:bodyPr>
          <a:lstStyle>
            <a:defPPr>
              <a:defRPr lang="es-ES"/>
            </a:defPPr>
            <a:lvl1pPr lvl="0">
              <a:spcBef>
                <a:spcPts val="300"/>
              </a:spcBef>
              <a:spcAft>
                <a:spcPts val="300"/>
              </a:spcAft>
              <a:buClr>
                <a:srgbClr val="9D3566"/>
              </a:buClr>
              <a:buSzPct val="70000"/>
              <a:defRPr sz="1100">
                <a:solidFill>
                  <a:schemeClr val="tx1">
                    <a:lumMod val="75000"/>
                    <a:lumOff val="25000"/>
                  </a:schemeClr>
                </a:solidFill>
                <a:latin typeface="Santander Text" panose="020B0504020201020104" pitchFamily="34" charset="77"/>
              </a:defRPr>
            </a:lvl1pPr>
          </a:lstStyle>
          <a:p>
            <a:pPr marL="171450" indent="-171450">
              <a:buFont typeface="Arial" panose="020B0604020202020204" pitchFamily="34" charset="0"/>
              <a:buChar char="•"/>
            </a:pPr>
            <a:r>
              <a:rPr lang="es-ES" sz="1200" dirty="0"/>
              <a:t>Se democratiza la creación de activos digitales, reduciendo las barreras de entrada.</a:t>
            </a:r>
          </a:p>
          <a:p>
            <a:pPr marL="171450" indent="-171450">
              <a:buFont typeface="Arial" panose="020B0604020202020204" pitchFamily="34" charset="0"/>
              <a:buChar char="•"/>
            </a:pPr>
            <a:r>
              <a:rPr lang="es-ES" sz="1200" dirty="0"/>
              <a:t>Aparecen nuevos modelos de activos (</a:t>
            </a:r>
            <a:r>
              <a:rPr lang="es-ES" sz="1200" dirty="0" err="1"/>
              <a:t>DeFi</a:t>
            </a:r>
            <a:r>
              <a:rPr lang="es-ES" sz="1200" dirty="0"/>
              <a:t>).</a:t>
            </a:r>
            <a:endParaRPr lang="en-US" sz="1200" dirty="0"/>
          </a:p>
        </p:txBody>
      </p:sp>
      <p:sp>
        <p:nvSpPr>
          <p:cNvPr id="21" name="CuadroTexto 20">
            <a:extLst>
              <a:ext uri="{FF2B5EF4-FFF2-40B4-BE49-F238E27FC236}">
                <a16:creationId xmlns:a16="http://schemas.microsoft.com/office/drawing/2014/main" id="{DA89C567-50E7-3C25-0BEB-A4660F5B4A9F}"/>
              </a:ext>
            </a:extLst>
          </p:cNvPr>
          <p:cNvSpPr txBox="1"/>
          <p:nvPr/>
        </p:nvSpPr>
        <p:spPr>
          <a:xfrm>
            <a:off x="2110119" y="3811724"/>
            <a:ext cx="1533856" cy="1384995"/>
          </a:xfrm>
          <a:prstGeom prst="rect">
            <a:avLst/>
          </a:prstGeom>
        </p:spPr>
        <p:txBody>
          <a:bodyPr wrap="square">
            <a:spAutoFit/>
          </a:bodyPr>
          <a:lstStyle>
            <a:defPPr>
              <a:defRPr lang="es-ES"/>
            </a:defPPr>
            <a:lvl1pPr marL="171450" lvl="0" indent="-171450">
              <a:spcBef>
                <a:spcPts val="300"/>
              </a:spcBef>
              <a:spcAft>
                <a:spcPts val="300"/>
              </a:spcAft>
              <a:buClr>
                <a:srgbClr val="9D3566"/>
              </a:buClr>
              <a:buSzPct val="70000"/>
              <a:buFont typeface="Arial" panose="020B0604020202020204" pitchFamily="34" charset="0"/>
              <a:buChar char="•"/>
              <a:defRPr sz="1400">
                <a:solidFill>
                  <a:schemeClr val="tx1">
                    <a:lumMod val="75000"/>
                    <a:lumOff val="25000"/>
                  </a:schemeClr>
                </a:solidFill>
                <a:latin typeface="Santander Text" panose="020B0504020201020104" pitchFamily="34" charset="77"/>
              </a:defRPr>
            </a:lvl1pPr>
          </a:lstStyle>
          <a:p>
            <a:r>
              <a:rPr lang="es-ES" sz="1200" dirty="0"/>
              <a:t>Se eliminan intermediarios, potenciando los canales directos de comercialización del activo</a:t>
            </a:r>
          </a:p>
        </p:txBody>
      </p:sp>
      <p:sp>
        <p:nvSpPr>
          <p:cNvPr id="22" name="CuadroTexto 21">
            <a:extLst>
              <a:ext uri="{FF2B5EF4-FFF2-40B4-BE49-F238E27FC236}">
                <a16:creationId xmlns:a16="http://schemas.microsoft.com/office/drawing/2014/main" id="{B14BF8B1-5CA1-549E-F221-D702134C6413}"/>
              </a:ext>
            </a:extLst>
          </p:cNvPr>
          <p:cNvSpPr txBox="1"/>
          <p:nvPr/>
        </p:nvSpPr>
        <p:spPr>
          <a:xfrm>
            <a:off x="3643974" y="3811724"/>
            <a:ext cx="1610831" cy="2015936"/>
          </a:xfrm>
          <a:prstGeom prst="rect">
            <a:avLst/>
          </a:prstGeom>
        </p:spPr>
        <p:txBody>
          <a:bodyPr wrap="square">
            <a:spAutoFit/>
          </a:bodyPr>
          <a:lstStyle>
            <a:defPPr>
              <a:defRPr lang="es-ES"/>
            </a:defPPr>
            <a:lvl1pPr marL="171450" lvl="0" indent="-171450">
              <a:spcBef>
                <a:spcPts val="300"/>
              </a:spcBef>
              <a:spcAft>
                <a:spcPts val="300"/>
              </a:spcAft>
              <a:buClr>
                <a:srgbClr val="9D3566"/>
              </a:buClr>
              <a:buSzPct val="70000"/>
              <a:buFont typeface="Arial" panose="020B0604020202020204" pitchFamily="34" charset="0"/>
              <a:buChar char="•"/>
              <a:defRPr sz="1400">
                <a:solidFill>
                  <a:schemeClr val="tx1">
                    <a:lumMod val="75000"/>
                    <a:lumOff val="25000"/>
                  </a:schemeClr>
                </a:solidFill>
                <a:latin typeface="Santander Text" panose="020B0504020201020104" pitchFamily="34" charset="77"/>
              </a:defRPr>
            </a:lvl1pPr>
          </a:lstStyle>
          <a:p>
            <a:r>
              <a:rPr lang="es-ES" sz="1200" dirty="0"/>
              <a:t>Permite operar 24/7.</a:t>
            </a:r>
          </a:p>
          <a:p>
            <a:r>
              <a:rPr lang="es-ES" sz="1200" dirty="0"/>
              <a:t>Las operaciones pueden cerrarse fuera de la cámara de compensación, ya que desaparece el concepto de operaciones extrabursátiles.</a:t>
            </a:r>
            <a:endParaRPr lang="en-US" sz="1200" dirty="0"/>
          </a:p>
        </p:txBody>
      </p:sp>
      <p:sp>
        <p:nvSpPr>
          <p:cNvPr id="23" name="CuadroTexto 22">
            <a:extLst>
              <a:ext uri="{FF2B5EF4-FFF2-40B4-BE49-F238E27FC236}">
                <a16:creationId xmlns:a16="http://schemas.microsoft.com/office/drawing/2014/main" id="{BBD5273E-7FBC-7106-BAC6-E510A853AB17}"/>
              </a:ext>
            </a:extLst>
          </p:cNvPr>
          <p:cNvSpPr txBox="1"/>
          <p:nvPr/>
        </p:nvSpPr>
        <p:spPr>
          <a:xfrm>
            <a:off x="5373000" y="3811724"/>
            <a:ext cx="2817856" cy="1015663"/>
          </a:xfrm>
          <a:prstGeom prst="rect">
            <a:avLst/>
          </a:prstGeom>
        </p:spPr>
        <p:txBody>
          <a:bodyPr wrap="square">
            <a:spAutoFit/>
          </a:bodyPr>
          <a:lstStyle>
            <a:defPPr>
              <a:defRPr lang="es-ES"/>
            </a:defPPr>
            <a:lvl1pPr marL="171450" lvl="0" indent="-171450">
              <a:spcBef>
                <a:spcPts val="300"/>
              </a:spcBef>
              <a:spcAft>
                <a:spcPts val="300"/>
              </a:spcAft>
              <a:buClr>
                <a:srgbClr val="9D3566"/>
              </a:buClr>
              <a:buSzPct val="70000"/>
              <a:buFont typeface="Arial" panose="020B0604020202020204" pitchFamily="34" charset="0"/>
              <a:buChar char="•"/>
              <a:defRPr sz="1400">
                <a:solidFill>
                  <a:schemeClr val="tx1">
                    <a:lumMod val="75000"/>
                    <a:lumOff val="25000"/>
                  </a:schemeClr>
                </a:solidFill>
                <a:latin typeface="Santander Text" panose="020B0504020201020104" pitchFamily="34" charset="77"/>
              </a:defRPr>
            </a:lvl1pPr>
          </a:lstStyle>
          <a:p>
            <a:r>
              <a:rPr lang="es-ES" sz="1200" dirty="0"/>
              <a:t>El </a:t>
            </a:r>
            <a:r>
              <a:rPr lang="es-ES" sz="1200" dirty="0" err="1"/>
              <a:t>clearing</a:t>
            </a:r>
            <a:r>
              <a:rPr lang="es-ES" sz="1200" dirty="0"/>
              <a:t> y </a:t>
            </a:r>
            <a:r>
              <a:rPr lang="es-ES" sz="1200" dirty="0" err="1"/>
              <a:t>settlement</a:t>
            </a:r>
            <a:r>
              <a:rPr lang="es-ES" sz="1200" dirty="0"/>
              <a:t> de la operación se simplifica al permitir la tecnología “Entrega Vs Pago” que elimina la necesidad de intermediarios (cámaras de compensación)</a:t>
            </a:r>
          </a:p>
        </p:txBody>
      </p:sp>
      <p:sp>
        <p:nvSpPr>
          <p:cNvPr id="24" name="CuadroTexto 23">
            <a:extLst>
              <a:ext uri="{FF2B5EF4-FFF2-40B4-BE49-F238E27FC236}">
                <a16:creationId xmlns:a16="http://schemas.microsoft.com/office/drawing/2014/main" id="{EE76BCCA-CA2E-8AE4-4897-34254EAE6CC5}"/>
              </a:ext>
            </a:extLst>
          </p:cNvPr>
          <p:cNvSpPr txBox="1"/>
          <p:nvPr/>
        </p:nvSpPr>
        <p:spPr>
          <a:xfrm>
            <a:off x="8232073" y="3811724"/>
            <a:ext cx="1610831" cy="2015936"/>
          </a:xfrm>
          <a:prstGeom prst="rect">
            <a:avLst/>
          </a:prstGeom>
        </p:spPr>
        <p:txBody>
          <a:bodyPr wrap="square">
            <a:spAutoFit/>
          </a:bodyPr>
          <a:lstStyle>
            <a:defPPr>
              <a:defRPr lang="es-ES"/>
            </a:defPPr>
            <a:lvl1pPr marL="171450" lvl="0" indent="-171450">
              <a:spcBef>
                <a:spcPts val="300"/>
              </a:spcBef>
              <a:spcAft>
                <a:spcPts val="300"/>
              </a:spcAft>
              <a:buClr>
                <a:srgbClr val="9D3566"/>
              </a:buClr>
              <a:buSzPct val="70000"/>
              <a:buFont typeface="Arial" panose="020B0604020202020204" pitchFamily="34" charset="0"/>
              <a:buChar char="•"/>
              <a:defRPr sz="1400">
                <a:solidFill>
                  <a:schemeClr val="tx1">
                    <a:lumMod val="75000"/>
                    <a:lumOff val="25000"/>
                  </a:schemeClr>
                </a:solidFill>
                <a:latin typeface="Santander Text" panose="020B0504020201020104" pitchFamily="34" charset="77"/>
              </a:defRPr>
            </a:lvl1pPr>
          </a:lstStyle>
          <a:p>
            <a:r>
              <a:rPr lang="es-ES" sz="1200" dirty="0"/>
              <a:t>Es necesario fortalecer los mecanismos de custodia para proteger las claves de los activos.</a:t>
            </a:r>
          </a:p>
          <a:p>
            <a:r>
              <a:rPr lang="es-ES" sz="1200" dirty="0"/>
              <a:t>Estas pueden ser custodiadas por el propietario o el banco.</a:t>
            </a:r>
            <a:endParaRPr lang="en-US" sz="1200" dirty="0"/>
          </a:p>
        </p:txBody>
      </p:sp>
      <p:sp>
        <p:nvSpPr>
          <p:cNvPr id="25" name="CuadroTexto 24">
            <a:extLst>
              <a:ext uri="{FF2B5EF4-FFF2-40B4-BE49-F238E27FC236}">
                <a16:creationId xmlns:a16="http://schemas.microsoft.com/office/drawing/2014/main" id="{DFCE231A-787B-C78E-24B9-9E8C4EB514FA}"/>
              </a:ext>
            </a:extLst>
          </p:cNvPr>
          <p:cNvSpPr txBox="1"/>
          <p:nvPr/>
        </p:nvSpPr>
        <p:spPr>
          <a:xfrm>
            <a:off x="9779399" y="3811724"/>
            <a:ext cx="1617264" cy="1200329"/>
          </a:xfrm>
          <a:prstGeom prst="rect">
            <a:avLst/>
          </a:prstGeom>
        </p:spPr>
        <p:txBody>
          <a:bodyPr wrap="square">
            <a:spAutoFit/>
          </a:bodyPr>
          <a:lstStyle>
            <a:defPPr>
              <a:defRPr lang="es-ES"/>
            </a:defPPr>
            <a:lvl1pPr marL="171450" lvl="0" indent="-171450">
              <a:spcBef>
                <a:spcPts val="300"/>
              </a:spcBef>
              <a:spcAft>
                <a:spcPts val="300"/>
              </a:spcAft>
              <a:buClr>
                <a:srgbClr val="9D3566"/>
              </a:buClr>
              <a:buSzPct val="70000"/>
              <a:buFont typeface="Arial" panose="020B0604020202020204" pitchFamily="34" charset="0"/>
              <a:buChar char="•"/>
              <a:defRPr sz="1400">
                <a:solidFill>
                  <a:schemeClr val="tx1">
                    <a:lumMod val="75000"/>
                    <a:lumOff val="25000"/>
                  </a:schemeClr>
                </a:solidFill>
                <a:latin typeface="Santander Text" panose="020B0504020201020104" pitchFamily="34" charset="77"/>
              </a:defRPr>
            </a:lvl1pPr>
          </a:lstStyle>
          <a:p>
            <a:r>
              <a:rPr lang="es-ES" sz="1200" dirty="0"/>
              <a:t>Aparecen nuevos servicios puente entre activos </a:t>
            </a:r>
            <a:r>
              <a:rPr lang="es-ES" sz="1200" dirty="0" err="1"/>
              <a:t>tokenizados</a:t>
            </a:r>
            <a:r>
              <a:rPr lang="es-ES" sz="1200" dirty="0"/>
              <a:t> y no </a:t>
            </a:r>
            <a:r>
              <a:rPr lang="es-ES" sz="1200" dirty="0" err="1"/>
              <a:t>tokenizados</a:t>
            </a:r>
            <a:r>
              <a:rPr lang="es-ES" sz="1200" dirty="0"/>
              <a:t> (swaps, financiación, etc.)</a:t>
            </a:r>
          </a:p>
        </p:txBody>
      </p:sp>
      <p:pic>
        <p:nvPicPr>
          <p:cNvPr id="26" name="Imagen 25">
            <a:extLst>
              <a:ext uri="{FF2B5EF4-FFF2-40B4-BE49-F238E27FC236}">
                <a16:creationId xmlns:a16="http://schemas.microsoft.com/office/drawing/2014/main" id="{0877B76F-5F29-12AF-C1F0-8AE3BED98909}"/>
              </a:ext>
            </a:extLst>
          </p:cNvPr>
          <p:cNvPicPr>
            <a:picLocks noChangeAspect="1"/>
          </p:cNvPicPr>
          <p:nvPr/>
        </p:nvPicPr>
        <p:blipFill rotWithShape="1">
          <a:blip r:embed="rId4">
            <a:duotone>
              <a:schemeClr val="accent1">
                <a:shade val="45000"/>
                <a:satMod val="135000"/>
              </a:schemeClr>
              <a:prstClr val="white"/>
            </a:duotone>
          </a:blip>
          <a:srcRect l="20123" r="16555"/>
          <a:stretch/>
        </p:blipFill>
        <p:spPr>
          <a:xfrm>
            <a:off x="909092" y="2571731"/>
            <a:ext cx="673160" cy="597311"/>
          </a:xfrm>
          <a:prstGeom prst="rect">
            <a:avLst/>
          </a:prstGeom>
        </p:spPr>
      </p:pic>
      <p:pic>
        <p:nvPicPr>
          <p:cNvPr id="27" name="Imagen 26">
            <a:extLst>
              <a:ext uri="{FF2B5EF4-FFF2-40B4-BE49-F238E27FC236}">
                <a16:creationId xmlns:a16="http://schemas.microsoft.com/office/drawing/2014/main" id="{32AEAF2D-9C17-2F4D-4DC4-728244CBEF7E}"/>
              </a:ext>
            </a:extLst>
          </p:cNvPr>
          <p:cNvPicPr>
            <a:picLocks noChangeAspect="1"/>
          </p:cNvPicPr>
          <p:nvPr/>
        </p:nvPicPr>
        <p:blipFill rotWithShape="1">
          <a:blip r:embed="rId5">
            <a:duotone>
              <a:schemeClr val="accent1">
                <a:shade val="45000"/>
                <a:satMod val="135000"/>
              </a:schemeClr>
              <a:prstClr val="white"/>
            </a:duotone>
          </a:blip>
          <a:srcRect l="19353" t="9704" r="18425" b="28074"/>
          <a:stretch/>
        </p:blipFill>
        <p:spPr>
          <a:xfrm>
            <a:off x="2505853" y="2583387"/>
            <a:ext cx="622124" cy="622123"/>
          </a:xfrm>
          <a:prstGeom prst="rect">
            <a:avLst/>
          </a:prstGeom>
        </p:spPr>
      </p:pic>
      <p:pic>
        <p:nvPicPr>
          <p:cNvPr id="28" name="Imagen 27">
            <a:extLst>
              <a:ext uri="{FF2B5EF4-FFF2-40B4-BE49-F238E27FC236}">
                <a16:creationId xmlns:a16="http://schemas.microsoft.com/office/drawing/2014/main" id="{413B8D0B-F4C9-03B7-2130-2DCBD0D09E9F}"/>
              </a:ext>
            </a:extLst>
          </p:cNvPr>
          <p:cNvPicPr>
            <a:picLocks noChangeAspect="1"/>
          </p:cNvPicPr>
          <p:nvPr/>
        </p:nvPicPr>
        <p:blipFill rotWithShape="1">
          <a:blip r:embed="rId6">
            <a:duotone>
              <a:schemeClr val="accent1">
                <a:shade val="45000"/>
                <a:satMod val="135000"/>
              </a:schemeClr>
              <a:prstClr val="white"/>
            </a:duotone>
          </a:blip>
          <a:srcRect b="15349"/>
          <a:stretch/>
        </p:blipFill>
        <p:spPr>
          <a:xfrm>
            <a:off x="3871025" y="2644147"/>
            <a:ext cx="851654" cy="720930"/>
          </a:xfrm>
          <a:prstGeom prst="rect">
            <a:avLst/>
          </a:prstGeom>
        </p:spPr>
      </p:pic>
      <p:pic>
        <p:nvPicPr>
          <p:cNvPr id="54" name="Imagen 53">
            <a:extLst>
              <a:ext uri="{FF2B5EF4-FFF2-40B4-BE49-F238E27FC236}">
                <a16:creationId xmlns:a16="http://schemas.microsoft.com/office/drawing/2014/main" id="{40CED29B-4B66-C5EC-3F47-1878E3824205}"/>
              </a:ext>
            </a:extLst>
          </p:cNvPr>
          <p:cNvPicPr>
            <a:picLocks noChangeAspect="1"/>
          </p:cNvPicPr>
          <p:nvPr/>
        </p:nvPicPr>
        <p:blipFill>
          <a:blip r:embed="rId7">
            <a:duotone>
              <a:schemeClr val="accent1">
                <a:shade val="45000"/>
                <a:satMod val="135000"/>
              </a:schemeClr>
              <a:prstClr val="white"/>
            </a:duotone>
          </a:blip>
          <a:stretch>
            <a:fillRect/>
          </a:stretch>
        </p:blipFill>
        <p:spPr>
          <a:xfrm>
            <a:off x="6941239" y="2703282"/>
            <a:ext cx="716678" cy="716678"/>
          </a:xfrm>
          <a:prstGeom prst="rect">
            <a:avLst/>
          </a:prstGeom>
        </p:spPr>
      </p:pic>
      <p:pic>
        <p:nvPicPr>
          <p:cNvPr id="55" name="Imagen 54">
            <a:extLst>
              <a:ext uri="{FF2B5EF4-FFF2-40B4-BE49-F238E27FC236}">
                <a16:creationId xmlns:a16="http://schemas.microsoft.com/office/drawing/2014/main" id="{5DF26F7C-E899-EEEB-E011-331EF68528A3}"/>
              </a:ext>
            </a:extLst>
          </p:cNvPr>
          <p:cNvPicPr>
            <a:picLocks noChangeAspect="1"/>
          </p:cNvPicPr>
          <p:nvPr/>
        </p:nvPicPr>
        <p:blipFill>
          <a:blip r:embed="rId8">
            <a:duotone>
              <a:schemeClr val="accent1">
                <a:shade val="45000"/>
                <a:satMod val="135000"/>
              </a:schemeClr>
              <a:prstClr val="white"/>
            </a:duotone>
          </a:blip>
          <a:stretch>
            <a:fillRect/>
          </a:stretch>
        </p:blipFill>
        <p:spPr>
          <a:xfrm>
            <a:off x="8822394" y="2770227"/>
            <a:ext cx="462085" cy="464148"/>
          </a:xfrm>
          <a:prstGeom prst="rect">
            <a:avLst/>
          </a:prstGeom>
        </p:spPr>
      </p:pic>
      <p:pic>
        <p:nvPicPr>
          <p:cNvPr id="56" name="Imagen 55">
            <a:extLst>
              <a:ext uri="{FF2B5EF4-FFF2-40B4-BE49-F238E27FC236}">
                <a16:creationId xmlns:a16="http://schemas.microsoft.com/office/drawing/2014/main" id="{2335FDB5-FA03-0296-6129-985CBA8A23EA}"/>
              </a:ext>
            </a:extLst>
          </p:cNvPr>
          <p:cNvPicPr>
            <a:picLocks noChangeAspect="1"/>
          </p:cNvPicPr>
          <p:nvPr/>
        </p:nvPicPr>
        <p:blipFill>
          <a:blip r:embed="rId9">
            <a:duotone>
              <a:schemeClr val="accent1">
                <a:shade val="45000"/>
                <a:satMod val="135000"/>
              </a:schemeClr>
              <a:prstClr val="white"/>
            </a:duotone>
          </a:blip>
          <a:stretch>
            <a:fillRect/>
          </a:stretch>
        </p:blipFill>
        <p:spPr>
          <a:xfrm>
            <a:off x="10246259" y="2680953"/>
            <a:ext cx="582087" cy="582087"/>
          </a:xfrm>
          <a:prstGeom prst="rect">
            <a:avLst/>
          </a:prstGeom>
        </p:spPr>
      </p:pic>
      <p:sp>
        <p:nvSpPr>
          <p:cNvPr id="2" name="Título 1">
            <a:extLst>
              <a:ext uri="{FF2B5EF4-FFF2-40B4-BE49-F238E27FC236}">
                <a16:creationId xmlns:a16="http://schemas.microsoft.com/office/drawing/2014/main" id="{1A0AE1DF-E602-85EE-48F8-0E4889E8ECC7}"/>
              </a:ext>
            </a:extLst>
          </p:cNvPr>
          <p:cNvSpPr>
            <a:spLocks noGrp="1"/>
          </p:cNvSpPr>
          <p:nvPr>
            <p:ph type="title"/>
          </p:nvPr>
        </p:nvSpPr>
        <p:spPr>
          <a:xfrm>
            <a:off x="442993" y="215022"/>
            <a:ext cx="10515600" cy="1325563"/>
          </a:xfrm>
        </p:spPr>
        <p:txBody>
          <a:bodyPr/>
          <a:lstStyle/>
          <a:p>
            <a:r>
              <a:rPr lang="es-ES"/>
              <a:t>Activos financieros</a:t>
            </a:r>
            <a:endParaRPr lang="es-ES" dirty="0"/>
          </a:p>
        </p:txBody>
      </p:sp>
    </p:spTree>
    <p:extLst>
      <p:ext uri="{BB962C8B-B14F-4D97-AF65-F5344CB8AC3E}">
        <p14:creationId xmlns:p14="http://schemas.microsoft.com/office/powerpoint/2010/main" val="324250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A5C4-B19A-5B49-9457-B8C74AC699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E84E5D-4698-5B70-8A1F-C05CC595D9D8}"/>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27F55418-595F-8192-4838-BF834F6DE054}"/>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Distributed Applications</a:t>
            </a:r>
          </a:p>
          <a:p>
            <a:pPr marL="0" indent="0" algn="ctr">
              <a:buNone/>
            </a:pPr>
            <a:endParaRPr lang="es-ES" sz="8800"/>
          </a:p>
        </p:txBody>
      </p:sp>
    </p:spTree>
    <p:extLst>
      <p:ext uri="{BB962C8B-B14F-4D97-AF65-F5344CB8AC3E}">
        <p14:creationId xmlns:p14="http://schemas.microsoft.com/office/powerpoint/2010/main" val="2965990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5774C-923B-DD29-41D8-876B061B45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C434F4-D2F9-1EFA-022D-A54CD9A10FEE}"/>
              </a:ext>
            </a:extLst>
          </p:cNvPr>
          <p:cNvSpPr>
            <a:spLocks noGrp="1"/>
          </p:cNvSpPr>
          <p:nvPr>
            <p:ph type="title"/>
          </p:nvPr>
        </p:nvSpPr>
        <p:spPr/>
        <p:txBody>
          <a:bodyPr/>
          <a:lstStyle/>
          <a:p>
            <a:r>
              <a:rPr lang="es-ES"/>
              <a:t>Distributed Applications</a:t>
            </a:r>
            <a:endParaRPr lang="es-ES" dirty="0"/>
          </a:p>
        </p:txBody>
      </p:sp>
      <p:sp>
        <p:nvSpPr>
          <p:cNvPr id="4" name="Marcador de contenido 2">
            <a:extLst>
              <a:ext uri="{FF2B5EF4-FFF2-40B4-BE49-F238E27FC236}">
                <a16:creationId xmlns:a16="http://schemas.microsoft.com/office/drawing/2014/main" id="{BAAF3C04-F912-83A4-B3FF-34ECFDC29DEB}"/>
              </a:ext>
            </a:extLst>
          </p:cNvPr>
          <p:cNvSpPr>
            <a:spLocks noGrp="1"/>
          </p:cNvSpPr>
          <p:nvPr>
            <p:ph idx="1"/>
          </p:nvPr>
        </p:nvSpPr>
        <p:spPr>
          <a:xfrm>
            <a:off x="529591" y="1596706"/>
            <a:ext cx="6739889" cy="4647567"/>
          </a:xfrm>
        </p:spPr>
        <p:txBody>
          <a:bodyPr>
            <a:normAutofit/>
          </a:bodyPr>
          <a:lstStyle/>
          <a:p>
            <a:endParaRPr lang="es-ES" sz="2000"/>
          </a:p>
          <a:p>
            <a:r>
              <a:rPr lang="es-ES" sz="2000"/>
              <a:t>Una dApp es una aplicación que funciona interactuando con Smart Contracts de una Blockchain.</a:t>
            </a:r>
          </a:p>
          <a:p>
            <a:endParaRPr lang="es-ES" sz="2000"/>
          </a:p>
          <a:p>
            <a:r>
              <a:rPr lang="es-ES" sz="2000"/>
              <a:t>Típicamente se usa una interfaz web y una wallet (como Metamask) que permite firmar e interactuar con los Smart Contracts desplegados en la red Blockchain.</a:t>
            </a:r>
          </a:p>
          <a:p>
            <a:endParaRPr lang="es-ES" sz="2000"/>
          </a:p>
          <a:p>
            <a:r>
              <a:rPr lang="es-ES" sz="2000"/>
              <a:t>Aunque no lo sepas ya has usado dApps:</a:t>
            </a:r>
          </a:p>
          <a:p>
            <a:pPr lvl="1"/>
            <a:r>
              <a:rPr lang="es-ES" sz="1600"/>
              <a:t>Los faucets</a:t>
            </a:r>
          </a:p>
          <a:p>
            <a:pPr lvl="1"/>
            <a:r>
              <a:rPr lang="es-ES" sz="1600"/>
              <a:t>Remix</a:t>
            </a:r>
          </a:p>
        </p:txBody>
      </p:sp>
      <p:sp>
        <p:nvSpPr>
          <p:cNvPr id="13" name="AutoShape 4">
            <a:extLst>
              <a:ext uri="{FF2B5EF4-FFF2-40B4-BE49-F238E27FC236}">
                <a16:creationId xmlns:a16="http://schemas.microsoft.com/office/drawing/2014/main" id="{5A6C64C8-45E3-34F8-699A-2FB9F667EF5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Decentalised application (DApp)'s architecture. | Download Scientific  Diagram">
            <a:extLst>
              <a:ext uri="{FF2B5EF4-FFF2-40B4-BE49-F238E27FC236}">
                <a16:creationId xmlns:a16="http://schemas.microsoft.com/office/drawing/2014/main" id="{BF3906BD-0672-ABF5-C960-9677352CE4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9480" y="2837131"/>
            <a:ext cx="4256723" cy="258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271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A101-EFF5-56D8-2495-650BBD9D10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D68365-44F1-B6D0-B834-C25443520400}"/>
              </a:ext>
            </a:extLst>
          </p:cNvPr>
          <p:cNvSpPr>
            <a:spLocks noGrp="1"/>
          </p:cNvSpPr>
          <p:nvPr>
            <p:ph type="title"/>
          </p:nvPr>
        </p:nvSpPr>
        <p:spPr>
          <a:xfrm>
            <a:off x="838200" y="271143"/>
            <a:ext cx="10515600" cy="1325563"/>
          </a:xfrm>
        </p:spPr>
        <p:txBody>
          <a:bodyPr/>
          <a:lstStyle/>
          <a:p>
            <a:r>
              <a:rPr lang="es-ES"/>
              <a:t>Categorías y ejemplos de dApps</a:t>
            </a:r>
          </a:p>
        </p:txBody>
      </p:sp>
      <p:sp>
        <p:nvSpPr>
          <p:cNvPr id="4" name="Marcador de contenido 2">
            <a:extLst>
              <a:ext uri="{FF2B5EF4-FFF2-40B4-BE49-F238E27FC236}">
                <a16:creationId xmlns:a16="http://schemas.microsoft.com/office/drawing/2014/main" id="{5C6DFF47-6083-C2AA-0531-5E912192717A}"/>
              </a:ext>
            </a:extLst>
          </p:cNvPr>
          <p:cNvSpPr>
            <a:spLocks noGrp="1"/>
          </p:cNvSpPr>
          <p:nvPr>
            <p:ph idx="1"/>
          </p:nvPr>
        </p:nvSpPr>
        <p:spPr>
          <a:xfrm>
            <a:off x="529591" y="1596706"/>
            <a:ext cx="6739889" cy="4647567"/>
          </a:xfrm>
        </p:spPr>
        <p:txBody>
          <a:bodyPr>
            <a:normAutofit fontScale="92500" lnSpcReduction="10000"/>
          </a:bodyPr>
          <a:lstStyle/>
          <a:p>
            <a:pPr marL="0" indent="0">
              <a:buNone/>
            </a:pPr>
            <a:r>
              <a:rPr lang="es-ES" sz="2000" b="1"/>
              <a:t>Finanzas (DeFi)</a:t>
            </a:r>
          </a:p>
          <a:p>
            <a:r>
              <a:rPr lang="es-ES" sz="2000"/>
              <a:t>Uniswap → intercambio descentralizado (DEX)</a:t>
            </a:r>
          </a:p>
          <a:p>
            <a:r>
              <a:rPr lang="es-ES" sz="2000"/>
              <a:t>Aave → préstamos y créditos sin intermediarios</a:t>
            </a:r>
          </a:p>
          <a:p>
            <a:r>
              <a:rPr lang="es-ES" sz="2000"/>
              <a:t>MakerDAO → stablecoin DAI respaldada por colateral</a:t>
            </a:r>
          </a:p>
          <a:p>
            <a:pPr marL="0" indent="0">
              <a:buNone/>
            </a:pPr>
            <a:r>
              <a:rPr lang="es-ES" sz="2000" b="1"/>
              <a:t>NFTs y coleccionables</a:t>
            </a:r>
          </a:p>
          <a:p>
            <a:r>
              <a:rPr lang="es-ES" sz="2000"/>
              <a:t>OpenSea → mercado de NFTs</a:t>
            </a:r>
          </a:p>
          <a:p>
            <a:r>
              <a:rPr lang="es-ES" sz="2000"/>
              <a:t>CryptoKitties → coleccionables digitales pioneros</a:t>
            </a:r>
          </a:p>
          <a:p>
            <a:r>
              <a:rPr lang="es-ES" sz="2000"/>
              <a:t>Axie Infinity → juego play-to-earn con NFTs</a:t>
            </a:r>
          </a:p>
          <a:p>
            <a:pPr marL="0" indent="0">
              <a:buNone/>
            </a:pPr>
            <a:r>
              <a:rPr lang="es-ES" sz="2000" b="1"/>
              <a:t>Metaverso</a:t>
            </a:r>
          </a:p>
          <a:p>
            <a:r>
              <a:rPr lang="es-ES" sz="2000"/>
              <a:t>Decentraland → Mundo virtual con terrenos tokenizados</a:t>
            </a:r>
          </a:p>
          <a:p>
            <a:r>
              <a:rPr lang="es-ES" sz="2000"/>
              <a:t>The Sandbox → Experiencias creadas por usuarios </a:t>
            </a:r>
          </a:p>
          <a:p>
            <a:pPr marL="0" indent="0">
              <a:buNone/>
            </a:pPr>
            <a:r>
              <a:rPr lang="es-ES" sz="2000" b="1"/>
              <a:t>DAOs</a:t>
            </a:r>
          </a:p>
          <a:p>
            <a:r>
              <a:rPr lang="es-ES" sz="2000"/>
              <a:t>Oragnizaciones distribuidas</a:t>
            </a:r>
            <a:endParaRPr lang="es-ES" sz="1600"/>
          </a:p>
        </p:txBody>
      </p:sp>
      <p:sp>
        <p:nvSpPr>
          <p:cNvPr id="13" name="AutoShape 4">
            <a:extLst>
              <a:ext uri="{FF2B5EF4-FFF2-40B4-BE49-F238E27FC236}">
                <a16:creationId xmlns:a16="http://schemas.microsoft.com/office/drawing/2014/main" id="{64B6B7D0-35A4-49F3-778F-A197616FF08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74" name="Picture 2" descr="What are dApps | Blue Manakin">
            <a:extLst>
              <a:ext uri="{FF2B5EF4-FFF2-40B4-BE49-F238E27FC236}">
                <a16:creationId xmlns:a16="http://schemas.microsoft.com/office/drawing/2014/main" id="{C4A6AA17-7DEB-2024-C640-442962E7D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7512" y="2200274"/>
            <a:ext cx="4723450" cy="3148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30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11194-F2F3-3776-7154-6B75C6AC82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258710-4F33-E23D-5924-E1545AB5D91B}"/>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C58C1D98-5ED1-E7A5-AF67-72BF9DE2EC2F}"/>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Exchanges</a:t>
            </a:r>
          </a:p>
          <a:p>
            <a:pPr marL="0" indent="0" algn="ctr">
              <a:buNone/>
            </a:pPr>
            <a:endParaRPr lang="es-ES" sz="8800"/>
          </a:p>
        </p:txBody>
      </p:sp>
    </p:spTree>
    <p:extLst>
      <p:ext uri="{BB962C8B-B14F-4D97-AF65-F5344CB8AC3E}">
        <p14:creationId xmlns:p14="http://schemas.microsoft.com/office/powerpoint/2010/main" val="2368805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08A3-8621-0B88-D3D4-68F33ED505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545A82-E77B-13F2-FCE3-E55A51A5AE50}"/>
              </a:ext>
            </a:extLst>
          </p:cNvPr>
          <p:cNvSpPr>
            <a:spLocks noGrp="1"/>
          </p:cNvSpPr>
          <p:nvPr>
            <p:ph type="title"/>
          </p:nvPr>
        </p:nvSpPr>
        <p:spPr/>
        <p:txBody>
          <a:bodyPr/>
          <a:lstStyle/>
          <a:p>
            <a:r>
              <a:rPr lang="es-ES"/>
              <a:t>Centraliced vs Decentraliced Exchange</a:t>
            </a:r>
            <a:endParaRPr lang="es-ES" dirty="0"/>
          </a:p>
        </p:txBody>
      </p:sp>
      <p:sp>
        <p:nvSpPr>
          <p:cNvPr id="4" name="Marcador de contenido 2">
            <a:extLst>
              <a:ext uri="{FF2B5EF4-FFF2-40B4-BE49-F238E27FC236}">
                <a16:creationId xmlns:a16="http://schemas.microsoft.com/office/drawing/2014/main" id="{46FCDFBA-DA62-DF4F-D725-7D32832058C7}"/>
              </a:ext>
            </a:extLst>
          </p:cNvPr>
          <p:cNvSpPr>
            <a:spLocks noGrp="1"/>
          </p:cNvSpPr>
          <p:nvPr>
            <p:ph idx="1"/>
          </p:nvPr>
        </p:nvSpPr>
        <p:spPr>
          <a:xfrm>
            <a:off x="529591" y="1596706"/>
            <a:ext cx="11083289" cy="4647567"/>
          </a:xfrm>
        </p:spPr>
        <p:txBody>
          <a:bodyPr>
            <a:normAutofit/>
          </a:bodyPr>
          <a:lstStyle/>
          <a:p>
            <a:pPr marL="0" indent="0">
              <a:buNone/>
            </a:pPr>
            <a:r>
              <a:rPr lang="es-ES" sz="1600" b="1"/>
              <a:t>Centralized Exchange (CEX)</a:t>
            </a:r>
          </a:p>
          <a:p>
            <a:r>
              <a:rPr lang="es-ES" sz="1600"/>
              <a:t>Ejemplos: Binance, Coinbase, Kraken.</a:t>
            </a:r>
          </a:p>
          <a:p>
            <a:r>
              <a:rPr lang="es-ES" sz="1600"/>
              <a:t>Custodian tus fondos (tienes cuenta, no claves privadas =&gt; Custodial Wallet).</a:t>
            </a:r>
          </a:p>
          <a:p>
            <a:r>
              <a:rPr lang="es-ES" sz="1600"/>
              <a:t>Matching de órdenes en un servidor central.</a:t>
            </a:r>
          </a:p>
          <a:p>
            <a:r>
              <a:rPr lang="es-ES" sz="1600"/>
              <a:t>Riesgos: hackeos, quiebras, censura, KYC obligatorio.</a:t>
            </a:r>
          </a:p>
          <a:p>
            <a:r>
              <a:rPr lang="es-ES" sz="1600"/>
              <a:t>Los únicos que ofrecen cambio de Crypto a Fiat</a:t>
            </a:r>
          </a:p>
          <a:p>
            <a:endParaRPr lang="es-ES" sz="1600" u="sng"/>
          </a:p>
          <a:p>
            <a:pPr marL="0" indent="0">
              <a:buNone/>
            </a:pPr>
            <a:r>
              <a:rPr lang="es-ES" sz="1600" b="1"/>
              <a:t>Decentralized Exchange (DEX)</a:t>
            </a:r>
          </a:p>
          <a:p>
            <a:pPr marL="0" indent="0">
              <a:buNone/>
            </a:pPr>
            <a:r>
              <a:rPr lang="es-ES" sz="1600"/>
              <a:t>Ejemplos: Uniswap, SushiSwap, Curve.</a:t>
            </a:r>
          </a:p>
          <a:p>
            <a:pPr marL="0" indent="0">
              <a:buNone/>
            </a:pPr>
            <a:r>
              <a:rPr lang="es-ES" sz="1600"/>
              <a:t>No custodian fondos: el usuario opera desde su wallet.</a:t>
            </a:r>
          </a:p>
          <a:p>
            <a:pPr marL="0" indent="0">
              <a:buNone/>
            </a:pPr>
            <a:r>
              <a:rPr lang="es-ES" sz="1600"/>
              <a:t>Operan con smart contracts y liquidity pools.</a:t>
            </a:r>
          </a:p>
          <a:p>
            <a:pPr marL="0" indent="0">
              <a:buNone/>
            </a:pPr>
            <a:r>
              <a:rPr lang="es-ES" sz="1600"/>
              <a:t>Transparencia total en la blockchain.</a:t>
            </a:r>
          </a:p>
          <a:p>
            <a:pPr marL="0" indent="0">
              <a:buNone/>
            </a:pPr>
            <a:r>
              <a:rPr lang="es-ES" sz="1600"/>
              <a:t>Riesgos: baja liquidez en tokens pequeños, comisiones de red, bugs en contratos.</a:t>
            </a:r>
          </a:p>
        </p:txBody>
      </p:sp>
      <p:sp>
        <p:nvSpPr>
          <p:cNvPr id="13" name="AutoShape 4">
            <a:extLst>
              <a:ext uri="{FF2B5EF4-FFF2-40B4-BE49-F238E27FC236}">
                <a16:creationId xmlns:a16="http://schemas.microsoft.com/office/drawing/2014/main" id="{4E38C95E-843D-014F-1AFE-895416B740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9854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D748-4F68-2583-2EAF-2B912C6035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B79766-C73A-C6AB-CA72-0CAE7C540CCA}"/>
              </a:ext>
            </a:extLst>
          </p:cNvPr>
          <p:cNvSpPr>
            <a:spLocks noGrp="1"/>
          </p:cNvSpPr>
          <p:nvPr>
            <p:ph type="title"/>
          </p:nvPr>
        </p:nvSpPr>
        <p:spPr/>
        <p:txBody>
          <a:bodyPr/>
          <a:lstStyle/>
          <a:p>
            <a:r>
              <a:rPr lang="es-ES"/>
              <a:t>Práctica – Coinbase</a:t>
            </a:r>
            <a:endParaRPr lang="es-ES" dirty="0"/>
          </a:p>
        </p:txBody>
      </p:sp>
      <p:sp>
        <p:nvSpPr>
          <p:cNvPr id="4" name="Marcador de contenido 2">
            <a:extLst>
              <a:ext uri="{FF2B5EF4-FFF2-40B4-BE49-F238E27FC236}">
                <a16:creationId xmlns:a16="http://schemas.microsoft.com/office/drawing/2014/main" id="{6D14744E-48E5-8BA0-5878-E7999DD0D9FB}"/>
              </a:ext>
            </a:extLst>
          </p:cNvPr>
          <p:cNvSpPr>
            <a:spLocks noGrp="1"/>
          </p:cNvSpPr>
          <p:nvPr>
            <p:ph idx="1"/>
          </p:nvPr>
        </p:nvSpPr>
        <p:spPr>
          <a:xfrm>
            <a:off x="529591" y="2263140"/>
            <a:ext cx="6419849" cy="3981133"/>
          </a:xfrm>
        </p:spPr>
        <p:txBody>
          <a:bodyPr>
            <a:normAutofit/>
          </a:bodyPr>
          <a:lstStyle/>
          <a:p>
            <a:r>
              <a:rPr lang="es-ES" sz="2000"/>
              <a:t>Entrar en Coinbase: </a:t>
            </a:r>
            <a:r>
              <a:rPr lang="es-ES" sz="2000">
                <a:hlinkClick r:id="rId2"/>
              </a:rPr>
              <a:t>https://www.coinbase.com/es-la</a:t>
            </a:r>
            <a:endParaRPr lang="es-ES" sz="2000"/>
          </a:p>
          <a:p>
            <a:r>
              <a:rPr lang="es-ES" sz="2000"/>
              <a:t>Intentar operar comprando cripto</a:t>
            </a:r>
          </a:p>
        </p:txBody>
      </p:sp>
      <p:sp>
        <p:nvSpPr>
          <p:cNvPr id="13" name="AutoShape 4">
            <a:extLst>
              <a:ext uri="{FF2B5EF4-FFF2-40B4-BE49-F238E27FC236}">
                <a16:creationId xmlns:a16="http://schemas.microsoft.com/office/drawing/2014/main" id="{B0B76A0A-8315-D92A-4A27-6E93999AD96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n 6">
            <a:extLst>
              <a:ext uri="{FF2B5EF4-FFF2-40B4-BE49-F238E27FC236}">
                <a16:creationId xmlns:a16="http://schemas.microsoft.com/office/drawing/2014/main" id="{23733539-6410-1023-DFB6-D0783E2F0FAA}"/>
              </a:ext>
            </a:extLst>
          </p:cNvPr>
          <p:cNvPicPr>
            <a:picLocks noChangeAspect="1"/>
          </p:cNvPicPr>
          <p:nvPr/>
        </p:nvPicPr>
        <p:blipFill>
          <a:blip r:embed="rId3"/>
          <a:stretch>
            <a:fillRect/>
          </a:stretch>
        </p:blipFill>
        <p:spPr>
          <a:xfrm>
            <a:off x="6830857" y="2009775"/>
            <a:ext cx="4311538" cy="3143250"/>
          </a:xfrm>
          <a:prstGeom prst="rect">
            <a:avLst/>
          </a:prstGeom>
        </p:spPr>
      </p:pic>
      <p:pic>
        <p:nvPicPr>
          <p:cNvPr id="9" name="Imagen 8">
            <a:extLst>
              <a:ext uri="{FF2B5EF4-FFF2-40B4-BE49-F238E27FC236}">
                <a16:creationId xmlns:a16="http://schemas.microsoft.com/office/drawing/2014/main" id="{C5954A6D-A744-B9D4-7F2E-ABF391CF26E5}"/>
              </a:ext>
            </a:extLst>
          </p:cNvPr>
          <p:cNvPicPr>
            <a:picLocks noChangeAspect="1"/>
          </p:cNvPicPr>
          <p:nvPr/>
        </p:nvPicPr>
        <p:blipFill>
          <a:blip r:embed="rId4"/>
          <a:stretch>
            <a:fillRect/>
          </a:stretch>
        </p:blipFill>
        <p:spPr>
          <a:xfrm>
            <a:off x="2455536" y="3429000"/>
            <a:ext cx="2131224" cy="2312670"/>
          </a:xfrm>
          <a:prstGeom prst="rect">
            <a:avLst/>
          </a:prstGeom>
        </p:spPr>
      </p:pic>
    </p:spTree>
    <p:extLst>
      <p:ext uri="{BB962C8B-B14F-4D97-AF65-F5344CB8AC3E}">
        <p14:creationId xmlns:p14="http://schemas.microsoft.com/office/powerpoint/2010/main" val="909361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81CC1-9F45-523C-5884-3D02635718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F224D6-82B0-C417-FD07-22F0B5D7565C}"/>
              </a:ext>
            </a:extLst>
          </p:cNvPr>
          <p:cNvSpPr>
            <a:spLocks noGrp="1"/>
          </p:cNvSpPr>
          <p:nvPr>
            <p:ph type="title"/>
          </p:nvPr>
        </p:nvSpPr>
        <p:spPr/>
        <p:txBody>
          <a:bodyPr/>
          <a:lstStyle/>
          <a:p>
            <a:r>
              <a:rPr lang="es-ES"/>
              <a:t>Práctica – Uniswap con Metamask</a:t>
            </a:r>
            <a:endParaRPr lang="es-ES" dirty="0"/>
          </a:p>
        </p:txBody>
      </p:sp>
      <p:sp>
        <p:nvSpPr>
          <p:cNvPr id="4" name="Marcador de contenido 2">
            <a:extLst>
              <a:ext uri="{FF2B5EF4-FFF2-40B4-BE49-F238E27FC236}">
                <a16:creationId xmlns:a16="http://schemas.microsoft.com/office/drawing/2014/main" id="{C03FF30F-8434-C68C-5B78-3D22AC8B4E24}"/>
              </a:ext>
            </a:extLst>
          </p:cNvPr>
          <p:cNvSpPr>
            <a:spLocks noGrp="1"/>
          </p:cNvSpPr>
          <p:nvPr>
            <p:ph idx="1"/>
          </p:nvPr>
        </p:nvSpPr>
        <p:spPr>
          <a:xfrm>
            <a:off x="529591" y="2263140"/>
            <a:ext cx="6419849" cy="3981133"/>
          </a:xfrm>
        </p:spPr>
        <p:txBody>
          <a:bodyPr>
            <a:normAutofit/>
          </a:bodyPr>
          <a:lstStyle/>
          <a:p>
            <a:r>
              <a:rPr lang="es-ES" sz="2000"/>
              <a:t>Entrar en Uniswap: </a:t>
            </a:r>
            <a:r>
              <a:rPr lang="es-ES" sz="2000">
                <a:hlinkClick r:id="rId2"/>
              </a:rPr>
              <a:t>https://app.uniswap.org/</a:t>
            </a:r>
            <a:endParaRPr lang="es-ES" sz="2000"/>
          </a:p>
          <a:p>
            <a:r>
              <a:rPr lang="es-ES" sz="2000"/>
              <a:t>Conectar Metamask</a:t>
            </a:r>
          </a:p>
          <a:p>
            <a:r>
              <a:rPr lang="es-ES" sz="2000"/>
              <a:t>Activar la red de pruebas</a:t>
            </a:r>
          </a:p>
          <a:p>
            <a:r>
              <a:rPr lang="es-ES" sz="2000"/>
              <a:t>Comprar otro token</a:t>
            </a:r>
          </a:p>
          <a:p>
            <a:r>
              <a:rPr lang="es-ES" sz="2000"/>
              <a:t>Venderlo y comprobar los saldos</a:t>
            </a:r>
          </a:p>
          <a:p>
            <a:r>
              <a:rPr lang="es-ES" sz="2000"/>
              <a:t>Desactivar el modo pruebas y ver los tokens que hay en cada red</a:t>
            </a:r>
          </a:p>
        </p:txBody>
      </p:sp>
      <p:sp>
        <p:nvSpPr>
          <p:cNvPr id="13" name="AutoShape 4">
            <a:extLst>
              <a:ext uri="{FF2B5EF4-FFF2-40B4-BE49-F238E27FC236}">
                <a16:creationId xmlns:a16="http://schemas.microsoft.com/office/drawing/2014/main" id="{A2266D6C-218C-A4A8-B836-36EF636FD7D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BB351236-A63A-DCCD-CF25-525B84A2B894}"/>
              </a:ext>
            </a:extLst>
          </p:cNvPr>
          <p:cNvPicPr>
            <a:picLocks noChangeAspect="1"/>
          </p:cNvPicPr>
          <p:nvPr/>
        </p:nvPicPr>
        <p:blipFill>
          <a:blip r:embed="rId3"/>
          <a:stretch>
            <a:fillRect/>
          </a:stretch>
        </p:blipFill>
        <p:spPr>
          <a:xfrm>
            <a:off x="7258049" y="1556226"/>
            <a:ext cx="4142396" cy="3745547"/>
          </a:xfrm>
          <a:prstGeom prst="rect">
            <a:avLst/>
          </a:prstGeom>
        </p:spPr>
      </p:pic>
    </p:spTree>
    <p:extLst>
      <p:ext uri="{BB962C8B-B14F-4D97-AF65-F5344CB8AC3E}">
        <p14:creationId xmlns:p14="http://schemas.microsoft.com/office/powerpoint/2010/main" val="3732534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05B3A-1EF2-644E-DD45-C52EF8AACB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32A5E9-DD35-151C-1664-B765CEABC889}"/>
              </a:ext>
            </a:extLst>
          </p:cNvPr>
          <p:cNvSpPr>
            <a:spLocks noGrp="1"/>
          </p:cNvSpPr>
          <p:nvPr>
            <p:ph type="title"/>
          </p:nvPr>
        </p:nvSpPr>
        <p:spPr/>
        <p:txBody>
          <a:bodyPr/>
          <a:lstStyle/>
          <a:p>
            <a:r>
              <a:rPr lang="es-ES"/>
              <a:t>Debate – Uniswap vs Coinbase</a:t>
            </a:r>
            <a:endParaRPr lang="es-ES" dirty="0"/>
          </a:p>
        </p:txBody>
      </p:sp>
      <p:sp>
        <p:nvSpPr>
          <p:cNvPr id="4" name="Marcador de contenido 2">
            <a:extLst>
              <a:ext uri="{FF2B5EF4-FFF2-40B4-BE49-F238E27FC236}">
                <a16:creationId xmlns:a16="http://schemas.microsoft.com/office/drawing/2014/main" id="{FB514096-AB2A-CA14-E40A-15DD2C57F285}"/>
              </a:ext>
            </a:extLst>
          </p:cNvPr>
          <p:cNvSpPr>
            <a:spLocks noGrp="1"/>
          </p:cNvSpPr>
          <p:nvPr>
            <p:ph idx="1"/>
          </p:nvPr>
        </p:nvSpPr>
        <p:spPr>
          <a:xfrm>
            <a:off x="529591" y="2263140"/>
            <a:ext cx="10420349" cy="3981133"/>
          </a:xfrm>
        </p:spPr>
        <p:txBody>
          <a:bodyPr>
            <a:normAutofit/>
          </a:bodyPr>
          <a:lstStyle/>
          <a:p>
            <a:r>
              <a:rPr lang="es-ES" sz="2000"/>
              <a:t>Diferencias entre uno y otro</a:t>
            </a:r>
          </a:p>
          <a:p>
            <a:r>
              <a:rPr lang="es-ES" sz="2000"/>
              <a:t>Fortalazas y debilidades de cada uno</a:t>
            </a:r>
          </a:p>
          <a:p>
            <a:r>
              <a:rPr lang="es-ES" sz="2000"/>
              <a:t>¿Cómo crees que se consolidará el mercado?</a:t>
            </a:r>
          </a:p>
          <a:p>
            <a:r>
              <a:rPr lang="es-ES" sz="2000"/>
              <a:t>¿Recordáis el debate sobre Non Custodial Wallets frente a las Custodial Wallets?</a:t>
            </a:r>
          </a:p>
        </p:txBody>
      </p:sp>
      <p:sp>
        <p:nvSpPr>
          <p:cNvPr id="13" name="AutoShape 4">
            <a:extLst>
              <a:ext uri="{FF2B5EF4-FFF2-40B4-BE49-F238E27FC236}">
                <a16:creationId xmlns:a16="http://schemas.microsoft.com/office/drawing/2014/main" id="{497F001F-9E3E-467F-1AC0-410BE4D218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732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2A8C-889A-FAF2-15DD-BBA3A807E3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F011FE-F539-4880-378F-F630C94864BB}"/>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0087D30A-7F4F-3A86-C278-75D76891282F}"/>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DeFi</a:t>
            </a:r>
          </a:p>
          <a:p>
            <a:pPr marL="0" indent="0" algn="ctr">
              <a:buNone/>
            </a:pPr>
            <a:endParaRPr lang="es-ES" sz="8800"/>
          </a:p>
        </p:txBody>
      </p:sp>
    </p:spTree>
    <p:extLst>
      <p:ext uri="{BB962C8B-B14F-4D97-AF65-F5344CB8AC3E}">
        <p14:creationId xmlns:p14="http://schemas.microsoft.com/office/powerpoint/2010/main" val="3312680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15B7E-AA32-B6A8-F604-D8A8F50D34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F2750E-A73E-21B3-5871-E715E2DECB23}"/>
              </a:ext>
            </a:extLst>
          </p:cNvPr>
          <p:cNvSpPr>
            <a:spLocks noGrp="1"/>
          </p:cNvSpPr>
          <p:nvPr>
            <p:ph type="title"/>
          </p:nvPr>
        </p:nvSpPr>
        <p:spPr/>
        <p:txBody>
          <a:bodyPr/>
          <a:lstStyle/>
          <a:p>
            <a:r>
              <a:rPr lang="es-ES"/>
              <a:t>Decentraliced Finance DeFi</a:t>
            </a:r>
            <a:endParaRPr lang="es-ES" dirty="0"/>
          </a:p>
        </p:txBody>
      </p:sp>
      <p:sp>
        <p:nvSpPr>
          <p:cNvPr id="4" name="Marcador de contenido 2">
            <a:extLst>
              <a:ext uri="{FF2B5EF4-FFF2-40B4-BE49-F238E27FC236}">
                <a16:creationId xmlns:a16="http://schemas.microsoft.com/office/drawing/2014/main" id="{294944CE-D3DC-7E12-C6CB-C8F8F388652B}"/>
              </a:ext>
            </a:extLst>
          </p:cNvPr>
          <p:cNvSpPr>
            <a:spLocks noGrp="1"/>
          </p:cNvSpPr>
          <p:nvPr>
            <p:ph idx="1"/>
          </p:nvPr>
        </p:nvSpPr>
        <p:spPr>
          <a:xfrm>
            <a:off x="529591" y="1596706"/>
            <a:ext cx="6739889" cy="4647567"/>
          </a:xfrm>
        </p:spPr>
        <p:txBody>
          <a:bodyPr>
            <a:normAutofit/>
          </a:bodyPr>
          <a:lstStyle/>
          <a:p>
            <a:endParaRPr lang="es-ES" sz="2000"/>
          </a:p>
          <a:p>
            <a:r>
              <a:rPr lang="es-ES" sz="2000"/>
              <a:t>Conjunto de aplicaciones financieras que funcionan sobre blockchain sin intermediarios tradicionales.</a:t>
            </a:r>
          </a:p>
          <a:p>
            <a:r>
              <a:rPr lang="es-ES" sz="2000"/>
              <a:t>Basadas en smart contracts: préstamos, intercambios, seguros, stablecoins, derivados…</a:t>
            </a:r>
          </a:p>
          <a:p>
            <a:r>
              <a:rPr lang="es-ES" sz="2000"/>
              <a:t>Accesibles desde una wallet (ej. MetaMask), sin bancos ni permisos previos.</a:t>
            </a:r>
          </a:p>
          <a:p>
            <a:r>
              <a:rPr lang="es-ES" sz="2000"/>
              <a:t>Principios: transparencia, programabilidad y composabilidad (“lego money”).</a:t>
            </a:r>
          </a:p>
          <a:p>
            <a:r>
              <a:rPr lang="es-ES" sz="2000"/>
              <a:t>Riesgos: contratos inseguros, volatilidad, ataques y falta de regulación.</a:t>
            </a:r>
            <a:endParaRPr lang="es-ES" sz="1600"/>
          </a:p>
        </p:txBody>
      </p:sp>
      <p:sp>
        <p:nvSpPr>
          <p:cNvPr id="13" name="AutoShape 4">
            <a:extLst>
              <a:ext uri="{FF2B5EF4-FFF2-40B4-BE49-F238E27FC236}">
                <a16:creationId xmlns:a16="http://schemas.microsoft.com/office/drawing/2014/main" id="{93E79E79-D42F-B1C8-DF0A-C795544364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F18088B8-B7B9-2D14-8AD5-6F8CAC4E11E1}"/>
              </a:ext>
            </a:extLst>
          </p:cNvPr>
          <p:cNvPicPr>
            <a:picLocks noChangeAspect="1"/>
          </p:cNvPicPr>
          <p:nvPr/>
        </p:nvPicPr>
        <p:blipFill>
          <a:blip r:embed="rId2"/>
          <a:stretch>
            <a:fillRect/>
          </a:stretch>
        </p:blipFill>
        <p:spPr>
          <a:xfrm>
            <a:off x="7354239" y="2353326"/>
            <a:ext cx="4433900" cy="2456147"/>
          </a:xfrm>
          <a:prstGeom prst="rect">
            <a:avLst/>
          </a:prstGeom>
        </p:spPr>
      </p:pic>
    </p:spTree>
    <p:extLst>
      <p:ext uri="{BB962C8B-B14F-4D97-AF65-F5344CB8AC3E}">
        <p14:creationId xmlns:p14="http://schemas.microsoft.com/office/powerpoint/2010/main" val="1588859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F0326-8E1E-7ED4-27B6-73FFCE16A9C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0730DC-7EC4-EE4C-6EB6-4FEBDAF7B95C}"/>
              </a:ext>
            </a:extLst>
          </p:cNvPr>
          <p:cNvSpPr>
            <a:spLocks noGrp="1"/>
          </p:cNvSpPr>
          <p:nvPr>
            <p:ph type="title"/>
          </p:nvPr>
        </p:nvSpPr>
        <p:spPr/>
        <p:txBody>
          <a:bodyPr/>
          <a:lstStyle/>
          <a:p>
            <a:r>
              <a:rPr lang="es-ES"/>
              <a:t>Práctica – Pedir préstamos en Aave</a:t>
            </a:r>
            <a:endParaRPr lang="es-ES" dirty="0"/>
          </a:p>
        </p:txBody>
      </p:sp>
      <p:sp>
        <p:nvSpPr>
          <p:cNvPr id="4" name="Marcador de contenido 2">
            <a:extLst>
              <a:ext uri="{FF2B5EF4-FFF2-40B4-BE49-F238E27FC236}">
                <a16:creationId xmlns:a16="http://schemas.microsoft.com/office/drawing/2014/main" id="{8DC651D4-FAAE-A2A2-9C32-721E29CFCB62}"/>
              </a:ext>
            </a:extLst>
          </p:cNvPr>
          <p:cNvSpPr>
            <a:spLocks noGrp="1"/>
          </p:cNvSpPr>
          <p:nvPr>
            <p:ph idx="1"/>
          </p:nvPr>
        </p:nvSpPr>
        <p:spPr>
          <a:xfrm>
            <a:off x="529591" y="2263140"/>
            <a:ext cx="6762749" cy="3981133"/>
          </a:xfrm>
        </p:spPr>
        <p:txBody>
          <a:bodyPr>
            <a:normAutofit/>
          </a:bodyPr>
          <a:lstStyle/>
          <a:p>
            <a:r>
              <a:rPr lang="es-ES" sz="2000"/>
              <a:t>Entrar en la red de test Aave: </a:t>
            </a:r>
            <a:r>
              <a:rPr lang="es-ES" sz="2000">
                <a:hlinkClick r:id="rId2"/>
              </a:rPr>
              <a:t>https://gho.aave.com/faucet/</a:t>
            </a:r>
            <a:endParaRPr lang="es-ES" sz="2000"/>
          </a:p>
          <a:p>
            <a:r>
              <a:rPr lang="es-ES" sz="2000"/>
              <a:t>Conectar Metamask</a:t>
            </a:r>
          </a:p>
          <a:p>
            <a:r>
              <a:rPr lang="es-ES" sz="2000"/>
              <a:t>Solictar varios tokens (NOTA: Los USDC de aave en testnet son diferentes a los USDC de Circle. Eso no pasa en mainnet)</a:t>
            </a:r>
          </a:p>
          <a:p>
            <a:r>
              <a:rPr lang="es-ES" sz="2000"/>
              <a:t>Ir al dashboard</a:t>
            </a:r>
          </a:p>
          <a:p>
            <a:r>
              <a:rPr lang="es-ES" sz="2000"/>
              <a:t>Pedir un préstamo y devolverlo al final de la clase</a:t>
            </a:r>
          </a:p>
        </p:txBody>
      </p:sp>
      <p:sp>
        <p:nvSpPr>
          <p:cNvPr id="13" name="AutoShape 4">
            <a:extLst>
              <a:ext uri="{FF2B5EF4-FFF2-40B4-BE49-F238E27FC236}">
                <a16:creationId xmlns:a16="http://schemas.microsoft.com/office/drawing/2014/main" id="{A4D439C5-E5B1-D884-08F9-EFEF805632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AD25C7A7-A600-E285-9EA0-736AA56C6D1F}"/>
              </a:ext>
            </a:extLst>
          </p:cNvPr>
          <p:cNvPicPr>
            <a:picLocks noChangeAspect="1"/>
          </p:cNvPicPr>
          <p:nvPr/>
        </p:nvPicPr>
        <p:blipFill>
          <a:blip r:embed="rId3"/>
          <a:stretch>
            <a:fillRect/>
          </a:stretch>
        </p:blipFill>
        <p:spPr>
          <a:xfrm>
            <a:off x="7178040" y="1861462"/>
            <a:ext cx="4041855" cy="3613507"/>
          </a:xfrm>
          <a:prstGeom prst="rect">
            <a:avLst/>
          </a:prstGeom>
        </p:spPr>
      </p:pic>
    </p:spTree>
    <p:extLst>
      <p:ext uri="{BB962C8B-B14F-4D97-AF65-F5344CB8AC3E}">
        <p14:creationId xmlns:p14="http://schemas.microsoft.com/office/powerpoint/2010/main" val="1084875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3C42-C3B6-E165-2695-8E9F7D4F51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8FD4F6-4CE3-8939-2E6A-3D374E680F33}"/>
              </a:ext>
            </a:extLst>
          </p:cNvPr>
          <p:cNvSpPr>
            <a:spLocks noGrp="1"/>
          </p:cNvSpPr>
          <p:nvPr>
            <p:ph type="title"/>
          </p:nvPr>
        </p:nvSpPr>
        <p:spPr/>
        <p:txBody>
          <a:bodyPr/>
          <a:lstStyle/>
          <a:p>
            <a:r>
              <a:rPr lang="es-ES"/>
              <a:t>Práctica – Futuros con dXdY</a:t>
            </a:r>
            <a:endParaRPr lang="es-ES" dirty="0"/>
          </a:p>
        </p:txBody>
      </p:sp>
      <p:sp>
        <p:nvSpPr>
          <p:cNvPr id="4" name="Marcador de contenido 2">
            <a:extLst>
              <a:ext uri="{FF2B5EF4-FFF2-40B4-BE49-F238E27FC236}">
                <a16:creationId xmlns:a16="http://schemas.microsoft.com/office/drawing/2014/main" id="{B447F137-7C3F-4B85-DA4C-9F4B5CDA7623}"/>
              </a:ext>
            </a:extLst>
          </p:cNvPr>
          <p:cNvSpPr>
            <a:spLocks noGrp="1"/>
          </p:cNvSpPr>
          <p:nvPr>
            <p:ph idx="1"/>
          </p:nvPr>
        </p:nvSpPr>
        <p:spPr>
          <a:xfrm>
            <a:off x="529591" y="2263140"/>
            <a:ext cx="6419849" cy="3981133"/>
          </a:xfrm>
        </p:spPr>
        <p:txBody>
          <a:bodyPr>
            <a:normAutofit/>
          </a:bodyPr>
          <a:lstStyle/>
          <a:p>
            <a:r>
              <a:rPr lang="es-ES" sz="2000"/>
              <a:t>Entrar en dXdY: https://v4.testnet.dydx.exchange/</a:t>
            </a:r>
          </a:p>
          <a:p>
            <a:r>
              <a:rPr lang="es-ES" sz="2000"/>
              <a:t>Sign-in con Metamask</a:t>
            </a:r>
          </a:p>
          <a:p>
            <a:r>
              <a:rPr lang="es-ES" sz="2000"/>
              <a:t>Pedir los 1000$ de pruebas</a:t>
            </a:r>
          </a:p>
          <a:p>
            <a:r>
              <a:rPr lang="es-ES" sz="2000"/>
              <a:t>Cruzar los dedos porque falla a menudo</a:t>
            </a:r>
          </a:p>
          <a:p>
            <a:r>
              <a:rPr lang="es-ES" sz="2000"/>
              <a:t>Si funciona operar con los 1000$ probando opciones</a:t>
            </a:r>
          </a:p>
          <a:p>
            <a:r>
              <a:rPr lang="es-ES" sz="2000"/>
              <a:t>Si no, curiosear el trading (posiciones largas/cortas etc…)</a:t>
            </a:r>
          </a:p>
        </p:txBody>
      </p:sp>
      <p:sp>
        <p:nvSpPr>
          <p:cNvPr id="13" name="AutoShape 4">
            <a:extLst>
              <a:ext uri="{FF2B5EF4-FFF2-40B4-BE49-F238E27FC236}">
                <a16:creationId xmlns:a16="http://schemas.microsoft.com/office/drawing/2014/main" id="{A7C997EA-1A5A-FCE2-BAF7-768D0D2F52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n 7">
            <a:extLst>
              <a:ext uri="{FF2B5EF4-FFF2-40B4-BE49-F238E27FC236}">
                <a16:creationId xmlns:a16="http://schemas.microsoft.com/office/drawing/2014/main" id="{3261761B-5F3E-14E4-41C8-FB1EBD6D585B}"/>
              </a:ext>
            </a:extLst>
          </p:cNvPr>
          <p:cNvPicPr>
            <a:picLocks noChangeAspect="1"/>
          </p:cNvPicPr>
          <p:nvPr/>
        </p:nvPicPr>
        <p:blipFill>
          <a:blip r:embed="rId2"/>
          <a:stretch>
            <a:fillRect/>
          </a:stretch>
        </p:blipFill>
        <p:spPr>
          <a:xfrm>
            <a:off x="6734044" y="1992630"/>
            <a:ext cx="4928365" cy="3177540"/>
          </a:xfrm>
          <a:prstGeom prst="rect">
            <a:avLst/>
          </a:prstGeom>
        </p:spPr>
      </p:pic>
    </p:spTree>
    <p:extLst>
      <p:ext uri="{BB962C8B-B14F-4D97-AF65-F5344CB8AC3E}">
        <p14:creationId xmlns:p14="http://schemas.microsoft.com/office/powerpoint/2010/main" val="1751342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DA130-D626-91E5-E187-39310A422A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375DC7-8CCD-4BBC-91F7-C5127AE7A443}"/>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E4F20EBE-1878-27D0-C33B-36D89D546FE6}"/>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Oráculos</a:t>
            </a:r>
          </a:p>
          <a:p>
            <a:pPr marL="0" indent="0" algn="ctr">
              <a:buNone/>
            </a:pPr>
            <a:endParaRPr lang="es-ES" sz="8800"/>
          </a:p>
        </p:txBody>
      </p:sp>
    </p:spTree>
    <p:extLst>
      <p:ext uri="{BB962C8B-B14F-4D97-AF65-F5344CB8AC3E}">
        <p14:creationId xmlns:p14="http://schemas.microsoft.com/office/powerpoint/2010/main" val="2060003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5639D-97AD-F3D4-7E3C-FC97F3208A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06201B-82BE-C1F3-DFCE-82A4E760C5EF}"/>
              </a:ext>
            </a:extLst>
          </p:cNvPr>
          <p:cNvSpPr>
            <a:spLocks noGrp="1"/>
          </p:cNvSpPr>
          <p:nvPr>
            <p:ph type="title"/>
          </p:nvPr>
        </p:nvSpPr>
        <p:spPr/>
        <p:txBody>
          <a:bodyPr/>
          <a:lstStyle/>
          <a:p>
            <a:r>
              <a:rPr lang="es-ES"/>
              <a:t>Oráculos - ¿Qué son?</a:t>
            </a:r>
            <a:endParaRPr lang="es-ES" dirty="0"/>
          </a:p>
        </p:txBody>
      </p:sp>
      <p:sp>
        <p:nvSpPr>
          <p:cNvPr id="4" name="Marcador de contenido 2">
            <a:extLst>
              <a:ext uri="{FF2B5EF4-FFF2-40B4-BE49-F238E27FC236}">
                <a16:creationId xmlns:a16="http://schemas.microsoft.com/office/drawing/2014/main" id="{E077CD58-2B18-4CC1-AEE8-4B8EF107B74F}"/>
              </a:ext>
            </a:extLst>
          </p:cNvPr>
          <p:cNvSpPr>
            <a:spLocks noGrp="1"/>
          </p:cNvSpPr>
          <p:nvPr>
            <p:ph idx="1"/>
          </p:nvPr>
        </p:nvSpPr>
        <p:spPr>
          <a:xfrm>
            <a:off x="529591" y="1590832"/>
            <a:ext cx="6419849" cy="3981133"/>
          </a:xfrm>
        </p:spPr>
        <p:txBody>
          <a:bodyPr>
            <a:normAutofit/>
          </a:bodyPr>
          <a:lstStyle/>
          <a:p>
            <a:pPr marL="0" indent="0">
              <a:buNone/>
            </a:pPr>
            <a:r>
              <a:rPr lang="es-ES" sz="2000"/>
              <a:t>¿Recordáis por que los nodos no podía usar números aleatorios para computar el resultado del Smart Contract?</a:t>
            </a:r>
          </a:p>
          <a:p>
            <a:pPr marL="0" indent="0">
              <a:buNone/>
            </a:pPr>
            <a:endParaRPr lang="es-ES" sz="2000"/>
          </a:p>
          <a:p>
            <a:pPr marL="0" indent="0">
              <a:buNone/>
            </a:pPr>
            <a:r>
              <a:rPr lang="es-ES" sz="2000"/>
              <a:t>Por esa misma razón no pueden consultar ningún dato externo para ejecutar un Smart Contract</a:t>
            </a:r>
          </a:p>
          <a:p>
            <a:pPr marL="0" indent="0">
              <a:buNone/>
            </a:pPr>
            <a:endParaRPr lang="es-ES" sz="2000"/>
          </a:p>
          <a:p>
            <a:pPr marL="0" indent="0">
              <a:buNone/>
            </a:pPr>
            <a:r>
              <a:rPr lang="es-ES" sz="2000"/>
              <a:t>Pregunta: ¿Cómo pueden entonces las dApps de DeFi, por ejemplo, calcular pares de cambio?</a:t>
            </a:r>
          </a:p>
          <a:p>
            <a:pPr marL="0" indent="0">
              <a:buNone/>
            </a:pPr>
            <a:endParaRPr lang="es-ES" sz="2000"/>
          </a:p>
          <a:p>
            <a:pPr marL="0" indent="0">
              <a:buNone/>
            </a:pPr>
            <a:r>
              <a:rPr lang="es-ES" sz="2000"/>
              <a:t>Mediante los Oráculos</a:t>
            </a:r>
          </a:p>
        </p:txBody>
      </p:sp>
      <p:sp>
        <p:nvSpPr>
          <p:cNvPr id="13" name="AutoShape 4">
            <a:extLst>
              <a:ext uri="{FF2B5EF4-FFF2-40B4-BE49-F238E27FC236}">
                <a16:creationId xmlns:a16="http://schemas.microsoft.com/office/drawing/2014/main" id="{71B164F8-767D-6464-EEA8-13F52F4FFA1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Qué son los Oráculos en la Blockchain?">
            <a:extLst>
              <a:ext uri="{FF2B5EF4-FFF2-40B4-BE49-F238E27FC236}">
                <a16:creationId xmlns:a16="http://schemas.microsoft.com/office/drawing/2014/main" id="{DCE13910-C6B9-50DD-36A6-8BFB7B8B42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609" y="1803350"/>
            <a:ext cx="4241800" cy="3556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633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614D2-BFDE-364A-2856-3FB0E3FAC0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8DEAE4-A526-4238-1B20-190E28AA6AFC}"/>
              </a:ext>
            </a:extLst>
          </p:cNvPr>
          <p:cNvSpPr>
            <a:spLocks noGrp="1"/>
          </p:cNvSpPr>
          <p:nvPr>
            <p:ph type="title"/>
          </p:nvPr>
        </p:nvSpPr>
        <p:spPr/>
        <p:txBody>
          <a:bodyPr/>
          <a:lstStyle/>
          <a:p>
            <a:r>
              <a:rPr lang="es-ES"/>
              <a:t>Oráculos - ¿Qué son?</a:t>
            </a:r>
            <a:endParaRPr lang="es-ES" dirty="0"/>
          </a:p>
        </p:txBody>
      </p:sp>
      <p:sp>
        <p:nvSpPr>
          <p:cNvPr id="4" name="Marcador de contenido 2">
            <a:extLst>
              <a:ext uri="{FF2B5EF4-FFF2-40B4-BE49-F238E27FC236}">
                <a16:creationId xmlns:a16="http://schemas.microsoft.com/office/drawing/2014/main" id="{102F9DC7-A841-C987-4286-6D2E18ECC211}"/>
              </a:ext>
            </a:extLst>
          </p:cNvPr>
          <p:cNvSpPr>
            <a:spLocks noGrp="1"/>
          </p:cNvSpPr>
          <p:nvPr>
            <p:ph idx="1"/>
          </p:nvPr>
        </p:nvSpPr>
        <p:spPr>
          <a:xfrm>
            <a:off x="529591" y="1590832"/>
            <a:ext cx="6419849" cy="3981133"/>
          </a:xfrm>
        </p:spPr>
        <p:txBody>
          <a:bodyPr>
            <a:normAutofit lnSpcReduction="10000"/>
          </a:bodyPr>
          <a:lstStyle/>
          <a:p>
            <a:pPr marL="0" indent="0">
              <a:buNone/>
            </a:pPr>
            <a:r>
              <a:rPr lang="es-ES" sz="2000"/>
              <a:t>Un </a:t>
            </a:r>
            <a:r>
              <a:rPr lang="es-ES" sz="2000" b="1"/>
              <a:t>oráculo</a:t>
            </a:r>
            <a:r>
              <a:rPr lang="es-ES" sz="2000"/>
              <a:t> es un servicio que introduce esos datos en la blockchain de manera confiable y verificable.</a:t>
            </a:r>
          </a:p>
          <a:p>
            <a:pPr marL="0" indent="0">
              <a:buNone/>
            </a:pPr>
            <a:endParaRPr lang="es-ES" sz="2000"/>
          </a:p>
          <a:p>
            <a:pPr marL="0" indent="0">
              <a:buNone/>
            </a:pPr>
            <a:r>
              <a:rPr lang="es-ES" sz="2000" b="1"/>
              <a:t>Por qué son necesarios</a:t>
            </a:r>
          </a:p>
          <a:p>
            <a:r>
              <a:rPr lang="es-ES" sz="2000"/>
              <a:t>DeFi: precios de ETH/USDC en Uniswap, Aave o Compound → cálculo de colateral y liquidaciones.</a:t>
            </a:r>
          </a:p>
          <a:p>
            <a:r>
              <a:rPr lang="es-ES" sz="2000"/>
              <a:t>Seguros: pagar automáticamente si hay retraso de vuelo o lluvia en un cultivo.</a:t>
            </a:r>
          </a:p>
          <a:p>
            <a:r>
              <a:rPr lang="es-ES" sz="2000"/>
              <a:t>Juegos / NFT: resultados de partidos, datos de randomización.</a:t>
            </a:r>
          </a:p>
          <a:p>
            <a:r>
              <a:rPr lang="es-ES" sz="2000"/>
              <a:t>Supply chain: confirmar ubicación o temperatura de un envío.</a:t>
            </a:r>
          </a:p>
          <a:p>
            <a:pPr marL="0" indent="0">
              <a:buNone/>
            </a:pPr>
            <a:endParaRPr lang="es-ES" sz="2000"/>
          </a:p>
        </p:txBody>
      </p:sp>
      <p:sp>
        <p:nvSpPr>
          <p:cNvPr id="13" name="AutoShape 4">
            <a:extLst>
              <a:ext uri="{FF2B5EF4-FFF2-40B4-BE49-F238E27FC236}">
                <a16:creationId xmlns:a16="http://schemas.microsoft.com/office/drawing/2014/main" id="{F51A308A-71CC-5E00-14BF-DDDDA31DD0A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Qué son los Oráculos en la Blockchain?">
            <a:extLst>
              <a:ext uri="{FF2B5EF4-FFF2-40B4-BE49-F238E27FC236}">
                <a16:creationId xmlns:a16="http://schemas.microsoft.com/office/drawing/2014/main" id="{995DF3CB-6A90-58C3-A64F-CA70AC764C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609" y="1803350"/>
            <a:ext cx="4241800" cy="3556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259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98F19-9DE8-3B1F-35CF-B006AD4A23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5F7B31-01D5-3C5C-D1C8-D26F0F22912B}"/>
              </a:ext>
            </a:extLst>
          </p:cNvPr>
          <p:cNvSpPr>
            <a:spLocks noGrp="1"/>
          </p:cNvSpPr>
          <p:nvPr>
            <p:ph type="title"/>
          </p:nvPr>
        </p:nvSpPr>
        <p:spPr/>
        <p:txBody>
          <a:bodyPr/>
          <a:lstStyle/>
          <a:p>
            <a:r>
              <a:rPr lang="es-ES"/>
              <a:t>Oráculos - ¿Qué son?</a:t>
            </a:r>
            <a:endParaRPr lang="es-ES" dirty="0"/>
          </a:p>
        </p:txBody>
      </p:sp>
      <p:sp>
        <p:nvSpPr>
          <p:cNvPr id="4" name="Marcador de contenido 2">
            <a:extLst>
              <a:ext uri="{FF2B5EF4-FFF2-40B4-BE49-F238E27FC236}">
                <a16:creationId xmlns:a16="http://schemas.microsoft.com/office/drawing/2014/main" id="{72B0C5A7-54BE-AAEF-0E12-3C3C36338395}"/>
              </a:ext>
            </a:extLst>
          </p:cNvPr>
          <p:cNvSpPr>
            <a:spLocks noGrp="1"/>
          </p:cNvSpPr>
          <p:nvPr>
            <p:ph idx="1"/>
          </p:nvPr>
        </p:nvSpPr>
        <p:spPr>
          <a:xfrm>
            <a:off x="529591" y="1590832"/>
            <a:ext cx="6419849" cy="3981133"/>
          </a:xfrm>
        </p:spPr>
        <p:txBody>
          <a:bodyPr>
            <a:normAutofit/>
          </a:bodyPr>
          <a:lstStyle/>
          <a:p>
            <a:pPr marL="0" indent="0">
              <a:buNone/>
            </a:pPr>
            <a:r>
              <a:rPr lang="es-ES" sz="2000" b="1"/>
              <a:t>Tipos de oráculos</a:t>
            </a:r>
          </a:p>
          <a:p>
            <a:r>
              <a:rPr lang="es-ES" sz="2000" b="1"/>
              <a:t>De software</a:t>
            </a:r>
            <a:r>
              <a:rPr lang="es-ES" sz="2000"/>
              <a:t> → traen información de APIs (ej. precio de BTC desde exchanges).</a:t>
            </a:r>
          </a:p>
          <a:p>
            <a:r>
              <a:rPr lang="es-ES" sz="2000" b="1"/>
              <a:t>De hardware</a:t>
            </a:r>
            <a:r>
              <a:rPr lang="es-ES" sz="2000"/>
              <a:t> → sensores físicos (IoT) que envían datos a la cadena.</a:t>
            </a:r>
          </a:p>
          <a:p>
            <a:r>
              <a:rPr lang="es-ES" sz="2000" b="1"/>
              <a:t>Entradas/salidas humanas</a:t>
            </a:r>
            <a:r>
              <a:rPr lang="es-ES" sz="2000"/>
              <a:t> → personas certificadas que suben datos (“oráculo humano”).</a:t>
            </a:r>
          </a:p>
          <a:p>
            <a:r>
              <a:rPr lang="es-ES" sz="2000" b="1"/>
              <a:t>Descentralizados</a:t>
            </a:r>
            <a:r>
              <a:rPr lang="es-ES" sz="2000"/>
              <a:t> → redes que combinan muchos orígenes de datos para evitar manipulación.</a:t>
            </a:r>
          </a:p>
        </p:txBody>
      </p:sp>
      <p:sp>
        <p:nvSpPr>
          <p:cNvPr id="13" name="AutoShape 4">
            <a:extLst>
              <a:ext uri="{FF2B5EF4-FFF2-40B4-BE49-F238E27FC236}">
                <a16:creationId xmlns:a16="http://schemas.microsoft.com/office/drawing/2014/main" id="{20D5C561-459E-7BFC-26BA-7F07B960B30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Qué son los Oráculos en la Blockchain?">
            <a:extLst>
              <a:ext uri="{FF2B5EF4-FFF2-40B4-BE49-F238E27FC236}">
                <a16:creationId xmlns:a16="http://schemas.microsoft.com/office/drawing/2014/main" id="{65A5F816-B568-4097-AED9-A55B192B5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609" y="1803350"/>
            <a:ext cx="4241800" cy="3556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707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C287-8826-A977-CFC7-5526B5FAEA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C00D59-1B9F-14CB-6F7F-53BDA963B8F7}"/>
              </a:ext>
            </a:extLst>
          </p:cNvPr>
          <p:cNvSpPr>
            <a:spLocks noGrp="1"/>
          </p:cNvSpPr>
          <p:nvPr>
            <p:ph type="title"/>
          </p:nvPr>
        </p:nvSpPr>
        <p:spPr/>
        <p:txBody>
          <a:bodyPr/>
          <a:lstStyle/>
          <a:p>
            <a:r>
              <a:rPr lang="es-ES"/>
              <a:t>Oráculos - Chainlink</a:t>
            </a:r>
            <a:endParaRPr lang="es-ES" dirty="0"/>
          </a:p>
        </p:txBody>
      </p:sp>
      <p:sp>
        <p:nvSpPr>
          <p:cNvPr id="4" name="Marcador de contenido 2">
            <a:extLst>
              <a:ext uri="{FF2B5EF4-FFF2-40B4-BE49-F238E27FC236}">
                <a16:creationId xmlns:a16="http://schemas.microsoft.com/office/drawing/2014/main" id="{2289D4BF-FFD6-0F12-7B2B-27571FF998B7}"/>
              </a:ext>
            </a:extLst>
          </p:cNvPr>
          <p:cNvSpPr>
            <a:spLocks noGrp="1"/>
          </p:cNvSpPr>
          <p:nvPr>
            <p:ph idx="1"/>
          </p:nvPr>
        </p:nvSpPr>
        <p:spPr>
          <a:xfrm>
            <a:off x="529591" y="1590832"/>
            <a:ext cx="6713219" cy="3981133"/>
          </a:xfrm>
        </p:spPr>
        <p:txBody>
          <a:bodyPr>
            <a:normAutofit fontScale="92500" lnSpcReduction="10000"/>
          </a:bodyPr>
          <a:lstStyle/>
          <a:p>
            <a:r>
              <a:rPr lang="es-ES" sz="2400"/>
              <a:t>Nacido en 2017, basado en Ethereum.</a:t>
            </a:r>
          </a:p>
          <a:p>
            <a:r>
              <a:rPr lang="es-ES" sz="2400"/>
              <a:t>Red de nodos independientes que proporcionan datos a smart contracts.</a:t>
            </a:r>
          </a:p>
          <a:p>
            <a:r>
              <a:rPr lang="es-ES" sz="2400"/>
              <a:t>Servicios:</a:t>
            </a:r>
          </a:p>
          <a:p>
            <a:pPr lvl="1"/>
            <a:r>
              <a:rPr lang="es-ES" sz="2100" b="1"/>
              <a:t>Price Feeds</a:t>
            </a:r>
            <a:r>
              <a:rPr lang="es-ES" sz="2100"/>
              <a:t> (usados por Aave, Synthetix, Compound).</a:t>
            </a:r>
          </a:p>
          <a:p>
            <a:pPr lvl="1"/>
            <a:r>
              <a:rPr lang="es-ES" sz="2100" b="1"/>
              <a:t>VRF (Verifiable Random Function)</a:t>
            </a:r>
            <a:r>
              <a:rPr lang="es-ES" sz="2100"/>
              <a:t> → números aleatorios auditables (usados en juegos/NFT).</a:t>
            </a:r>
          </a:p>
          <a:p>
            <a:pPr lvl="1"/>
            <a:r>
              <a:rPr lang="es-ES" sz="2100" b="1"/>
              <a:t>Proof of Reserve</a:t>
            </a:r>
            <a:r>
              <a:rPr lang="es-ES" sz="2100"/>
              <a:t> → certificación de colateral de stablecoins.</a:t>
            </a:r>
          </a:p>
          <a:p>
            <a:pPr lvl="1"/>
            <a:r>
              <a:rPr lang="es-ES" sz="2000" b="1"/>
              <a:t>Automation / Keepers:</a:t>
            </a:r>
            <a:r>
              <a:rPr lang="es-ES" sz="2000"/>
              <a:t> ejecución automática de contratos en momentos específicos (ej. liquidar préstamos).</a:t>
            </a:r>
            <a:endParaRPr lang="es-ES" sz="2100"/>
          </a:p>
          <a:p>
            <a:r>
              <a:rPr lang="es-ES" sz="2400"/>
              <a:t>Dominante en DeFi: sin Chainlink, la mayoría de protocolos no podrían funcionar con seguridad.</a:t>
            </a:r>
          </a:p>
          <a:p>
            <a:pPr marL="0" indent="0">
              <a:buNone/>
            </a:pPr>
            <a:endParaRPr lang="es-ES" sz="2000"/>
          </a:p>
        </p:txBody>
      </p:sp>
      <p:sp>
        <p:nvSpPr>
          <p:cNvPr id="13" name="AutoShape 4">
            <a:extLst>
              <a:ext uri="{FF2B5EF4-FFF2-40B4-BE49-F238E27FC236}">
                <a16:creationId xmlns:a16="http://schemas.microsoft.com/office/drawing/2014/main" id="{AFCFDA80-3E6C-A0DC-FFB6-7DDF9569B38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122" name="Picture 2" descr="Chainlink response - Global Education ...">
            <a:extLst>
              <a:ext uri="{FF2B5EF4-FFF2-40B4-BE49-F238E27FC236}">
                <a16:creationId xmlns:a16="http://schemas.microsoft.com/office/drawing/2014/main" id="{338B103D-93A5-9AF9-4144-58FE42282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2810" y="2767012"/>
            <a:ext cx="3467100" cy="132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63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2C260-8F7D-E18B-170C-4F619F87FB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5A061D-2DEF-5759-D6DD-26AD119E6B09}"/>
              </a:ext>
            </a:extLst>
          </p:cNvPr>
          <p:cNvSpPr>
            <a:spLocks noGrp="1"/>
          </p:cNvSpPr>
          <p:nvPr>
            <p:ph type="title"/>
          </p:nvPr>
        </p:nvSpPr>
        <p:spPr/>
        <p:txBody>
          <a:bodyPr/>
          <a:lstStyle/>
          <a:p>
            <a:r>
              <a:rPr lang="es-ES"/>
              <a:t>Oráculos - Chainlink</a:t>
            </a:r>
            <a:endParaRPr lang="es-ES" dirty="0"/>
          </a:p>
        </p:txBody>
      </p:sp>
      <p:sp>
        <p:nvSpPr>
          <p:cNvPr id="4" name="Marcador de contenido 2">
            <a:extLst>
              <a:ext uri="{FF2B5EF4-FFF2-40B4-BE49-F238E27FC236}">
                <a16:creationId xmlns:a16="http://schemas.microsoft.com/office/drawing/2014/main" id="{0E8262B0-A262-7CCF-66D2-1198BAB47094}"/>
              </a:ext>
            </a:extLst>
          </p:cNvPr>
          <p:cNvSpPr>
            <a:spLocks noGrp="1"/>
          </p:cNvSpPr>
          <p:nvPr>
            <p:ph idx="1"/>
          </p:nvPr>
        </p:nvSpPr>
        <p:spPr>
          <a:xfrm>
            <a:off x="529591" y="1590832"/>
            <a:ext cx="10603229" cy="4569938"/>
          </a:xfrm>
        </p:spPr>
        <p:txBody>
          <a:bodyPr>
            <a:normAutofit fontScale="92500" lnSpcReduction="10000"/>
          </a:bodyPr>
          <a:lstStyle/>
          <a:p>
            <a:pPr marL="0" indent="0">
              <a:buNone/>
            </a:pPr>
            <a:r>
              <a:rPr lang="es-ES" sz="2000" b="1"/>
              <a:t>Cómo funciona Chainlink</a:t>
            </a:r>
          </a:p>
          <a:p>
            <a:r>
              <a:rPr lang="es-ES" sz="2000"/>
              <a:t>Solicitud de datos: un smart contract (ej. Aave) necesita el precio de ETH/USD.</a:t>
            </a:r>
          </a:p>
          <a:p>
            <a:r>
              <a:rPr lang="es-ES" sz="2000"/>
              <a:t>Contrato de oráculo: se publica la petición en la red de Chainlink.</a:t>
            </a:r>
          </a:p>
          <a:p>
            <a:r>
              <a:rPr lang="es-ES" sz="2000"/>
              <a:t>Nodos Chainlink: operadores independientes ofertan dar esos datos desde distintas fuentes.</a:t>
            </a:r>
          </a:p>
          <a:p>
            <a:r>
              <a:rPr lang="es-ES" sz="2000"/>
              <a:t>Agregación: se recopilan las respuestas de varios nodos y se calcula un valor consensuado (ej. mediana).</a:t>
            </a:r>
          </a:p>
          <a:p>
            <a:r>
              <a:rPr lang="es-ES" sz="2000"/>
              <a:t>Entrega: el resultado se devuelve al smart contract consumidor.</a:t>
            </a:r>
          </a:p>
          <a:p>
            <a:pPr marL="0" indent="0">
              <a:buNone/>
            </a:pPr>
            <a:r>
              <a:rPr lang="es-ES" sz="2000" b="1"/>
              <a:t>Incentivos y seguridad</a:t>
            </a:r>
          </a:p>
          <a:p>
            <a:r>
              <a:rPr lang="es-ES" sz="2000"/>
              <a:t>Los nodos reciben LINK (el token de Chainlink) como pago por proveer datos.</a:t>
            </a:r>
          </a:p>
          <a:p>
            <a:r>
              <a:rPr lang="es-ES" sz="2000"/>
              <a:t>Para participar, los operadores deben stakear LINK → si envían datos falsos o manipulados, pueden perder parte del stake (slashing).</a:t>
            </a:r>
          </a:p>
          <a:p>
            <a:r>
              <a:rPr lang="es-ES" sz="2000"/>
              <a:t>El sistema fomenta que los nodos sean honestos:Datos correctos = recompensas.</a:t>
            </a:r>
          </a:p>
          <a:p>
            <a:r>
              <a:rPr lang="es-ES" sz="2000"/>
              <a:t>Datos incorrectos = pérdida de tokens y reputación.</a:t>
            </a:r>
          </a:p>
          <a:p>
            <a:r>
              <a:rPr lang="es-ES" sz="2000"/>
              <a:t>Chainlink mantiene un sistema de reputación público para saber qué nodos son más fiables.</a:t>
            </a:r>
          </a:p>
        </p:txBody>
      </p:sp>
      <p:sp>
        <p:nvSpPr>
          <p:cNvPr id="13" name="AutoShape 4">
            <a:extLst>
              <a:ext uri="{FF2B5EF4-FFF2-40B4-BE49-F238E27FC236}">
                <a16:creationId xmlns:a16="http://schemas.microsoft.com/office/drawing/2014/main" id="{3B67A3EB-7998-9524-EE4C-E702268CDE5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4690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53B30-30A4-8DBA-3322-B7CA46AC44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5714AB-B90B-9838-A98B-53BD65F1F130}"/>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789A3299-C08A-EBAD-843D-6CA3EE789E2D}"/>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DAO</a:t>
            </a:r>
          </a:p>
          <a:p>
            <a:pPr marL="0" indent="0" algn="ctr">
              <a:buNone/>
            </a:pPr>
            <a:endParaRPr lang="es-ES" sz="8800"/>
          </a:p>
        </p:txBody>
      </p:sp>
    </p:spTree>
    <p:extLst>
      <p:ext uri="{BB962C8B-B14F-4D97-AF65-F5344CB8AC3E}">
        <p14:creationId xmlns:p14="http://schemas.microsoft.com/office/powerpoint/2010/main" val="2628886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604F0-1E38-1335-B073-A2B43D0403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9F0514-EB03-DF27-0ECE-5F169C5DD48A}"/>
              </a:ext>
            </a:extLst>
          </p:cNvPr>
          <p:cNvSpPr>
            <a:spLocks noGrp="1"/>
          </p:cNvSpPr>
          <p:nvPr>
            <p:ph type="title"/>
          </p:nvPr>
        </p:nvSpPr>
        <p:spPr/>
        <p:txBody>
          <a:bodyPr/>
          <a:lstStyle/>
          <a:p>
            <a:r>
              <a:rPr lang="es-ES"/>
              <a:t>Decentralized Autonomous Organization</a:t>
            </a:r>
            <a:endParaRPr lang="es-ES" dirty="0"/>
          </a:p>
        </p:txBody>
      </p:sp>
      <p:sp>
        <p:nvSpPr>
          <p:cNvPr id="4" name="Marcador de contenido 2">
            <a:extLst>
              <a:ext uri="{FF2B5EF4-FFF2-40B4-BE49-F238E27FC236}">
                <a16:creationId xmlns:a16="http://schemas.microsoft.com/office/drawing/2014/main" id="{90E429E9-E978-0447-38E2-5C4E7FEB45D6}"/>
              </a:ext>
            </a:extLst>
          </p:cNvPr>
          <p:cNvSpPr>
            <a:spLocks noGrp="1"/>
          </p:cNvSpPr>
          <p:nvPr>
            <p:ph idx="1"/>
          </p:nvPr>
        </p:nvSpPr>
        <p:spPr>
          <a:xfrm>
            <a:off x="529591" y="2263140"/>
            <a:ext cx="6419849" cy="3981133"/>
          </a:xfrm>
        </p:spPr>
        <p:txBody>
          <a:bodyPr>
            <a:normAutofit/>
          </a:bodyPr>
          <a:lstStyle/>
          <a:p>
            <a:pPr marL="0" indent="0">
              <a:buNone/>
            </a:pPr>
            <a:r>
              <a:rPr lang="es-ES" sz="2000"/>
              <a:t>Organización gobernada por reglas codificadas en smart contracts.</a:t>
            </a:r>
          </a:p>
          <a:p>
            <a:pPr marL="0" indent="0">
              <a:buNone/>
            </a:pPr>
            <a:r>
              <a:rPr lang="es-ES" sz="2000"/>
              <a:t>Sin jerarquía central, decisiones tomadas por los poseedores de tokens (governance tokens).</a:t>
            </a:r>
          </a:p>
          <a:p>
            <a:pPr marL="0" indent="0">
              <a:buNone/>
            </a:pPr>
            <a:r>
              <a:rPr lang="es-ES" sz="2000"/>
              <a:t>Características principales:</a:t>
            </a:r>
          </a:p>
          <a:p>
            <a:r>
              <a:rPr lang="es-ES" sz="2000"/>
              <a:t>Transparencia: todo el código y votaciones en blockchain.</a:t>
            </a:r>
          </a:p>
          <a:p>
            <a:r>
              <a:rPr lang="es-ES" sz="2000"/>
              <a:t>Inclusión: cualquiera con tokens puede participar.</a:t>
            </a:r>
          </a:p>
          <a:p>
            <a:r>
              <a:rPr lang="es-ES" sz="2000"/>
              <a:t>Automatización: smart contracts ejecutan las decisiones sin intermediarios, o al menos, sirven para tomar las decisiones</a:t>
            </a:r>
          </a:p>
        </p:txBody>
      </p:sp>
      <p:sp>
        <p:nvSpPr>
          <p:cNvPr id="13" name="AutoShape 4">
            <a:extLst>
              <a:ext uri="{FF2B5EF4-FFF2-40B4-BE49-F238E27FC236}">
                <a16:creationId xmlns:a16="http://schemas.microsoft.com/office/drawing/2014/main" id="{A597625A-05A9-5DB4-CBD2-18B012B8AC1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45F0B01F-2132-9F86-1CEF-0D059CDC85C7}"/>
              </a:ext>
            </a:extLst>
          </p:cNvPr>
          <p:cNvPicPr>
            <a:picLocks noChangeAspect="1"/>
          </p:cNvPicPr>
          <p:nvPr/>
        </p:nvPicPr>
        <p:blipFill>
          <a:blip r:embed="rId2"/>
          <a:stretch>
            <a:fillRect/>
          </a:stretch>
        </p:blipFill>
        <p:spPr>
          <a:xfrm>
            <a:off x="7243193" y="2263140"/>
            <a:ext cx="4419216" cy="3463011"/>
          </a:xfrm>
          <a:prstGeom prst="rect">
            <a:avLst/>
          </a:prstGeom>
        </p:spPr>
      </p:pic>
    </p:spTree>
    <p:extLst>
      <p:ext uri="{BB962C8B-B14F-4D97-AF65-F5344CB8AC3E}">
        <p14:creationId xmlns:p14="http://schemas.microsoft.com/office/powerpoint/2010/main" val="3571405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AACF-10C8-E80A-D68F-EC9623B4AC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9B2165-4E4B-B1A0-F329-99356EF585B3}"/>
              </a:ext>
            </a:extLst>
          </p:cNvPr>
          <p:cNvSpPr>
            <a:spLocks noGrp="1"/>
          </p:cNvSpPr>
          <p:nvPr>
            <p:ph type="title"/>
          </p:nvPr>
        </p:nvSpPr>
        <p:spPr/>
        <p:txBody>
          <a:bodyPr/>
          <a:lstStyle/>
          <a:p>
            <a:r>
              <a:rPr lang="es-ES"/>
              <a:t>Decentralized Autonomous Organization</a:t>
            </a:r>
            <a:endParaRPr lang="es-ES" dirty="0"/>
          </a:p>
        </p:txBody>
      </p:sp>
      <p:sp>
        <p:nvSpPr>
          <p:cNvPr id="4" name="Marcador de contenido 2">
            <a:extLst>
              <a:ext uri="{FF2B5EF4-FFF2-40B4-BE49-F238E27FC236}">
                <a16:creationId xmlns:a16="http://schemas.microsoft.com/office/drawing/2014/main" id="{28D741E8-F068-74DA-F822-E461F9076C15}"/>
              </a:ext>
            </a:extLst>
          </p:cNvPr>
          <p:cNvSpPr>
            <a:spLocks noGrp="1"/>
          </p:cNvSpPr>
          <p:nvPr>
            <p:ph idx="1"/>
          </p:nvPr>
        </p:nvSpPr>
        <p:spPr>
          <a:xfrm>
            <a:off x="529591" y="2263140"/>
            <a:ext cx="10363199" cy="3981133"/>
          </a:xfrm>
        </p:spPr>
        <p:txBody>
          <a:bodyPr>
            <a:normAutofit/>
          </a:bodyPr>
          <a:lstStyle/>
          <a:p>
            <a:pPr marL="0" indent="0">
              <a:buNone/>
            </a:pPr>
            <a:r>
              <a:rPr lang="es-ES" sz="2000"/>
              <a:t>Mecanismos de Votación</a:t>
            </a:r>
          </a:p>
          <a:p>
            <a:r>
              <a:rPr lang="es-ES" sz="2000"/>
              <a:t>Token-weighted voting (lo probaremos luego): 1 token = 1 voto.</a:t>
            </a:r>
          </a:p>
          <a:p>
            <a:r>
              <a:rPr lang="es-ES" sz="2000"/>
              <a:t>Quadratic voting: penaliza a ballenas, da más peso a pequeños holders. Bien se calcula la razi cuadrada de los tokes o bien se incrementa cuadráticamente los toksn necesarios para cada voto.</a:t>
            </a:r>
          </a:p>
          <a:p>
            <a:r>
              <a:rPr lang="es-ES" sz="2000"/>
              <a:t>Delegación de votos: los usuarios delegan su poder en representantes (ej. Compound, MakerDAO).</a:t>
            </a:r>
          </a:p>
          <a:p>
            <a:r>
              <a:rPr lang="es-ES" sz="2000"/>
              <a:t>Snapshot voting: los saldos se congelan en un bloque específico para evitar trampas.</a:t>
            </a:r>
          </a:p>
        </p:txBody>
      </p:sp>
      <p:sp>
        <p:nvSpPr>
          <p:cNvPr id="13" name="AutoShape 4">
            <a:extLst>
              <a:ext uri="{FF2B5EF4-FFF2-40B4-BE49-F238E27FC236}">
                <a16:creationId xmlns:a16="http://schemas.microsoft.com/office/drawing/2014/main" id="{E4A03728-B06B-8458-7B86-E1845CC92F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8573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1595-EBA8-713C-6B91-8C7735D58E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82EBA3-20B3-2B94-5DE9-F138142CAAC5}"/>
              </a:ext>
            </a:extLst>
          </p:cNvPr>
          <p:cNvSpPr>
            <a:spLocks noGrp="1"/>
          </p:cNvSpPr>
          <p:nvPr>
            <p:ph type="title"/>
          </p:nvPr>
        </p:nvSpPr>
        <p:spPr/>
        <p:txBody>
          <a:bodyPr/>
          <a:lstStyle/>
          <a:p>
            <a:r>
              <a:rPr lang="es-ES"/>
              <a:t>Decentralized Autonomous Organization</a:t>
            </a:r>
            <a:endParaRPr lang="es-ES" dirty="0"/>
          </a:p>
        </p:txBody>
      </p:sp>
      <p:sp>
        <p:nvSpPr>
          <p:cNvPr id="4" name="Marcador de contenido 2">
            <a:extLst>
              <a:ext uri="{FF2B5EF4-FFF2-40B4-BE49-F238E27FC236}">
                <a16:creationId xmlns:a16="http://schemas.microsoft.com/office/drawing/2014/main" id="{B0782E30-2285-233D-956E-99A2D7E82B49}"/>
              </a:ext>
            </a:extLst>
          </p:cNvPr>
          <p:cNvSpPr>
            <a:spLocks noGrp="1"/>
          </p:cNvSpPr>
          <p:nvPr>
            <p:ph idx="1"/>
          </p:nvPr>
        </p:nvSpPr>
        <p:spPr>
          <a:xfrm>
            <a:off x="529591" y="2263140"/>
            <a:ext cx="6419849" cy="3981133"/>
          </a:xfrm>
        </p:spPr>
        <p:txBody>
          <a:bodyPr>
            <a:normAutofit/>
          </a:bodyPr>
          <a:lstStyle/>
          <a:p>
            <a:pPr marL="0" indent="0">
              <a:buNone/>
            </a:pPr>
            <a:r>
              <a:rPr lang="es-ES" sz="2000"/>
              <a:t>Ejemplos de DAO</a:t>
            </a:r>
          </a:p>
          <a:p>
            <a:r>
              <a:rPr lang="es-ES" sz="2000"/>
              <a:t>MakerDAO (Ethereum): gestiona DAI (stablecoin descentralizada), holders de MKR votan sobre parámetros (colateral, fees).</a:t>
            </a:r>
          </a:p>
          <a:p>
            <a:r>
              <a:rPr lang="es-ES" sz="2000"/>
              <a:t>Uniswap DAO: decide sobre mejoras y tesorería del protocolo DEX.</a:t>
            </a:r>
          </a:p>
          <a:p>
            <a:r>
              <a:rPr lang="es-ES" sz="2000"/>
              <a:t>ENS DAO: gestiona nombres de dominio descentralizados (.eth).</a:t>
            </a:r>
          </a:p>
          <a:p>
            <a:r>
              <a:rPr lang="es-ES" sz="2000"/>
              <a:t>The DAO (2016): primer gran DAO, hackeado por vulnerabilidad de reentrancy → dio origen al fork Ethereum / Ethereum Classic.</a:t>
            </a:r>
          </a:p>
        </p:txBody>
      </p:sp>
      <p:sp>
        <p:nvSpPr>
          <p:cNvPr id="13" name="AutoShape 4">
            <a:extLst>
              <a:ext uri="{FF2B5EF4-FFF2-40B4-BE49-F238E27FC236}">
                <a16:creationId xmlns:a16="http://schemas.microsoft.com/office/drawing/2014/main" id="{C528F682-F0E5-B37B-CAEE-A8A72B07FE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186A3968-F156-0EF4-B888-D1DBBA2CC348}"/>
              </a:ext>
            </a:extLst>
          </p:cNvPr>
          <p:cNvPicPr>
            <a:picLocks noChangeAspect="1"/>
          </p:cNvPicPr>
          <p:nvPr/>
        </p:nvPicPr>
        <p:blipFill>
          <a:blip r:embed="rId2"/>
          <a:stretch>
            <a:fillRect/>
          </a:stretch>
        </p:blipFill>
        <p:spPr>
          <a:xfrm>
            <a:off x="7243193" y="2263140"/>
            <a:ext cx="4419216" cy="3463011"/>
          </a:xfrm>
          <a:prstGeom prst="rect">
            <a:avLst/>
          </a:prstGeom>
        </p:spPr>
      </p:pic>
    </p:spTree>
    <p:extLst>
      <p:ext uri="{BB962C8B-B14F-4D97-AF65-F5344CB8AC3E}">
        <p14:creationId xmlns:p14="http://schemas.microsoft.com/office/powerpoint/2010/main" val="81585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BA072-8E4C-DD31-9CDA-447C3C2A4D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AABCE5-62E2-370F-613D-6DA26362AB81}"/>
              </a:ext>
            </a:extLst>
          </p:cNvPr>
          <p:cNvSpPr>
            <a:spLocks noGrp="1"/>
          </p:cNvSpPr>
          <p:nvPr>
            <p:ph type="title"/>
          </p:nvPr>
        </p:nvSpPr>
        <p:spPr/>
        <p:txBody>
          <a:bodyPr/>
          <a:lstStyle/>
          <a:p>
            <a:r>
              <a:rPr lang="es-ES"/>
              <a:t>El Caso The DAO</a:t>
            </a:r>
            <a:endParaRPr lang="es-ES" dirty="0"/>
          </a:p>
        </p:txBody>
      </p:sp>
      <p:sp>
        <p:nvSpPr>
          <p:cNvPr id="4" name="Marcador de contenido 2">
            <a:extLst>
              <a:ext uri="{FF2B5EF4-FFF2-40B4-BE49-F238E27FC236}">
                <a16:creationId xmlns:a16="http://schemas.microsoft.com/office/drawing/2014/main" id="{50FECEC4-88F8-84FB-92E4-E7A8400A789F}"/>
              </a:ext>
            </a:extLst>
          </p:cNvPr>
          <p:cNvSpPr>
            <a:spLocks noGrp="1"/>
          </p:cNvSpPr>
          <p:nvPr>
            <p:ph idx="1"/>
          </p:nvPr>
        </p:nvSpPr>
        <p:spPr>
          <a:xfrm>
            <a:off x="529591" y="2263140"/>
            <a:ext cx="10991849" cy="3981133"/>
          </a:xfrm>
        </p:spPr>
        <p:txBody>
          <a:bodyPr>
            <a:normAutofit fontScale="92500" lnSpcReduction="20000"/>
          </a:bodyPr>
          <a:lstStyle/>
          <a:p>
            <a:pPr marL="0" indent="0">
              <a:buNone/>
            </a:pPr>
            <a:r>
              <a:rPr lang="es-ES" sz="2000"/>
              <a:t>The DAO (2016) fue el primer gran experimento de una organización descentralizada en Ethereum. Recaudó más de 150 millones de dólares en ETH de unas 11.000 personas para crear un fondo de inversión gobernado por votaciones de los participantes.</a:t>
            </a:r>
          </a:p>
          <a:p>
            <a:pPr marL="0" indent="0">
              <a:buNone/>
            </a:pPr>
            <a:r>
              <a:rPr lang="es-ES" sz="2000"/>
              <a:t>El smart contract tenía una vulnerabilidad que atacante explotó para vaciar progresivamente fondos hacia un “child DAO”, llevándose unos 3,6 millones de ETH (~50 millones USD entonces).</a:t>
            </a:r>
          </a:p>
          <a:p>
            <a:pPr marL="0" indent="0">
              <a:buNone/>
            </a:pPr>
            <a:r>
              <a:rPr lang="es-ES" sz="2000"/>
              <a:t>La comunidad se dividió:</a:t>
            </a:r>
          </a:p>
          <a:p>
            <a:r>
              <a:rPr lang="es-ES" sz="2000"/>
              <a:t>Unos defendían la regla “code is law” y que el robo debía aceptarse.</a:t>
            </a:r>
          </a:p>
          <a:p>
            <a:r>
              <a:rPr lang="es-ES" sz="2000"/>
              <a:t>Otros impulsaron un hard fork de Ethereum para devolver los fondos.</a:t>
            </a:r>
          </a:p>
          <a:p>
            <a:pPr marL="0" indent="0">
              <a:buNone/>
            </a:pPr>
            <a:r>
              <a:rPr lang="es-ES" sz="2000"/>
              <a:t>El resultado fue la separación en dos cadenas:</a:t>
            </a:r>
          </a:p>
          <a:p>
            <a:r>
              <a:rPr lang="es-ES" sz="2000"/>
              <a:t>Ethereum (ETH) → la que revirtió el ataque.</a:t>
            </a:r>
          </a:p>
          <a:p>
            <a:r>
              <a:rPr lang="es-ES" sz="2000"/>
              <a:t>Ethereum Classic (ETC) → la que mantuvo la cadena original.</a:t>
            </a:r>
          </a:p>
          <a:p>
            <a:pPr marL="0" indent="0">
              <a:buNone/>
            </a:pPr>
            <a:r>
              <a:rPr lang="es-ES" sz="2000"/>
              <a:t>Se considera un hito porque mostró tanto el potencial de las DAOs como los enormes riesgos de bugs en smart contracts.</a:t>
            </a:r>
          </a:p>
        </p:txBody>
      </p:sp>
      <p:sp>
        <p:nvSpPr>
          <p:cNvPr id="13" name="AutoShape 4">
            <a:extLst>
              <a:ext uri="{FF2B5EF4-FFF2-40B4-BE49-F238E27FC236}">
                <a16:creationId xmlns:a16="http://schemas.microsoft.com/office/drawing/2014/main" id="{9354C211-DC59-E7F1-64FD-32002EC59B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715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598E8-331E-B281-FA54-389C56B7C3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39AC20-95CA-3BB1-E979-D934D35E9E15}"/>
              </a:ext>
            </a:extLst>
          </p:cNvPr>
          <p:cNvSpPr>
            <a:spLocks noGrp="1"/>
          </p:cNvSpPr>
          <p:nvPr>
            <p:ph type="title"/>
          </p:nvPr>
        </p:nvSpPr>
        <p:spPr/>
        <p:txBody>
          <a:bodyPr/>
          <a:lstStyle/>
          <a:p>
            <a:r>
              <a:rPr lang="es-ES"/>
              <a:t>El Caso Beanstalk DAO</a:t>
            </a:r>
            <a:endParaRPr lang="es-ES" dirty="0"/>
          </a:p>
        </p:txBody>
      </p:sp>
      <p:sp>
        <p:nvSpPr>
          <p:cNvPr id="4" name="Marcador de contenido 2">
            <a:extLst>
              <a:ext uri="{FF2B5EF4-FFF2-40B4-BE49-F238E27FC236}">
                <a16:creationId xmlns:a16="http://schemas.microsoft.com/office/drawing/2014/main" id="{ADBCC1C7-2F75-70D9-AD31-CCA3A3144E57}"/>
              </a:ext>
            </a:extLst>
          </p:cNvPr>
          <p:cNvSpPr>
            <a:spLocks noGrp="1"/>
          </p:cNvSpPr>
          <p:nvPr>
            <p:ph idx="1"/>
          </p:nvPr>
        </p:nvSpPr>
        <p:spPr>
          <a:xfrm>
            <a:off x="529591" y="2263140"/>
            <a:ext cx="10991849" cy="3981133"/>
          </a:xfrm>
        </p:spPr>
        <p:txBody>
          <a:bodyPr>
            <a:normAutofit/>
          </a:bodyPr>
          <a:lstStyle/>
          <a:p>
            <a:pPr marL="0" indent="0">
              <a:buNone/>
            </a:pPr>
            <a:r>
              <a:rPr lang="es-ES" sz="2000" b="1"/>
              <a:t>Ataque:</a:t>
            </a:r>
          </a:p>
          <a:p>
            <a:pPr lvl="1"/>
            <a:r>
              <a:rPr lang="es-ES" sz="1600"/>
              <a:t>Beanstalk es un protocolo DeFi basado en una stablecoin algorítmica.</a:t>
            </a:r>
          </a:p>
          <a:p>
            <a:pPr lvl="1"/>
            <a:r>
              <a:rPr lang="es-ES" sz="1600"/>
              <a:t>Su gobernanza era por token-weighted voting (1 token = 1 voto).</a:t>
            </a:r>
          </a:p>
          <a:p>
            <a:pPr lvl="1"/>
            <a:r>
              <a:rPr lang="es-ES" sz="1600"/>
              <a:t>Un atacante pidió un préstamo flash de unos 350 millones USD en tokens (Aave).</a:t>
            </a:r>
          </a:p>
          <a:p>
            <a:pPr lvl="1"/>
            <a:r>
              <a:rPr lang="es-ES" sz="1600"/>
              <a:t>Con ese poder de voto temporal, aprobó una propuesta maliciosa que transfería los fondos de la tesorería a su propia wallet.</a:t>
            </a:r>
          </a:p>
          <a:p>
            <a:pPr marL="0" indent="0">
              <a:buNone/>
            </a:pPr>
            <a:r>
              <a:rPr lang="es-ES" sz="2000" b="1"/>
              <a:t>Resultado</a:t>
            </a:r>
          </a:p>
          <a:p>
            <a:pPr lvl="1"/>
            <a:r>
              <a:rPr lang="es-ES" sz="1600"/>
              <a:t>El atacante robó alrededor de 182 millones USD, quedándose con unos 80 millones tras devolver el préstamo flash.</a:t>
            </a:r>
          </a:p>
          <a:p>
            <a:pPr lvl="1"/>
            <a:r>
              <a:rPr lang="es-ES" sz="1600"/>
              <a:t>Fue uno de los primeros ejemplos claros de cómo el diseño de gobernanza puede ser explotado si no se limita el origen o duración del poder de voto.</a:t>
            </a:r>
          </a:p>
          <a:p>
            <a:pPr marL="0" indent="0">
              <a:buNone/>
            </a:pPr>
            <a:endParaRPr lang="es-ES" sz="2000"/>
          </a:p>
          <a:p>
            <a:pPr marL="0" indent="0">
              <a:buNone/>
            </a:pPr>
            <a:r>
              <a:rPr lang="es-ES" sz="2000"/>
              <a:t>Muchos DAOs desde entonces aplican mecanismos como snapshots (congelar balances en un bloque previo) o time locks (espera obligatoria antes de ejecutar una votación).</a:t>
            </a:r>
          </a:p>
        </p:txBody>
      </p:sp>
      <p:sp>
        <p:nvSpPr>
          <p:cNvPr id="13" name="AutoShape 4">
            <a:extLst>
              <a:ext uri="{FF2B5EF4-FFF2-40B4-BE49-F238E27FC236}">
                <a16:creationId xmlns:a16="http://schemas.microsoft.com/office/drawing/2014/main" id="{2B2873D5-7F50-D8C8-9C4B-15307475CD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7799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B6A0-E28B-4D09-1F1E-FDF724420E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44D301-BD15-871F-188D-C70B2324DD9D}"/>
              </a:ext>
            </a:extLst>
          </p:cNvPr>
          <p:cNvSpPr>
            <a:spLocks noGrp="1"/>
          </p:cNvSpPr>
          <p:nvPr>
            <p:ph type="title"/>
          </p:nvPr>
        </p:nvSpPr>
        <p:spPr/>
        <p:txBody>
          <a:bodyPr/>
          <a:lstStyle/>
          <a:p>
            <a:r>
              <a:rPr lang="es-ES"/>
              <a:t>Debate – Pros y Contras de las DAOs</a:t>
            </a:r>
            <a:endParaRPr lang="es-ES" dirty="0"/>
          </a:p>
        </p:txBody>
      </p:sp>
      <p:sp>
        <p:nvSpPr>
          <p:cNvPr id="4" name="Marcador de contenido 2">
            <a:extLst>
              <a:ext uri="{FF2B5EF4-FFF2-40B4-BE49-F238E27FC236}">
                <a16:creationId xmlns:a16="http://schemas.microsoft.com/office/drawing/2014/main" id="{A83C675B-C695-4D50-2D33-6D213E869283}"/>
              </a:ext>
            </a:extLst>
          </p:cNvPr>
          <p:cNvSpPr>
            <a:spLocks noGrp="1"/>
          </p:cNvSpPr>
          <p:nvPr>
            <p:ph idx="1"/>
          </p:nvPr>
        </p:nvSpPr>
        <p:spPr>
          <a:xfrm>
            <a:off x="529591" y="2263140"/>
            <a:ext cx="10824209" cy="3981133"/>
          </a:xfrm>
        </p:spPr>
        <p:txBody>
          <a:bodyPr>
            <a:normAutofit/>
          </a:bodyPr>
          <a:lstStyle/>
          <a:p>
            <a:pPr marL="0" indent="0">
              <a:buNone/>
            </a:pPr>
            <a:r>
              <a:rPr lang="es-ES" sz="2000"/>
              <a:t>Dividir el aula en dos grupos</a:t>
            </a:r>
          </a:p>
          <a:p>
            <a:pPr marL="0" indent="0">
              <a:buNone/>
            </a:pPr>
            <a:r>
              <a:rPr lang="es-ES" sz="2000"/>
              <a:t>Unos darán argumentos a favor de las DAOs</a:t>
            </a:r>
          </a:p>
          <a:p>
            <a:pPr marL="0" indent="0">
              <a:buNone/>
            </a:pPr>
            <a:r>
              <a:rPr lang="es-ES" sz="2000"/>
              <a:t>Los otros en contra</a:t>
            </a:r>
          </a:p>
          <a:p>
            <a:pPr marL="0" indent="0">
              <a:buNone/>
            </a:pPr>
            <a:r>
              <a:rPr lang="es-ES" sz="2000"/>
              <a:t>Trataran de rebatir los argumentos del otro grupo</a:t>
            </a:r>
          </a:p>
          <a:p>
            <a:pPr marL="0" indent="0">
              <a:buNone/>
            </a:pPr>
            <a:endParaRPr lang="es-ES" sz="2000"/>
          </a:p>
          <a:p>
            <a:pPr marL="0" indent="0">
              <a:buNone/>
            </a:pPr>
            <a:r>
              <a:rPr lang="es-ES" sz="2000"/>
              <a:t>Temas intersantes a tratar:</a:t>
            </a:r>
          </a:p>
          <a:p>
            <a:pPr marL="0" indent="0">
              <a:buNone/>
            </a:pPr>
            <a:r>
              <a:rPr lang="es-ES" sz="2000"/>
              <a:t>A favor: Transparencia, facilidad de acceso, automatismo y ausencia de malas praxis.</a:t>
            </a:r>
          </a:p>
          <a:p>
            <a:pPr marL="0" indent="0">
              <a:buNone/>
            </a:pPr>
            <a:r>
              <a:rPr lang="es-ES" sz="2000"/>
              <a:t>En contra: Riesgo de concentración, complejidad legal, bugs en Smart Contracts</a:t>
            </a:r>
          </a:p>
        </p:txBody>
      </p:sp>
      <p:sp>
        <p:nvSpPr>
          <p:cNvPr id="13" name="AutoShape 4">
            <a:extLst>
              <a:ext uri="{FF2B5EF4-FFF2-40B4-BE49-F238E27FC236}">
                <a16:creationId xmlns:a16="http://schemas.microsoft.com/office/drawing/2014/main" id="{47B490F7-2F1E-5FDE-C0C6-E0654D9B4B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8288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292D7-D6DC-E2E8-C52A-400885BD56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9E9C77-B62C-03E3-F063-E1EEB4EDB84F}"/>
              </a:ext>
            </a:extLst>
          </p:cNvPr>
          <p:cNvSpPr>
            <a:spLocks noGrp="1"/>
          </p:cNvSpPr>
          <p:nvPr>
            <p:ph type="title"/>
          </p:nvPr>
        </p:nvSpPr>
        <p:spPr/>
        <p:txBody>
          <a:bodyPr/>
          <a:lstStyle/>
          <a:p>
            <a:r>
              <a:rPr lang="es-ES"/>
              <a:t>Práctica – Desplegar Mini DAO</a:t>
            </a:r>
            <a:endParaRPr lang="es-ES" dirty="0"/>
          </a:p>
        </p:txBody>
      </p:sp>
      <p:sp>
        <p:nvSpPr>
          <p:cNvPr id="4" name="Marcador de contenido 2">
            <a:extLst>
              <a:ext uri="{FF2B5EF4-FFF2-40B4-BE49-F238E27FC236}">
                <a16:creationId xmlns:a16="http://schemas.microsoft.com/office/drawing/2014/main" id="{80574305-6713-DBF5-FED7-1AA56529E01A}"/>
              </a:ext>
            </a:extLst>
          </p:cNvPr>
          <p:cNvSpPr>
            <a:spLocks noGrp="1"/>
          </p:cNvSpPr>
          <p:nvPr>
            <p:ph idx="1"/>
          </p:nvPr>
        </p:nvSpPr>
        <p:spPr>
          <a:xfrm>
            <a:off x="529591" y="2263140"/>
            <a:ext cx="10824209" cy="3981133"/>
          </a:xfrm>
        </p:spPr>
        <p:txBody>
          <a:bodyPr>
            <a:normAutofit/>
          </a:bodyPr>
          <a:lstStyle/>
          <a:p>
            <a:pPr marL="0" indent="0">
              <a:buNone/>
            </a:pPr>
            <a:r>
              <a:rPr lang="es-ES" sz="2000"/>
              <a:t>Los alumnos verificarán que aun disponen de los Tokens que creamos en la práctica de SC, de no ser así avisarán al profesor para que les proporciona algunos</a:t>
            </a:r>
          </a:p>
          <a:p>
            <a:pPr marL="0" indent="0">
              <a:buNone/>
            </a:pPr>
            <a:r>
              <a:rPr lang="es-ES" sz="2000"/>
              <a:t>El profesor desplegará el SC de votaciones</a:t>
            </a:r>
          </a:p>
          <a:p>
            <a:pPr marL="0" indent="0">
              <a:buNone/>
            </a:pPr>
            <a:r>
              <a:rPr lang="es-ES" sz="2000"/>
              <a:t>Pasará el código y la dirección a los alumnos para que lo referencien en Remix</a:t>
            </a:r>
          </a:p>
          <a:p>
            <a:pPr marL="0" indent="0">
              <a:buNone/>
            </a:pPr>
            <a:r>
              <a:rPr lang="es-ES" sz="2000"/>
              <a:t>Se subirá una votación de ejemplo</a:t>
            </a:r>
          </a:p>
          <a:p>
            <a:pPr marL="0" indent="0">
              <a:buNone/>
            </a:pPr>
            <a:r>
              <a:rPr lang="es-ES" sz="2000"/>
              <a:t>Los alumnos votarán obteniendo un resultado final ponderado a la cantidad de tokens que tienen</a:t>
            </a:r>
          </a:p>
        </p:txBody>
      </p:sp>
      <p:sp>
        <p:nvSpPr>
          <p:cNvPr id="13" name="AutoShape 4">
            <a:extLst>
              <a:ext uri="{FF2B5EF4-FFF2-40B4-BE49-F238E27FC236}">
                <a16:creationId xmlns:a16="http://schemas.microsoft.com/office/drawing/2014/main" id="{8EAD8AE7-4AC9-0377-EA3C-5B52CECD47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3662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099D-40D6-6850-8D43-4A823F409D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785CB1-EAF5-6BFF-08DA-C364796F7775}"/>
              </a:ext>
            </a:extLst>
          </p:cNvPr>
          <p:cNvSpPr>
            <a:spLocks noGrp="1"/>
          </p:cNvSpPr>
          <p:nvPr>
            <p:ph type="title"/>
          </p:nvPr>
        </p:nvSpPr>
        <p:spPr/>
        <p:txBody>
          <a:bodyPr/>
          <a:lstStyle/>
          <a:p>
            <a:r>
              <a:rPr lang="es-ES"/>
              <a:t>Blockchain</a:t>
            </a:r>
          </a:p>
        </p:txBody>
      </p:sp>
      <p:sp>
        <p:nvSpPr>
          <p:cNvPr id="3" name="Marcador de contenido 2">
            <a:extLst>
              <a:ext uri="{FF2B5EF4-FFF2-40B4-BE49-F238E27FC236}">
                <a16:creationId xmlns:a16="http://schemas.microsoft.com/office/drawing/2014/main" id="{045B3F1C-4A02-5E5A-9BCF-19A4E5F32B5C}"/>
              </a:ext>
            </a:extLst>
          </p:cNvPr>
          <p:cNvSpPr>
            <a:spLocks noGrp="1"/>
          </p:cNvSpPr>
          <p:nvPr>
            <p:ph idx="1"/>
          </p:nvPr>
        </p:nvSpPr>
        <p:spPr>
          <a:xfrm>
            <a:off x="838200" y="1528445"/>
            <a:ext cx="10515600" cy="4351338"/>
          </a:xfrm>
        </p:spPr>
        <p:txBody>
          <a:bodyPr>
            <a:normAutofit/>
          </a:bodyPr>
          <a:lstStyle/>
          <a:p>
            <a:pPr marL="0" indent="0" algn="ctr">
              <a:buNone/>
            </a:pPr>
            <a:endParaRPr lang="es-ES" sz="6600"/>
          </a:p>
          <a:p>
            <a:pPr marL="0" indent="0" algn="ctr">
              <a:buNone/>
            </a:pPr>
            <a:r>
              <a:rPr lang="es-ES" sz="8800"/>
              <a:t>Otros Casos de Uso</a:t>
            </a:r>
          </a:p>
          <a:p>
            <a:pPr marL="0" indent="0" algn="ctr">
              <a:buNone/>
            </a:pPr>
            <a:endParaRPr lang="es-ES" sz="8800"/>
          </a:p>
        </p:txBody>
      </p:sp>
    </p:spTree>
    <p:extLst>
      <p:ext uri="{BB962C8B-B14F-4D97-AF65-F5344CB8AC3E}">
        <p14:creationId xmlns:p14="http://schemas.microsoft.com/office/powerpoint/2010/main" val="3594944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17422-8A19-6F34-6B56-8D310E36A2D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A058C9-D7CF-4992-D154-CCA79677422D}"/>
              </a:ext>
            </a:extLst>
          </p:cNvPr>
          <p:cNvSpPr>
            <a:spLocks noGrp="1"/>
          </p:cNvSpPr>
          <p:nvPr>
            <p:ph type="title"/>
          </p:nvPr>
        </p:nvSpPr>
        <p:spPr/>
        <p:txBody>
          <a:bodyPr/>
          <a:lstStyle/>
          <a:p>
            <a:r>
              <a:rPr lang="es-ES"/>
              <a:t>Otros casos de uso de Blockchain</a:t>
            </a:r>
            <a:endParaRPr lang="es-ES" dirty="0"/>
          </a:p>
        </p:txBody>
      </p:sp>
      <p:sp>
        <p:nvSpPr>
          <p:cNvPr id="4" name="Marcador de contenido 2">
            <a:extLst>
              <a:ext uri="{FF2B5EF4-FFF2-40B4-BE49-F238E27FC236}">
                <a16:creationId xmlns:a16="http://schemas.microsoft.com/office/drawing/2014/main" id="{BF90B510-1274-67F4-2D41-3BBDB3BD9010}"/>
              </a:ext>
            </a:extLst>
          </p:cNvPr>
          <p:cNvSpPr>
            <a:spLocks noGrp="1"/>
          </p:cNvSpPr>
          <p:nvPr>
            <p:ph idx="1"/>
          </p:nvPr>
        </p:nvSpPr>
        <p:spPr>
          <a:xfrm>
            <a:off x="838200" y="1543050"/>
            <a:ext cx="10515600" cy="4701223"/>
          </a:xfrm>
        </p:spPr>
        <p:txBody>
          <a:bodyPr>
            <a:normAutofit/>
          </a:bodyPr>
          <a:lstStyle/>
          <a:p>
            <a:pPr marL="0" indent="0">
              <a:buNone/>
            </a:pPr>
            <a:r>
              <a:rPr lang="es-ES" sz="2400"/>
              <a:t>Más allá de las aplicaciones financieras, Blockchain aporta confianza y trazabilidad lo que crea otros casos de uso:</a:t>
            </a:r>
          </a:p>
          <a:p>
            <a:pPr marL="0" indent="0">
              <a:buNone/>
            </a:pPr>
            <a:endParaRPr lang="es-ES" sz="2400"/>
          </a:p>
          <a:p>
            <a:r>
              <a:rPr lang="es-ES" sz="2400"/>
              <a:t>Identidad Digital Soberana</a:t>
            </a:r>
          </a:p>
          <a:p>
            <a:r>
              <a:rPr lang="es-ES" sz="2400"/>
              <a:t>Cadena de Suministro</a:t>
            </a:r>
          </a:p>
          <a:p>
            <a:r>
              <a:rPr lang="es-ES" sz="2400"/>
              <a:t>Tokenización de activos</a:t>
            </a:r>
          </a:p>
          <a:p>
            <a:r>
              <a:rPr lang="es-ES" sz="2400"/>
              <a:t>IoT+Blockchain</a:t>
            </a:r>
            <a:endParaRPr lang="es-ES" sz="1800"/>
          </a:p>
        </p:txBody>
      </p:sp>
      <p:sp>
        <p:nvSpPr>
          <p:cNvPr id="13" name="AutoShape 4">
            <a:extLst>
              <a:ext uri="{FF2B5EF4-FFF2-40B4-BE49-F238E27FC236}">
                <a16:creationId xmlns:a16="http://schemas.microsoft.com/office/drawing/2014/main" id="{DE768F6F-7672-ABEB-D5E9-EBA7F5CB122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0910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9884E-B021-0E86-E1DA-17AFAE2EEB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82F222-0123-FB91-BBBD-D11B5C5C7721}"/>
              </a:ext>
            </a:extLst>
          </p:cNvPr>
          <p:cNvSpPr>
            <a:spLocks noGrp="1"/>
          </p:cNvSpPr>
          <p:nvPr>
            <p:ph type="title"/>
          </p:nvPr>
        </p:nvSpPr>
        <p:spPr/>
        <p:txBody>
          <a:bodyPr/>
          <a:lstStyle/>
          <a:p>
            <a:r>
              <a:rPr lang="es-ES"/>
              <a:t>Identidad Digital Soberana</a:t>
            </a:r>
            <a:endParaRPr lang="es-ES" dirty="0"/>
          </a:p>
        </p:txBody>
      </p:sp>
      <p:sp>
        <p:nvSpPr>
          <p:cNvPr id="4" name="Marcador de contenido 2">
            <a:extLst>
              <a:ext uri="{FF2B5EF4-FFF2-40B4-BE49-F238E27FC236}">
                <a16:creationId xmlns:a16="http://schemas.microsoft.com/office/drawing/2014/main" id="{1B993DA2-086C-62FB-096F-8B9B8653E149}"/>
              </a:ext>
            </a:extLst>
          </p:cNvPr>
          <p:cNvSpPr>
            <a:spLocks noGrp="1"/>
          </p:cNvSpPr>
          <p:nvPr>
            <p:ph idx="1"/>
          </p:nvPr>
        </p:nvSpPr>
        <p:spPr>
          <a:xfrm>
            <a:off x="838200" y="1543050"/>
            <a:ext cx="10515600" cy="4701223"/>
          </a:xfrm>
        </p:spPr>
        <p:txBody>
          <a:bodyPr>
            <a:normAutofit fontScale="92500" lnSpcReduction="20000"/>
          </a:bodyPr>
          <a:lstStyle/>
          <a:p>
            <a:pPr marL="0" indent="0">
              <a:buNone/>
            </a:pPr>
            <a:r>
              <a:rPr lang="es-ES" sz="2400" b="1"/>
              <a:t>Problema: </a:t>
            </a:r>
            <a:r>
              <a:rPr lang="es-ES" sz="2400"/>
              <a:t>Identidades fragmentadas, robo de datos, dependencia de plataformas.</a:t>
            </a:r>
          </a:p>
          <a:p>
            <a:pPr marL="0" indent="0">
              <a:buNone/>
            </a:pPr>
            <a:r>
              <a:rPr lang="es-ES" sz="2400" b="1"/>
              <a:t>Solución blockchain: </a:t>
            </a:r>
            <a:r>
              <a:rPr lang="es-ES" sz="2400"/>
              <a:t>identidad soberana (SSI, self-sovereign identity).</a:t>
            </a:r>
          </a:p>
          <a:p>
            <a:pPr marL="0" indent="0">
              <a:buNone/>
            </a:pPr>
            <a:endParaRPr lang="es-ES" sz="2400"/>
          </a:p>
          <a:p>
            <a:pPr marL="0" indent="0">
              <a:buNone/>
            </a:pPr>
            <a:r>
              <a:rPr lang="es-ES" sz="2400"/>
              <a:t>Ejemplos reales:</a:t>
            </a:r>
          </a:p>
          <a:p>
            <a:pPr lvl="1"/>
            <a:r>
              <a:rPr lang="es-ES" sz="2000"/>
              <a:t>ID2020 / Microsoft Azure Active Directory verifiable credentials.</a:t>
            </a:r>
          </a:p>
          <a:p>
            <a:pPr lvl="1"/>
            <a:r>
              <a:rPr lang="es-ES" sz="2000"/>
              <a:t>uPort (Ethereum): control de identidad y login sin contraseñas.</a:t>
            </a:r>
          </a:p>
          <a:p>
            <a:pPr lvl="1"/>
            <a:r>
              <a:rPr lang="es-ES" sz="2000"/>
              <a:t>Estonia e-Residency: pionero en identidad digital, con parte sobre blockchain.</a:t>
            </a:r>
          </a:p>
          <a:p>
            <a:pPr marL="0" indent="0">
              <a:buNone/>
            </a:pPr>
            <a:r>
              <a:rPr lang="es-ES" sz="2400"/>
              <a:t>Beneficios:</a:t>
            </a:r>
          </a:p>
          <a:p>
            <a:pPr lvl="1"/>
            <a:r>
              <a:rPr lang="es-ES" sz="2000"/>
              <a:t>Control directo del usuario sobre sus credenciales.</a:t>
            </a:r>
          </a:p>
          <a:p>
            <a:pPr lvl="1"/>
            <a:r>
              <a:rPr lang="es-ES" sz="2000"/>
              <a:t>Menos robo de datos centralizados.</a:t>
            </a:r>
          </a:p>
          <a:p>
            <a:pPr lvl="1"/>
            <a:r>
              <a:rPr lang="es-ES" sz="2000"/>
              <a:t>Fácil verificación entre servicios.</a:t>
            </a:r>
          </a:p>
          <a:p>
            <a:pPr marL="0" indent="0">
              <a:buNone/>
            </a:pPr>
            <a:r>
              <a:rPr lang="es-ES" sz="2400"/>
              <a:t>Contras:</a:t>
            </a:r>
          </a:p>
          <a:p>
            <a:pPr lvl="1"/>
            <a:r>
              <a:rPr lang="es-ES" sz="2000"/>
              <a:t>Complejo de estandarizar entre países y empresas.</a:t>
            </a:r>
          </a:p>
          <a:p>
            <a:pPr lvl="1"/>
            <a:r>
              <a:rPr lang="es-ES" sz="2000"/>
              <a:t>Riesgo si el usuario pierde sus claves.</a:t>
            </a:r>
            <a:endParaRPr lang="es-ES" sz="1400"/>
          </a:p>
        </p:txBody>
      </p:sp>
      <p:sp>
        <p:nvSpPr>
          <p:cNvPr id="13" name="AutoShape 4">
            <a:extLst>
              <a:ext uri="{FF2B5EF4-FFF2-40B4-BE49-F238E27FC236}">
                <a16:creationId xmlns:a16="http://schemas.microsoft.com/office/drawing/2014/main" id="{D277C480-FF1B-1006-C5F0-41B42A3723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2423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6E2EB-1865-47BD-4FAC-DE6C2E8075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DC7922-2B35-B074-FAD3-8AA94F75A96C}"/>
              </a:ext>
            </a:extLst>
          </p:cNvPr>
          <p:cNvSpPr>
            <a:spLocks noGrp="1"/>
          </p:cNvSpPr>
          <p:nvPr>
            <p:ph type="title"/>
          </p:nvPr>
        </p:nvSpPr>
        <p:spPr/>
        <p:txBody>
          <a:bodyPr/>
          <a:lstStyle/>
          <a:p>
            <a:r>
              <a:rPr lang="es-ES"/>
              <a:t>Cadena de Suministro</a:t>
            </a:r>
            <a:endParaRPr lang="es-ES" dirty="0"/>
          </a:p>
        </p:txBody>
      </p:sp>
      <p:sp>
        <p:nvSpPr>
          <p:cNvPr id="4" name="Marcador de contenido 2">
            <a:extLst>
              <a:ext uri="{FF2B5EF4-FFF2-40B4-BE49-F238E27FC236}">
                <a16:creationId xmlns:a16="http://schemas.microsoft.com/office/drawing/2014/main" id="{3F8C450A-2321-2704-BCDA-7779FC04F193}"/>
              </a:ext>
            </a:extLst>
          </p:cNvPr>
          <p:cNvSpPr>
            <a:spLocks noGrp="1"/>
          </p:cNvSpPr>
          <p:nvPr>
            <p:ph idx="1"/>
          </p:nvPr>
        </p:nvSpPr>
        <p:spPr>
          <a:xfrm>
            <a:off x="838200" y="1543050"/>
            <a:ext cx="10515600" cy="4701223"/>
          </a:xfrm>
        </p:spPr>
        <p:txBody>
          <a:bodyPr>
            <a:normAutofit/>
          </a:bodyPr>
          <a:lstStyle/>
          <a:p>
            <a:pPr marL="0" indent="0">
              <a:buNone/>
            </a:pPr>
            <a:r>
              <a:rPr lang="es-ES" sz="2400" b="1"/>
              <a:t>Problema</a:t>
            </a:r>
            <a:r>
              <a:rPr lang="es-ES" sz="2400"/>
              <a:t>: opacidad, falsificaciones, dificultad para rastrear origen.</a:t>
            </a:r>
          </a:p>
          <a:p>
            <a:pPr marL="0" indent="0">
              <a:buNone/>
            </a:pPr>
            <a:r>
              <a:rPr lang="es-ES" sz="2400" b="1"/>
              <a:t>Solución blockchain</a:t>
            </a:r>
            <a:r>
              <a:rPr lang="es-ES" sz="2400"/>
              <a:t>: registro inmutable de cada paso en la cadena.</a:t>
            </a:r>
          </a:p>
          <a:p>
            <a:pPr marL="0" indent="0">
              <a:buNone/>
            </a:pPr>
            <a:r>
              <a:rPr lang="es-ES" sz="2400"/>
              <a:t>Ejemplos reales:</a:t>
            </a:r>
          </a:p>
          <a:p>
            <a:pPr lvl="1"/>
            <a:r>
              <a:rPr lang="es-ES" sz="2000"/>
              <a:t>IBM Food Trust + Walmart: trazabilidad de alimentos, de la granja al supermercado.</a:t>
            </a:r>
          </a:p>
          <a:p>
            <a:pPr lvl="1"/>
            <a:r>
              <a:rPr lang="es-ES" sz="2000"/>
              <a:t>Maersk TradeLens: seguimiento de contenedores (ya cerrado, pero gran piloto).</a:t>
            </a:r>
          </a:p>
          <a:p>
            <a:pPr marL="0" indent="0">
              <a:buNone/>
            </a:pPr>
            <a:r>
              <a:rPr lang="es-ES" sz="2400"/>
              <a:t>Beneficios:</a:t>
            </a:r>
          </a:p>
          <a:p>
            <a:pPr lvl="1"/>
            <a:r>
              <a:rPr lang="es-ES" sz="2000"/>
              <a:t>Transparencia para consumidores y auditores.</a:t>
            </a:r>
          </a:p>
          <a:p>
            <a:pPr lvl="1"/>
            <a:r>
              <a:rPr lang="es-ES" sz="2000"/>
              <a:t>Reducción de fraude y falsificaciones.</a:t>
            </a:r>
          </a:p>
          <a:p>
            <a:pPr lvl="1"/>
            <a:r>
              <a:rPr lang="es-ES" sz="2000"/>
              <a:t>Optimización logística.</a:t>
            </a:r>
          </a:p>
          <a:p>
            <a:pPr marL="0" indent="0">
              <a:buNone/>
            </a:pPr>
            <a:r>
              <a:rPr lang="es-ES" sz="2400"/>
              <a:t>Contras:</a:t>
            </a:r>
          </a:p>
          <a:p>
            <a:pPr lvl="1"/>
            <a:r>
              <a:rPr lang="es-ES" sz="2000"/>
              <a:t>Requiere digitalizar y confiar en el dato de entrada (“garbage in, garbage out”).</a:t>
            </a:r>
            <a:endParaRPr lang="es-ES" sz="1000"/>
          </a:p>
        </p:txBody>
      </p:sp>
      <p:sp>
        <p:nvSpPr>
          <p:cNvPr id="13" name="AutoShape 4">
            <a:extLst>
              <a:ext uri="{FF2B5EF4-FFF2-40B4-BE49-F238E27FC236}">
                <a16:creationId xmlns:a16="http://schemas.microsoft.com/office/drawing/2014/main" id="{0CE783C7-F477-DC4D-2235-01A8502F9B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992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28C4-DC33-8BEB-8B7D-91309BB6FE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51E3BB-2234-4C3E-2C96-80AE79D1C79C}"/>
              </a:ext>
            </a:extLst>
          </p:cNvPr>
          <p:cNvSpPr>
            <a:spLocks noGrp="1"/>
          </p:cNvSpPr>
          <p:nvPr>
            <p:ph type="title"/>
          </p:nvPr>
        </p:nvSpPr>
        <p:spPr/>
        <p:txBody>
          <a:bodyPr/>
          <a:lstStyle/>
          <a:p>
            <a:r>
              <a:rPr lang="es-ES"/>
              <a:t>Tokenización de Activos</a:t>
            </a:r>
            <a:endParaRPr lang="es-ES" dirty="0"/>
          </a:p>
        </p:txBody>
      </p:sp>
      <p:sp>
        <p:nvSpPr>
          <p:cNvPr id="4" name="Marcador de contenido 2">
            <a:extLst>
              <a:ext uri="{FF2B5EF4-FFF2-40B4-BE49-F238E27FC236}">
                <a16:creationId xmlns:a16="http://schemas.microsoft.com/office/drawing/2014/main" id="{8AF8F938-A62A-F2B9-4724-7C41C335D61D}"/>
              </a:ext>
            </a:extLst>
          </p:cNvPr>
          <p:cNvSpPr>
            <a:spLocks noGrp="1"/>
          </p:cNvSpPr>
          <p:nvPr>
            <p:ph idx="1"/>
          </p:nvPr>
        </p:nvSpPr>
        <p:spPr>
          <a:xfrm>
            <a:off x="838200" y="1543050"/>
            <a:ext cx="10515600" cy="4701223"/>
          </a:xfrm>
        </p:spPr>
        <p:txBody>
          <a:bodyPr>
            <a:normAutofit fontScale="92500"/>
          </a:bodyPr>
          <a:lstStyle/>
          <a:p>
            <a:pPr marL="0" indent="0">
              <a:buNone/>
            </a:pPr>
            <a:r>
              <a:rPr lang="es-ES" sz="2400" b="1"/>
              <a:t>Problema</a:t>
            </a:r>
            <a:r>
              <a:rPr lang="es-ES" sz="2400"/>
              <a:t>: baja liquidez en activos físicos (inmuebles, arte, materias primas).</a:t>
            </a:r>
          </a:p>
          <a:p>
            <a:pPr marL="0" indent="0">
              <a:buNone/>
            </a:pPr>
            <a:r>
              <a:rPr lang="es-ES" sz="2400" b="1"/>
              <a:t>Solución blockchain</a:t>
            </a:r>
            <a:r>
              <a:rPr lang="es-ES" sz="2400"/>
              <a:t>: representación digital (tokens) de activos reales → transferibles 24/7.</a:t>
            </a:r>
          </a:p>
          <a:p>
            <a:pPr marL="0" indent="0">
              <a:buNone/>
            </a:pPr>
            <a:r>
              <a:rPr lang="es-ES" sz="2400"/>
              <a:t>Ejemplos reales:</a:t>
            </a:r>
          </a:p>
          <a:p>
            <a:pPr lvl="1"/>
            <a:r>
              <a:rPr lang="es-ES" sz="2000"/>
              <a:t>RealT: inmuebles tokenizados en EE.UU. (cada token = parte de una casa).</a:t>
            </a:r>
          </a:p>
          <a:p>
            <a:pPr lvl="1"/>
            <a:r>
              <a:rPr lang="es-ES" sz="2000"/>
              <a:t>Sygnum Bank (Suiza): acciones y bonos tokenizados.</a:t>
            </a:r>
          </a:p>
          <a:p>
            <a:pPr lvl="1"/>
            <a:r>
              <a:rPr lang="es-ES" sz="2000"/>
              <a:t>Christie’s / Sotheby’s: arte y NFT híbridos.</a:t>
            </a:r>
          </a:p>
          <a:p>
            <a:pPr marL="0" indent="0">
              <a:buNone/>
            </a:pPr>
            <a:r>
              <a:rPr lang="es-ES" sz="2400"/>
              <a:t>Beneficios:</a:t>
            </a:r>
          </a:p>
          <a:p>
            <a:pPr lvl="1"/>
            <a:r>
              <a:rPr lang="es-ES" sz="2000"/>
              <a:t>Acceso fraccionado a inversiones.</a:t>
            </a:r>
          </a:p>
          <a:p>
            <a:pPr lvl="1"/>
            <a:r>
              <a:rPr lang="es-ES" sz="2000"/>
              <a:t>Liquidez global inmediata.</a:t>
            </a:r>
          </a:p>
          <a:p>
            <a:pPr lvl="1"/>
            <a:r>
              <a:rPr lang="es-ES" sz="2000"/>
              <a:t>Reducción de intermediarios.</a:t>
            </a:r>
          </a:p>
          <a:p>
            <a:pPr marL="0" indent="0">
              <a:buNone/>
            </a:pPr>
            <a:r>
              <a:rPr lang="es-ES" sz="2400"/>
              <a:t>Contras:</a:t>
            </a:r>
          </a:p>
          <a:p>
            <a:pPr lvl="1"/>
            <a:r>
              <a:rPr lang="es-ES" sz="2000"/>
              <a:t>Marco legal aún poco claro en muchos países.</a:t>
            </a:r>
          </a:p>
          <a:p>
            <a:pPr lvl="1"/>
            <a:r>
              <a:rPr lang="es-ES" sz="2000"/>
              <a:t>Riesgo de fraude si no hay custodia confiable del activo real.</a:t>
            </a:r>
            <a:endParaRPr lang="es-ES" sz="600"/>
          </a:p>
        </p:txBody>
      </p:sp>
      <p:sp>
        <p:nvSpPr>
          <p:cNvPr id="13" name="AutoShape 4">
            <a:extLst>
              <a:ext uri="{FF2B5EF4-FFF2-40B4-BE49-F238E27FC236}">
                <a16:creationId xmlns:a16="http://schemas.microsoft.com/office/drawing/2014/main" id="{C1754857-6896-069F-0BCE-813DEED475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7853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35CE2-6834-179F-65F9-56AC99F679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A6A9DD-6D2B-D871-EDC8-0BBE2BEC8CE9}"/>
              </a:ext>
            </a:extLst>
          </p:cNvPr>
          <p:cNvSpPr>
            <a:spLocks noGrp="1"/>
          </p:cNvSpPr>
          <p:nvPr>
            <p:ph type="title"/>
          </p:nvPr>
        </p:nvSpPr>
        <p:spPr/>
        <p:txBody>
          <a:bodyPr/>
          <a:lstStyle/>
          <a:p>
            <a:r>
              <a:rPr lang="es-ES"/>
              <a:t>IoT y Blockchain</a:t>
            </a:r>
            <a:endParaRPr lang="es-ES" dirty="0"/>
          </a:p>
        </p:txBody>
      </p:sp>
      <p:sp>
        <p:nvSpPr>
          <p:cNvPr id="4" name="Marcador de contenido 2">
            <a:extLst>
              <a:ext uri="{FF2B5EF4-FFF2-40B4-BE49-F238E27FC236}">
                <a16:creationId xmlns:a16="http://schemas.microsoft.com/office/drawing/2014/main" id="{E45D4A83-FB78-8BEB-9DCE-ADC73BBCE52F}"/>
              </a:ext>
            </a:extLst>
          </p:cNvPr>
          <p:cNvSpPr>
            <a:spLocks noGrp="1"/>
          </p:cNvSpPr>
          <p:nvPr>
            <p:ph idx="1"/>
          </p:nvPr>
        </p:nvSpPr>
        <p:spPr>
          <a:xfrm>
            <a:off x="838200" y="1543050"/>
            <a:ext cx="10515600" cy="4701223"/>
          </a:xfrm>
        </p:spPr>
        <p:txBody>
          <a:bodyPr>
            <a:normAutofit fontScale="85000" lnSpcReduction="20000"/>
          </a:bodyPr>
          <a:lstStyle/>
          <a:p>
            <a:pPr marL="0" indent="0">
              <a:buNone/>
            </a:pPr>
            <a:r>
              <a:rPr lang="es-ES" sz="2400" b="1" dirty="0"/>
              <a:t>Problema</a:t>
            </a:r>
            <a:r>
              <a:rPr lang="es-ES" sz="2400" dirty="0"/>
              <a:t>: millones de dispositivos conectados (</a:t>
            </a:r>
            <a:r>
              <a:rPr lang="es-ES" sz="2400" dirty="0" err="1"/>
              <a:t>IoT</a:t>
            </a:r>
            <a:r>
              <a:rPr lang="es-ES" sz="2400" dirty="0"/>
              <a:t>) generan datos y transacciones que requieren confianza, coordinación y </a:t>
            </a:r>
            <a:r>
              <a:rPr lang="es-ES" sz="2400" dirty="0" err="1"/>
              <a:t>micropagos</a:t>
            </a:r>
            <a:r>
              <a:rPr lang="es-ES" sz="2400" dirty="0"/>
              <a:t> en tiempo real.</a:t>
            </a:r>
          </a:p>
          <a:p>
            <a:pPr marL="0" indent="0">
              <a:buNone/>
            </a:pPr>
            <a:r>
              <a:rPr lang="es-ES" sz="2400" b="1" dirty="0"/>
              <a:t>Solución </a:t>
            </a:r>
            <a:r>
              <a:rPr lang="es-ES" sz="2400" b="1" dirty="0" err="1"/>
              <a:t>blockchain</a:t>
            </a:r>
            <a:r>
              <a:rPr lang="es-ES" sz="2400" dirty="0"/>
              <a:t>: registro distribuido + </a:t>
            </a:r>
            <a:r>
              <a:rPr lang="es-ES" sz="2400" dirty="0" err="1"/>
              <a:t>smart</a:t>
            </a:r>
            <a:r>
              <a:rPr lang="es-ES" sz="2400" dirty="0"/>
              <a:t> </a:t>
            </a:r>
            <a:r>
              <a:rPr lang="es-ES" sz="2400" dirty="0" err="1"/>
              <a:t>contracts</a:t>
            </a:r>
            <a:r>
              <a:rPr lang="es-ES" sz="2400" dirty="0"/>
              <a:t> para automatizar pagos y procesos entre máquinas.</a:t>
            </a:r>
          </a:p>
          <a:p>
            <a:pPr marL="0" indent="0">
              <a:buNone/>
            </a:pPr>
            <a:r>
              <a:rPr lang="es-ES" sz="2400" dirty="0"/>
              <a:t>Ejemplos reales:</a:t>
            </a:r>
          </a:p>
          <a:p>
            <a:pPr lvl="1"/>
            <a:r>
              <a:rPr lang="es-ES" sz="2000" dirty="0" err="1"/>
              <a:t>Hyperledger</a:t>
            </a:r>
            <a:r>
              <a:rPr lang="es-ES" sz="2000" dirty="0"/>
              <a:t> IROHA: diseñado para </a:t>
            </a:r>
            <a:r>
              <a:rPr lang="es-ES" sz="2000" dirty="0" err="1"/>
              <a:t>IoT</a:t>
            </a:r>
            <a:r>
              <a:rPr lang="es-ES" sz="2000" dirty="0"/>
              <a:t> y </a:t>
            </a:r>
            <a:r>
              <a:rPr lang="es-ES" sz="2000" dirty="0" err="1"/>
              <a:t>micropagos</a:t>
            </a:r>
            <a:r>
              <a:rPr lang="es-ES" sz="2000" dirty="0"/>
              <a:t> máquina </a:t>
            </a:r>
            <a:r>
              <a:rPr lang="es-ES" sz="2000"/>
              <a:t>a máquina.</a:t>
            </a:r>
            <a:endParaRPr lang="es-ES" sz="2000" dirty="0"/>
          </a:p>
          <a:p>
            <a:pPr lvl="1"/>
            <a:r>
              <a:rPr lang="es-ES" sz="2000" dirty="0"/>
              <a:t>Energy Web </a:t>
            </a:r>
            <a:r>
              <a:rPr lang="es-ES" sz="2000" dirty="0" err="1"/>
              <a:t>Chain</a:t>
            </a:r>
            <a:r>
              <a:rPr lang="es-ES" sz="2000" dirty="0"/>
              <a:t>: gestión de energía renovable y tarificación descentralizada.</a:t>
            </a:r>
          </a:p>
          <a:p>
            <a:pPr lvl="1"/>
            <a:r>
              <a:rPr lang="es-ES" sz="2000" dirty="0"/>
              <a:t>Bosch + Ethereum/IOTA: pilotos para coches eléctricos que pagan carga de forma automática.</a:t>
            </a:r>
          </a:p>
          <a:p>
            <a:pPr marL="0" indent="0">
              <a:buNone/>
            </a:pPr>
            <a:r>
              <a:rPr lang="es-ES" sz="2400" dirty="0"/>
              <a:t>Beneficios:</a:t>
            </a:r>
          </a:p>
          <a:p>
            <a:pPr lvl="1"/>
            <a:r>
              <a:rPr lang="es-ES" sz="2000" dirty="0" err="1"/>
              <a:t>Micropagos</a:t>
            </a:r>
            <a:r>
              <a:rPr lang="es-ES" sz="2000" dirty="0"/>
              <a:t> instantáneos y sin intermediarios.</a:t>
            </a:r>
          </a:p>
          <a:p>
            <a:pPr lvl="1"/>
            <a:r>
              <a:rPr lang="es-ES" sz="2000" dirty="0"/>
              <a:t>Transparencia en consumo y generación de energía.</a:t>
            </a:r>
          </a:p>
          <a:p>
            <a:pPr lvl="1"/>
            <a:r>
              <a:rPr lang="es-ES" sz="2000" dirty="0"/>
              <a:t>Automatización de procesos entre dispositivos.</a:t>
            </a:r>
          </a:p>
          <a:p>
            <a:pPr marL="0" indent="0">
              <a:buNone/>
            </a:pPr>
            <a:r>
              <a:rPr lang="es-ES" sz="2400" dirty="0"/>
              <a:t>Contras:</a:t>
            </a:r>
          </a:p>
          <a:p>
            <a:pPr lvl="1"/>
            <a:r>
              <a:rPr lang="es-ES" sz="2000" dirty="0"/>
              <a:t>Escalabilidad crítica: </a:t>
            </a:r>
            <a:r>
              <a:rPr lang="es-ES" sz="2000" dirty="0" err="1"/>
              <a:t>IoT</a:t>
            </a:r>
            <a:r>
              <a:rPr lang="es-ES" sz="2000" dirty="0"/>
              <a:t> implica millones de transacciones por segundo.</a:t>
            </a:r>
          </a:p>
          <a:p>
            <a:pPr lvl="1"/>
            <a:r>
              <a:rPr lang="es-ES" sz="2000" dirty="0"/>
              <a:t>Integración hardware–</a:t>
            </a:r>
            <a:r>
              <a:rPr lang="es-ES" sz="2000" dirty="0" err="1"/>
              <a:t>blockchain</a:t>
            </a:r>
            <a:r>
              <a:rPr lang="es-ES" sz="2000" dirty="0"/>
              <a:t> aún inmadura.</a:t>
            </a:r>
          </a:p>
          <a:p>
            <a:pPr lvl="1"/>
            <a:r>
              <a:rPr lang="es-ES" sz="2000" dirty="0"/>
              <a:t>Necesidad de oráculos fiables para conectar el mundo físico con la cadena.</a:t>
            </a:r>
            <a:endParaRPr lang="es-ES" sz="200" dirty="0"/>
          </a:p>
        </p:txBody>
      </p:sp>
      <p:sp>
        <p:nvSpPr>
          <p:cNvPr id="13" name="AutoShape 4">
            <a:extLst>
              <a:ext uri="{FF2B5EF4-FFF2-40B4-BE49-F238E27FC236}">
                <a16:creationId xmlns:a16="http://schemas.microsoft.com/office/drawing/2014/main" id="{99360FAF-5F54-E40B-9640-79EDBF19F20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5911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8399F-CF7B-7530-0258-433B29D01A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9611E7-5114-BB0C-67A2-3AC31BC80C41}"/>
              </a:ext>
            </a:extLst>
          </p:cNvPr>
          <p:cNvSpPr>
            <a:spLocks noGrp="1"/>
          </p:cNvSpPr>
          <p:nvPr>
            <p:ph type="title"/>
          </p:nvPr>
        </p:nvSpPr>
        <p:spPr/>
        <p:txBody>
          <a:bodyPr/>
          <a:lstStyle/>
          <a:p>
            <a:r>
              <a:rPr lang="es-ES"/>
              <a:t>Avtividades alternativas</a:t>
            </a:r>
            <a:endParaRPr lang="es-ES" dirty="0"/>
          </a:p>
        </p:txBody>
      </p:sp>
      <p:sp>
        <p:nvSpPr>
          <p:cNvPr id="4" name="Marcador de contenido 2">
            <a:extLst>
              <a:ext uri="{FF2B5EF4-FFF2-40B4-BE49-F238E27FC236}">
                <a16:creationId xmlns:a16="http://schemas.microsoft.com/office/drawing/2014/main" id="{88575F25-76B5-2F06-6502-159A7B356D8E}"/>
              </a:ext>
            </a:extLst>
          </p:cNvPr>
          <p:cNvSpPr>
            <a:spLocks noGrp="1"/>
          </p:cNvSpPr>
          <p:nvPr>
            <p:ph idx="1"/>
          </p:nvPr>
        </p:nvSpPr>
        <p:spPr>
          <a:xfrm>
            <a:off x="838200" y="1543050"/>
            <a:ext cx="10515600" cy="4701223"/>
          </a:xfrm>
        </p:spPr>
        <p:txBody>
          <a:bodyPr>
            <a:normAutofit/>
          </a:bodyPr>
          <a:lstStyle/>
          <a:p>
            <a:pPr marL="0" indent="0">
              <a:buNone/>
            </a:pPr>
            <a:endParaRPr lang="es-ES" sz="2400" dirty="0"/>
          </a:p>
          <a:p>
            <a:pPr marL="0" indent="0">
              <a:buNone/>
            </a:pPr>
            <a:r>
              <a:rPr lang="es-ES" sz="2400" dirty="0"/>
              <a:t>Analizar bloque en </a:t>
            </a:r>
            <a:r>
              <a:rPr lang="es-ES" sz="2400" dirty="0" err="1"/>
              <a:t>Etherscan</a:t>
            </a:r>
            <a:endParaRPr lang="es-ES" sz="2400" dirty="0"/>
          </a:p>
          <a:p>
            <a:pPr marL="0" indent="0">
              <a:buNone/>
            </a:pPr>
            <a:endParaRPr lang="es-ES" sz="2400" dirty="0"/>
          </a:p>
          <a:p>
            <a:pPr marL="0" indent="0">
              <a:buNone/>
            </a:pPr>
            <a:r>
              <a:rPr lang="es-ES" sz="2400" dirty="0" err="1"/>
              <a:t>NFTs</a:t>
            </a:r>
            <a:r>
              <a:rPr lang="es-ES" sz="2400" dirty="0"/>
              <a:t> – </a:t>
            </a:r>
            <a:r>
              <a:rPr lang="es-ES" sz="2400" dirty="0" err="1"/>
              <a:t>OpenSea</a:t>
            </a:r>
            <a:r>
              <a:rPr lang="es-ES" sz="2400" dirty="0"/>
              <a:t> (No tiene </a:t>
            </a:r>
            <a:r>
              <a:rPr lang="es-ES" sz="2400" dirty="0" err="1"/>
              <a:t>testnet</a:t>
            </a:r>
            <a:r>
              <a:rPr lang="es-ES" sz="2400" dirty="0"/>
              <a:t>, así que mirar los que hay en </a:t>
            </a:r>
            <a:r>
              <a:rPr lang="es-ES" sz="2400" dirty="0" err="1"/>
              <a:t>mainnet</a:t>
            </a:r>
            <a:r>
              <a:rPr lang="es-ES" sz="2400" dirty="0"/>
              <a:t>)</a:t>
            </a:r>
          </a:p>
          <a:p>
            <a:pPr marL="0" indent="0">
              <a:buNone/>
            </a:pPr>
            <a:endParaRPr lang="es-ES" sz="2400" dirty="0"/>
          </a:p>
          <a:p>
            <a:pPr marL="0" indent="0">
              <a:buNone/>
            </a:pPr>
            <a:r>
              <a:rPr lang="es-ES" sz="2400" dirty="0"/>
              <a:t>Aprender </a:t>
            </a:r>
            <a:r>
              <a:rPr lang="es-ES" sz="2400" dirty="0" err="1"/>
              <a:t>solidity</a:t>
            </a:r>
            <a:r>
              <a:rPr lang="es-ES" sz="2400" dirty="0"/>
              <a:t>: https://cryptozombies.io/</a:t>
            </a:r>
          </a:p>
          <a:p>
            <a:pPr marL="0" indent="0">
              <a:buNone/>
            </a:pPr>
            <a:endParaRPr lang="es-ES" sz="2400" dirty="0"/>
          </a:p>
          <a:p>
            <a:pPr marL="0" indent="0">
              <a:buNone/>
            </a:pPr>
            <a:endParaRPr lang="es-ES" sz="200" dirty="0"/>
          </a:p>
        </p:txBody>
      </p:sp>
      <p:sp>
        <p:nvSpPr>
          <p:cNvPr id="13" name="AutoShape 4">
            <a:extLst>
              <a:ext uri="{FF2B5EF4-FFF2-40B4-BE49-F238E27FC236}">
                <a16:creationId xmlns:a16="http://schemas.microsoft.com/office/drawing/2014/main" id="{5131BBF5-1BFC-D19D-89D8-CC1597B289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623126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3597</Words>
  <Application>Microsoft Office PowerPoint</Application>
  <PresentationFormat>Panorámica</PresentationFormat>
  <Paragraphs>381</Paragraphs>
  <Slides>40</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40</vt:i4>
      </vt:variant>
    </vt:vector>
  </HeadingPairs>
  <TitlesOfParts>
    <vt:vector size="47" baseType="lpstr">
      <vt:lpstr>Arial</vt:lpstr>
      <vt:lpstr>Calibri</vt:lpstr>
      <vt:lpstr>Calibri Light</vt:lpstr>
      <vt:lpstr>Roboto</vt:lpstr>
      <vt:lpstr>Santander Headline</vt:lpstr>
      <vt:lpstr>Santander Text</vt:lpstr>
      <vt:lpstr>Tema de Office</vt:lpstr>
      <vt:lpstr>Repaso Día 4 (1ª parte)</vt:lpstr>
      <vt:lpstr>Repaso Día 4 (2ª parte)</vt:lpstr>
      <vt:lpstr>Blockchain</vt:lpstr>
      <vt:lpstr>¿Qué es la tokenización?</vt:lpstr>
      <vt:lpstr>¿Qué se puede Tokenizar?</vt:lpstr>
      <vt:lpstr>Beneficios de Tokenizar en DLT</vt:lpstr>
      <vt:lpstr>Activos financieros</vt:lpstr>
      <vt:lpstr>Blockchain</vt:lpstr>
      <vt:lpstr>Distributed Applications</vt:lpstr>
      <vt:lpstr>Categorías y ejemplos de dApps</vt:lpstr>
      <vt:lpstr>Blockchain</vt:lpstr>
      <vt:lpstr>Centraliced vs Decentraliced Exchange</vt:lpstr>
      <vt:lpstr>Práctica – Coinbase</vt:lpstr>
      <vt:lpstr>Práctica – Uniswap con Metamask</vt:lpstr>
      <vt:lpstr>Debate – Uniswap vs Coinbase</vt:lpstr>
      <vt:lpstr>Blockchain</vt:lpstr>
      <vt:lpstr>Decentraliced Finance DeFi</vt:lpstr>
      <vt:lpstr>Práctica – Pedir préstamos en Aave</vt:lpstr>
      <vt:lpstr>Práctica – Futuros con dXdY</vt:lpstr>
      <vt:lpstr>Blockchain</vt:lpstr>
      <vt:lpstr>Oráculos - ¿Qué son?</vt:lpstr>
      <vt:lpstr>Oráculos - ¿Qué son?</vt:lpstr>
      <vt:lpstr>Oráculos - ¿Qué son?</vt:lpstr>
      <vt:lpstr>Oráculos - Chainlink</vt:lpstr>
      <vt:lpstr>Oráculos - Chainlink</vt:lpstr>
      <vt:lpstr>Blockchain</vt:lpstr>
      <vt:lpstr>Decentralized Autonomous Organization</vt:lpstr>
      <vt:lpstr>Decentralized Autonomous Organization</vt:lpstr>
      <vt:lpstr>Decentralized Autonomous Organization</vt:lpstr>
      <vt:lpstr>El Caso The DAO</vt:lpstr>
      <vt:lpstr>El Caso Beanstalk DAO</vt:lpstr>
      <vt:lpstr>Debate – Pros y Contras de las DAOs</vt:lpstr>
      <vt:lpstr>Práctica – Desplegar Mini DAO</vt:lpstr>
      <vt:lpstr>Blockchain</vt:lpstr>
      <vt:lpstr>Otros casos de uso de Blockchain</vt:lpstr>
      <vt:lpstr>Identidad Digital Soberana</vt:lpstr>
      <vt:lpstr>Cadena de Suministro</vt:lpstr>
      <vt:lpstr>Tokenización de Activos</vt:lpstr>
      <vt:lpstr>IoT y Blockchain</vt:lpstr>
      <vt:lpstr>Avtividades alternativas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Javier Nieto</dc:creator>
  <cp:lastModifiedBy>Javier Nieto</cp:lastModifiedBy>
  <cp:revision>7</cp:revision>
  <dcterms:created xsi:type="dcterms:W3CDTF">2026-03-18T21:40:14Z</dcterms:created>
  <dcterms:modified xsi:type="dcterms:W3CDTF">2026-03-22T13:01:51Z</dcterms:modified>
</cp:coreProperties>
</file>