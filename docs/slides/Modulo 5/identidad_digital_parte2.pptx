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3716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0840"/>
            <a:ext cx="12188952" cy="13716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65760"/>
            <a:ext cx="10972800" cy="457200"/>
          </a:xfrm>
          <a:prstGeom prst="rect">
            <a:avLst/>
          </a:prstGeom>
          <a:noFill/>
        </p:spPr>
        <p:txBody>
          <a:bodyPr wrap="square"/>
          <a:lstStyle/>
          <a:p>
            <a:pPr algn="l">
              <a:defRPr sz="1600" b="1">
                <a:solidFill>
                  <a:srgbClr val="22627E"/>
                </a:solidFill>
                <a:latin typeface="Calibri"/>
              </a:defRPr>
            </a:pPr>
            <a:r>
              <a:t>Modulo 5: Identidad Digital (parte 2)</a:t>
            </a:r>
          </a:p>
        </p:txBody>
      </p:sp>
      <p:sp>
        <p:nvSpPr>
          <p:cNvPr id="5" name="TextBox 4"/>
          <p:cNvSpPr txBox="1"/>
          <p:nvPr/>
        </p:nvSpPr>
        <p:spPr>
          <a:xfrm>
            <a:off x="457200" y="1828800"/>
            <a:ext cx="10972800" cy="2286000"/>
          </a:xfrm>
          <a:prstGeom prst="rect">
            <a:avLst/>
          </a:prstGeom>
          <a:noFill/>
        </p:spPr>
        <p:txBody>
          <a:bodyPr wrap="square"/>
          <a:lstStyle/>
          <a:p>
            <a:pPr algn="l">
              <a:defRPr sz="5400" b="1">
                <a:solidFill>
                  <a:srgbClr val="22627E"/>
                </a:solidFill>
                <a:latin typeface="Calibri"/>
              </a:defRPr>
            </a:pPr>
            <a:r>
              <a:t>Identidad Digital:</a:t>
            </a:r>
            <a:br/>
            <a:r>
              <a:t>Alastria, EBSI y</a:t>
            </a:r>
            <a:br/>
            <a:r>
              <a:t>Arquitecturas Hibridas</a:t>
            </a:r>
          </a:p>
        </p:txBody>
      </p:sp>
      <p:sp>
        <p:nvSpPr>
          <p:cNvPr id="6" name="TextBox 5"/>
          <p:cNvSpPr txBox="1"/>
          <p:nvPr/>
        </p:nvSpPr>
        <p:spPr>
          <a:xfrm>
            <a:off x="457200" y="4114800"/>
            <a:ext cx="10972800" cy="1371600"/>
          </a:xfrm>
          <a:prstGeom prst="rect">
            <a:avLst/>
          </a:prstGeom>
          <a:noFill/>
        </p:spPr>
        <p:txBody>
          <a:bodyPr wrap="square"/>
          <a:lstStyle/>
          <a:p>
            <a:pPr algn="l">
              <a:defRPr sz="2400" b="0">
                <a:solidFill>
                  <a:srgbClr val="333333"/>
                </a:solidFill>
                <a:latin typeface="Calibri"/>
              </a:defRPr>
            </a:pPr>
            <a:r>
              <a:t>Ecosistemas reales, integracion empresarial y conexion con Hyperledger Fabric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058400" cy="1828800"/>
          </a:xfrm>
          <a:prstGeom prst="rect">
            <a:avLst/>
          </a:prstGeom>
          <a:noFill/>
        </p:spPr>
        <p:txBody>
          <a:bodyPr wrap="square"/>
          <a:lstStyle/>
          <a:p>
            <a:pPr algn="l">
              <a:defRPr sz="4800" b="1">
                <a:solidFill>
                  <a:srgbClr val="FFFFFF"/>
                </a:solidFill>
                <a:latin typeface="Calibri"/>
              </a:defRPr>
            </a:pPr>
            <a:r>
              <a:t>EBSI</a:t>
            </a:r>
            <a:br/>
            <a:r>
              <a:t>European Blockchain</a:t>
            </a:r>
            <a:br/>
            <a:r>
              <a:t>Services Infrastructure</a:t>
            </a:r>
          </a:p>
        </p:txBody>
      </p:sp>
      <p:sp>
        <p:nvSpPr>
          <p:cNvPr id="4" name="TextBox 3"/>
          <p:cNvSpPr txBox="1"/>
          <p:nvPr/>
        </p:nvSpPr>
        <p:spPr>
          <a:xfrm>
            <a:off x="914400" y="4114800"/>
            <a:ext cx="10058400" cy="1371600"/>
          </a:xfrm>
          <a:prstGeom prst="rect">
            <a:avLst/>
          </a:prstGeom>
          <a:noFill/>
        </p:spPr>
        <p:txBody>
          <a:bodyPr wrap="square"/>
          <a:lstStyle/>
          <a:p>
            <a:pPr algn="l">
              <a:defRPr sz="2400" b="0">
                <a:solidFill>
                  <a:srgbClr val="FFFFFF"/>
                </a:solidFill>
                <a:latin typeface="Calibri"/>
              </a:defRPr>
            </a:pPr>
            <a:r>
              <a:t>La infraestructura blockchain de la Union Europea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¿Que es EBSI?</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European Blockchain Services Infrastructure: infraestructura blockchain de la UE</a:t>
            </a:r>
          </a:p>
          <a:p>
            <a:pPr>
              <a:spcAft>
                <a:spcPts val="800"/>
              </a:spcAft>
              <a:defRPr sz="2000">
                <a:solidFill>
                  <a:srgbClr val="333333"/>
                </a:solidFill>
                <a:latin typeface="Calibri"/>
              </a:defRPr>
            </a:pPr>
            <a:r>
              <a:t>Impulsada por la Comision Europea y la European Blockchain Partnership (EBP)</a:t>
            </a:r>
          </a:p>
          <a:p>
            <a:pPr>
              <a:spcAft>
                <a:spcPts val="800"/>
              </a:spcAft>
              <a:defRPr sz="2000">
                <a:solidFill>
                  <a:srgbClr val="333333"/>
                </a:solidFill>
                <a:latin typeface="Calibri"/>
              </a:defRPr>
            </a:pPr>
            <a:r>
              <a:t>27 estados miembros + Noruega y Liechtenstein participan</a:t>
            </a:r>
          </a:p>
          <a:p>
            <a:pPr>
              <a:spcAft>
                <a:spcPts val="800"/>
              </a:spcAft>
              <a:defRPr sz="2000">
                <a:solidFill>
                  <a:srgbClr val="333333"/>
                </a:solidFill>
                <a:latin typeface="Calibri"/>
              </a:defRPr>
            </a:pPr>
            <a:r>
              <a:t>Objetivo: ofrecer servicios publicos transfronterizos basados en blockchain</a:t>
            </a:r>
          </a:p>
          <a:p>
            <a:pPr>
              <a:spcAft>
                <a:spcPts val="800"/>
              </a:spcAft>
              <a:defRPr sz="2000">
                <a:solidFill>
                  <a:srgbClr val="333333"/>
                </a:solidFill>
                <a:latin typeface="Calibri"/>
              </a:defRPr>
            </a:pPr>
            <a:r>
              <a:t>Casos de uso principales:</a:t>
            </a:r>
          </a:p>
          <a:p>
            <a:pPr lvl="1">
              <a:spcAft>
                <a:spcPts val="400"/>
              </a:spcAft>
              <a:defRPr sz="1700">
                <a:solidFill>
                  <a:srgbClr val="666666"/>
                </a:solidFill>
                <a:latin typeface="Calibri"/>
              </a:defRPr>
            </a:pPr>
            <a:r>
              <a:t>    Diplomas y credenciales educativas verificables (EBSI Diplomas)</a:t>
            </a:r>
          </a:p>
          <a:p>
            <a:pPr lvl="1">
              <a:spcAft>
                <a:spcPts val="400"/>
              </a:spcAft>
              <a:defRPr sz="1700">
                <a:solidFill>
                  <a:srgbClr val="666666"/>
                </a:solidFill>
                <a:latin typeface="Calibri"/>
              </a:defRPr>
            </a:pPr>
            <a:r>
              <a:t>    Identidad digital autosoberana (EBSI DID Registry)</a:t>
            </a:r>
          </a:p>
          <a:p>
            <a:pPr lvl="1">
              <a:spcAft>
                <a:spcPts val="400"/>
              </a:spcAft>
              <a:defRPr sz="1700">
                <a:solidFill>
                  <a:srgbClr val="666666"/>
                </a:solidFill>
                <a:latin typeface="Calibri"/>
              </a:defRPr>
            </a:pPr>
            <a:r>
              <a:t>    Trazabilidad de documentos oficiales</a:t>
            </a:r>
          </a:p>
          <a:p>
            <a:pPr lvl="1">
              <a:spcAft>
                <a:spcPts val="400"/>
              </a:spcAft>
              <a:defRPr sz="1700">
                <a:solidFill>
                  <a:srgbClr val="666666"/>
                </a:solidFill>
                <a:latin typeface="Calibri"/>
              </a:defRPr>
            </a:pPr>
            <a:r>
              <a:t>    Intercambio seguro de datos entre administraciones publicas</a:t>
            </a:r>
          </a:p>
          <a:p>
            <a:pPr lvl="1">
              <a:spcAft>
                <a:spcPts val="400"/>
              </a:spcAft>
              <a:defRPr sz="1700">
                <a:solidFill>
                  <a:srgbClr val="666666"/>
                </a:solidFill>
                <a:latin typeface="Calibri"/>
              </a:defRPr>
            </a:pPr>
            <a:r>
              <a:t>    Registro de auditoria para cumplimiento normativo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EBSI: arquitectura tecnica</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Red blockchain permissioned basada en Hyperledger Besu (compatible EVM)</a:t>
            </a:r>
          </a:p>
          <a:p>
            <a:pPr>
              <a:spcAft>
                <a:spcPts val="800"/>
              </a:spcAft>
              <a:defRPr sz="2000">
                <a:solidFill>
                  <a:srgbClr val="333333"/>
                </a:solidFill>
                <a:latin typeface="Calibri"/>
              </a:defRPr>
            </a:pPr>
            <a:r>
              <a:t>Cada estado miembro opera al menos un nodo validador</a:t>
            </a:r>
          </a:p>
          <a:p>
            <a:pPr>
              <a:spcAft>
                <a:spcPts val="800"/>
              </a:spcAft>
              <a:defRPr sz="2000">
                <a:solidFill>
                  <a:srgbClr val="333333"/>
                </a:solidFill>
                <a:latin typeface="Calibri"/>
              </a:defRPr>
            </a:pPr>
            <a:r>
              <a:t>Capa de identidad basada en DIDs y Verifiable Credentials (W3C)</a:t>
            </a:r>
          </a:p>
          <a:p>
            <a:pPr>
              <a:spcAft>
                <a:spcPts val="800"/>
              </a:spcAft>
              <a:defRPr sz="2000">
                <a:solidFill>
                  <a:srgbClr val="333333"/>
                </a:solidFill>
                <a:latin typeface="Calibri"/>
              </a:defRPr>
            </a:pPr>
            <a:r>
              <a:t>APIs publicas para resolver DIDs e interactuar con el registro:</a:t>
            </a:r>
          </a:p>
          <a:p>
            <a:pPr lvl="1">
              <a:spcAft>
                <a:spcPts val="400"/>
              </a:spcAft>
              <a:defRPr sz="1700">
                <a:solidFill>
                  <a:srgbClr val="666666"/>
                </a:solidFill>
                <a:latin typeface="Calibri"/>
              </a:defRPr>
            </a:pPr>
            <a:r>
              <a:t>    DID Registry API: registrar y resolver DIDs</a:t>
            </a:r>
          </a:p>
          <a:p>
            <a:pPr lvl="1">
              <a:spcAft>
                <a:spcPts val="400"/>
              </a:spcAft>
              <a:defRPr sz="1700">
                <a:solidFill>
                  <a:srgbClr val="666666"/>
                </a:solidFill>
                <a:latin typeface="Calibri"/>
              </a:defRPr>
            </a:pPr>
            <a:r>
              <a:t>    Trusted Issuers Registry: lista de emisores de confianza</a:t>
            </a:r>
          </a:p>
          <a:p>
            <a:pPr lvl="1">
              <a:spcAft>
                <a:spcPts val="400"/>
              </a:spcAft>
              <a:defRPr sz="1700">
                <a:solidFill>
                  <a:srgbClr val="666666"/>
                </a:solidFill>
                <a:latin typeface="Calibri"/>
              </a:defRPr>
            </a:pPr>
            <a:r>
              <a:t>    Trusted Schemas Registry: esquemas de credenciales validados</a:t>
            </a:r>
          </a:p>
          <a:p>
            <a:pPr lvl="1">
              <a:spcAft>
                <a:spcPts val="400"/>
              </a:spcAft>
              <a:defRPr sz="1700">
                <a:solidFill>
                  <a:srgbClr val="666666"/>
                </a:solidFill>
                <a:latin typeface="Calibri"/>
              </a:defRPr>
            </a:pPr>
            <a:r>
              <a:t>    Timestamp API: sellado temporal de documentos</a:t>
            </a:r>
          </a:p>
          <a:p>
            <a:pPr>
              <a:spcAft>
                <a:spcPts val="800"/>
              </a:spcAft>
              <a:defRPr sz="2000">
                <a:solidFill>
                  <a:srgbClr val="333333"/>
                </a:solidFill>
                <a:latin typeface="Calibri"/>
              </a:defRPr>
            </a:pPr>
            <a:r>
              <a:t>Relacion con eIDAS 2: EBSI es la infraestructura tecnica que da soporte al marco regulatorio europeo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Arquitectura EBSI</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371600" y="1371600"/>
            <a:ext cx="9418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2286000"/>
            <a:ext cx="8503920" cy="1371600"/>
          </a:xfrm>
          <a:prstGeom prst="rect">
            <a:avLst/>
          </a:prstGeom>
          <a:noFill/>
        </p:spPr>
        <p:txBody>
          <a:bodyPr wrap="square"/>
          <a:lstStyle/>
          <a:p>
            <a:pPr algn="ctr">
              <a:defRPr sz="2400" b="0">
                <a:solidFill>
                  <a:srgbClr val="999999"/>
                </a:solidFill>
                <a:latin typeface="Calibri"/>
              </a:defRPr>
            </a:pPr>
            <a:r>
              <a:t>[Diagrama: nodos validadores por pais conectados a APIs publicas, capa DID/VC encima]</a:t>
            </a:r>
          </a:p>
        </p:txBody>
      </p:sp>
      <p:sp>
        <p:nvSpPr>
          <p:cNvPr id="7" name="Rectangle 6"/>
          <p:cNvSpPr/>
          <p:nvPr/>
        </p:nvSpPr>
        <p:spPr>
          <a:xfrm>
            <a:off x="1371600" y="3840480"/>
            <a:ext cx="9418320" cy="3200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3840480"/>
            <a:ext cx="9418320" cy="320040"/>
          </a:xfrm>
          <a:prstGeom prst="rect">
            <a:avLst/>
          </a:prstGeom>
          <a:noFill/>
        </p:spPr>
        <p:txBody>
          <a:bodyPr wrap="square"/>
          <a:lstStyle/>
          <a:p>
            <a:pPr algn="ctr">
              <a:defRPr sz="1300" b="1">
                <a:solidFill>
                  <a:srgbClr val="FFFFFF"/>
                </a:solidFill>
                <a:latin typeface="Calibri"/>
              </a:defRPr>
            </a:pPr>
            <a:r>
              <a:t>Prompt para IA generativa:</a:t>
            </a:r>
          </a:p>
        </p:txBody>
      </p:sp>
      <p:sp>
        <p:nvSpPr>
          <p:cNvPr id="9" name="TextBox 8"/>
          <p:cNvSpPr txBox="1"/>
          <p:nvPr/>
        </p:nvSpPr>
        <p:spPr>
          <a:xfrm>
            <a:off x="1645920" y="4297680"/>
            <a:ext cx="8869680" cy="914400"/>
          </a:xfrm>
          <a:prstGeom prst="rect">
            <a:avLst/>
          </a:prstGeom>
          <a:noFill/>
        </p:spPr>
        <p:txBody>
          <a:bodyPr wrap="square"/>
          <a:lstStyle/>
          <a:p>
            <a:pPr algn="l">
              <a:defRPr sz="1400" b="0">
                <a:solidFill>
                  <a:srgbClr val="7C3AED"/>
                </a:solidFill>
                <a:latin typeface="Consolas"/>
              </a:defRPr>
            </a:pPr>
            <a:r>
              <a:t>Architecture diagram of EBSI: network of validator nodes from EU member states connected to public APIs (DID Registry, Trusted Issuers, Schemas, Timestamp). Layer on top shows DID/VC ecosystem with issuers, holders and verifiers. Clean flat design, EU blue color scheme.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EBSI vs otras redes de identidad</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EBSI no es la unica red de identidad descentralizada en Europa</a:t>
            </a:r>
          </a:p>
          <a:p>
            <a:pPr>
              <a:spcAft>
                <a:spcPts val="800"/>
              </a:spcAft>
              <a:defRPr sz="2000">
                <a:solidFill>
                  <a:srgbClr val="333333"/>
                </a:solidFill>
                <a:latin typeface="Calibri"/>
              </a:defRPr>
            </a:pPr>
            <a:r>
              <a:t>Cada una tiene su enfoque y tecnologia:</a:t>
            </a:r>
          </a:p>
          <a:p>
            <a:pPr lvl="1">
              <a:spcAft>
                <a:spcPts val="400"/>
              </a:spcAft>
              <a:defRPr sz="1700">
                <a:solidFill>
                  <a:srgbClr val="666666"/>
                </a:solidFill>
                <a:latin typeface="Calibri"/>
              </a:defRPr>
            </a:pPr>
            <a:r>
              <a:t>    EBSI: institucional (UE), Hyperledger Besu, foco en servicios publicos</a:t>
            </a:r>
          </a:p>
          <a:p>
            <a:pPr lvl="1">
              <a:spcAft>
                <a:spcPts val="400"/>
              </a:spcAft>
              <a:defRPr sz="1700">
                <a:solidFill>
                  <a:srgbClr val="666666"/>
                </a:solidFill>
                <a:latin typeface="Calibri"/>
              </a:defRPr>
            </a:pPr>
            <a:r>
              <a:t>    Alastria: consorcio espanol, multitecnologia, foco en identidad y regulacion</a:t>
            </a:r>
          </a:p>
          <a:p>
            <a:pPr lvl="1">
              <a:spcAft>
                <a:spcPts val="400"/>
              </a:spcAft>
              <a:defRPr sz="1700">
                <a:solidFill>
                  <a:srgbClr val="666666"/>
                </a:solidFill>
                <a:latin typeface="Calibri"/>
              </a:defRPr>
            </a:pPr>
            <a:r>
              <a:t>    IOTA/Tangle: red publica, sin fees, foco en IoT e identidad</a:t>
            </a:r>
          </a:p>
          <a:p>
            <a:pPr lvl="1">
              <a:spcAft>
                <a:spcPts val="400"/>
              </a:spcAft>
              <a:defRPr sz="1700">
                <a:solidFill>
                  <a:srgbClr val="666666"/>
                </a:solidFill>
                <a:latin typeface="Calibri"/>
              </a:defRPr>
            </a:pPr>
            <a:r>
              <a:t>    Sovrin: red publica permissioned, Hyperledger Indy, foco SSI puro</a:t>
            </a:r>
          </a:p>
          <a:p>
            <a:pPr lvl="1">
              <a:spcAft>
                <a:spcPts val="400"/>
              </a:spcAft>
              <a:defRPr sz="1700">
                <a:solidFill>
                  <a:srgbClr val="666666"/>
                </a:solidFill>
                <a:latin typeface="Calibri"/>
              </a:defRPr>
            </a:pPr>
            <a:r>
              <a:t>    Polygon ID: red publica, zero-knowledge proofs, foco en privacidad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058400" cy="1828800"/>
          </a:xfrm>
          <a:prstGeom prst="rect">
            <a:avLst/>
          </a:prstGeom>
          <a:noFill/>
        </p:spPr>
        <p:txBody>
          <a:bodyPr wrap="square"/>
          <a:lstStyle/>
          <a:p>
            <a:pPr algn="l">
              <a:defRPr sz="4800" b="1">
                <a:solidFill>
                  <a:srgbClr val="FFFFFF"/>
                </a:solidFill>
                <a:latin typeface="Calibri"/>
              </a:defRPr>
            </a:pPr>
            <a:r>
              <a:t>Alastria</a:t>
            </a:r>
            <a:br/>
            <a:r>
              <a:t>El ecosistema blockchain</a:t>
            </a:r>
            <a:br/>
            <a:r>
              <a:t>espanol</a:t>
            </a:r>
          </a:p>
        </p:txBody>
      </p:sp>
      <p:sp>
        <p:nvSpPr>
          <p:cNvPr id="4" name="TextBox 3"/>
          <p:cNvSpPr txBox="1"/>
          <p:nvPr/>
        </p:nvSpPr>
        <p:spPr>
          <a:xfrm>
            <a:off x="914400" y="4114800"/>
            <a:ext cx="10058400" cy="1371600"/>
          </a:xfrm>
          <a:prstGeom prst="rect">
            <a:avLst/>
          </a:prstGeom>
          <a:noFill/>
        </p:spPr>
        <p:txBody>
          <a:bodyPr wrap="square"/>
          <a:lstStyle/>
          <a:p>
            <a:pPr algn="l">
              <a:defRPr sz="2400" b="0">
                <a:solidFill>
                  <a:srgbClr val="FFFFFF"/>
                </a:solidFill>
                <a:latin typeface="Calibri"/>
              </a:defRPr>
            </a:pPr>
            <a:r>
              <a:t>Identidad, regulacion y redes enterprise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¿Que es Alastria?</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Consorcio blockchain sin animo de lucro fundado en 2017 en Espana</a:t>
            </a:r>
          </a:p>
          <a:p>
            <a:pPr>
              <a:spcAft>
                <a:spcPts val="800"/>
              </a:spcAft>
              <a:defRPr sz="2000">
                <a:solidFill>
                  <a:srgbClr val="333333"/>
                </a:solidFill>
                <a:latin typeface="Calibri"/>
              </a:defRPr>
            </a:pPr>
            <a:r>
              <a:t>Mas de 500 entidades miembro: bancos, telcos, energeticas, universidades, AAPP</a:t>
            </a:r>
          </a:p>
          <a:p>
            <a:pPr>
              <a:spcAft>
                <a:spcPts val="800"/>
              </a:spcAft>
              <a:defRPr sz="2000">
                <a:solidFill>
                  <a:srgbClr val="333333"/>
                </a:solidFill>
                <a:latin typeface="Calibri"/>
              </a:defRPr>
            </a:pPr>
            <a:r>
              <a:t>Objetivo: crear una infraestructura blockchain regulada para Espana</a:t>
            </a:r>
          </a:p>
          <a:p>
            <a:pPr>
              <a:spcAft>
                <a:spcPts val="800"/>
              </a:spcAft>
              <a:defRPr sz="2000">
                <a:solidFill>
                  <a:srgbClr val="333333"/>
                </a:solidFill>
                <a:latin typeface="Calibri"/>
              </a:defRPr>
            </a:pPr>
            <a:r>
              <a:t>No es UNA blockchain: es un ecosistema con multiples redes e iniciativas</a:t>
            </a:r>
          </a:p>
          <a:p>
            <a:pPr>
              <a:spcAft>
                <a:spcPts val="800"/>
              </a:spcAft>
              <a:defRPr sz="2000">
                <a:solidFill>
                  <a:srgbClr val="333333"/>
                </a:solidFill>
                <a:latin typeface="Calibri"/>
              </a:defRPr>
            </a:pPr>
            <a:r>
              <a:t>Miembros destacados:</a:t>
            </a:r>
          </a:p>
          <a:p>
            <a:pPr lvl="1">
              <a:spcAft>
                <a:spcPts val="400"/>
              </a:spcAft>
              <a:defRPr sz="1700">
                <a:solidFill>
                  <a:srgbClr val="666666"/>
                </a:solidFill>
                <a:latin typeface="Calibri"/>
              </a:defRPr>
            </a:pPr>
            <a:r>
              <a:t>    Banca: Santander, BBVA, CaixaBank, Bankia</a:t>
            </a:r>
          </a:p>
          <a:p>
            <a:pPr lvl="1">
              <a:spcAft>
                <a:spcPts val="400"/>
              </a:spcAft>
              <a:defRPr sz="1700">
                <a:solidFill>
                  <a:srgbClr val="666666"/>
                </a:solidFill>
                <a:latin typeface="Calibri"/>
              </a:defRPr>
            </a:pPr>
            <a:r>
              <a:t>    Telco: Telefonica, Vodafone</a:t>
            </a:r>
          </a:p>
          <a:p>
            <a:pPr lvl="1">
              <a:spcAft>
                <a:spcPts val="400"/>
              </a:spcAft>
              <a:defRPr sz="1700">
                <a:solidFill>
                  <a:srgbClr val="666666"/>
                </a:solidFill>
                <a:latin typeface="Calibri"/>
              </a:defRPr>
            </a:pPr>
            <a:r>
              <a:t>    Energia: Iberdrola, Repsol, Endesa</a:t>
            </a:r>
          </a:p>
          <a:p>
            <a:pPr lvl="1">
              <a:spcAft>
                <a:spcPts val="400"/>
              </a:spcAft>
              <a:defRPr sz="1700">
                <a:solidFill>
                  <a:srgbClr val="666666"/>
                </a:solidFill>
                <a:latin typeface="Calibri"/>
              </a:defRPr>
            </a:pPr>
            <a:r>
              <a:t>    Consultoras: Everis/NTT Data, Accenture, Deloitte</a:t>
            </a:r>
          </a:p>
          <a:p>
            <a:pPr lvl="1">
              <a:spcAft>
                <a:spcPts val="400"/>
              </a:spcAft>
              <a:defRPr sz="1700">
                <a:solidFill>
                  <a:srgbClr val="666666"/>
                </a:solidFill>
                <a:latin typeface="Calibri"/>
              </a:defRPr>
            </a:pPr>
            <a:r>
              <a:t>    Universidades: UPM, UC3M, UPC, URJC</a:t>
            </a:r>
          </a:p>
          <a:p>
            <a:pPr lvl="1">
              <a:spcAft>
                <a:spcPts val="400"/>
              </a:spcAft>
              <a:defRPr sz="1700">
                <a:solidFill>
                  <a:srgbClr val="666666"/>
                </a:solidFill>
                <a:latin typeface="Calibri"/>
              </a:defRPr>
            </a:pPr>
            <a:r>
              <a:t>    AAPP: Red.es, FNMT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Redes de Alastria</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Alastria opera varias redes blockchain en paralelo:</a:t>
            </a:r>
          </a:p>
          <a:p>
            <a:pPr>
              <a:spcAft>
                <a:spcPts val="800"/>
              </a:spcAft>
              <a:defRPr sz="2000">
                <a:solidFill>
                  <a:srgbClr val="333333"/>
                </a:solidFill>
                <a:latin typeface="Calibri"/>
              </a:defRPr>
            </a:pPr>
            <a:r>
              <a:t>Red T (Quorum/GoQuorum):</a:t>
            </a:r>
          </a:p>
          <a:p>
            <a:pPr lvl="1">
              <a:spcAft>
                <a:spcPts val="400"/>
              </a:spcAft>
              <a:defRPr sz="1700">
                <a:solidFill>
                  <a:srgbClr val="666666"/>
                </a:solidFill>
                <a:latin typeface="Calibri"/>
              </a:defRPr>
            </a:pPr>
            <a:r>
              <a:t>    Primera red del consorcio, basada en Quorum (fork de Ethereum por JP Morgan)</a:t>
            </a:r>
          </a:p>
          <a:p>
            <a:pPr lvl="1">
              <a:spcAft>
                <a:spcPts val="400"/>
              </a:spcAft>
              <a:defRPr sz="1700">
                <a:solidFill>
                  <a:srgbClr val="666666"/>
                </a:solidFill>
                <a:latin typeface="Calibri"/>
              </a:defRPr>
            </a:pPr>
            <a:r>
              <a:t>    Usada para los primeros pilotos de Alastria ID</a:t>
            </a:r>
          </a:p>
          <a:p>
            <a:pPr lvl="1">
              <a:spcAft>
                <a:spcPts val="400"/>
              </a:spcAft>
              <a:defRPr sz="1700">
                <a:solidFill>
                  <a:srgbClr val="666666"/>
                </a:solidFill>
                <a:latin typeface="Calibri"/>
              </a:defRPr>
            </a:pPr>
            <a:r>
              <a:t>    En proceso de migracion hacia Red B</a:t>
            </a:r>
          </a:p>
          <a:p>
            <a:pPr>
              <a:spcAft>
                <a:spcPts val="800"/>
              </a:spcAft>
              <a:defRPr sz="2000">
                <a:solidFill>
                  <a:srgbClr val="333333"/>
                </a:solidFill>
                <a:latin typeface="Calibri"/>
              </a:defRPr>
            </a:pPr>
            <a:r>
              <a:t>Red B (Hyperledger Besu):</a:t>
            </a:r>
          </a:p>
          <a:p>
            <a:pPr lvl="1">
              <a:spcAft>
                <a:spcPts val="400"/>
              </a:spcAft>
              <a:defRPr sz="1700">
                <a:solidFill>
                  <a:srgbClr val="666666"/>
                </a:solidFill>
                <a:latin typeface="Calibri"/>
              </a:defRPr>
            </a:pPr>
            <a:r>
              <a:t>    Red actual de referencia, basada en Hyperledger Besu</a:t>
            </a:r>
          </a:p>
          <a:p>
            <a:pPr lvl="1">
              <a:spcAft>
                <a:spcPts val="400"/>
              </a:spcAft>
              <a:defRPr sz="1700">
                <a:solidFill>
                  <a:srgbClr val="666666"/>
                </a:solidFill>
                <a:latin typeface="Calibri"/>
              </a:defRPr>
            </a:pPr>
            <a:r>
              <a:t>    Compatible con la vision de EBSI (misma tecnologia base)</a:t>
            </a:r>
          </a:p>
          <a:p>
            <a:pPr lvl="1">
              <a:spcAft>
                <a:spcPts val="400"/>
              </a:spcAft>
              <a:defRPr sz="1700">
                <a:solidFill>
                  <a:srgbClr val="666666"/>
                </a:solidFill>
                <a:latin typeface="Calibri"/>
              </a:defRPr>
            </a:pPr>
            <a:r>
              <a:t>    Mayor rendimiento y mejor soporte a largo plazo</a:t>
            </a:r>
          </a:p>
          <a:p>
            <a:pPr lvl="1">
              <a:spcAft>
                <a:spcPts val="400"/>
              </a:spcAft>
              <a:defRPr sz="1700">
                <a:solidFill>
                  <a:srgbClr val="666666"/>
                </a:solidFill>
                <a:latin typeface="Calibri"/>
              </a:defRPr>
            </a:pPr>
            <a:r>
              <a:t>    Nodos operados por los miembros del consorcio</a:t>
            </a:r>
          </a:p>
          <a:p>
            <a:pPr>
              <a:spcAft>
                <a:spcPts val="800"/>
              </a:spcAft>
              <a:defRPr sz="2000">
                <a:solidFill>
                  <a:srgbClr val="333333"/>
                </a:solidFill>
                <a:latin typeface="Calibri"/>
              </a:defRPr>
            </a:pPr>
            <a:r>
              <a:t>Ambas redes son permissioned y compatibles con EVM (Solidity)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Mapa del ecosistema Alastria</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371600" y="1371600"/>
            <a:ext cx="9418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2286000"/>
            <a:ext cx="8503920" cy="1371600"/>
          </a:xfrm>
          <a:prstGeom prst="rect">
            <a:avLst/>
          </a:prstGeom>
          <a:noFill/>
        </p:spPr>
        <p:txBody>
          <a:bodyPr wrap="square"/>
          <a:lstStyle/>
          <a:p>
            <a:pPr algn="ctr">
              <a:defRPr sz="2400" b="0">
                <a:solidFill>
                  <a:srgbClr val="999999"/>
                </a:solidFill>
                <a:latin typeface="Calibri"/>
              </a:defRPr>
            </a:pPr>
            <a:r>
              <a:t>[Diagrama: Red T y Red B como infraestructura, Alastria ID como capa de identidad, miembros conectados]</a:t>
            </a:r>
          </a:p>
        </p:txBody>
      </p:sp>
      <p:sp>
        <p:nvSpPr>
          <p:cNvPr id="7" name="Rectangle 6"/>
          <p:cNvSpPr/>
          <p:nvPr/>
        </p:nvSpPr>
        <p:spPr>
          <a:xfrm>
            <a:off x="1371600" y="3840480"/>
            <a:ext cx="9418320" cy="3200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3840480"/>
            <a:ext cx="9418320" cy="320040"/>
          </a:xfrm>
          <a:prstGeom prst="rect">
            <a:avLst/>
          </a:prstGeom>
          <a:noFill/>
        </p:spPr>
        <p:txBody>
          <a:bodyPr wrap="square"/>
          <a:lstStyle/>
          <a:p>
            <a:pPr algn="ctr">
              <a:defRPr sz="1300" b="1">
                <a:solidFill>
                  <a:srgbClr val="FFFFFF"/>
                </a:solidFill>
                <a:latin typeface="Calibri"/>
              </a:defRPr>
            </a:pPr>
            <a:r>
              <a:t>Prompt para IA generativa:</a:t>
            </a:r>
          </a:p>
        </p:txBody>
      </p:sp>
      <p:sp>
        <p:nvSpPr>
          <p:cNvPr id="9" name="TextBox 8"/>
          <p:cNvSpPr txBox="1"/>
          <p:nvPr/>
        </p:nvSpPr>
        <p:spPr>
          <a:xfrm>
            <a:off x="1645920" y="4297680"/>
            <a:ext cx="8869680" cy="914400"/>
          </a:xfrm>
          <a:prstGeom prst="rect">
            <a:avLst/>
          </a:prstGeom>
          <a:noFill/>
        </p:spPr>
        <p:txBody>
          <a:bodyPr wrap="square"/>
          <a:lstStyle/>
          <a:p>
            <a:pPr algn="l">
              <a:defRPr sz="1400" b="0">
                <a:solidFill>
                  <a:srgbClr val="7C3AED"/>
                </a:solidFill>
                <a:latin typeface="Consolas"/>
              </a:defRPr>
            </a:pPr>
            <a:r>
              <a:t>Ecosystem diagram of Alastria consortium: two blockchain networks (Red T based on Quorum, Red B based on Hyperledger Besu) as infrastructure layer. Alastria ID as identity layer on top. Member organizations (banks, telcos, energy companies, universities) connected around the edges. Clean corporate style, Spanish flag colors accent.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Alastria ID: el modelo de identidad</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Alastria ID es el sistema de identidad digital descentralizada del consorcio</a:t>
            </a:r>
          </a:p>
          <a:p>
            <a:pPr>
              <a:spcAft>
                <a:spcPts val="800"/>
              </a:spcAft>
              <a:defRPr sz="2000">
                <a:solidFill>
                  <a:srgbClr val="333333"/>
                </a:solidFill>
                <a:latin typeface="Calibri"/>
              </a:defRPr>
            </a:pPr>
            <a:r>
              <a:t>Basado en el modelo W3C: DIDs + Verifiable Credentials</a:t>
            </a:r>
          </a:p>
          <a:p>
            <a:pPr>
              <a:spcAft>
                <a:spcPts val="800"/>
              </a:spcAft>
              <a:defRPr sz="2000">
                <a:solidFill>
                  <a:srgbClr val="333333"/>
                </a:solidFill>
                <a:latin typeface="Calibri"/>
              </a:defRPr>
            </a:pPr>
            <a:r>
              <a:t>Componentes:</a:t>
            </a:r>
          </a:p>
          <a:p>
            <a:pPr lvl="1">
              <a:spcAft>
                <a:spcPts val="400"/>
              </a:spcAft>
              <a:defRPr sz="1700">
                <a:solidFill>
                  <a:srgbClr val="666666"/>
                </a:solidFill>
                <a:latin typeface="Calibri"/>
              </a:defRPr>
            </a:pPr>
            <a:r>
              <a:t>    DID Alastria: did:ala:&lt;network&gt;:&lt;identifier&gt;</a:t>
            </a:r>
          </a:p>
          <a:p>
            <a:pPr lvl="1">
              <a:spcAft>
                <a:spcPts val="400"/>
              </a:spcAft>
              <a:defRPr sz="1700">
                <a:solidFill>
                  <a:srgbClr val="666666"/>
                </a:solidFill>
                <a:latin typeface="Calibri"/>
              </a:defRPr>
            </a:pPr>
            <a:r>
              <a:t>    Alastria ID Smart Contracts: gestion de DIDs on-chain</a:t>
            </a:r>
          </a:p>
          <a:p>
            <a:pPr lvl="1">
              <a:spcAft>
                <a:spcPts val="400"/>
              </a:spcAft>
              <a:defRPr sz="1700">
                <a:solidFill>
                  <a:srgbClr val="666666"/>
                </a:solidFill>
                <a:latin typeface="Calibri"/>
              </a:defRPr>
            </a:pPr>
            <a:r>
              <a:t>    Credential Registry: registro de credenciales emitidas/revocadas</a:t>
            </a:r>
          </a:p>
          <a:p>
            <a:pPr lvl="1">
              <a:spcAft>
                <a:spcPts val="400"/>
              </a:spcAft>
              <a:defRPr sz="1700">
                <a:solidFill>
                  <a:srgbClr val="666666"/>
                </a:solidFill>
                <a:latin typeface="Calibri"/>
              </a:defRPr>
            </a:pPr>
            <a:r>
              <a:t>    Presentation Registry: registro de presentaciones realizadas</a:t>
            </a:r>
          </a:p>
          <a:p>
            <a:pPr lvl="1">
              <a:spcAft>
                <a:spcPts val="400"/>
              </a:spcAft>
              <a:defRPr sz="1700">
                <a:solidFill>
                  <a:srgbClr val="666666"/>
                </a:solidFill>
                <a:latin typeface="Calibri"/>
              </a:defRPr>
            </a:pPr>
            <a:r>
              <a:t>    Trusted Service Providers: lista de emisores de confianza</a:t>
            </a:r>
          </a:p>
          <a:p>
            <a:pPr>
              <a:spcAft>
                <a:spcPts val="800"/>
              </a:spcAft>
              <a:defRPr sz="2000">
                <a:solidFill>
                  <a:srgbClr val="333333"/>
                </a:solidFill>
                <a:latin typeface="Calibri"/>
              </a:defRPr>
            </a:pPr>
            <a:r>
              <a:t>El ciudadano/empresa controla su identidad sin depender de un unico intermediario</a:t>
            </a:r>
          </a:p>
          <a:p>
            <a:pPr>
              <a:spcAft>
                <a:spcPts val="800"/>
              </a:spcAft>
              <a:defRPr sz="2000">
                <a:solidFill>
                  <a:srgbClr val="333333"/>
                </a:solidFill>
                <a:latin typeface="Calibri"/>
              </a:defRPr>
            </a:pPr>
            <a:r>
              <a:t>Diferencia clave con identidad en Fabric: Alastria ID es interoperable entre redes y organizaciones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Alastria ID: flujo completo</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1. Registro: la entidad crea un DID en la red Alastria y lo asocia a su clave publica</a:t>
            </a:r>
          </a:p>
          <a:p>
            <a:pPr>
              <a:spcAft>
                <a:spcPts val="800"/>
              </a:spcAft>
              <a:defRPr sz="2000">
                <a:solidFill>
                  <a:srgbClr val="333333"/>
                </a:solidFill>
                <a:latin typeface="Calibri"/>
              </a:defRPr>
            </a:pPr>
            <a:r>
              <a:t>2. Emision: un Trusted Issuer (universidad, banco, AAPP) emite una VC al titular</a:t>
            </a:r>
          </a:p>
          <a:p>
            <a:pPr>
              <a:spcAft>
                <a:spcPts val="800"/>
              </a:spcAft>
              <a:defRPr sz="2000">
                <a:solidFill>
                  <a:srgbClr val="333333"/>
                </a:solidFill>
                <a:latin typeface="Calibri"/>
              </a:defRPr>
            </a:pPr>
            <a:r>
              <a:t>3. Almacenamiento: el titular guarda la VC en su wallet (movil)</a:t>
            </a:r>
          </a:p>
          <a:p>
            <a:pPr>
              <a:spcAft>
                <a:spcPts val="800"/>
              </a:spcAft>
              <a:defRPr sz="2000">
                <a:solidFill>
                  <a:srgbClr val="333333"/>
                </a:solidFill>
                <a:latin typeface="Calibri"/>
              </a:defRPr>
            </a:pPr>
            <a:r>
              <a:t>4. Presentacion: el titular crea una VP y la comparte con el verificador</a:t>
            </a:r>
          </a:p>
          <a:p>
            <a:pPr>
              <a:spcAft>
                <a:spcPts val="800"/>
              </a:spcAft>
              <a:defRPr sz="2000">
                <a:solidFill>
                  <a:srgbClr val="333333"/>
                </a:solidFill>
                <a:latin typeface="Calibri"/>
              </a:defRPr>
            </a:pPr>
            <a:r>
              <a:t>5. Verificacion: el verificador comprueba la firma del issuer en la red Alastria</a:t>
            </a:r>
          </a:p>
          <a:p>
            <a:pPr>
              <a:spcAft>
                <a:spcPts val="800"/>
              </a:spcAft>
              <a:defRPr sz="2000">
                <a:solidFill>
                  <a:srgbClr val="333333"/>
                </a:solidFill>
                <a:latin typeface="Calibri"/>
              </a:defRPr>
            </a:pPr>
            <a:r>
              <a:t>6. Revocacion: el issuer puede revocar la VC en cualquier momento via el registry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Alastria: casos de uso reales</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Identidad digital para ciudadanos (onboarding KYC bancario)</a:t>
            </a:r>
          </a:p>
          <a:p>
            <a:pPr>
              <a:spcAft>
                <a:spcPts val="800"/>
              </a:spcAft>
              <a:defRPr sz="2000">
                <a:solidFill>
                  <a:srgbClr val="333333"/>
                </a:solidFill>
                <a:latin typeface="Calibri"/>
              </a:defRPr>
            </a:pPr>
            <a:r>
              <a:t>Titulos universitarios verificables (universidades espanolas)</a:t>
            </a:r>
          </a:p>
          <a:p>
            <a:pPr>
              <a:spcAft>
                <a:spcPts val="800"/>
              </a:spcAft>
              <a:defRPr sz="2000">
                <a:solidFill>
                  <a:srgbClr val="333333"/>
                </a:solidFill>
                <a:latin typeface="Calibri"/>
              </a:defRPr>
            </a:pPr>
            <a:r>
              <a:t>Certificados de formacion profesional</a:t>
            </a:r>
          </a:p>
          <a:p>
            <a:pPr>
              <a:spcAft>
                <a:spcPts val="800"/>
              </a:spcAft>
              <a:defRPr sz="2000">
                <a:solidFill>
                  <a:srgbClr val="333333"/>
                </a:solidFill>
                <a:latin typeface="Calibri"/>
              </a:defRPr>
            </a:pPr>
            <a:r>
              <a:t>Credenciales de empleado para acceso a servicios entre empresas</a:t>
            </a:r>
          </a:p>
          <a:p>
            <a:pPr>
              <a:spcAft>
                <a:spcPts val="800"/>
              </a:spcAft>
              <a:defRPr sz="2000">
                <a:solidFill>
                  <a:srgbClr val="333333"/>
                </a:solidFill>
                <a:latin typeface="Calibri"/>
              </a:defRPr>
            </a:pPr>
            <a:r>
              <a:t>Recetas electronicas verificables entre comunidades autonomas</a:t>
            </a:r>
          </a:p>
          <a:p>
            <a:pPr>
              <a:spcAft>
                <a:spcPts val="800"/>
              </a:spcAft>
              <a:defRPr sz="2000">
                <a:solidFill>
                  <a:srgbClr val="333333"/>
                </a:solidFill>
                <a:latin typeface="Calibri"/>
              </a:defRPr>
            </a:pPr>
            <a:r>
              <a:t>Certificados de eficiencia energetica de inmuebles</a:t>
            </a:r>
          </a:p>
          <a:p>
            <a:pPr>
              <a:spcAft>
                <a:spcPts val="800"/>
              </a:spcAft>
              <a:defRPr sz="2000">
                <a:solidFill>
                  <a:srgbClr val="333333"/>
                </a:solidFill>
                <a:latin typeface="Calibri"/>
              </a:defRPr>
            </a:pPr>
          </a:p>
          <a:p>
            <a:pPr>
              <a:spcAft>
                <a:spcPts val="800"/>
              </a:spcAft>
              <a:defRPr sz="2000">
                <a:solidFill>
                  <a:srgbClr val="333333"/>
                </a:solidFill>
                <a:latin typeface="Calibri"/>
              </a:defRPr>
            </a:pPr>
            <a:r>
              <a:t>La mayoria estan en fase piloto o pre-produccion,</a:t>
            </a:r>
          </a:p>
          <a:p>
            <a:pPr>
              <a:spcAft>
                <a:spcPts val="800"/>
              </a:spcAft>
              <a:defRPr sz="2000">
                <a:solidFill>
                  <a:srgbClr val="333333"/>
                </a:solidFill>
                <a:latin typeface="Calibri"/>
              </a:defRPr>
            </a:pPr>
            <a:r>
              <a:t>pero demuestran la viabilidad tecnica del modelo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B45D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74320"/>
            <a:ext cx="3200400" cy="457200"/>
          </a:xfrm>
          <a:prstGeom prst="rect">
            <a:avLst/>
          </a:prstGeom>
          <a:solidFill>
            <a:srgbClr val="B45D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3200400" cy="457200"/>
          </a:xfrm>
          <a:prstGeom prst="rect">
            <a:avLst/>
          </a:prstGeom>
          <a:noFill/>
        </p:spPr>
        <p:txBody>
          <a:bodyPr wrap="square"/>
          <a:lstStyle/>
          <a:p>
            <a:pPr algn="ctr">
              <a:defRPr sz="1800" b="1">
                <a:solidFill>
                  <a:srgbClr val="FFFFFF"/>
                </a:solidFill>
                <a:latin typeface="Calibri"/>
              </a:defRPr>
            </a:pPr>
            <a:r>
              <a:t>TREASURE HUNT</a:t>
            </a:r>
          </a:p>
        </p:txBody>
      </p:sp>
      <p:sp>
        <p:nvSpPr>
          <p:cNvPr id="5" name="TextBox 4"/>
          <p:cNvSpPr txBox="1"/>
          <p:nvPr/>
        </p:nvSpPr>
        <p:spPr>
          <a:xfrm>
            <a:off x="3931920" y="228600"/>
            <a:ext cx="7772400" cy="731520"/>
          </a:xfrm>
          <a:prstGeom prst="rect">
            <a:avLst/>
          </a:prstGeom>
          <a:noFill/>
        </p:spPr>
        <p:txBody>
          <a:bodyPr wrap="square"/>
          <a:lstStyle/>
          <a:p>
            <a:pPr algn="l">
              <a:defRPr sz="2800" b="1">
                <a:solidFill>
                  <a:srgbClr val="333333"/>
                </a:solidFill>
                <a:latin typeface="Calibri"/>
              </a:defRPr>
            </a:pPr>
            <a:r>
              <a:t>¿Quien fundo Alastria?</a:t>
            </a:r>
          </a:p>
        </p:txBody>
      </p:sp>
      <p:sp>
        <p:nvSpPr>
          <p:cNvPr id="6" name="Rectangle 5"/>
          <p:cNvSpPr/>
          <p:nvPr/>
        </p:nvSpPr>
        <p:spPr>
          <a:xfrm>
            <a:off x="457200" y="1051560"/>
            <a:ext cx="10972800" cy="27432"/>
          </a:xfrm>
          <a:prstGeom prst="rect">
            <a:avLst/>
          </a:prstGeom>
          <a:solidFill>
            <a:srgbClr val="B45D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10515600" cy="5029200"/>
          </a:xfrm>
          <a:prstGeom prst="rect">
            <a:avLst/>
          </a:prstGeom>
          <a:noFill/>
        </p:spPr>
        <p:txBody>
          <a:bodyPr wrap="square">
            <a:spAutoFit/>
          </a:bodyPr>
          <a:lstStyle/>
          <a:p>
            <a:pPr>
              <a:spcAft>
                <a:spcPts val="1000"/>
              </a:spcAft>
              <a:defRPr sz="2000">
                <a:solidFill>
                  <a:srgbClr val="333333"/>
                </a:solidFill>
                <a:latin typeface="Calibri"/>
              </a:defRPr>
            </a:pPr>
            <a:r>
              <a:t>Alastria se fundo en 2017, pero la idea surgio un ano antes.</a:t>
            </a:r>
          </a:p>
          <a:p>
            <a:pPr>
              <a:spcAft>
                <a:spcPts val="1000"/>
              </a:spcAft>
              <a:defRPr sz="2000">
                <a:solidFill>
                  <a:srgbClr val="333333"/>
                </a:solidFill>
                <a:latin typeface="Calibri"/>
              </a:defRPr>
            </a:pPr>
          </a:p>
          <a:p>
            <a:pPr>
              <a:spcAft>
                <a:spcPts val="1000"/>
              </a:spcAft>
              <a:defRPr sz="2000">
                <a:solidFill>
                  <a:srgbClr val="333333"/>
                </a:solidFill>
                <a:latin typeface="Calibri"/>
              </a:defRPr>
            </a:pPr>
            <a:r>
              <a:t>Mision: Investigar y responder:</a:t>
            </a:r>
          </a:p>
          <a:p>
            <a:pPr>
              <a:spcAft>
                <a:spcPts val="1000"/>
              </a:spcAft>
              <a:defRPr sz="2000">
                <a:solidFill>
                  <a:srgbClr val="333333"/>
                </a:solidFill>
                <a:latin typeface="Calibri"/>
              </a:defRPr>
            </a:pPr>
            <a:r>
              <a:t>  1. ¿Quien fue el impulsor principal de la creacion de Alastria?</a:t>
            </a:r>
          </a:p>
          <a:p>
            <a:pPr>
              <a:spcAft>
                <a:spcPts val="1000"/>
              </a:spcAft>
              <a:defRPr sz="2000">
                <a:solidFill>
                  <a:srgbClr val="333333"/>
                </a:solidFill>
                <a:latin typeface="Calibri"/>
              </a:defRPr>
            </a:pPr>
            <a:r>
              <a:t>     Pista: es un reconocido experto en blockchain que fue CTO de una gran consultora espanola.</a:t>
            </a:r>
          </a:p>
          <a:p>
            <a:pPr>
              <a:spcAft>
                <a:spcPts val="1000"/>
              </a:spcAft>
              <a:defRPr sz="2000">
                <a:solidFill>
                  <a:srgbClr val="333333"/>
                </a:solidFill>
                <a:latin typeface="Calibri"/>
              </a:defRPr>
            </a:pPr>
            <a:r>
              <a:t>  2. ¿En que evento se presento Alastria por primera vez?</a:t>
            </a:r>
          </a:p>
          <a:p>
            <a:pPr>
              <a:spcAft>
                <a:spcPts val="1000"/>
              </a:spcAft>
              <a:defRPr sz="2000">
                <a:solidFill>
                  <a:srgbClr val="333333"/>
                </a:solidFill>
                <a:latin typeface="Calibri"/>
              </a:defRPr>
            </a:pPr>
            <a:r>
              <a:t>  3. ¿Cuantos miembros fundadores tenia Alastria? ¿Y cuantos tiene ahora?</a:t>
            </a:r>
          </a:p>
          <a:p>
            <a:pPr>
              <a:spcAft>
                <a:spcPts val="1000"/>
              </a:spcAft>
              <a:defRPr sz="2000">
                <a:solidFill>
                  <a:srgbClr val="333333"/>
                </a:solidFill>
                <a:latin typeface="Calibri"/>
              </a:defRPr>
            </a:pPr>
            <a:r>
              <a:t>  4. ¿Que relacion tiene Alastria con la European Blockchain Partnership?</a:t>
            </a:r>
          </a:p>
          <a:p>
            <a:pPr>
              <a:spcAft>
                <a:spcPts val="1000"/>
              </a:spcAft>
              <a:defRPr sz="2000">
                <a:solidFill>
                  <a:srgbClr val="333333"/>
                </a:solidFill>
                <a:latin typeface="Calibri"/>
              </a:defRPr>
            </a:pPr>
          </a:p>
          <a:p>
            <a:pPr>
              <a:spcAft>
                <a:spcPts val="1000"/>
              </a:spcAft>
              <a:defRPr sz="2000">
                <a:solidFill>
                  <a:srgbClr val="333333"/>
                </a:solidFill>
                <a:latin typeface="Calibri"/>
              </a:defRPr>
            </a:pPr>
            <a:r>
              <a:t>Tiempo: 10 minutos. Se puede buscar en internet.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Treasure Hunt: respuestas</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1. Alex Puig, CTO de Everis (ahora NTT Data) y primer presidente de Alastria.</a:t>
            </a:r>
          </a:p>
          <a:p>
            <a:pPr>
              <a:spcAft>
                <a:spcPts val="800"/>
              </a:spcAft>
              <a:defRPr sz="2000">
                <a:solidFill>
                  <a:srgbClr val="333333"/>
                </a:solidFill>
                <a:latin typeface="Calibri"/>
              </a:defRPr>
            </a:pPr>
            <a:r>
              <a:t>   Impulso la creacion del consorcio junto con otros directivos del sector fintech y blockchain espanol.</a:t>
            </a:r>
          </a:p>
          <a:p>
            <a:pPr>
              <a:spcAft>
                <a:spcPts val="800"/>
              </a:spcAft>
              <a:defRPr sz="2000">
                <a:solidFill>
                  <a:srgbClr val="333333"/>
                </a:solidFill>
                <a:latin typeface="Calibri"/>
              </a:defRPr>
            </a:pPr>
          </a:p>
          <a:p>
            <a:pPr>
              <a:spcAft>
                <a:spcPts val="800"/>
              </a:spcAft>
              <a:defRPr sz="2000">
                <a:solidFill>
                  <a:srgbClr val="333333"/>
                </a:solidFill>
                <a:latin typeface="Calibri"/>
              </a:defRPr>
            </a:pPr>
            <a:r>
              <a:t>2. Se presento en el Mobile World Congress (MWC) de Barcelona en 2017.</a:t>
            </a:r>
          </a:p>
          <a:p>
            <a:pPr>
              <a:spcAft>
                <a:spcPts val="800"/>
              </a:spcAft>
              <a:defRPr sz="2000">
                <a:solidFill>
                  <a:srgbClr val="333333"/>
                </a:solidFill>
                <a:latin typeface="Calibri"/>
              </a:defRPr>
            </a:pPr>
          </a:p>
          <a:p>
            <a:pPr>
              <a:spcAft>
                <a:spcPts val="800"/>
              </a:spcAft>
              <a:defRPr sz="2000">
                <a:solidFill>
                  <a:srgbClr val="333333"/>
                </a:solidFill>
                <a:latin typeface="Calibri"/>
              </a:defRPr>
            </a:pPr>
            <a:r>
              <a:t>3. Alastria se fundo con 70 miembros fundadores en 2017.</a:t>
            </a:r>
          </a:p>
          <a:p>
            <a:pPr>
              <a:spcAft>
                <a:spcPts val="800"/>
              </a:spcAft>
              <a:defRPr sz="2000">
                <a:solidFill>
                  <a:srgbClr val="333333"/>
                </a:solidFill>
                <a:latin typeface="Calibri"/>
              </a:defRPr>
            </a:pPr>
            <a:r>
              <a:t>   Actualmente cuenta con mas de 500 entidades miembro.</a:t>
            </a:r>
          </a:p>
          <a:p>
            <a:pPr>
              <a:spcAft>
                <a:spcPts val="800"/>
              </a:spcAft>
              <a:defRPr sz="2000">
                <a:solidFill>
                  <a:srgbClr val="333333"/>
                </a:solidFill>
                <a:latin typeface="Calibri"/>
              </a:defRPr>
            </a:pPr>
          </a:p>
          <a:p>
            <a:pPr>
              <a:spcAft>
                <a:spcPts val="800"/>
              </a:spcAft>
              <a:defRPr sz="2000">
                <a:solidFill>
                  <a:srgbClr val="333333"/>
                </a:solidFill>
                <a:latin typeface="Calibri"/>
              </a:defRPr>
            </a:pPr>
            <a:r>
              <a:t>4. Espana, a traves de Alastria y otros actores, es miembro de la</a:t>
            </a:r>
          </a:p>
          <a:p>
            <a:pPr>
              <a:spcAft>
                <a:spcPts val="800"/>
              </a:spcAft>
              <a:defRPr sz="2000">
                <a:solidFill>
                  <a:srgbClr val="333333"/>
                </a:solidFill>
                <a:latin typeface="Calibri"/>
              </a:defRPr>
            </a:pPr>
            <a:r>
              <a:t>   European Blockchain Partnership (EBP) desde 2018. Alastria colabora</a:t>
            </a:r>
          </a:p>
          <a:p>
            <a:pPr>
              <a:spcAft>
                <a:spcPts val="800"/>
              </a:spcAft>
              <a:defRPr sz="2000">
                <a:solidFill>
                  <a:srgbClr val="333333"/>
                </a:solidFill>
                <a:latin typeface="Calibri"/>
              </a:defRPr>
            </a:pPr>
            <a:r>
              <a:t>   con EBSI compartiendo estandares de identidad (DID/VC) y participando</a:t>
            </a:r>
          </a:p>
          <a:p>
            <a:pPr>
              <a:spcAft>
                <a:spcPts val="800"/>
              </a:spcAft>
              <a:defRPr sz="2000">
                <a:solidFill>
                  <a:srgbClr val="333333"/>
                </a:solidFill>
                <a:latin typeface="Calibri"/>
              </a:defRPr>
            </a:pPr>
            <a:r>
              <a:t>   en los pilotos europeos. La Red B (Hyperledger Besu) esta alineada</a:t>
            </a:r>
          </a:p>
          <a:p>
            <a:pPr>
              <a:spcAft>
                <a:spcPts val="800"/>
              </a:spcAft>
              <a:defRPr sz="2000">
                <a:solidFill>
                  <a:srgbClr val="333333"/>
                </a:solidFill>
                <a:latin typeface="Calibri"/>
              </a:defRPr>
            </a:pPr>
            <a:r>
              <a:t>   tecnologicamente con EBSI para facilitar la interoperabilidad.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058400" cy="1828800"/>
          </a:xfrm>
          <a:prstGeom prst="rect">
            <a:avLst/>
          </a:prstGeom>
          <a:noFill/>
        </p:spPr>
        <p:txBody>
          <a:bodyPr wrap="square"/>
          <a:lstStyle/>
          <a:p>
            <a:pPr algn="l">
              <a:defRPr sz="4800" b="1">
                <a:solidFill>
                  <a:srgbClr val="FFFFFF"/>
                </a:solidFill>
                <a:latin typeface="Calibri"/>
              </a:defRPr>
            </a:pPr>
            <a:r>
              <a:t>Integracion de DID/VC</a:t>
            </a:r>
            <a:br/>
            <a:r>
              <a:t>en Soluciones Empresariales</a:t>
            </a:r>
          </a:p>
        </p:txBody>
      </p:sp>
      <p:sp>
        <p:nvSpPr>
          <p:cNvPr id="4" name="TextBox 3"/>
          <p:cNvSpPr txBox="1"/>
          <p:nvPr/>
        </p:nvSpPr>
        <p:spPr>
          <a:xfrm>
            <a:off x="914400" y="4114800"/>
            <a:ext cx="10058400" cy="1371600"/>
          </a:xfrm>
          <a:prstGeom prst="rect">
            <a:avLst/>
          </a:prstGeom>
          <a:noFill/>
        </p:spPr>
        <p:txBody>
          <a:bodyPr wrap="square"/>
          <a:lstStyle/>
          <a:p>
            <a:pPr algn="l">
              <a:defRPr sz="2400" b="0">
                <a:solidFill>
                  <a:srgbClr val="FFFFFF"/>
                </a:solidFill>
                <a:latin typeface="Calibri"/>
              </a:defRPr>
            </a:pPr>
            <a:r>
              <a:t>De la teoria a la practica: como se usa la identidad descentralizada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Caso 1: Onboarding KYC bancario con VCs</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Problema: cada banco repite el proceso KYC (Know Your Customer) desde cero</a:t>
            </a:r>
          </a:p>
          <a:p>
            <a:pPr>
              <a:spcAft>
                <a:spcPts val="800"/>
              </a:spcAft>
              <a:defRPr sz="2000">
                <a:solidFill>
                  <a:srgbClr val="333333"/>
                </a:solidFill>
                <a:latin typeface="Calibri"/>
              </a:defRPr>
            </a:pPr>
            <a:r>
              <a:t>Solucion con VCs: el cliente hace KYC una vez y obtiene una VC reutilizable</a:t>
            </a:r>
          </a:p>
          <a:p>
            <a:pPr>
              <a:spcAft>
                <a:spcPts val="800"/>
              </a:spcAft>
              <a:defRPr sz="2000">
                <a:solidFill>
                  <a:srgbClr val="333333"/>
                </a:solidFill>
                <a:latin typeface="Calibri"/>
              </a:defRPr>
            </a:pPr>
            <a:r>
              <a:t>Flujo:</a:t>
            </a:r>
          </a:p>
          <a:p>
            <a:pPr lvl="1">
              <a:spcAft>
                <a:spcPts val="400"/>
              </a:spcAft>
              <a:defRPr sz="1700">
                <a:solidFill>
                  <a:srgbClr val="666666"/>
                </a:solidFill>
                <a:latin typeface="Calibri"/>
              </a:defRPr>
            </a:pPr>
            <a:r>
              <a:t>    1. El cliente completa KYC en el Banco A (presenta DNI, justificante, etc.)</a:t>
            </a:r>
          </a:p>
          <a:p>
            <a:pPr lvl="1">
              <a:spcAft>
                <a:spcPts val="400"/>
              </a:spcAft>
              <a:defRPr sz="1700">
                <a:solidFill>
                  <a:srgbClr val="666666"/>
                </a:solidFill>
                <a:latin typeface="Calibri"/>
              </a:defRPr>
            </a:pPr>
            <a:r>
              <a:t>    2. El Banco A emite una VC de tipo 'KYC verificado' al cliente</a:t>
            </a:r>
          </a:p>
          <a:p>
            <a:pPr lvl="1">
              <a:spcAft>
                <a:spcPts val="400"/>
              </a:spcAft>
              <a:defRPr sz="1700">
                <a:solidFill>
                  <a:srgbClr val="666666"/>
                </a:solidFill>
                <a:latin typeface="Calibri"/>
              </a:defRPr>
            </a:pPr>
            <a:r>
              <a:t>    3. El cliente quiere abrir cuenta en el Banco B</a:t>
            </a:r>
          </a:p>
          <a:p>
            <a:pPr lvl="1">
              <a:spcAft>
                <a:spcPts val="400"/>
              </a:spcAft>
              <a:defRPr sz="1700">
                <a:solidFill>
                  <a:srgbClr val="666666"/>
                </a:solidFill>
                <a:latin typeface="Calibri"/>
              </a:defRPr>
            </a:pPr>
            <a:r>
              <a:t>    4. Presenta la VC de KYC del Banco A al Banco B</a:t>
            </a:r>
          </a:p>
          <a:p>
            <a:pPr lvl="1">
              <a:spcAft>
                <a:spcPts val="400"/>
              </a:spcAft>
              <a:defRPr sz="1700">
                <a:solidFill>
                  <a:srgbClr val="666666"/>
                </a:solidFill>
                <a:latin typeface="Calibri"/>
              </a:defRPr>
            </a:pPr>
            <a:r>
              <a:t>    5. El Banco B verifica la firma del Banco A en la red (Alastria/EBSI)</a:t>
            </a:r>
          </a:p>
          <a:p>
            <a:pPr lvl="1">
              <a:spcAft>
                <a:spcPts val="400"/>
              </a:spcAft>
              <a:defRPr sz="1700">
                <a:solidFill>
                  <a:srgbClr val="666666"/>
                </a:solidFill>
                <a:latin typeface="Calibri"/>
              </a:defRPr>
            </a:pPr>
            <a:r>
              <a:t>    6. Si es valida, acepta el KYC sin repetir el proceso</a:t>
            </a:r>
          </a:p>
          <a:p>
            <a:pPr lvl="1">
              <a:spcAft>
                <a:spcPts val="400"/>
              </a:spcAft>
              <a:defRPr sz="1700">
                <a:solidFill>
                  <a:srgbClr val="666666"/>
                </a:solidFill>
                <a:latin typeface="Calibri"/>
              </a:defRPr>
            </a:pPr>
            <a:r>
              <a:t>    7. Ahorro: semanas de tramites reducidas a segundos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Caso 2: Titulos universitarios verificables</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Problema: verificar un titulo universitario requiere contactar a la universidad emisora</a:t>
            </a:r>
          </a:p>
          <a:p>
            <a:pPr>
              <a:spcAft>
                <a:spcPts val="800"/>
              </a:spcAft>
              <a:defRPr sz="2000">
                <a:solidFill>
                  <a:srgbClr val="333333"/>
                </a:solidFill>
                <a:latin typeface="Calibri"/>
              </a:defRPr>
            </a:pPr>
            <a:r>
              <a:t>Solucion con VCs: la universidad emite el titulo como una Verifiable Credential</a:t>
            </a:r>
          </a:p>
          <a:p>
            <a:pPr>
              <a:spcAft>
                <a:spcPts val="800"/>
              </a:spcAft>
              <a:defRPr sz="2000">
                <a:solidFill>
                  <a:srgbClr val="333333"/>
                </a:solidFill>
                <a:latin typeface="Calibri"/>
              </a:defRPr>
            </a:pPr>
            <a:r>
              <a:t>Flujo:</a:t>
            </a:r>
          </a:p>
          <a:p>
            <a:pPr lvl="1">
              <a:spcAft>
                <a:spcPts val="400"/>
              </a:spcAft>
              <a:defRPr sz="1700">
                <a:solidFill>
                  <a:srgbClr val="666666"/>
                </a:solidFill>
                <a:latin typeface="Calibri"/>
              </a:defRPr>
            </a:pPr>
            <a:r>
              <a:t>    1. El alumno se gradua y la universidad emite una VC con el titulo</a:t>
            </a:r>
          </a:p>
          <a:p>
            <a:pPr lvl="1">
              <a:spcAft>
                <a:spcPts val="400"/>
              </a:spcAft>
              <a:defRPr sz="1700">
                <a:solidFill>
                  <a:srgbClr val="666666"/>
                </a:solidFill>
                <a:latin typeface="Calibri"/>
              </a:defRPr>
            </a:pPr>
            <a:r>
              <a:t>    2. El alumno guarda la VC en su wallet</a:t>
            </a:r>
          </a:p>
          <a:p>
            <a:pPr lvl="1">
              <a:spcAft>
                <a:spcPts val="400"/>
              </a:spcAft>
              <a:defRPr sz="1700">
                <a:solidFill>
                  <a:srgbClr val="666666"/>
                </a:solidFill>
                <a:latin typeface="Calibri"/>
              </a:defRPr>
            </a:pPr>
            <a:r>
              <a:t>    3. Una empresa quiere verificar el titulo del candidato</a:t>
            </a:r>
          </a:p>
          <a:p>
            <a:pPr lvl="1">
              <a:spcAft>
                <a:spcPts val="400"/>
              </a:spcAft>
              <a:defRPr sz="1700">
                <a:solidFill>
                  <a:srgbClr val="666666"/>
                </a:solidFill>
                <a:latin typeface="Calibri"/>
              </a:defRPr>
            </a:pPr>
            <a:r>
              <a:t>    4. El candidato presenta una VP con la VC del titulo</a:t>
            </a:r>
          </a:p>
          <a:p>
            <a:pPr lvl="1">
              <a:spcAft>
                <a:spcPts val="400"/>
              </a:spcAft>
              <a:defRPr sz="1700">
                <a:solidFill>
                  <a:srgbClr val="666666"/>
                </a:solidFill>
                <a:latin typeface="Calibri"/>
              </a:defRPr>
            </a:pPr>
            <a:r>
              <a:t>    5. La empresa verifica la firma de la universidad en la red</a:t>
            </a:r>
          </a:p>
          <a:p>
            <a:pPr lvl="1">
              <a:spcAft>
                <a:spcPts val="400"/>
              </a:spcAft>
              <a:defRPr sz="1700">
                <a:solidFill>
                  <a:srgbClr val="666666"/>
                </a:solidFill>
                <a:latin typeface="Calibri"/>
              </a:defRPr>
            </a:pPr>
            <a:r>
              <a:t>    6. Resultado instantaneo: titulo autentico o falso</a:t>
            </a:r>
          </a:p>
          <a:p>
            <a:pPr>
              <a:spcAft>
                <a:spcPts val="800"/>
              </a:spcAft>
              <a:defRPr sz="2000">
                <a:solidFill>
                  <a:srgbClr val="333333"/>
                </a:solidFill>
                <a:latin typeface="Calibri"/>
              </a:defRPr>
            </a:pPr>
            <a:r>
              <a:t>Implementacion real: universidades espanolas en Alastria + proyecto EBSI Diplomas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Caso 3: Acceso a servicios entre empresas</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Problema: un empleado de la Empresa A necesita acceder a un sistema de la Empresa B</a:t>
            </a:r>
          </a:p>
          <a:p>
            <a:pPr>
              <a:spcAft>
                <a:spcPts val="800"/>
              </a:spcAft>
              <a:defRPr sz="2000">
                <a:solidFill>
                  <a:srgbClr val="333333"/>
                </a:solidFill>
                <a:latin typeface="Calibri"/>
              </a:defRPr>
            </a:pPr>
            <a:r>
              <a:t>Hoy: se crea una cuenta en el sistema de B, con su propio usuario/password</a:t>
            </a:r>
          </a:p>
          <a:p>
            <a:pPr>
              <a:spcAft>
                <a:spcPts val="800"/>
              </a:spcAft>
              <a:defRPr sz="2000">
                <a:solidFill>
                  <a:srgbClr val="333333"/>
                </a:solidFill>
                <a:latin typeface="Calibri"/>
              </a:defRPr>
            </a:pPr>
            <a:r>
              <a:t>Con VCs: la Empresa A emite una credencial de empleado como VC</a:t>
            </a:r>
          </a:p>
          <a:p>
            <a:pPr>
              <a:spcAft>
                <a:spcPts val="800"/>
              </a:spcAft>
              <a:defRPr sz="2000">
                <a:solidFill>
                  <a:srgbClr val="333333"/>
                </a:solidFill>
                <a:latin typeface="Calibri"/>
              </a:defRPr>
            </a:pPr>
            <a:r>
              <a:t>Flujo:</a:t>
            </a:r>
          </a:p>
          <a:p>
            <a:pPr lvl="1">
              <a:spcAft>
                <a:spcPts val="400"/>
              </a:spcAft>
              <a:defRPr sz="1700">
                <a:solidFill>
                  <a:srgbClr val="666666"/>
                </a:solidFill>
                <a:latin typeface="Calibri"/>
              </a:defRPr>
            </a:pPr>
            <a:r>
              <a:t>    1. Empresa A emite VC: 'Juan es empleado con rol=auditor'</a:t>
            </a:r>
          </a:p>
          <a:p>
            <a:pPr lvl="1">
              <a:spcAft>
                <a:spcPts val="400"/>
              </a:spcAft>
              <a:defRPr sz="1700">
                <a:solidFill>
                  <a:srgbClr val="666666"/>
                </a:solidFill>
                <a:latin typeface="Calibri"/>
              </a:defRPr>
            </a:pPr>
            <a:r>
              <a:t>    2. Juan presenta la VC al sistema de Empresa B</a:t>
            </a:r>
          </a:p>
          <a:p>
            <a:pPr lvl="1">
              <a:spcAft>
                <a:spcPts val="400"/>
              </a:spcAft>
              <a:defRPr sz="1700">
                <a:solidFill>
                  <a:srgbClr val="666666"/>
                </a:solidFill>
                <a:latin typeface="Calibri"/>
              </a:defRPr>
            </a:pPr>
            <a:r>
              <a:t>    3. Empresa B verifica la VC y da acceso segun el rol</a:t>
            </a:r>
          </a:p>
          <a:p>
            <a:pPr lvl="1">
              <a:spcAft>
                <a:spcPts val="400"/>
              </a:spcAft>
              <a:defRPr sz="1700">
                <a:solidFill>
                  <a:srgbClr val="666666"/>
                </a:solidFill>
                <a:latin typeface="Calibri"/>
              </a:defRPr>
            </a:pPr>
            <a:r>
              <a:t>    4. No hay cuenta en B: la identidad viene de A</a:t>
            </a:r>
          </a:p>
          <a:p>
            <a:pPr>
              <a:spcAft>
                <a:spcPts val="800"/>
              </a:spcAft>
              <a:defRPr sz="2000">
                <a:solidFill>
                  <a:srgbClr val="333333"/>
                </a:solidFill>
                <a:latin typeface="Calibri"/>
              </a:defRPr>
            </a:pPr>
            <a:r>
              <a:t>Ventaja: cuando el empleado deja la Empresa A, se revoca la VC y pierde acceso en B automaticamente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74320"/>
            <a:ext cx="1645920" cy="45720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645920" cy="457200"/>
          </a:xfrm>
          <a:prstGeom prst="rect">
            <a:avLst/>
          </a:prstGeom>
          <a:noFill/>
        </p:spPr>
        <p:txBody>
          <a:bodyPr wrap="square"/>
          <a:lstStyle/>
          <a:p>
            <a:pPr algn="ctr">
              <a:defRPr sz="1800" b="1">
                <a:solidFill>
                  <a:srgbClr val="FFFFFF"/>
                </a:solidFill>
                <a:latin typeface="Calibri"/>
              </a:defRPr>
            </a:pPr>
            <a:r>
              <a:t>DEBATE</a:t>
            </a:r>
          </a:p>
        </p:txBody>
      </p:sp>
      <p:sp>
        <p:nvSpPr>
          <p:cNvPr id="5" name="TextBox 4"/>
          <p:cNvSpPr txBox="1"/>
          <p:nvPr/>
        </p:nvSpPr>
        <p:spPr>
          <a:xfrm>
            <a:off x="2377440" y="274320"/>
            <a:ext cx="9144000" cy="731520"/>
          </a:xfrm>
          <a:prstGeom prst="rect">
            <a:avLst/>
          </a:prstGeom>
          <a:noFill/>
        </p:spPr>
        <p:txBody>
          <a:bodyPr wrap="square"/>
          <a:lstStyle/>
          <a:p>
            <a:pPr algn="l">
              <a:defRPr sz="3000" b="1">
                <a:solidFill>
                  <a:srgbClr val="333333"/>
                </a:solidFill>
                <a:latin typeface="Calibri"/>
              </a:defRPr>
            </a:pPr>
            <a:r>
              <a:t>Identidad digital en la empresa</a:t>
            </a:r>
          </a:p>
        </p:txBody>
      </p:sp>
      <p:sp>
        <p:nvSpPr>
          <p:cNvPr id="6" name="Rectangle 5"/>
          <p:cNvSpPr/>
          <p:nvPr/>
        </p:nvSpPr>
        <p:spPr>
          <a:xfrm>
            <a:off x="457200" y="1051560"/>
            <a:ext cx="10972800" cy="2743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10515600" cy="5029200"/>
          </a:xfrm>
          <a:prstGeom prst="rect">
            <a:avLst/>
          </a:prstGeom>
          <a:noFill/>
        </p:spPr>
        <p:txBody>
          <a:bodyPr wrap="square">
            <a:spAutoFit/>
          </a:bodyPr>
          <a:lstStyle/>
          <a:p>
            <a:pPr>
              <a:spcAft>
                <a:spcPts val="1600"/>
              </a:spcAft>
              <a:defRPr sz="2200">
                <a:solidFill>
                  <a:srgbClr val="333333"/>
                </a:solidFill>
                <a:latin typeface="Calibri"/>
              </a:defRPr>
            </a:pPr>
            <a:r>
              <a:t>1. ¿Que ventajas reales tiene la identidad descentralizada frente a un SSO corporativo (Okta, Azure AD)?</a:t>
            </a:r>
          </a:p>
          <a:p>
            <a:pPr>
              <a:spcAft>
                <a:spcPts val="1600"/>
              </a:spcAft>
              <a:defRPr sz="2200">
                <a:solidFill>
                  <a:srgbClr val="333333"/>
                </a:solidFill>
                <a:latin typeface="Calibri"/>
              </a:defRPr>
            </a:pPr>
            <a:r>
              <a:t>2. ¿Quien deberia ser el 'trusted issuer' para credenciales profesionales? ¿La empresa, un colegio profesional, el Estado?</a:t>
            </a:r>
          </a:p>
          <a:p>
            <a:pPr>
              <a:spcAft>
                <a:spcPts val="1600"/>
              </a:spcAft>
              <a:defRPr sz="2200">
                <a:solidFill>
                  <a:srgbClr val="333333"/>
                </a:solidFill>
                <a:latin typeface="Calibri"/>
              </a:defRPr>
            </a:pPr>
            <a:r>
              <a:t>3. Si un empleado tiene una VC de 'ingeniero certificado' y la empresa que la emitio cierra, ¿sigue siendo valida?</a:t>
            </a:r>
          </a:p>
          <a:p>
            <a:pPr>
              <a:spcAft>
                <a:spcPts val="1600"/>
              </a:spcAft>
              <a:defRPr sz="2200">
                <a:solidFill>
                  <a:srgbClr val="333333"/>
                </a:solidFill>
                <a:latin typeface="Calibri"/>
              </a:defRPr>
            </a:pPr>
            <a:r>
              <a:t>4. ¿Como afecta el GDPR al almacenamiento de datos personales en una VC? ¿Y si la VC esta en blockchain?</a:t>
            </a:r>
          </a:p>
          <a:p>
            <a:pPr>
              <a:spcAft>
                <a:spcPts val="1600"/>
              </a:spcAft>
              <a:defRPr sz="2200">
                <a:solidFill>
                  <a:srgbClr val="333333"/>
                </a:solidFill>
                <a:latin typeface="Calibri"/>
              </a:defRPr>
            </a:pPr>
            <a:r>
              <a:t>5. ¿Veis aplicacion en vuestro sector para las VCs?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058400" cy="1828800"/>
          </a:xfrm>
          <a:prstGeom prst="rect">
            <a:avLst/>
          </a:prstGeom>
          <a:noFill/>
        </p:spPr>
        <p:txBody>
          <a:bodyPr wrap="square"/>
          <a:lstStyle/>
          <a:p>
            <a:pPr algn="l">
              <a:defRPr sz="4800" b="1">
                <a:solidFill>
                  <a:srgbClr val="FFFFFF"/>
                </a:solidFill>
                <a:latin typeface="Calibri"/>
              </a:defRPr>
            </a:pPr>
            <a:r>
              <a:t>Arquitecturas Hibridas</a:t>
            </a:r>
            <a:br/>
            <a:r>
              <a:t>con Multiples Redes</a:t>
            </a:r>
          </a:p>
        </p:txBody>
      </p:sp>
      <p:sp>
        <p:nvSpPr>
          <p:cNvPr id="4" name="TextBox 3"/>
          <p:cNvSpPr txBox="1"/>
          <p:nvPr/>
        </p:nvSpPr>
        <p:spPr>
          <a:xfrm>
            <a:off x="914400" y="4114800"/>
            <a:ext cx="10058400" cy="1371600"/>
          </a:xfrm>
          <a:prstGeom prst="rect">
            <a:avLst/>
          </a:prstGeom>
          <a:noFill/>
        </p:spPr>
        <p:txBody>
          <a:bodyPr wrap="square"/>
          <a:lstStyle/>
          <a:p>
            <a:pPr algn="l">
              <a:defRPr sz="2400" b="0">
                <a:solidFill>
                  <a:srgbClr val="FFFFFF"/>
                </a:solidFill>
                <a:latin typeface="Calibri"/>
              </a:defRPr>
            </a:pPr>
            <a:r>
              <a:t>Identidad en una red, negocio en otra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¿Por que arquitecturas hibridas?</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En el mundo real, una sola blockchain no resuelve todo</a:t>
            </a:r>
          </a:p>
          <a:p>
            <a:pPr>
              <a:spcAft>
                <a:spcPts val="800"/>
              </a:spcAft>
              <a:defRPr sz="2000">
                <a:solidFill>
                  <a:srgbClr val="333333"/>
                </a:solidFill>
                <a:latin typeface="Calibri"/>
              </a:defRPr>
            </a:pPr>
            <a:r>
              <a:t>Cada red tiene su fortaleza:</a:t>
            </a:r>
          </a:p>
          <a:p>
            <a:pPr lvl="1">
              <a:spcAft>
                <a:spcPts val="400"/>
              </a:spcAft>
              <a:defRPr sz="1700">
                <a:solidFill>
                  <a:srgbClr val="666666"/>
                </a:solidFill>
                <a:latin typeface="Calibri"/>
              </a:defRPr>
            </a:pPr>
            <a:r>
              <a:t>    Red publica (EBSI, Alastria): identidad, credenciales, confianza</a:t>
            </a:r>
          </a:p>
          <a:p>
            <a:pPr lvl="1">
              <a:spcAft>
                <a:spcPts val="400"/>
              </a:spcAft>
              <a:defRPr sz="1700">
                <a:solidFill>
                  <a:srgbClr val="666666"/>
                </a:solidFill>
                <a:latin typeface="Calibri"/>
              </a:defRPr>
            </a:pPr>
            <a:r>
              <a:t>    Red privada (Fabric): logica de negocio, transacciones, datos confidenciales</a:t>
            </a:r>
          </a:p>
          <a:p>
            <a:pPr lvl="1">
              <a:spcAft>
                <a:spcPts val="400"/>
              </a:spcAft>
              <a:defRPr sz="1700">
                <a:solidFill>
                  <a:srgbClr val="666666"/>
                </a:solidFill>
                <a:latin typeface="Calibri"/>
              </a:defRPr>
            </a:pPr>
            <a:r>
              <a:t>    Cada una gobernada por distintos actores con distintas reglas</a:t>
            </a:r>
          </a:p>
          <a:p>
            <a:pPr>
              <a:spcAft>
                <a:spcPts val="800"/>
              </a:spcAft>
              <a:defRPr sz="2000">
                <a:solidFill>
                  <a:srgbClr val="333333"/>
                </a:solidFill>
                <a:latin typeface="Calibri"/>
              </a:defRPr>
            </a:pPr>
            <a:r>
              <a:t>La arquitectura hibrida combina lo mejor de cada una:</a:t>
            </a:r>
          </a:p>
          <a:p>
            <a:pPr lvl="1">
              <a:spcAft>
                <a:spcPts val="400"/>
              </a:spcAft>
              <a:defRPr sz="1700">
                <a:solidFill>
                  <a:srgbClr val="666666"/>
                </a:solidFill>
                <a:latin typeface="Calibri"/>
              </a:defRPr>
            </a:pPr>
            <a:r>
              <a:t>    Identidad: interoperable, verificable por cualquiera, en red publica/consorcio</a:t>
            </a:r>
          </a:p>
          <a:p>
            <a:pPr lvl="1">
              <a:spcAft>
                <a:spcPts val="400"/>
              </a:spcAft>
              <a:defRPr sz="1700">
                <a:solidFill>
                  <a:srgbClr val="666666"/>
                </a:solidFill>
                <a:latin typeface="Calibri"/>
              </a:defRPr>
            </a:pPr>
            <a:r>
              <a:t>    Negocio: privado, rapido, solo entre los participantes, en Fabric</a:t>
            </a:r>
          </a:p>
          <a:p>
            <a:pPr>
              <a:spcAft>
                <a:spcPts val="800"/>
              </a:spcAft>
              <a:defRPr sz="2000">
                <a:solidFill>
                  <a:srgbClr val="333333"/>
                </a:solidFill>
                <a:latin typeface="Calibri"/>
              </a:defRPr>
            </a:pPr>
            <a:r>
              <a:t>Ejemplo: Alastria para identidad + Fabric para logica de negocio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Arquitectura hibrida: Alastria + Fabric</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371600" y="1371600"/>
            <a:ext cx="9418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2286000"/>
            <a:ext cx="8503920" cy="1371600"/>
          </a:xfrm>
          <a:prstGeom prst="rect">
            <a:avLst/>
          </a:prstGeom>
          <a:noFill/>
        </p:spPr>
        <p:txBody>
          <a:bodyPr wrap="square"/>
          <a:lstStyle/>
          <a:p>
            <a:pPr algn="ctr">
              <a:defRPr sz="2400" b="0">
                <a:solidFill>
                  <a:srgbClr val="999999"/>
                </a:solidFill>
                <a:latin typeface="Calibri"/>
              </a:defRPr>
            </a:pPr>
            <a:r>
              <a:t>[Diagrama: Red Alastria (identidad, DIDs, VCs) conectada con Red Fabric (canales, chaincodes, ledger)]</a:t>
            </a:r>
          </a:p>
        </p:txBody>
      </p:sp>
      <p:sp>
        <p:nvSpPr>
          <p:cNvPr id="7" name="Rectangle 6"/>
          <p:cNvSpPr/>
          <p:nvPr/>
        </p:nvSpPr>
        <p:spPr>
          <a:xfrm>
            <a:off x="1371600" y="3840480"/>
            <a:ext cx="9418320" cy="3200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3840480"/>
            <a:ext cx="9418320" cy="320040"/>
          </a:xfrm>
          <a:prstGeom prst="rect">
            <a:avLst/>
          </a:prstGeom>
          <a:noFill/>
        </p:spPr>
        <p:txBody>
          <a:bodyPr wrap="square"/>
          <a:lstStyle/>
          <a:p>
            <a:pPr algn="ctr">
              <a:defRPr sz="1300" b="1">
                <a:solidFill>
                  <a:srgbClr val="FFFFFF"/>
                </a:solidFill>
                <a:latin typeface="Calibri"/>
              </a:defRPr>
            </a:pPr>
            <a:r>
              <a:t>Prompt para IA generativa:</a:t>
            </a:r>
          </a:p>
        </p:txBody>
      </p:sp>
      <p:sp>
        <p:nvSpPr>
          <p:cNvPr id="9" name="TextBox 8"/>
          <p:cNvSpPr txBox="1"/>
          <p:nvPr/>
        </p:nvSpPr>
        <p:spPr>
          <a:xfrm>
            <a:off x="1645920" y="4297680"/>
            <a:ext cx="8869680" cy="914400"/>
          </a:xfrm>
          <a:prstGeom prst="rect">
            <a:avLst/>
          </a:prstGeom>
          <a:noFill/>
        </p:spPr>
        <p:txBody>
          <a:bodyPr wrap="square"/>
          <a:lstStyle/>
          <a:p>
            <a:pPr algn="l">
              <a:defRPr sz="1400" b="0">
                <a:solidFill>
                  <a:srgbClr val="7C3AED"/>
                </a:solidFill>
                <a:latin typeface="Consolas"/>
              </a:defRPr>
            </a:pPr>
            <a:r>
              <a:t>Split architecture diagram: left side shows Alastria network with DID Registry and VC issuance (blue tones), right side shows Hyperledger Fabric network with channels, chaincodes, and private ledger (green tones). Bridge in the middle showing identity verification flow. Clean corporate style.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Patron: verificar identidad externa en Fabric</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El cliente presenta una VP (Verifiable Presentation) a la aplicacion</a:t>
            </a:r>
          </a:p>
          <a:p>
            <a:pPr>
              <a:spcAft>
                <a:spcPts val="800"/>
              </a:spcAft>
              <a:defRPr sz="2000">
                <a:solidFill>
                  <a:srgbClr val="333333"/>
                </a:solidFill>
                <a:latin typeface="Calibri"/>
              </a:defRPr>
            </a:pPr>
            <a:r>
              <a:t>La aplicacion verifica la VP contra la red de identidad (Alastria/EBSI)</a:t>
            </a:r>
          </a:p>
          <a:p>
            <a:pPr>
              <a:spcAft>
                <a:spcPts val="800"/>
              </a:spcAft>
              <a:defRPr sz="2000">
                <a:solidFill>
                  <a:srgbClr val="333333"/>
                </a:solidFill>
                <a:latin typeface="Calibri"/>
              </a:defRPr>
            </a:pPr>
            <a:r>
              <a:t>Si la VP es valida, la aplicacion invoca el chaincode en Fabric</a:t>
            </a:r>
          </a:p>
          <a:p>
            <a:pPr>
              <a:spcAft>
                <a:spcPts val="800"/>
              </a:spcAft>
              <a:defRPr sz="2000">
                <a:solidFill>
                  <a:srgbClr val="333333"/>
                </a:solidFill>
                <a:latin typeface="Calibri"/>
              </a:defRPr>
            </a:pPr>
            <a:r>
              <a:t>El chaincode puede registrar el DID del cliente como referencia</a:t>
            </a:r>
          </a:p>
          <a:p>
            <a:pPr>
              <a:spcAft>
                <a:spcPts val="800"/>
              </a:spcAft>
              <a:defRPr sz="2000">
                <a:solidFill>
                  <a:srgbClr val="333333"/>
                </a:solidFill>
                <a:latin typeface="Calibri"/>
              </a:defRPr>
            </a:pPr>
            <a:r>
              <a:t>Flujo:</a:t>
            </a:r>
          </a:p>
          <a:p>
            <a:pPr lvl="1">
              <a:spcAft>
                <a:spcPts val="400"/>
              </a:spcAft>
              <a:defRPr sz="1700">
                <a:solidFill>
                  <a:srgbClr val="666666"/>
                </a:solidFill>
                <a:latin typeface="Calibri"/>
              </a:defRPr>
            </a:pPr>
            <a:r>
              <a:t>    1. Cliente -&gt; App: presenta VP con VC de KYC</a:t>
            </a:r>
          </a:p>
          <a:p>
            <a:pPr lvl="1">
              <a:spcAft>
                <a:spcPts val="400"/>
              </a:spcAft>
              <a:defRPr sz="1700">
                <a:solidFill>
                  <a:srgbClr val="666666"/>
                </a:solidFill>
                <a:latin typeface="Calibri"/>
              </a:defRPr>
            </a:pPr>
            <a:r>
              <a:t>    2. App -&gt; Alastria: ¿es valida esta VP? ¿el issuer es de confianza?</a:t>
            </a:r>
          </a:p>
          <a:p>
            <a:pPr lvl="1">
              <a:spcAft>
                <a:spcPts val="400"/>
              </a:spcAft>
              <a:defRPr sz="1700">
                <a:solidFill>
                  <a:srgbClr val="666666"/>
                </a:solidFill>
                <a:latin typeface="Calibri"/>
              </a:defRPr>
            </a:pPr>
            <a:r>
              <a:t>    3. Alastria -&gt; App: si, valida y no revocada</a:t>
            </a:r>
          </a:p>
          <a:p>
            <a:pPr lvl="1">
              <a:spcAft>
                <a:spcPts val="400"/>
              </a:spcAft>
              <a:defRPr sz="1700">
                <a:solidFill>
                  <a:srgbClr val="666666"/>
                </a:solidFill>
                <a:latin typeface="Calibri"/>
              </a:defRPr>
            </a:pPr>
            <a:r>
              <a:t>    4. App -&gt; Fabric: RegisterClient(did:ala:quor:0x123..., 'Javier Garcia')</a:t>
            </a:r>
          </a:p>
          <a:p>
            <a:pPr lvl="1">
              <a:spcAft>
                <a:spcPts val="400"/>
              </a:spcAft>
              <a:defRPr sz="1700">
                <a:solidFill>
                  <a:srgbClr val="666666"/>
                </a:solidFill>
                <a:latin typeface="Calibri"/>
              </a:defRPr>
            </a:pPr>
            <a:r>
              <a:t>    5. Fabric: registra al cliente y puede operar en el canal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DID/VC vs X.509/MSP en Fabric</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Fabric usa nativamente certificados X.509 emitidos por una Fabric CA</a:t>
            </a:r>
          </a:p>
          <a:p>
            <a:pPr>
              <a:spcAft>
                <a:spcPts val="800"/>
              </a:spcAft>
              <a:defRPr sz="2000">
                <a:solidFill>
                  <a:srgbClr val="333333"/>
                </a:solidFill>
                <a:latin typeface="Calibri"/>
              </a:defRPr>
            </a:pPr>
            <a:r>
              <a:t>Los DIDs/VCs son un modelo diferente y complementario</a:t>
            </a:r>
          </a:p>
          <a:p>
            <a:pPr>
              <a:spcAft>
                <a:spcPts val="800"/>
              </a:spcAft>
              <a:defRPr sz="2000">
                <a:solidFill>
                  <a:srgbClr val="333333"/>
                </a:solidFill>
                <a:latin typeface="Calibri"/>
              </a:defRPr>
            </a:pPr>
            <a:r>
              <a:t>Comparativa:</a:t>
            </a:r>
          </a:p>
          <a:p>
            <a:pPr lvl="1">
              <a:spcAft>
                <a:spcPts val="400"/>
              </a:spcAft>
              <a:defRPr sz="1700">
                <a:solidFill>
                  <a:srgbClr val="666666"/>
                </a:solidFill>
                <a:latin typeface="Calibri"/>
              </a:defRPr>
            </a:pPr>
            <a:r>
              <a:t>    X.509 (Fabric nativo): emitido por la CA de cada org, valido solo dentro de la red Fabric</a:t>
            </a:r>
          </a:p>
          <a:p>
            <a:pPr lvl="1">
              <a:spcAft>
                <a:spcPts val="400"/>
              </a:spcAft>
              <a:defRPr sz="1700">
                <a:solidFill>
                  <a:srgbClr val="666666"/>
                </a:solidFill>
                <a:latin typeface="Calibri"/>
              </a:defRPr>
            </a:pPr>
            <a:r>
              <a:t>    DID (Alastria/EBSI): emitido por el propio sujeto, verificable en cualquier red</a:t>
            </a:r>
          </a:p>
          <a:p>
            <a:pPr lvl="1">
              <a:spcAft>
                <a:spcPts val="400"/>
              </a:spcAft>
              <a:defRPr sz="1700">
                <a:solidFill>
                  <a:srgbClr val="666666"/>
                </a:solidFill>
                <a:latin typeface="Calibri"/>
              </a:defRPr>
            </a:pPr>
            <a:r>
              <a:t>    X.509: identifica peers, orderers, admins (infraestructura)</a:t>
            </a:r>
          </a:p>
          <a:p>
            <a:pPr lvl="1">
              <a:spcAft>
                <a:spcPts val="400"/>
              </a:spcAft>
              <a:defRPr sz="1700">
                <a:solidFill>
                  <a:srgbClr val="666666"/>
                </a:solidFill>
                <a:latin typeface="Calibri"/>
              </a:defRPr>
            </a:pPr>
            <a:r>
              <a:t>    DID/VC: identifica personas, empresas, credenciales (capa de negocio)</a:t>
            </a:r>
          </a:p>
          <a:p>
            <a:pPr lvl="1">
              <a:spcAft>
                <a:spcPts val="400"/>
              </a:spcAft>
              <a:defRPr sz="1700">
                <a:solidFill>
                  <a:srgbClr val="666666"/>
                </a:solidFill>
                <a:latin typeface="Calibri"/>
              </a:defRPr>
            </a:pPr>
            <a:r>
              <a:t>    No se reemplazan: X.509 para la infraestructura Fabric, DID/VC para los usuarios finales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Comparativa: X.509 vs DID/VC</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822960" y="1371600"/>
          <a:ext cx="10515600" cy="3291840"/>
        </p:xfrm>
        <a:graphic>
          <a:graphicData uri="http://schemas.openxmlformats.org/drawingml/2006/table">
            <a:tbl>
              <a:tblPr firstRow="1" bandRow="1">
                <a:tableStyleId>{5C22544A-7EE6-4342-B048-85BDC9FD1C3A}</a:tableStyleId>
              </a:tblPr>
              <a:tblGrid>
                <a:gridCol w="3505200"/>
                <a:gridCol w="3505200"/>
                <a:gridCol w="3505200"/>
              </a:tblGrid>
              <a:tr h="411480">
                <a:tc>
                  <a:txBody>
                    <a:bodyPr/>
                    <a:lstStyle/>
                    <a:p>
                      <a:pPr>
                        <a:defRPr sz="1600" b="1">
                          <a:solidFill>
                            <a:srgbClr val="FFFFFF"/>
                          </a:solidFill>
                          <a:latin typeface="Calibri"/>
                        </a:defRPr>
                      </a:pPr>
                      <a:r>
                        <a:t>Aspecto</a:t>
                      </a:r>
                    </a:p>
                  </a:txBody>
                  <a:tcPr>
                    <a:solidFill>
                      <a:srgbClr val="22627E"/>
                    </a:solidFill>
                  </a:tcPr>
                </a:tc>
                <a:tc>
                  <a:txBody>
                    <a:bodyPr/>
                    <a:lstStyle/>
                    <a:p>
                      <a:pPr>
                        <a:defRPr sz="1600" b="1">
                          <a:solidFill>
                            <a:srgbClr val="FFFFFF"/>
                          </a:solidFill>
                          <a:latin typeface="Calibri"/>
                        </a:defRPr>
                      </a:pPr>
                      <a:r>
                        <a:t>X.509 (Fabric)</a:t>
                      </a:r>
                    </a:p>
                  </a:txBody>
                  <a:tcPr>
                    <a:solidFill>
                      <a:srgbClr val="22627E"/>
                    </a:solidFill>
                  </a:tcPr>
                </a:tc>
                <a:tc>
                  <a:txBody>
                    <a:bodyPr/>
                    <a:lstStyle/>
                    <a:p>
                      <a:pPr>
                        <a:defRPr sz="1600" b="1">
                          <a:solidFill>
                            <a:srgbClr val="FFFFFF"/>
                          </a:solidFill>
                          <a:latin typeface="Calibri"/>
                        </a:defRPr>
                      </a:pPr>
                      <a:r>
                        <a:t>DID / VC</a:t>
                      </a:r>
                    </a:p>
                  </a:txBody>
                  <a:tcPr>
                    <a:solidFill>
                      <a:srgbClr val="22627E"/>
                    </a:solidFill>
                  </a:tcPr>
                </a:tc>
              </a:tr>
              <a:tr h="411480">
                <a:tc>
                  <a:txBody>
                    <a:bodyPr/>
                    <a:lstStyle/>
                    <a:p>
                      <a:pPr>
                        <a:defRPr sz="1500">
                          <a:solidFill>
                            <a:srgbClr val="333333"/>
                          </a:solidFill>
                          <a:latin typeface="Calibri"/>
                        </a:defRPr>
                      </a:pPr>
                      <a:r>
                        <a:t>Emisor</a:t>
                      </a:r>
                    </a:p>
                  </a:txBody>
                  <a:tcPr>
                    <a:solidFill>
                      <a:srgbClr val="F2F2F2"/>
                    </a:solidFill>
                  </a:tcPr>
                </a:tc>
                <a:tc>
                  <a:txBody>
                    <a:bodyPr/>
                    <a:lstStyle/>
                    <a:p>
                      <a:pPr>
                        <a:defRPr sz="1500">
                          <a:solidFill>
                            <a:srgbClr val="333333"/>
                          </a:solidFill>
                          <a:latin typeface="Calibri"/>
                        </a:defRPr>
                      </a:pPr>
                      <a:r>
                        <a:t>Fabric CA de cada org</a:t>
                      </a:r>
                    </a:p>
                  </a:txBody>
                  <a:tcPr>
                    <a:solidFill>
                      <a:srgbClr val="F2F2F2"/>
                    </a:solidFill>
                  </a:tcPr>
                </a:tc>
                <a:tc>
                  <a:txBody>
                    <a:bodyPr/>
                    <a:lstStyle/>
                    <a:p>
                      <a:pPr>
                        <a:defRPr sz="1500">
                          <a:solidFill>
                            <a:srgbClr val="333333"/>
                          </a:solidFill>
                          <a:latin typeface="Calibri"/>
                        </a:defRPr>
                      </a:pPr>
                      <a:r>
                        <a:t>Cualquier Trusted Issuer</a:t>
                      </a:r>
                    </a:p>
                  </a:txBody>
                  <a:tcPr>
                    <a:solidFill>
                      <a:srgbClr val="F2F2F2"/>
                    </a:solidFill>
                  </a:tcPr>
                </a:tc>
              </a:tr>
              <a:tr h="411480">
                <a:tc>
                  <a:txBody>
                    <a:bodyPr/>
                    <a:lstStyle/>
                    <a:p>
                      <a:pPr>
                        <a:defRPr sz="1500">
                          <a:solidFill>
                            <a:srgbClr val="333333"/>
                          </a:solidFill>
                          <a:latin typeface="Calibri"/>
                        </a:defRPr>
                      </a:pPr>
                      <a:r>
                        <a:t>Alcance</a:t>
                      </a:r>
                    </a:p>
                  </a:txBody>
                  <a:tcPr/>
                </a:tc>
                <a:tc>
                  <a:txBody>
                    <a:bodyPr/>
                    <a:lstStyle/>
                    <a:p>
                      <a:pPr>
                        <a:defRPr sz="1500">
                          <a:solidFill>
                            <a:srgbClr val="333333"/>
                          </a:solidFill>
                          <a:latin typeface="Calibri"/>
                        </a:defRPr>
                      </a:pPr>
                      <a:r>
                        <a:t>Solo dentro de la red Fabric</a:t>
                      </a:r>
                    </a:p>
                  </a:txBody>
                  <a:tcPr/>
                </a:tc>
                <a:tc>
                  <a:txBody>
                    <a:bodyPr/>
                    <a:lstStyle/>
                    <a:p>
                      <a:pPr>
                        <a:defRPr sz="1500">
                          <a:solidFill>
                            <a:srgbClr val="333333"/>
                          </a:solidFill>
                          <a:latin typeface="Calibri"/>
                        </a:defRPr>
                      </a:pPr>
                      <a:r>
                        <a:t>Interoperable entre redes</a:t>
                      </a:r>
                    </a:p>
                  </a:txBody>
                  <a:tcPr/>
                </a:tc>
              </a:tr>
              <a:tr h="411480">
                <a:tc>
                  <a:txBody>
                    <a:bodyPr/>
                    <a:lstStyle/>
                    <a:p>
                      <a:pPr>
                        <a:defRPr sz="1500">
                          <a:solidFill>
                            <a:srgbClr val="333333"/>
                          </a:solidFill>
                          <a:latin typeface="Calibri"/>
                        </a:defRPr>
                      </a:pPr>
                      <a:r>
                        <a:t>Revocacion</a:t>
                      </a:r>
                    </a:p>
                  </a:txBody>
                  <a:tcPr>
                    <a:solidFill>
                      <a:srgbClr val="F2F2F2"/>
                    </a:solidFill>
                  </a:tcPr>
                </a:tc>
                <a:tc>
                  <a:txBody>
                    <a:bodyPr/>
                    <a:lstStyle/>
                    <a:p>
                      <a:pPr>
                        <a:defRPr sz="1500">
                          <a:solidFill>
                            <a:srgbClr val="333333"/>
                          </a:solidFill>
                          <a:latin typeface="Calibri"/>
                        </a:defRPr>
                      </a:pPr>
                      <a:r>
                        <a:t>CRL (Certificate Revocation List)</a:t>
                      </a:r>
                    </a:p>
                  </a:txBody>
                  <a:tcPr>
                    <a:solidFill>
                      <a:srgbClr val="F2F2F2"/>
                    </a:solidFill>
                  </a:tcPr>
                </a:tc>
                <a:tc>
                  <a:txBody>
                    <a:bodyPr/>
                    <a:lstStyle/>
                    <a:p>
                      <a:pPr>
                        <a:defRPr sz="1500">
                          <a:solidFill>
                            <a:srgbClr val="333333"/>
                          </a:solidFill>
                          <a:latin typeface="Calibri"/>
                        </a:defRPr>
                      </a:pPr>
                      <a:r>
                        <a:t>Credential Registry on-chain</a:t>
                      </a:r>
                    </a:p>
                  </a:txBody>
                  <a:tcPr>
                    <a:solidFill>
                      <a:srgbClr val="F2F2F2"/>
                    </a:solidFill>
                  </a:tcPr>
                </a:tc>
              </a:tr>
              <a:tr h="411480">
                <a:tc>
                  <a:txBody>
                    <a:bodyPr/>
                    <a:lstStyle/>
                    <a:p>
                      <a:pPr>
                        <a:defRPr sz="1500">
                          <a:solidFill>
                            <a:srgbClr val="333333"/>
                          </a:solidFill>
                          <a:latin typeface="Calibri"/>
                        </a:defRPr>
                      </a:pPr>
                      <a:r>
                        <a:t>Contenido</a:t>
                      </a:r>
                    </a:p>
                  </a:txBody>
                  <a:tcPr/>
                </a:tc>
                <a:tc>
                  <a:txBody>
                    <a:bodyPr/>
                    <a:lstStyle/>
                    <a:p>
                      <a:pPr>
                        <a:defRPr sz="1500">
                          <a:solidFill>
                            <a:srgbClr val="333333"/>
                          </a:solidFill>
                          <a:latin typeface="Calibri"/>
                        </a:defRPr>
                      </a:pPr>
                      <a:r>
                        <a:t>Nombre, org, rol</a:t>
                      </a:r>
                    </a:p>
                  </a:txBody>
                  <a:tcPr/>
                </a:tc>
                <a:tc>
                  <a:txBody>
                    <a:bodyPr/>
                    <a:lstStyle/>
                    <a:p>
                      <a:pPr>
                        <a:defRPr sz="1500">
                          <a:solidFill>
                            <a:srgbClr val="333333"/>
                          </a:solidFill>
                          <a:latin typeface="Calibri"/>
                        </a:defRPr>
                      </a:pPr>
                      <a:r>
                        <a:t>Cualquier atributo (KYC, titulo, empleo...)</a:t>
                      </a:r>
                    </a:p>
                  </a:txBody>
                  <a:tcPr/>
                </a:tc>
              </a:tr>
              <a:tr h="411480">
                <a:tc>
                  <a:txBody>
                    <a:bodyPr/>
                    <a:lstStyle/>
                    <a:p>
                      <a:pPr>
                        <a:defRPr sz="1500">
                          <a:solidFill>
                            <a:srgbClr val="333333"/>
                          </a:solidFill>
                          <a:latin typeface="Calibri"/>
                        </a:defRPr>
                      </a:pPr>
                      <a:r>
                        <a:t>Control</a:t>
                      </a:r>
                    </a:p>
                  </a:txBody>
                  <a:tcPr>
                    <a:solidFill>
                      <a:srgbClr val="F2F2F2"/>
                    </a:solidFill>
                  </a:tcPr>
                </a:tc>
                <a:tc>
                  <a:txBody>
                    <a:bodyPr/>
                    <a:lstStyle/>
                    <a:p>
                      <a:pPr>
                        <a:defRPr sz="1500">
                          <a:solidFill>
                            <a:srgbClr val="333333"/>
                          </a:solidFill>
                          <a:latin typeface="Calibri"/>
                        </a:defRPr>
                      </a:pPr>
                      <a:r>
                        <a:t>La CA de la org</a:t>
                      </a:r>
                    </a:p>
                  </a:txBody>
                  <a:tcPr>
                    <a:solidFill>
                      <a:srgbClr val="F2F2F2"/>
                    </a:solidFill>
                  </a:tcPr>
                </a:tc>
                <a:tc>
                  <a:txBody>
                    <a:bodyPr/>
                    <a:lstStyle/>
                    <a:p>
                      <a:pPr>
                        <a:defRPr sz="1500">
                          <a:solidFill>
                            <a:srgbClr val="333333"/>
                          </a:solidFill>
                          <a:latin typeface="Calibri"/>
                        </a:defRPr>
                      </a:pPr>
                      <a:r>
                        <a:t>El propio titular (autosoberano)</a:t>
                      </a:r>
                    </a:p>
                  </a:txBody>
                  <a:tcPr>
                    <a:solidFill>
                      <a:srgbClr val="F2F2F2"/>
                    </a:solidFill>
                  </a:tcPr>
                </a:tc>
              </a:tr>
              <a:tr h="411480">
                <a:tc>
                  <a:txBody>
                    <a:bodyPr/>
                    <a:lstStyle/>
                    <a:p>
                      <a:pPr>
                        <a:defRPr sz="1500">
                          <a:solidFill>
                            <a:srgbClr val="333333"/>
                          </a:solidFill>
                          <a:latin typeface="Calibri"/>
                        </a:defRPr>
                      </a:pPr>
                      <a:r>
                        <a:t>Uso tipico</a:t>
                      </a:r>
                    </a:p>
                  </a:txBody>
                  <a:tcPr/>
                </a:tc>
                <a:tc>
                  <a:txBody>
                    <a:bodyPr/>
                    <a:lstStyle/>
                    <a:p>
                      <a:pPr>
                        <a:defRPr sz="1500">
                          <a:solidFill>
                            <a:srgbClr val="333333"/>
                          </a:solidFill>
                          <a:latin typeface="Calibri"/>
                        </a:defRPr>
                      </a:pPr>
                      <a:r>
                        <a:t>Autenticar peers y admins</a:t>
                      </a:r>
                    </a:p>
                  </a:txBody>
                  <a:tcPr/>
                </a:tc>
                <a:tc>
                  <a:txBody>
                    <a:bodyPr/>
                    <a:lstStyle/>
                    <a:p>
                      <a:pPr>
                        <a:defRPr sz="1500">
                          <a:solidFill>
                            <a:srgbClr val="333333"/>
                          </a:solidFill>
                          <a:latin typeface="Calibri"/>
                        </a:defRPr>
                      </a:pPr>
                      <a:r>
                        <a:t>Identificar usuarios finales</a:t>
                      </a:r>
                    </a:p>
                  </a:txBody>
                  <a:tcPr/>
                </a:tc>
              </a:tr>
              <a:tr h="411480">
                <a:tc>
                  <a:txBody>
                    <a:bodyPr/>
                    <a:lstStyle/>
                    <a:p>
                      <a:pPr>
                        <a:defRPr sz="1500">
                          <a:solidFill>
                            <a:srgbClr val="333333"/>
                          </a:solidFill>
                          <a:latin typeface="Calibri"/>
                        </a:defRPr>
                      </a:pPr>
                      <a:r>
                        <a:t>Privacidad</a:t>
                      </a:r>
                    </a:p>
                  </a:txBody>
                  <a:tcPr>
                    <a:solidFill>
                      <a:srgbClr val="F2F2F2"/>
                    </a:solidFill>
                  </a:tcPr>
                </a:tc>
                <a:tc>
                  <a:txBody>
                    <a:bodyPr/>
                    <a:lstStyle/>
                    <a:p>
                      <a:pPr>
                        <a:defRPr sz="1500">
                          <a:solidFill>
                            <a:srgbClr val="333333"/>
                          </a:solidFill>
                          <a:latin typeface="Calibri"/>
                        </a:defRPr>
                      </a:pPr>
                      <a:r>
                        <a:t>El cert revela la identidad</a:t>
                      </a:r>
                    </a:p>
                  </a:txBody>
                  <a:tcPr>
                    <a:solidFill>
                      <a:srgbClr val="F2F2F2"/>
                    </a:solidFill>
                  </a:tcPr>
                </a:tc>
                <a:tc>
                  <a:txBody>
                    <a:bodyPr/>
                    <a:lstStyle/>
                    <a:p>
                      <a:pPr>
                        <a:defRPr sz="1500">
                          <a:solidFill>
                            <a:srgbClr val="333333"/>
                          </a:solidFill>
                          <a:latin typeface="Calibri"/>
                        </a:defRPr>
                      </a:pPr>
                      <a:r>
                        <a:t>Zero-knowledge proofs posibles</a:t>
                      </a:r>
                    </a:p>
                  </a:txBody>
                  <a:tcPr>
                    <a:solidFill>
                      <a:srgbClr val="F2F2F2"/>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74320"/>
            <a:ext cx="3200400" cy="457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3200400" cy="457200"/>
          </a:xfrm>
          <a:prstGeom prst="rect">
            <a:avLst/>
          </a:prstGeom>
          <a:noFill/>
        </p:spPr>
        <p:txBody>
          <a:bodyPr wrap="square"/>
          <a:lstStyle/>
          <a:p>
            <a:pPr algn="ctr">
              <a:defRPr sz="1800" b="1">
                <a:solidFill>
                  <a:srgbClr val="FFFFFF"/>
                </a:solidFill>
                <a:latin typeface="Calibri"/>
              </a:defRPr>
            </a:pPr>
            <a:r>
              <a:t>CULTURA GENERAL</a:t>
            </a:r>
          </a:p>
        </p:txBody>
      </p:sp>
      <p:sp>
        <p:nvSpPr>
          <p:cNvPr id="5" name="TextBox 4"/>
          <p:cNvSpPr txBox="1"/>
          <p:nvPr/>
        </p:nvSpPr>
        <p:spPr>
          <a:xfrm>
            <a:off x="3931920" y="228600"/>
            <a:ext cx="7772400" cy="731520"/>
          </a:xfrm>
          <a:prstGeom prst="rect">
            <a:avLst/>
          </a:prstGeom>
          <a:noFill/>
        </p:spPr>
        <p:txBody>
          <a:bodyPr wrap="square"/>
          <a:lstStyle/>
          <a:p>
            <a:pPr algn="l">
              <a:defRPr sz="2800" b="1">
                <a:solidFill>
                  <a:srgbClr val="333333"/>
                </a:solidFill>
                <a:latin typeface="Calibri"/>
              </a:defRPr>
            </a:pPr>
            <a:r>
              <a:t>El DNI electronico espanol: una historia de adopcion fallida</a:t>
            </a:r>
          </a:p>
        </p:txBody>
      </p:sp>
      <p:sp>
        <p:nvSpPr>
          <p:cNvPr id="6" name="Rectangle 5"/>
          <p:cNvSpPr/>
          <p:nvPr/>
        </p:nvSpPr>
        <p:spPr>
          <a:xfrm>
            <a:off x="457200" y="1051560"/>
            <a:ext cx="10972800" cy="2743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10515600" cy="5029200"/>
          </a:xfrm>
          <a:prstGeom prst="rect">
            <a:avLst/>
          </a:prstGeom>
          <a:noFill/>
        </p:spPr>
        <p:txBody>
          <a:bodyPr wrap="square">
            <a:spAutoFit/>
          </a:bodyPr>
          <a:lstStyle/>
          <a:p>
            <a:pPr>
              <a:spcAft>
                <a:spcPts val="1000"/>
              </a:spcAft>
              <a:defRPr sz="2000">
                <a:solidFill>
                  <a:srgbClr val="333333"/>
                </a:solidFill>
                <a:latin typeface="Calibri"/>
              </a:defRPr>
            </a:pPr>
            <a:r>
              <a:t>Espana fue pionera en Europa con el DNI electronico (DNIe) en 2006.</a:t>
            </a:r>
          </a:p>
          <a:p>
            <a:pPr>
              <a:spcAft>
                <a:spcPts val="1000"/>
              </a:spcAft>
              <a:defRPr sz="2000">
                <a:solidFill>
                  <a:srgbClr val="333333"/>
                </a:solidFill>
                <a:latin typeface="Calibri"/>
              </a:defRPr>
            </a:pPr>
            <a:r>
              <a:t>Incluia un chip con certificado digital para firmar documentos y autenticarse online.</a:t>
            </a:r>
          </a:p>
          <a:p>
            <a:pPr>
              <a:spcAft>
                <a:spcPts val="1000"/>
              </a:spcAft>
              <a:defRPr sz="2000">
                <a:solidFill>
                  <a:srgbClr val="333333"/>
                </a:solidFill>
                <a:latin typeface="Calibri"/>
              </a:defRPr>
            </a:pPr>
            <a:r>
              <a:t>La idea era revolucionaria: cada ciudadano con identidad digital en el bolsillo.</a:t>
            </a:r>
          </a:p>
          <a:p>
            <a:pPr>
              <a:spcAft>
                <a:spcPts val="1000"/>
              </a:spcAft>
              <a:defRPr sz="2000">
                <a:solidFill>
                  <a:srgbClr val="333333"/>
                </a:solidFill>
                <a:latin typeface="Calibri"/>
              </a:defRPr>
            </a:pPr>
          </a:p>
          <a:p>
            <a:pPr>
              <a:spcAft>
                <a:spcPts val="1000"/>
              </a:spcAft>
              <a:defRPr sz="2000">
                <a:solidFill>
                  <a:srgbClr val="333333"/>
                </a:solidFill>
                <a:latin typeface="Calibri"/>
              </a:defRPr>
            </a:pPr>
            <a:r>
              <a:t>¿Que paso?</a:t>
            </a:r>
          </a:p>
          <a:p>
            <a:pPr>
              <a:spcAft>
                <a:spcPts val="1000"/>
              </a:spcAft>
              <a:defRPr sz="2000">
                <a:solidFill>
                  <a:srgbClr val="333333"/>
                </a:solidFill>
                <a:latin typeface="Calibri"/>
              </a:defRPr>
            </a:pPr>
            <a:r>
              <a:t>  - Los lectores de tarjeta eran caros y dificiles de instalar</a:t>
            </a:r>
          </a:p>
          <a:p>
            <a:pPr>
              <a:spcAft>
                <a:spcPts val="1000"/>
              </a:spcAft>
              <a:defRPr sz="2000">
                <a:solidFill>
                  <a:srgbClr val="333333"/>
                </a:solidFill>
                <a:latin typeface="Calibri"/>
              </a:defRPr>
            </a:pPr>
            <a:r>
              <a:t>  - El software de firma era complejo y fallaba en muchos navegadores</a:t>
            </a:r>
          </a:p>
          <a:p>
            <a:pPr>
              <a:spcAft>
                <a:spcPts val="1000"/>
              </a:spcAft>
              <a:defRPr sz="2000">
                <a:solidFill>
                  <a:srgbClr val="333333"/>
                </a:solidFill>
                <a:latin typeface="Calibri"/>
              </a:defRPr>
            </a:pPr>
            <a:r>
              <a:t>  - La renovacion del certificado requeria ir a la comisaria</a:t>
            </a:r>
          </a:p>
          <a:p>
            <a:pPr>
              <a:spcAft>
                <a:spcPts val="1000"/>
              </a:spcAft>
              <a:defRPr sz="2000">
                <a:solidFill>
                  <a:srgbClr val="333333"/>
                </a:solidFill>
                <a:latin typeface="Calibri"/>
              </a:defRPr>
            </a:pPr>
            <a:r>
              <a:t>  - Pocos servicios publicos lo soportaban de forma fluida</a:t>
            </a:r>
          </a:p>
          <a:p>
            <a:pPr>
              <a:spcAft>
                <a:spcPts val="1000"/>
              </a:spcAft>
              <a:defRPr sz="2000">
                <a:solidFill>
                  <a:srgbClr val="333333"/>
                </a:solidFill>
                <a:latin typeface="Calibri"/>
              </a:defRPr>
            </a:pPr>
            <a:r>
              <a:t>  - La adopcion fue minima: menos del 5% de la poblacion lo uso alguna vez</a:t>
            </a:r>
          </a:p>
          <a:p>
            <a:pPr>
              <a:spcAft>
                <a:spcPts val="1000"/>
              </a:spcAft>
              <a:defRPr sz="2000">
                <a:solidFill>
                  <a:srgbClr val="333333"/>
                </a:solidFill>
                <a:latin typeface="Calibri"/>
              </a:defRPr>
            </a:pPr>
          </a:p>
          <a:p>
            <a:pPr>
              <a:spcAft>
                <a:spcPts val="1000"/>
              </a:spcAft>
              <a:defRPr sz="2000">
                <a:solidFill>
                  <a:srgbClr val="333333"/>
                </a:solidFill>
                <a:latin typeface="Calibri"/>
              </a:defRPr>
            </a:pPr>
            <a:r>
              <a:t>Leccion: la tecnologia estaba lista, pero la UX no. Exactamente el mismo riesgo</a:t>
            </a:r>
          </a:p>
          <a:p>
            <a:pPr>
              <a:spcAft>
                <a:spcPts val="1000"/>
              </a:spcAft>
              <a:defRPr sz="2000">
                <a:solidFill>
                  <a:srgbClr val="333333"/>
                </a:solidFill>
                <a:latin typeface="Calibri"/>
              </a:defRPr>
            </a:pPr>
            <a:r>
              <a:t>que corre hoy la identidad descentralizada si no se resuelve la experiencia de usuario.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0D9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74320"/>
            <a:ext cx="2286000" cy="457200"/>
          </a:xfrm>
          <a:prstGeom prst="rect">
            <a:avLst/>
          </a:prstGeom>
          <a:solidFill>
            <a:srgbClr val="0D9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2286000" cy="457200"/>
          </a:xfrm>
          <a:prstGeom prst="rect">
            <a:avLst/>
          </a:prstGeom>
          <a:noFill/>
        </p:spPr>
        <p:txBody>
          <a:bodyPr wrap="square"/>
          <a:lstStyle/>
          <a:p>
            <a:pPr algn="ctr">
              <a:defRPr sz="1800" b="1">
                <a:solidFill>
                  <a:srgbClr val="FFFFFF"/>
                </a:solidFill>
                <a:latin typeface="Calibri"/>
              </a:defRPr>
            </a:pPr>
            <a:r>
              <a:t>PRACTICA</a:t>
            </a:r>
          </a:p>
        </p:txBody>
      </p:sp>
      <p:sp>
        <p:nvSpPr>
          <p:cNvPr id="5" name="TextBox 4"/>
          <p:cNvSpPr txBox="1"/>
          <p:nvPr/>
        </p:nvSpPr>
        <p:spPr>
          <a:xfrm>
            <a:off x="3017520" y="274320"/>
            <a:ext cx="8686800" cy="731520"/>
          </a:xfrm>
          <a:prstGeom prst="rect">
            <a:avLst/>
          </a:prstGeom>
          <a:noFill/>
        </p:spPr>
        <p:txBody>
          <a:bodyPr wrap="square"/>
          <a:lstStyle/>
          <a:p>
            <a:pPr algn="l">
              <a:defRPr sz="3000" b="1">
                <a:solidFill>
                  <a:srgbClr val="333333"/>
                </a:solidFill>
                <a:latin typeface="Calibri"/>
              </a:defRPr>
            </a:pPr>
            <a:r>
              <a:t>Disenar una arquitectura hibrida</a:t>
            </a:r>
          </a:p>
        </p:txBody>
      </p:sp>
      <p:sp>
        <p:nvSpPr>
          <p:cNvPr id="6" name="Rectangle 5"/>
          <p:cNvSpPr/>
          <p:nvPr/>
        </p:nvSpPr>
        <p:spPr>
          <a:xfrm>
            <a:off x="457200" y="1051560"/>
            <a:ext cx="10972800" cy="27432"/>
          </a:xfrm>
          <a:prstGeom prst="rect">
            <a:avLst/>
          </a:prstGeom>
          <a:solidFill>
            <a:srgbClr val="0D9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10515600" cy="5029200"/>
          </a:xfrm>
          <a:prstGeom prst="rect">
            <a:avLst/>
          </a:prstGeom>
          <a:noFill/>
        </p:spPr>
        <p:txBody>
          <a:bodyPr wrap="square">
            <a:spAutoFit/>
          </a:bodyPr>
          <a:lstStyle/>
          <a:p>
            <a:pPr>
              <a:spcAft>
                <a:spcPts val="1000"/>
              </a:spcAft>
              <a:defRPr sz="2000">
                <a:solidFill>
                  <a:srgbClr val="333333"/>
                </a:solidFill>
                <a:latin typeface="Calibri"/>
              </a:defRPr>
            </a:pPr>
            <a:r>
              <a:t>Objetivo: disenar la arquitectura de identidad para un caso real</a:t>
            </a:r>
          </a:p>
          <a:p>
            <a:pPr>
              <a:spcAft>
                <a:spcPts val="1000"/>
              </a:spcAft>
              <a:defRPr sz="2000">
                <a:solidFill>
                  <a:srgbClr val="333333"/>
                </a:solidFill>
                <a:latin typeface="Calibri"/>
              </a:defRPr>
            </a:pPr>
          </a:p>
          <a:p>
            <a:pPr>
              <a:spcAft>
                <a:spcPts val="1000"/>
              </a:spcAft>
              <a:defRPr sz="2000">
                <a:solidFill>
                  <a:srgbClr val="333333"/>
                </a:solidFill>
                <a:latin typeface="Calibri"/>
              </a:defRPr>
            </a:pPr>
            <a:r>
              <a:t>Escenario: Un consorcio de 3 hospitales quiere compartir historiales medicos.</a:t>
            </a:r>
          </a:p>
          <a:p>
            <a:pPr>
              <a:spcAft>
                <a:spcPts val="1000"/>
              </a:spcAft>
              <a:defRPr sz="2000">
                <a:solidFill>
                  <a:srgbClr val="333333"/>
                </a:solidFill>
                <a:latin typeface="Calibri"/>
              </a:defRPr>
            </a:pPr>
            <a:r>
              <a:t>Los pacientes deben controlar quien accede a sus datos.</a:t>
            </a:r>
          </a:p>
          <a:p>
            <a:pPr>
              <a:spcAft>
                <a:spcPts val="1000"/>
              </a:spcAft>
              <a:defRPr sz="2000">
                <a:solidFill>
                  <a:srgbClr val="333333"/>
                </a:solidFill>
                <a:latin typeface="Calibri"/>
              </a:defRPr>
            </a:pPr>
            <a:r>
              <a:t>Los medicos necesitan credenciales verificables de su colegio profesional.</a:t>
            </a:r>
          </a:p>
          <a:p>
            <a:pPr>
              <a:spcAft>
                <a:spcPts val="1000"/>
              </a:spcAft>
              <a:defRPr sz="2000">
                <a:solidFill>
                  <a:srgbClr val="333333"/>
                </a:solidFill>
                <a:latin typeface="Calibri"/>
              </a:defRPr>
            </a:pPr>
          </a:p>
          <a:p>
            <a:pPr>
              <a:spcAft>
                <a:spcPts val="1000"/>
              </a:spcAft>
              <a:defRPr sz="2000">
                <a:solidFill>
                  <a:srgbClr val="333333"/>
                </a:solidFill>
                <a:latin typeface="Calibri"/>
              </a:defRPr>
            </a:pPr>
            <a:r>
              <a:t>Grupos de 3-4 personas. Decidir:</a:t>
            </a:r>
          </a:p>
          <a:p>
            <a:pPr>
              <a:spcAft>
                <a:spcPts val="1000"/>
              </a:spcAft>
              <a:defRPr sz="2000">
                <a:solidFill>
                  <a:srgbClr val="333333"/>
                </a:solidFill>
                <a:latin typeface="Calibri"/>
              </a:defRPr>
            </a:pPr>
            <a:r>
              <a:t>  1. ¿Que red usariais para identidad? (Alastria, EBSI, Fabric CA, otra)</a:t>
            </a:r>
          </a:p>
          <a:p>
            <a:pPr>
              <a:spcAft>
                <a:spcPts val="1000"/>
              </a:spcAft>
              <a:defRPr sz="2000">
                <a:solidFill>
                  <a:srgbClr val="333333"/>
                </a:solidFill>
                <a:latin typeface="Calibri"/>
              </a:defRPr>
            </a:pPr>
            <a:r>
              <a:t>  2. ¿Que red para la logica de negocio? (Fabric, Besu, otra)</a:t>
            </a:r>
          </a:p>
          <a:p>
            <a:pPr>
              <a:spcAft>
                <a:spcPts val="1000"/>
              </a:spcAft>
              <a:defRPr sz="2000">
                <a:solidFill>
                  <a:srgbClr val="333333"/>
                </a:solidFill>
                <a:latin typeface="Calibri"/>
              </a:defRPr>
            </a:pPr>
            <a:r>
              <a:t>  3. ¿Que credenciales necesitan los pacientes? ¿Y los medicos?</a:t>
            </a:r>
          </a:p>
          <a:p>
            <a:pPr>
              <a:spcAft>
                <a:spcPts val="1000"/>
              </a:spcAft>
              <a:defRPr sz="2000">
                <a:solidFill>
                  <a:srgbClr val="333333"/>
                </a:solidFill>
                <a:latin typeface="Calibri"/>
              </a:defRPr>
            </a:pPr>
            <a:r>
              <a:t>  4. ¿Como verificaria el Hospital B una credencial emitida por el Hospital A?</a:t>
            </a:r>
          </a:p>
          <a:p>
            <a:pPr>
              <a:spcAft>
                <a:spcPts val="1000"/>
              </a:spcAft>
              <a:defRPr sz="2000">
                <a:solidFill>
                  <a:srgbClr val="333333"/>
                </a:solidFill>
                <a:latin typeface="Calibri"/>
              </a:defRPr>
            </a:pPr>
            <a:r>
              <a:t>  5. ¿Donde se almacenan los datos medicos? (on-chain, off-chain, IPFS...)</a:t>
            </a:r>
          </a:p>
          <a:p>
            <a:pPr>
              <a:spcAft>
                <a:spcPts val="1000"/>
              </a:spcAft>
              <a:defRPr sz="2000">
                <a:solidFill>
                  <a:srgbClr val="333333"/>
                </a:solidFill>
                <a:latin typeface="Calibri"/>
              </a:defRPr>
            </a:pPr>
          </a:p>
          <a:p>
            <a:pPr>
              <a:spcAft>
                <a:spcPts val="1000"/>
              </a:spcAft>
              <a:defRPr sz="2000">
                <a:solidFill>
                  <a:srgbClr val="333333"/>
                </a:solidFill>
                <a:latin typeface="Calibri"/>
              </a:defRPr>
            </a:pPr>
            <a:r>
              <a:t>Tiempo: 25 minutos. Presentar diagrama + justificacion.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74320"/>
            <a:ext cx="1645920" cy="45720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645920" cy="457200"/>
          </a:xfrm>
          <a:prstGeom prst="rect">
            <a:avLst/>
          </a:prstGeom>
          <a:noFill/>
        </p:spPr>
        <p:txBody>
          <a:bodyPr wrap="square"/>
          <a:lstStyle/>
          <a:p>
            <a:pPr algn="ctr">
              <a:defRPr sz="1800" b="1">
                <a:solidFill>
                  <a:srgbClr val="FFFFFF"/>
                </a:solidFill>
                <a:latin typeface="Calibri"/>
              </a:defRPr>
            </a:pPr>
            <a:r>
              <a:t>DEBATE</a:t>
            </a:r>
          </a:p>
        </p:txBody>
      </p:sp>
      <p:sp>
        <p:nvSpPr>
          <p:cNvPr id="5" name="TextBox 4"/>
          <p:cNvSpPr txBox="1"/>
          <p:nvPr/>
        </p:nvSpPr>
        <p:spPr>
          <a:xfrm>
            <a:off x="2377440" y="274320"/>
            <a:ext cx="9144000" cy="731520"/>
          </a:xfrm>
          <a:prstGeom prst="rect">
            <a:avLst/>
          </a:prstGeom>
          <a:noFill/>
        </p:spPr>
        <p:txBody>
          <a:bodyPr wrap="square"/>
          <a:lstStyle/>
          <a:p>
            <a:pPr algn="l">
              <a:defRPr sz="3000" b="1">
                <a:solidFill>
                  <a:srgbClr val="333333"/>
                </a:solidFill>
                <a:latin typeface="Calibri"/>
              </a:defRPr>
            </a:pPr>
            <a:r>
              <a:t>Cierre del modulo de identidad</a:t>
            </a:r>
          </a:p>
        </p:txBody>
      </p:sp>
      <p:sp>
        <p:nvSpPr>
          <p:cNvPr id="6" name="Rectangle 5"/>
          <p:cNvSpPr/>
          <p:nvPr/>
        </p:nvSpPr>
        <p:spPr>
          <a:xfrm>
            <a:off x="457200" y="1051560"/>
            <a:ext cx="10972800" cy="2743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10515600" cy="5029200"/>
          </a:xfrm>
          <a:prstGeom prst="rect">
            <a:avLst/>
          </a:prstGeom>
          <a:noFill/>
        </p:spPr>
        <p:txBody>
          <a:bodyPr wrap="square">
            <a:spAutoFit/>
          </a:bodyPr>
          <a:lstStyle/>
          <a:p>
            <a:pPr>
              <a:spcAft>
                <a:spcPts val="1600"/>
              </a:spcAft>
              <a:defRPr sz="2200">
                <a:solidFill>
                  <a:srgbClr val="333333"/>
                </a:solidFill>
                <a:latin typeface="Calibri"/>
              </a:defRPr>
            </a:pPr>
            <a:r>
              <a:t>1. ¿Alastria, EBSI o una solucion propia? ¿Que elegiriais para vuestra empresa y por que?</a:t>
            </a:r>
          </a:p>
          <a:p>
            <a:pPr>
              <a:spcAft>
                <a:spcPts val="1600"/>
              </a:spcAft>
              <a:defRPr sz="2200">
                <a:solidFill>
                  <a:srgbClr val="333333"/>
                </a:solidFill>
                <a:latin typeface="Calibri"/>
              </a:defRPr>
            </a:pPr>
            <a:r>
              <a:t>2. ¿Tiene sentido que la identidad sea autosoberana si el Estado sigue emitiendo los documentos oficiales?</a:t>
            </a:r>
          </a:p>
          <a:p>
            <a:pPr>
              <a:spcAft>
                <a:spcPts val="1600"/>
              </a:spcAft>
              <a:defRPr sz="2200">
                <a:solidFill>
                  <a:srgbClr val="333333"/>
                </a:solidFill>
                <a:latin typeface="Calibri"/>
              </a:defRPr>
            </a:pPr>
            <a:r>
              <a:t>3. ¿Cuando usariais X.509 de Fabric y cuando DIDs/VCs? ¿Pueden convivir?</a:t>
            </a:r>
          </a:p>
          <a:p>
            <a:pPr>
              <a:spcAft>
                <a:spcPts val="1600"/>
              </a:spcAft>
              <a:defRPr sz="2200">
                <a:solidFill>
                  <a:srgbClr val="333333"/>
                </a:solidFill>
                <a:latin typeface="Calibri"/>
              </a:defRPr>
            </a:pPr>
            <a:r>
              <a:t>4. ¿Cual es el mayor obstaculo para la adopcion de la identidad descentralizada?</a:t>
            </a:r>
          </a:p>
          <a:p>
            <a:pPr>
              <a:spcAft>
                <a:spcPts val="1600"/>
              </a:spcAft>
              <a:defRPr sz="2200">
                <a:solidFill>
                  <a:srgbClr val="333333"/>
                </a:solidFill>
                <a:latin typeface="Calibri"/>
              </a:defRPr>
            </a:pPr>
            <a:r>
              <a:t>5. ¿Creeis que en 5 anos tendremos todos un wallet de identidad en el movil?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lstStyle/>
          <a:p>
            <a:pPr algn="l">
              <a:defRPr sz="3600" b="1">
                <a:solidFill>
                  <a:srgbClr val="FFFFFF"/>
                </a:solidFill>
                <a:latin typeface="Calibri"/>
              </a:defRPr>
            </a:pPr>
            <a:r>
              <a:t>Repaso del modulo: Identidad Digital</a:t>
            </a:r>
          </a:p>
        </p:txBody>
      </p:sp>
      <p:sp>
        <p:nvSpPr>
          <p:cNvPr id="4" name="Rectangle 3"/>
          <p:cNvSpPr/>
          <p:nvPr/>
        </p:nvSpPr>
        <p:spPr>
          <a:xfrm>
            <a:off x="457200" y="1051560"/>
            <a:ext cx="10972800" cy="274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10515600" cy="5029200"/>
          </a:xfrm>
          <a:prstGeom prst="rect">
            <a:avLst/>
          </a:prstGeom>
          <a:noFill/>
        </p:spPr>
        <p:txBody>
          <a:bodyPr wrap="square">
            <a:spAutoFit/>
          </a:bodyPr>
          <a:lstStyle/>
          <a:p>
            <a:pPr>
              <a:spcAft>
                <a:spcPts val="1000"/>
              </a:spcAft>
              <a:defRPr sz="2000">
                <a:solidFill>
                  <a:srgbClr val="FFFFFF"/>
                </a:solidFill>
                <a:latin typeface="Calibri"/>
              </a:defRPr>
            </a:pPr>
            <a:r>
              <a:t>1. ¿Que es EBSI y que relacion tiene con eIDAS 2?</a:t>
            </a:r>
          </a:p>
          <a:p>
            <a:pPr>
              <a:spcAft>
                <a:spcPts val="1000"/>
              </a:spcAft>
              <a:defRPr sz="2000">
                <a:solidFill>
                  <a:srgbClr val="FFFFFF"/>
                </a:solidFill>
                <a:latin typeface="Calibri"/>
              </a:defRPr>
            </a:pPr>
            <a:r>
              <a:t>2. ¿Que es Alastria y que redes opera?</a:t>
            </a:r>
          </a:p>
          <a:p>
            <a:pPr>
              <a:spcAft>
                <a:spcPts val="1000"/>
              </a:spcAft>
              <a:defRPr sz="2000">
                <a:solidFill>
                  <a:srgbClr val="FFFFFF"/>
                </a:solidFill>
                <a:latin typeface="Calibri"/>
              </a:defRPr>
            </a:pPr>
            <a:r>
              <a:t>3. ¿Que es Alastria ID y en que se basa?</a:t>
            </a:r>
          </a:p>
          <a:p>
            <a:pPr>
              <a:spcAft>
                <a:spcPts val="1000"/>
              </a:spcAft>
              <a:defRPr sz="2000">
                <a:solidFill>
                  <a:srgbClr val="FFFFFF"/>
                </a:solidFill>
                <a:latin typeface="Calibri"/>
              </a:defRPr>
            </a:pPr>
            <a:r>
              <a:t>4. Describe el flujo de emision y verificacion de una VC en Alastria</a:t>
            </a:r>
          </a:p>
          <a:p>
            <a:pPr>
              <a:spcAft>
                <a:spcPts val="1000"/>
              </a:spcAft>
              <a:defRPr sz="2000">
                <a:solidFill>
                  <a:srgbClr val="FFFFFF"/>
                </a:solidFill>
                <a:latin typeface="Calibri"/>
              </a:defRPr>
            </a:pPr>
            <a:r>
              <a:t>5. Da un ejemplo real de integracion de VCs en una empresa</a:t>
            </a:r>
          </a:p>
          <a:p>
            <a:pPr>
              <a:spcAft>
                <a:spcPts val="1000"/>
              </a:spcAft>
              <a:defRPr sz="2000">
                <a:solidFill>
                  <a:srgbClr val="FFFFFF"/>
                </a:solidFill>
                <a:latin typeface="Calibri"/>
              </a:defRPr>
            </a:pPr>
            <a:r>
              <a:t>6. ¿Que es una arquitectura hibrida y por que tiene sentido?</a:t>
            </a:r>
          </a:p>
          <a:p>
            <a:pPr>
              <a:spcAft>
                <a:spcPts val="1000"/>
              </a:spcAft>
              <a:defRPr sz="2000">
                <a:solidFill>
                  <a:srgbClr val="FFFFFF"/>
                </a:solidFill>
                <a:latin typeface="Calibri"/>
              </a:defRPr>
            </a:pPr>
            <a:r>
              <a:t>7. ¿Cual es la diferencia entre X.509 de Fabric y un DID?</a:t>
            </a:r>
          </a:p>
          <a:p>
            <a:pPr>
              <a:spcAft>
                <a:spcPts val="1000"/>
              </a:spcAft>
              <a:defRPr sz="2000">
                <a:solidFill>
                  <a:srgbClr val="FFFFFF"/>
                </a:solidFill>
                <a:latin typeface="Calibri"/>
              </a:defRPr>
            </a:pPr>
            <a:r>
              <a:t>8. ¿Cuando usarias cada uno?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