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1" d="100"/>
          <a:sy n="91" d="100"/>
        </p:scale>
        <p:origin x="768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22627E"/>
                </a:solidFill>
                <a:latin typeface="Calibri"/>
              </a:defRPr>
            </a:pPr>
            <a:r>
              <a:t>Modulo 5: Identidad Digital (parte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097280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5400" b="1">
                <a:solidFill>
                  <a:srgbClr val="22627E"/>
                </a:solidFill>
                <a:latin typeface="Calibri"/>
              </a:defRPr>
            </a:pPr>
            <a:r>
              <a:t>Identidad Digital:</a:t>
            </a:r>
            <a:br/>
            <a:r>
              <a:t>Alastria, EBSI y</a:t>
            </a:r>
            <a:br/>
            <a:r>
              <a:t>Arquitecturas Hibridas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109728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333333"/>
                </a:solidFill>
                <a:latin typeface="Calibri"/>
              </a:defRPr>
            </a:pPr>
            <a:r>
              <a:t>Ecosistemas reales, integracion empresarial y conexion con Hyperledger Fabric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EBSI</a:t>
            </a:r>
            <a:br/>
            <a:r>
              <a:t>European Blockchain</a:t>
            </a:r>
            <a:br/>
            <a:r>
              <a:t>Services 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La infraestructura blockchain de la Union Europea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¿Que es EBSI?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European Blockchain Services Infrastructure: infraestructura blockchain de la UE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Impulsada por la Comision Europea y la European Blockchain Partnership (EBP)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27 estados miembros + Noruega y Liechtenstein participan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Objetivo: ofrecer servicios publicos transfronterizos basados en blockchain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Casos de uso principales: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Diplomas y credenciales educativas verificables (EBSI Diplomas)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Identidad digital autosoberana (EBSI DID Registry)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Trazabilidad de documentos oficiales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Intercambio seguro de datos entre administraciones publicas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Registro de auditoria para cumplimiento normativo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EBSI: arquitectura tecnica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Red blockchain permissioned basada en Hyperledger Besu (compatible EVM)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Cada estado miembro opera al menos un nodo validador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Capa de identidad basada en DIDs y Verifiable Credentials (W3C)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APIs publicas para resolver DIDs e interactuar con el registro: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DID Registry API: registrar y resolver DIDs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Trusted Issuers Registry: lista de emisores de confianza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Trusted Schemas Registry: esquemas de credenciales validados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Timestamp API: sellado temporal de documentos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Relacion con eIDAS 2: EBSI es la infraestructura tecnica que da soporte al marco regulatorio europeo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Arquitectura EBSI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1CE31246-8BAD-6ACC-305B-0D4D8C754D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944" y="1509916"/>
            <a:ext cx="10038936" cy="50737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EBSI vs otras redes de identidad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EBSI no es la unica red de identidad descentralizada en Europa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Cada una tiene su enfoque y tecnologia: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EBSI: institucional (UE), Hyperledger Besu, foco en servicios publicos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Alastria: consorcio espanol, multitecnologia, foco en identidad y regulacion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IOTA/Tangle: red publica, sin fees, foco en IoT e identidad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Sovrin: red publica permissioned, Hyperledger Indy, foco SSI puro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Polygon ID: red publica, zero-knowledge proofs, foco en privacidad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Alastria</a:t>
            </a:r>
            <a:br/>
            <a:r>
              <a:t>El ecosistema blockchain</a:t>
            </a:r>
            <a:br/>
            <a:r>
              <a:t>espanol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Identidad, regulacion y redes enterprise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¿Que es Alastria?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Consorcio blockchain sin animo de lucro fundado en 2017 en Espana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Mas de 500 entidades miembro: bancos, telcos, energeticas, universidades, AAPP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Objetivo: crear una infraestructura blockchain regulada para Espana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No es UNA blockchain: es un ecosistema con multiples redes e iniciativas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Miembros destacados: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Banca: Santander, BBVA, CaixaBank, Bankia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Telco: Telefonica, Vodafone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Energia: Iberdrola, Repsol, Endesa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Consultoras: Everis/NTT Data, Accenture, Deloitte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Universidades: UPM, UC3M, UPC, URJC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AAPP: Red.es, FNMT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Redes de Alastria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Alastria opera varias redes blockchain en paralelo: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Red T (Quorum/GoQuorum):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Primera red del consorcio, basada en Quorum (fork de Ethereum por JP Morgan)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Usada para los primeros pilotos de Alastria ID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En proceso de migracion hacia Red B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Red B (Hyperledger Besu):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Red actual de referencia, basada en Hyperledger Besu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Compatible con la vision de EBSI (misma tecnologia base)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Mayor rendimiento y mejor soporte a largo plazo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Nodos operados por los miembros del consorcio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Ambas redes son permissioned y compatibles con EVM (Solidity)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Mapa del ecosistema Alastria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F63444B4-0EE5-8545-279D-EE12A4F4D3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1915" y="1463221"/>
            <a:ext cx="7204994" cy="48948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Alastria ID: el modelo de identidad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Alastria ID es el sistema de identidad digital descentralizada del consorcio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Basado en el modelo W3C: DIDs + Verifiable Credentials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Componentes: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DID Alastria: did:ala:&lt;network&gt;:&lt;identifier&gt;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Alastria ID Smart Contracts: gestion de DIDs on-chain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Credential Registry: registro de credenciales emitidas/revocadas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Presentation Registry: registro de presentaciones realizadas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Trusted Service Providers: lista de emisores de confianza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El ciudadano/empresa controla su identidad sin depender de un unico intermediario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Diferencia clave con identidad en Fabric: Alastria ID es interoperable entre redes y organizaciones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Alastria ID: flujo completo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1. Registro: la entidad crea un DID en la red Alastria y lo asocia a su clave publica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2. Emision: un Trusted Issuer (universidad, banco, AAPP) emite una VC al titular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3. Almacenamiento: el titular guarda la VC en su wallet (movil)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4. Presentacion: el titular crea una VP y la comparte con el verificador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5. Verificacion: el verificador comprueba la firma del issuer en la red Alastria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6. Revocacion: el issuer puede revocar la VC en cualquier momento via el registry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Alastria: casos de uso reales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Identidad digital para ciudadanos (onboarding KYC bancario)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Titulos universitarios verificables (universidades espanolas)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Certificados de formacion profesional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Credenciales de empleado para acceso a servicios entre empresas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Recetas electronicas verificables entre comunidades autonomas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Certificados de eficiencia energetica de inmuebles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La mayoria estan en fase piloto o pre-produccion,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pero demuestran la viabilidad tecnica del modelo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B45D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200400" cy="457200"/>
          </a:xfrm>
          <a:prstGeom prst="rect">
            <a:avLst/>
          </a:prstGeom>
          <a:solidFill>
            <a:srgbClr val="B45D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3200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TREASURE HUNT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228600"/>
            <a:ext cx="7772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333333"/>
                </a:solidFill>
                <a:latin typeface="Calibri"/>
              </a:defRPr>
            </a:pPr>
            <a:r>
              <a:t>¿Quien fundo Alastria?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B45D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Alastria se fundo en 2017, pero la idea surgio un ano antes.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Mision: Investigar y responder: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1. ¿Quien fue el impulsor principal de la creacion de Alastria?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   Pista: es un reconocido experto en blockchain que fue CTO de una gran consultora espanola.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2. ¿En que evento se presento Alastria por primera vez?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3. ¿Cuantos miembros fundadores tenia Alastria? ¿Y cuantos tiene ahora?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4. ¿Que relacion tiene Alastria con la European Blockchain Partnership?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Tiempo: 10 minutos. Se puede buscar en internet.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Treasure Hunt: respuestas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sz="1600" dirty="0"/>
              <a:t>1. Alex Puig, CTO de </a:t>
            </a:r>
            <a:r>
              <a:rPr sz="1600" dirty="0" err="1"/>
              <a:t>Everis</a:t>
            </a:r>
            <a:r>
              <a:rPr sz="1600" dirty="0"/>
              <a:t> (</a:t>
            </a:r>
            <a:r>
              <a:rPr sz="1600" dirty="0" err="1"/>
              <a:t>ahora</a:t>
            </a:r>
            <a:r>
              <a:rPr sz="1600" dirty="0"/>
              <a:t> NTT Data) y primer </a:t>
            </a:r>
            <a:r>
              <a:rPr sz="1600" dirty="0" err="1"/>
              <a:t>presidente</a:t>
            </a:r>
            <a:r>
              <a:rPr sz="1600" dirty="0"/>
              <a:t> de </a:t>
            </a:r>
            <a:r>
              <a:rPr sz="1600" dirty="0" err="1"/>
              <a:t>Alastria</a:t>
            </a:r>
            <a:r>
              <a:rPr sz="1600" dirty="0"/>
              <a:t>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sz="1600" dirty="0"/>
              <a:t>   </a:t>
            </a:r>
            <a:r>
              <a:rPr sz="1600" dirty="0" err="1"/>
              <a:t>Impulso</a:t>
            </a:r>
            <a:r>
              <a:rPr sz="1600" dirty="0"/>
              <a:t> la </a:t>
            </a:r>
            <a:r>
              <a:rPr sz="1600" dirty="0" err="1"/>
              <a:t>creacion</a:t>
            </a:r>
            <a:r>
              <a:rPr sz="1600" dirty="0"/>
              <a:t> del </a:t>
            </a:r>
            <a:r>
              <a:rPr sz="1600" dirty="0" err="1"/>
              <a:t>consorcio</a:t>
            </a:r>
            <a:r>
              <a:rPr sz="1600" dirty="0"/>
              <a:t> junto con </a:t>
            </a:r>
            <a:r>
              <a:rPr sz="1600" dirty="0" err="1"/>
              <a:t>otros</a:t>
            </a:r>
            <a:r>
              <a:rPr sz="1600" dirty="0"/>
              <a:t> </a:t>
            </a:r>
            <a:r>
              <a:rPr sz="1600" dirty="0" err="1"/>
              <a:t>directivos</a:t>
            </a:r>
            <a:r>
              <a:rPr sz="1600" dirty="0"/>
              <a:t> del sector fintech y blockchain </a:t>
            </a:r>
            <a:r>
              <a:rPr sz="1600" dirty="0" err="1"/>
              <a:t>espanol</a:t>
            </a:r>
            <a:r>
              <a:rPr sz="1600" dirty="0"/>
              <a:t>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 sz="1600" dirty="0"/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sz="1600" dirty="0"/>
              <a:t>2. Se </a:t>
            </a:r>
            <a:r>
              <a:rPr sz="1600" dirty="0" err="1"/>
              <a:t>presento</a:t>
            </a:r>
            <a:r>
              <a:rPr sz="1600" dirty="0"/>
              <a:t> </a:t>
            </a:r>
            <a:r>
              <a:rPr sz="1600" dirty="0" err="1"/>
              <a:t>en</a:t>
            </a:r>
            <a:r>
              <a:rPr sz="1600" dirty="0"/>
              <a:t> </a:t>
            </a:r>
            <a:r>
              <a:rPr sz="1600" dirty="0" err="1"/>
              <a:t>el</a:t>
            </a:r>
            <a:r>
              <a:rPr sz="1600" dirty="0"/>
              <a:t> Mobile World Congress (MWC) de Barcelona </a:t>
            </a:r>
            <a:r>
              <a:rPr sz="1600" dirty="0" err="1"/>
              <a:t>en</a:t>
            </a:r>
            <a:r>
              <a:rPr sz="1600" dirty="0"/>
              <a:t> 2017.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 sz="1600" dirty="0"/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sz="1600" dirty="0"/>
              <a:t>3. </a:t>
            </a:r>
            <a:r>
              <a:rPr sz="1600" dirty="0" err="1"/>
              <a:t>Alastria</a:t>
            </a:r>
            <a:r>
              <a:rPr sz="1600" dirty="0"/>
              <a:t> se </a:t>
            </a:r>
            <a:r>
              <a:rPr sz="1600" dirty="0" err="1"/>
              <a:t>fundo</a:t>
            </a:r>
            <a:r>
              <a:rPr sz="1600" dirty="0"/>
              <a:t> con 70 </a:t>
            </a:r>
            <a:r>
              <a:rPr sz="1600" dirty="0" err="1"/>
              <a:t>miembros</a:t>
            </a:r>
            <a:r>
              <a:rPr sz="1600" dirty="0"/>
              <a:t> </a:t>
            </a:r>
            <a:r>
              <a:rPr sz="1600" dirty="0" err="1"/>
              <a:t>fundadores</a:t>
            </a:r>
            <a:r>
              <a:rPr sz="1600" dirty="0"/>
              <a:t> </a:t>
            </a:r>
            <a:r>
              <a:rPr sz="1600" dirty="0" err="1"/>
              <a:t>en</a:t>
            </a:r>
            <a:r>
              <a:rPr sz="1600" dirty="0"/>
              <a:t> 2017.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sz="1600" dirty="0"/>
              <a:t>   </a:t>
            </a:r>
            <a:r>
              <a:rPr sz="1600" dirty="0" err="1"/>
              <a:t>Actualmente</a:t>
            </a:r>
            <a:r>
              <a:rPr sz="1600" dirty="0"/>
              <a:t> </a:t>
            </a:r>
            <a:r>
              <a:rPr sz="1600" dirty="0" err="1"/>
              <a:t>cuenta</a:t>
            </a:r>
            <a:r>
              <a:rPr sz="1600" dirty="0"/>
              <a:t> con mas de 500 </a:t>
            </a:r>
            <a:r>
              <a:rPr sz="1600" dirty="0" err="1"/>
              <a:t>entidades</a:t>
            </a:r>
            <a:r>
              <a:rPr sz="1600" dirty="0"/>
              <a:t> </a:t>
            </a:r>
            <a:r>
              <a:rPr sz="1600" dirty="0" err="1"/>
              <a:t>miembro</a:t>
            </a:r>
            <a:r>
              <a:rPr sz="1600" dirty="0"/>
              <a:t>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 sz="1600" dirty="0"/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sz="1600" dirty="0"/>
              <a:t>4. Espana, a traves de </a:t>
            </a:r>
            <a:r>
              <a:rPr sz="1600" dirty="0" err="1"/>
              <a:t>Alastria</a:t>
            </a:r>
            <a:r>
              <a:rPr sz="1600" dirty="0"/>
              <a:t> y </a:t>
            </a:r>
            <a:r>
              <a:rPr sz="1600" dirty="0" err="1"/>
              <a:t>otros</a:t>
            </a:r>
            <a:r>
              <a:rPr sz="1600" dirty="0"/>
              <a:t> </a:t>
            </a:r>
            <a:r>
              <a:rPr sz="1600" dirty="0" err="1"/>
              <a:t>actores</a:t>
            </a:r>
            <a:r>
              <a:rPr sz="1600" dirty="0"/>
              <a:t>, es </a:t>
            </a:r>
            <a:r>
              <a:rPr sz="1600" dirty="0" err="1"/>
              <a:t>miembro</a:t>
            </a:r>
            <a:r>
              <a:rPr sz="1600" dirty="0"/>
              <a:t> de la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sz="1600" dirty="0"/>
              <a:t>   European Blockchain Partnership (EBP) </a:t>
            </a:r>
            <a:r>
              <a:rPr sz="1600" dirty="0" err="1"/>
              <a:t>desde</a:t>
            </a:r>
            <a:r>
              <a:rPr sz="1600" dirty="0"/>
              <a:t> 2018. </a:t>
            </a:r>
            <a:r>
              <a:rPr sz="1600" dirty="0" err="1"/>
              <a:t>Alastria</a:t>
            </a:r>
            <a:r>
              <a:rPr sz="1600" dirty="0"/>
              <a:t> </a:t>
            </a:r>
            <a:r>
              <a:rPr sz="1600" dirty="0" err="1"/>
              <a:t>colabora</a:t>
            </a:r>
            <a:endParaRPr sz="1600" dirty="0"/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sz="1600" dirty="0"/>
              <a:t>   con EBSI </a:t>
            </a:r>
            <a:r>
              <a:rPr sz="1600" dirty="0" err="1"/>
              <a:t>compartiendo</a:t>
            </a:r>
            <a:r>
              <a:rPr sz="1600" dirty="0"/>
              <a:t> </a:t>
            </a:r>
            <a:r>
              <a:rPr sz="1600" dirty="0" err="1"/>
              <a:t>estandares</a:t>
            </a:r>
            <a:r>
              <a:rPr sz="1600" dirty="0"/>
              <a:t> de </a:t>
            </a:r>
            <a:r>
              <a:rPr sz="1600" dirty="0" err="1"/>
              <a:t>identidad</a:t>
            </a:r>
            <a:r>
              <a:rPr sz="1600" dirty="0"/>
              <a:t> (DID/VC) y </a:t>
            </a:r>
            <a:r>
              <a:rPr sz="1600" dirty="0" err="1"/>
              <a:t>participando</a:t>
            </a:r>
            <a:endParaRPr sz="1600" dirty="0"/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sz="1600" dirty="0"/>
              <a:t>   </a:t>
            </a:r>
            <a:r>
              <a:rPr sz="1600" dirty="0" err="1"/>
              <a:t>en</a:t>
            </a:r>
            <a:r>
              <a:rPr sz="1600" dirty="0"/>
              <a:t> </a:t>
            </a:r>
            <a:r>
              <a:rPr sz="1600" dirty="0" err="1"/>
              <a:t>los</a:t>
            </a:r>
            <a:r>
              <a:rPr sz="1600" dirty="0"/>
              <a:t> </a:t>
            </a:r>
            <a:r>
              <a:rPr sz="1600" dirty="0" err="1"/>
              <a:t>pilotos</a:t>
            </a:r>
            <a:r>
              <a:rPr sz="1600" dirty="0"/>
              <a:t> </a:t>
            </a:r>
            <a:r>
              <a:rPr sz="1600" dirty="0" err="1"/>
              <a:t>europeos</a:t>
            </a:r>
            <a:r>
              <a:rPr sz="1600" dirty="0"/>
              <a:t>. La Red B (Hyperledger Besu) </a:t>
            </a:r>
            <a:r>
              <a:rPr sz="1600" dirty="0" err="1"/>
              <a:t>esta</a:t>
            </a:r>
            <a:r>
              <a:rPr sz="1600" dirty="0"/>
              <a:t> </a:t>
            </a:r>
            <a:r>
              <a:rPr sz="1600" dirty="0" err="1"/>
              <a:t>alineada</a:t>
            </a:r>
            <a:endParaRPr sz="1600" dirty="0"/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sz="1600" dirty="0"/>
              <a:t>   </a:t>
            </a:r>
            <a:r>
              <a:rPr sz="1600" dirty="0" err="1"/>
              <a:t>tecnologicamente</a:t>
            </a:r>
            <a:r>
              <a:rPr sz="1600" dirty="0"/>
              <a:t> con EBSI para </a:t>
            </a:r>
            <a:r>
              <a:rPr sz="1600" dirty="0" err="1"/>
              <a:t>facilitar</a:t>
            </a:r>
            <a:r>
              <a:rPr sz="1600" dirty="0"/>
              <a:t> la </a:t>
            </a:r>
            <a:r>
              <a:rPr sz="1600" dirty="0" err="1"/>
              <a:t>interoperabilidad</a:t>
            </a:r>
            <a:r>
              <a:rPr sz="1600" dirty="0"/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Integracion de DID/VC</a:t>
            </a:r>
            <a:br/>
            <a:r>
              <a:t>en Soluciones Empresariales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De la teoria a la practica: como se usa la identidad descentralizada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Caso 1: Onboarding KYC bancario con VCs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Problema: cada banco repite el proceso KYC (Know Your Customer) desde cero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Solucion con VCs: el cliente hace KYC una vez y obtiene una VC reutilizable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Flujo: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1. El cliente completa KYC en el Banco A (presenta DNI, justificante, etc.)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2. El Banco A emite una VC de tipo 'KYC verificado' al cliente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3. El cliente quiere abrir cuenta en el Banco B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4. Presenta la VC de KYC del Banco A al Banco B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5. El Banco B verifica la firma del Banco A en la red (Alastria/EBSI)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6. Si es valida, acepta el KYC sin repetir el proceso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7. Ahorro: semanas de tramites reducidas a segundos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Caso 2: Titulos universitarios verificables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Problema: verificar un titulo universitario requiere contactar a la universidad emisora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Solucion con VCs: la universidad emite el titulo como una Verifiable Credential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Flujo: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1. El alumno se gradua y la universidad emite una VC con el titulo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2. El alumno guarda la VC en su wallet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3. Una empresa quiere verificar el titulo del candidato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4. El candidato presenta una VP con la VC del titulo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5. La empresa verifica la firma de la universidad en la red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6. Resultado instantaneo: titulo autentico o falso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Implementacion real: universidades espanolas en Alastria + proyecto EBSI Diplomas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Caso 3: Acceso a servicios entre empresas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Problema: un empleado de la Empresa A necesita acceder a un sistema de la Empresa B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Hoy: se crea una cuenta en el sistema de B, con su propio usuario/password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Con VCs: la Empresa A emite una credencial de empleado como VC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Flujo: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1. Empresa A emite VC: 'Juan es empleado con rol=auditor'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2. Juan presenta la VC al sistema de Empresa B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3. Empresa B verifica la VC y da acceso segun el rol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4. No hay cuenta en B: la identidad viene de 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Ventaja: cuando el empleado deja la Empresa A, se revoca la VC y pierde acceso en B automaticamente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1645920" cy="45720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645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DEBATE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333333"/>
                </a:solidFill>
                <a:latin typeface="Calibri"/>
              </a:defRPr>
            </a:pPr>
            <a:r>
              <a:t>Identidad digital en la empresa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1. ¿Que ventajas reales tiene la identidad descentralizada frente a un SSO corporativo (Okta, Azure AD)?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2. ¿Quien deberia ser el 'trusted issuer' para credenciales profesionales? ¿La empresa, un colegio profesional, el Estado?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3. Si un empleado tiene una VC de 'ingeniero certificado' y la empresa que la emitio cierra, ¿sigue siendo valida?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4. ¿Como afecta el GDPR al almacenamiento de datos personales en una VC? ¿Y si la VC esta en blockchain?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5. ¿Veis aplicacion en vuestro sector para las VCs?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Arquitecturas Hibridas</a:t>
            </a:r>
            <a:br/>
            <a:r>
              <a:t>con Multiples Redes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Identidad en una red, negocio en otra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¿Por que arquitecturas hibridas?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En el mundo real, una sola blockchain no resuelve todo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Cada red tiene su fortaleza: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Red publica (EBSI, Alastria): identidad, credenciales, confianza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Red privada (Fabric): logica de negocio, transacciones, datos confidenciales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Cada una gobernada por distintos actores con distintas reglas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La arquitectura hibrida combina lo mejor de cada una: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Identidad: interoperable, verificable por cualquiera, en red publica/consorcio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Negocio: privado, rapido, solo entre los participantes, en Fabric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Ejemplo: Alastria para identidad + Fabric para logica de negocio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Arquitectura hibrida: Alastria + Fabric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67C64A04-843F-17BC-B2F4-20BE257003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5289" y="1510485"/>
            <a:ext cx="9578246" cy="478633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Patron: verificar identidad externa en Fabric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El cliente presenta una VP (Verifiable Presentation) a la aplicacion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La aplicacion verifica la VP contra la red de identidad (Alastria/EBSI)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Si la VP es valida, la aplicacion invoca el chaincode en Fabric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El chaincode puede registrar el DID del cliente como referencia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Flujo: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1. Cliente -&gt; App: presenta VP con VC de KYC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2. App -&gt; Alastria: ¿es valida esta VP? ¿el issuer es de confianza?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3. Alastria -&gt; App: si, valida y no revocada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4. App -&gt; Fabric: RegisterClient(did:ala:quor:0x123..., 'Javier Garcia')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5. Fabric: registra al cliente y puede operar en el canal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DID/VC vs X.509/MSP en Fabric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Fabric usa nativamente certificados X.509 emitidos por una Fabric CA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Los DIDs/VCs son un modelo diferente y complementario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Comparativa: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X.509 (Fabric nativo): emitido por la CA de cada org, valido solo dentro de la red Fabric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DID (Alastria/EBSI): emitido por el propio sujeto, verificable en cualquier red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X.509: identifica peers, orderers, admins (infraestructura)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DID/VC: identifica personas, empresas, credenciales (capa de negocio)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No se reemplazan: X.509 para la infraestructura Fabric, DID/VC para los usuarios finales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Comparativa: X.509 vs DID/VC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371600"/>
          <a:ext cx="105156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Aspecto</a:t>
                      </a:r>
                    </a:p>
                  </a:txBody>
                  <a:tcPr>
                    <a:solidFill>
                      <a:srgbClr val="22627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X.509 (Fabric)</a:t>
                      </a:r>
                    </a:p>
                  </a:txBody>
                  <a:tcPr>
                    <a:solidFill>
                      <a:srgbClr val="22627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DID / VC</a:t>
                      </a:r>
                    </a:p>
                  </a:txBody>
                  <a:tcPr>
                    <a:solidFill>
                      <a:srgbClr val="226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Emisor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Fabric CA de cada org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Cualquier Trusted Issuer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Alcance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Solo dentro de la red Fabric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Interoperable entre redes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Revocacion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CRL (Certificate Revocation List)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Credential Registry on-chain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Contenido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Nombre, org, 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Cualquier atributo (KYC, titulo, empleo...)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Control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La CA de la org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El propio titular (autosoberano)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Uso tipico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Autenticar peers y admins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Identificar usuarios finales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Privacidad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El cert revela la identidad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Zero-knowledge proofs posibles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200400" cy="4572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3200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CULTURA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228600"/>
            <a:ext cx="7772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333333"/>
                </a:solidFill>
                <a:latin typeface="Calibri"/>
              </a:defRPr>
            </a:pPr>
            <a:r>
              <a:t>El DNI electronico espanol: una historia de adopcion fallida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Espana fue pionera en Europa con el DNI electronico (DNIe) en 2006.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Incluia un chip con certificado digital para firmar documentos y autenticarse online.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La idea era revolucionaria: cada ciudadano con identidad digital en el bolsillo.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¿Que paso?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Los lectores de tarjeta eran caros y dificiles de instalar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El software de firma era complejo y fallaba en muchos navegadores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La renovacion del certificado requeria ir a la comisaria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Pocos servicios publicos lo soportaban de forma fluida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La adopcion fue minima: menos del 5% de la poblacion lo uso alguna vez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Leccion: la tecnologia estaba lista, pero la UX no. Exactamente el mismo riesgo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que corre hoy la identidad descentralizada si no se resuelve la experiencia de usuario.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2286000" cy="457200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PRACTICA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74320"/>
            <a:ext cx="8686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333333"/>
                </a:solidFill>
                <a:latin typeface="Calibri"/>
              </a:defRPr>
            </a:pPr>
            <a:r>
              <a:t>Disenar una arquitectura hibrida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Objetivo: disenar la arquitectura de identidad para un caso real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Escenario: Un consorcio de 3 hospitales quiere compartir historiales medicos.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Los pacientes deben controlar quien accede a sus datos.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Los medicos necesitan credenciales verificables de su colegio profesional.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Grupos de 3-4 personas. Decidir: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1. ¿Que red usariais para identidad? (Alastria, EBSI, Fabric CA, otra)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2. ¿Que red para la logica de negocio? (Fabric, Besu, otra)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3. ¿Que credenciales necesitan los pacientes? ¿Y los medicos?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4. ¿Como verificaria el Hospital B una credencial emitida por el Hospital A?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5. ¿Donde se almacenan los datos medicos? (on-chain, off-chain, IPFS...)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Tiempo: 25 minutos. Presentar diagrama + justificacion.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1645920" cy="45720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645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DEBATE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333333"/>
                </a:solidFill>
                <a:latin typeface="Calibri"/>
              </a:defRPr>
            </a:pPr>
            <a:r>
              <a:t>Cierre del modulo de identidad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1. ¿Alastria, EBSI o una solucion propia? ¿Que elegiriais para vuestra empresa y por que?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2. ¿Tiene sentido que la identidad sea autosoberana si el Estado sigue emitiendo los documentos oficiales?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3. ¿Cuando usariais X.509 de Fabric y cuando DIDs/VCs? ¿Pueden convivir?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4. ¿Cual es el mayor obstaculo para la adopcion de la identidad descentralizada?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5. ¿Creeis que en 5 anos tendremos todos un wallet de identidad en el movil?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Repaso del modulo: Identidad Digital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1. ¿Que es EBSI y que relacion tiene con eIDAS 2?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2. ¿Que es Alastria y que redes opera?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3. ¿Que es Alastria ID y en que se basa?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4. Describe el flujo de emision y verificacion de una VC en Alastria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5. Da un ejemplo real de integracion de VCs en una empresa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6. ¿Que es una arquitectura hibrida y por que tiene sentido?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7. ¿Cual es la diferencia entre X.509 de Fabric y un DID?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8. ¿Cuando usarias cada uno?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2637</Words>
  <Application>Microsoft Office PowerPoint</Application>
  <PresentationFormat>Personalizado</PresentationFormat>
  <Paragraphs>262</Paragraphs>
  <Slides>30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Javier Nieto</cp:lastModifiedBy>
  <cp:revision>2</cp:revision>
  <dcterms:created xsi:type="dcterms:W3CDTF">2013-01-27T09:14:16Z</dcterms:created>
  <dcterms:modified xsi:type="dcterms:W3CDTF">2026-04-16T11:43:11Z</dcterms:modified>
  <cp:category/>
</cp:coreProperties>
</file>