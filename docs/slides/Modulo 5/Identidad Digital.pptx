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9" r:id="rId2"/>
    <p:sldId id="400" r:id="rId3"/>
    <p:sldId id="401" r:id="rId4"/>
    <p:sldId id="402" r:id="rId5"/>
    <p:sldId id="403" r:id="rId6"/>
    <p:sldId id="404" r:id="rId7"/>
    <p:sldId id="406" r:id="rId8"/>
    <p:sldId id="407" r:id="rId9"/>
    <p:sldId id="408" r:id="rId10"/>
    <p:sldId id="547" r:id="rId11"/>
    <p:sldId id="548" r:id="rId12"/>
    <p:sldId id="409" r:id="rId13"/>
    <p:sldId id="410" r:id="rId14"/>
    <p:sldId id="411" r:id="rId15"/>
    <p:sldId id="412" r:id="rId16"/>
    <p:sldId id="413" r:id="rId17"/>
    <p:sldId id="414" r:id="rId18"/>
    <p:sldId id="560" r:id="rId19"/>
    <p:sldId id="561" r:id="rId20"/>
    <p:sldId id="562" r:id="rId21"/>
    <p:sldId id="549" r:id="rId22"/>
    <p:sldId id="415" r:id="rId23"/>
    <p:sldId id="416" r:id="rId24"/>
    <p:sldId id="417" r:id="rId25"/>
    <p:sldId id="418" r:id="rId26"/>
    <p:sldId id="419" r:id="rId27"/>
    <p:sldId id="550" r:id="rId28"/>
    <p:sldId id="420" r:id="rId29"/>
    <p:sldId id="551" r:id="rId30"/>
    <p:sldId id="421" r:id="rId31"/>
    <p:sldId id="552" r:id="rId32"/>
    <p:sldId id="422" r:id="rId33"/>
    <p:sldId id="553" r:id="rId34"/>
    <p:sldId id="423" r:id="rId35"/>
    <p:sldId id="557" r:id="rId36"/>
    <p:sldId id="558" r:id="rId3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FB25A4-806E-7514-5D3D-73D12EDEE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25EFA1-3118-BEAA-5D16-F78345BE54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D92DAD-9C88-8112-FB29-6886174D9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59147-511B-43BE-9D45-3CDCB9307025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97C122-718B-11FB-C6EB-3F0EDDDC7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1FD892-6EF1-7E51-7F4B-D418B6A95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33E9-D1B4-4A1E-965D-8DF3EF7970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6110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7D3480-0E72-1209-E700-C7CDB9597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B99988-8972-DC69-A824-8A5CC1200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91F658-46EB-24CA-75E2-31B20EBC6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59147-511B-43BE-9D45-3CDCB9307025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E2F1B9-7A35-DF66-FF4F-9686C3AEB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C8EABD-E8AC-AF58-D415-1A7848C6F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33E9-D1B4-4A1E-965D-8DF3EF7970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1323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F25C6-6743-6D34-602F-4EDB5B122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73717D-5D6E-DE4C-38F8-098FF5113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E84595-077C-3E21-99EB-0AB4106C4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59147-511B-43BE-9D45-3CDCB9307025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AD2C54-19D4-3CF1-2A60-F375BC025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A35E9B-729A-FD09-E721-F3F78FB13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33E9-D1B4-4A1E-965D-8DF3EF7970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939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FEA400-3340-D02A-08B3-DAE086C5A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7B4423-49BB-E1F3-0974-6F0ADDBFF1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56928BB-C15C-9F9B-D6E2-3ECA23462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253F00E-3B85-4005-C981-0C6CA74D6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59147-511B-43BE-9D45-3CDCB9307025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8218A5-0606-0B02-6333-8254A9379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5414F71-527D-4745-D03B-8D260E634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33E9-D1B4-4A1E-965D-8DF3EF7970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1325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30A7B8-6441-7202-3C3B-2903B9694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78BE1C-186B-A713-3BC6-B33E8B349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BBBC328-0A9F-B495-ACC1-D9D2619E4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7BE9424-A518-308F-D06E-C466FA5F31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E7A5466-0988-942F-C3B4-AEC47831BD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4685AE4-83D2-1978-1547-878184692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59147-511B-43BE-9D45-3CDCB9307025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3A18448-0264-D832-D3C4-B99CAF7E3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CAF1FFC-F0A5-0CF1-05A2-36783213C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33E9-D1B4-4A1E-965D-8DF3EF7970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1217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78708D-847D-B47D-09F2-4B5CCB99A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12EE1FE-C499-32D6-9286-8C0057F28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59147-511B-43BE-9D45-3CDCB9307025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12D85E6-03AB-728F-46BA-C3D5267B1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875725D-B4BB-7349-5BC5-FE3EFF18C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33E9-D1B4-4A1E-965D-8DF3EF7970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4639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9298235-6B62-4EDA-165B-372EF7038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59147-511B-43BE-9D45-3CDCB9307025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94E20DA-D510-7591-64D3-DED536865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408CCEB-AAA7-8642-7797-80E0E5E5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33E9-D1B4-4A1E-965D-8DF3EF7970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0322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48A64-0333-04FF-C8F2-AB9B688B4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D977F4-F4BB-9082-02E0-7CF89968E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8F073F2-6627-171D-C697-4A2666558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C43E18-CFAF-94E6-828A-5D6AC4EF4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59147-511B-43BE-9D45-3CDCB9307025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A1EF30-CDD7-31E0-38AD-71A82462E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CBC07E-C30E-4633-1897-085479B6A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33E9-D1B4-4A1E-965D-8DF3EF7970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8612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1DF3A4-4837-910A-BD84-63180B1EA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A32886D-FB99-1E7C-47F9-6E9548B705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687E18C-8F63-85C8-5FC4-BF579162C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D69546-90C7-65B6-9EF3-4E3596780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59147-511B-43BE-9D45-3CDCB9307025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C0693DD-E545-B678-9A8B-C3DE7F228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986495-ABD0-8191-5D85-9FE6CB69A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33E9-D1B4-4A1E-965D-8DF3EF7970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622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92A29B-4124-4A3D-4B48-189DC7E4C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32BF891-CBE1-B461-6507-2638A09DE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A13C4F-40B2-B68E-48B3-8A672FE67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59147-511B-43BE-9D45-3CDCB9307025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06210-7EEB-1790-0D8D-ABF7A3011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8DA1D1-DC7B-83D8-96E2-02672A1A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33E9-D1B4-4A1E-965D-8DF3EF7970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0362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1FF694-78FE-999B-E2FA-2455EFCDD1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D117641-1948-B173-8E78-7FBC526F9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3AA2FE-9407-9460-F650-132A0AAE8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59147-511B-43BE-9D45-3CDCB9307025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06DFF9-31A8-58BF-6C8E-8499C280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967346-69A3-50B0-4653-6F02D88D3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33E9-D1B4-4A1E-965D-8DF3EF7970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4906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15AD6F6-F367-0A60-0011-F1B4F2820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855AD0-44A6-136C-9D63-EAF6F0A76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F473BD-D942-C5C2-5921-FE8DAFE8B1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59147-511B-43BE-9D45-3CDCB9307025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52C972-4E63-FBD3-3091-A249CE5A3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34B8E9-8BA6-2812-49AD-6F65FAA44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33E9-D1B4-4A1E-965D-8DF3EF7970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7517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E1A49-7B90-D479-ED21-49E0A2090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7D126-21A4-54EE-CFDB-567664EEB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Blockchain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93EB67-F903-5697-FBBC-4A83ECFFE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844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s-ES" sz="6600" dirty="0"/>
          </a:p>
          <a:p>
            <a:pPr marL="0" indent="0" algn="ctr">
              <a:buNone/>
            </a:pPr>
            <a:r>
              <a:rPr lang="es-ES" sz="6600" dirty="0"/>
              <a:t>Identidad Digital</a:t>
            </a:r>
            <a:endParaRPr lang="es-ES" sz="8800" dirty="0"/>
          </a:p>
          <a:p>
            <a:pPr marL="0" indent="0" algn="ctr">
              <a:buNone/>
            </a:pPr>
            <a:endParaRPr lang="es-ES" sz="8800" dirty="0"/>
          </a:p>
        </p:txBody>
      </p:sp>
    </p:spTree>
    <p:extLst>
      <p:ext uri="{BB962C8B-B14F-4D97-AF65-F5344CB8AC3E}">
        <p14:creationId xmlns:p14="http://schemas.microsoft.com/office/powerpoint/2010/main" val="1083006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09894-D365-A17A-D58F-665721AC2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EDEEF6-FCE6-4794-9397-1F3B22F77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/>
              <a:t>De la identidad centralizada a la identidad autosoberana</a:t>
            </a:r>
            <a:endParaRPr lang="es-ES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A80627-BC08-DAFB-9568-CAB2C594A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8576"/>
            <a:ext cx="10708037" cy="4634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/>
              <a:t>La identidad digital es el conjunto de datos que representan a una persona o entidad en entornos electrónicos (nombre, email, DNI, certificados, claves, etc.).</a:t>
            </a:r>
          </a:p>
          <a:p>
            <a:pPr marL="0" indent="0">
              <a:buNone/>
            </a:pPr>
            <a:endParaRPr lang="es-ES" sz="2000"/>
          </a:p>
          <a:p>
            <a:pPr marL="0" indent="0">
              <a:buNone/>
            </a:pPr>
            <a:r>
              <a:rPr lang="es-ES" sz="2000"/>
              <a:t>Ha evolucioado pasando por tres modelos</a:t>
            </a:r>
          </a:p>
          <a:p>
            <a:pPr marL="0" indent="0">
              <a:buNone/>
            </a:pPr>
            <a:endParaRPr lang="es-ES" sz="2000"/>
          </a:p>
          <a:p>
            <a:pPr marL="0" indent="0">
              <a:buNone/>
            </a:pPr>
            <a:endParaRPr lang="es-ES" sz="20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6A5A2F2-B345-4B90-29D0-2CABE986A263}"/>
              </a:ext>
            </a:extLst>
          </p:cNvPr>
          <p:cNvGraphicFramePr>
            <a:graphicFrameLocks noGrp="1"/>
          </p:cNvGraphicFramePr>
          <p:nvPr/>
        </p:nvGraphicFramePr>
        <p:xfrm>
          <a:off x="1074056" y="3088396"/>
          <a:ext cx="9863908" cy="2138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5977">
                  <a:extLst>
                    <a:ext uri="{9D8B030D-6E8A-4147-A177-3AD203B41FA5}">
                      <a16:colId xmlns:a16="http://schemas.microsoft.com/office/drawing/2014/main" val="1560574919"/>
                    </a:ext>
                  </a:extLst>
                </a:gridCol>
                <a:gridCol w="2465977">
                  <a:extLst>
                    <a:ext uri="{9D8B030D-6E8A-4147-A177-3AD203B41FA5}">
                      <a16:colId xmlns:a16="http://schemas.microsoft.com/office/drawing/2014/main" val="1590550308"/>
                    </a:ext>
                  </a:extLst>
                </a:gridCol>
                <a:gridCol w="2465977">
                  <a:extLst>
                    <a:ext uri="{9D8B030D-6E8A-4147-A177-3AD203B41FA5}">
                      <a16:colId xmlns:a16="http://schemas.microsoft.com/office/drawing/2014/main" val="3246112494"/>
                    </a:ext>
                  </a:extLst>
                </a:gridCol>
                <a:gridCol w="2465977">
                  <a:extLst>
                    <a:ext uri="{9D8B030D-6E8A-4147-A177-3AD203B41FA5}">
                      <a16:colId xmlns:a16="http://schemas.microsoft.com/office/drawing/2014/main" val="2535682395"/>
                    </a:ext>
                  </a:extLst>
                </a:gridCol>
              </a:tblGrid>
              <a:tr h="370901">
                <a:tc>
                  <a:txBody>
                    <a:bodyPr/>
                    <a:lstStyle/>
                    <a:p>
                      <a:r>
                        <a:rPr lang="es-ES" sz="1400"/>
                        <a:t>Modelo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Quién controla la identidad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Ejemplo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Problemas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039420"/>
                  </a:ext>
                </a:extLst>
              </a:tr>
              <a:tr h="370901">
                <a:tc>
                  <a:txBody>
                    <a:bodyPr/>
                    <a:lstStyle/>
                    <a:p>
                      <a:r>
                        <a:rPr lang="es-ES" sz="1400"/>
                        <a:t>Centralizado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Un proveedor único guarda los datos.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Gobierno, banco, universidad.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Riesgo de hackeo, dependencia total del emisor.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1802125"/>
                  </a:ext>
                </a:extLst>
              </a:tr>
              <a:tr h="370901">
                <a:tc>
                  <a:txBody>
                    <a:bodyPr/>
                    <a:lstStyle/>
                    <a:p>
                      <a:r>
                        <a:rPr lang="es-ES" sz="1400"/>
                        <a:t>Federado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Varias entidades confían entre sí para autenticar usuarios.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Login with Google / Facebook / 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Privacidad limitada, cesión de datos a terceros.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899398"/>
                  </a:ext>
                </a:extLst>
              </a:tr>
              <a:tr h="370901">
                <a:tc>
                  <a:txBody>
                    <a:bodyPr/>
                    <a:lstStyle/>
                    <a:p>
                      <a:r>
                        <a:rPr lang="es-ES" sz="1400"/>
                        <a:t>Autosoberano (SSI)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El usuario es dueño de su identidad y decide qué datos comparte.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400"/>
                        <a:t>Wallet de identidad en blockchain.</a:t>
                      </a:r>
                      <a:endParaRPr lang="es-E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Mayor seguridad y control, pero más responsabilidad.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955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5112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B5F9-6D84-CCA8-B7B0-9E695AC2A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B6C0-19BF-B3E7-2CF3-EB106EABE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Problemas del modelo actual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9A74A6-6993-1D89-EFF1-E8E7E8D17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8576"/>
            <a:ext cx="10708037" cy="463488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sz="2000"/>
              <a:t>El modelo de identidad actual tiene numerosos puntos de mejora</a:t>
            </a:r>
          </a:p>
          <a:p>
            <a:pPr marL="0" indent="0">
              <a:buNone/>
            </a:pPr>
            <a:endParaRPr lang="es-ES" sz="2000"/>
          </a:p>
          <a:p>
            <a:r>
              <a:rPr lang="es-ES" sz="2000"/>
              <a:t>Dependencia de intermediarios: autenticarse implica confiar en Google, Meta, bancos o el Estado.</a:t>
            </a:r>
          </a:p>
          <a:p>
            <a:r>
              <a:rPr lang="es-ES" sz="2000"/>
              <a:t>Fugas de datos: los servidores centralizados son objetivos de ciberataques.</a:t>
            </a:r>
          </a:p>
          <a:p>
            <a:r>
              <a:rPr lang="es-ES" sz="2000"/>
              <a:t>Identidades fragmentadas: un usuario mantiene decenas de cuentas sin interoperabilidad.</a:t>
            </a:r>
          </a:p>
          <a:p>
            <a:r>
              <a:rPr lang="es-ES" sz="2000"/>
              <a:t>Falta de control: los usuarios no deciden qué datos comparten ni cuándo pueden borrarse.</a:t>
            </a:r>
          </a:p>
          <a:p>
            <a:r>
              <a:rPr lang="es-ES" sz="2000"/>
              <a:t>Falsificación y suplantación: credenciales digitales fáciles de manipular o revocar.</a:t>
            </a:r>
          </a:p>
          <a:p>
            <a:pPr marL="0" indent="0">
              <a:buNone/>
            </a:pPr>
            <a:endParaRPr lang="es-ES" sz="2000"/>
          </a:p>
          <a:p>
            <a:pPr marL="0" indent="0">
              <a:buNone/>
            </a:pPr>
            <a:r>
              <a:rPr lang="es-ES" sz="2000"/>
              <a:t>La SSI surge para resolver estos fallos estructurales con un modelo descentralizado, verificable y bajo control del usuario.</a:t>
            </a:r>
          </a:p>
          <a:p>
            <a:pPr marL="0" indent="0">
              <a:buNone/>
            </a:pPr>
            <a:endParaRPr lang="es-ES" sz="2000"/>
          </a:p>
          <a:p>
            <a:pPr marL="0" indent="0">
              <a:buNone/>
            </a:pPr>
            <a:r>
              <a:rPr lang="es-ES" sz="2000" b="1" i="1"/>
              <a:t>Self-Sovereign Identity significa que tú eres tu propio gestor de identidad digital: nadie la crea por ti, nadie puede revocarla sin tu consentimiento y todas las verificaciones son criptográficamente demostrables.</a:t>
            </a:r>
            <a:endParaRPr lang="es-ES" sz="2000" b="1" i="1" dirty="0"/>
          </a:p>
        </p:txBody>
      </p:sp>
    </p:spTree>
    <p:extLst>
      <p:ext uri="{BB962C8B-B14F-4D97-AF65-F5344CB8AC3E}">
        <p14:creationId xmlns:p14="http://schemas.microsoft.com/office/powerpoint/2010/main" val="3284994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5BB74-0607-B152-8BC7-BE635F3F0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5FDED9-F025-713E-50E1-9393E1785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Principios de la Self-Sovereign Identity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4AFA86-67E0-1695-EE20-9BD5BFBEC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6"/>
            <a:ext cx="9472750" cy="463488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ES" sz="2000"/>
              <a:t>Los 10 principios de SSI (resumidos del Sovrin Foundation Model) definen su filosofía técnica:</a:t>
            </a:r>
          </a:p>
          <a:p>
            <a:pPr marL="0" indent="0">
              <a:buNone/>
            </a:pPr>
            <a:endParaRPr lang="es-ES" sz="2000"/>
          </a:p>
          <a:p>
            <a:pPr marL="457200" indent="-457200">
              <a:buFont typeface="+mj-lt"/>
              <a:buAutoNum type="arabicPeriod"/>
            </a:pPr>
            <a:r>
              <a:rPr lang="es-ES" sz="2000"/>
              <a:t>Existencia: el individuo tiene identidad propia, incluso sin registrarse.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/>
              <a:t>Control: solo el titular gestiona sus claves y credenciales.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/>
              <a:t>Acceso: puede consultar sus datos sin depender de terceros.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/>
              <a:t>Transparencia: los sistemas deben ser verificables y abiertos.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/>
              <a:t>Portabilidad: las credenciales pueden moverse entre plataformas.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/>
              <a:t>Interoperabilidad: estándares comunes (DID, VC).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/>
              <a:t>Consentimiento: los datos solo se comparten con autorización explícita.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/>
              <a:t>Minimización: se revelan solo los atributos necesarios (Selective Disclosure).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/>
              <a:t>Protección: los datos se almacenan cifrados y descentralizados.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/>
              <a:t>Persistencia: la identidad es duradera, aunque el proveedor desaparezca.</a:t>
            </a:r>
          </a:p>
          <a:p>
            <a:pPr marL="0" indent="0">
              <a:buNone/>
            </a:pPr>
            <a:endParaRPr lang="es-ES" sz="2000"/>
          </a:p>
          <a:p>
            <a:pPr marL="0" indent="0">
              <a:buNone/>
            </a:pPr>
            <a:r>
              <a:rPr lang="es-ES" sz="2000"/>
              <a:t>La SSI combina criptografía asimétrica, blockchain y estándares abiertos para devolver al usuario la soberanía de su identidad.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623712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92203-D9BA-7034-4376-EF373DF94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F15B18-B329-ED01-5BC8-EA8493075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Componentes básicos del modelo SSI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28477D-C8EB-698C-520E-FB4219E45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6"/>
            <a:ext cx="9472750" cy="463488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sz="1900"/>
              <a:t>Los tres actores del modelo SSI</a:t>
            </a:r>
          </a:p>
          <a:p>
            <a:pPr marL="0" indent="0">
              <a:buNone/>
            </a:pPr>
            <a:endParaRPr lang="es-ES" sz="1900"/>
          </a:p>
          <a:p>
            <a:pPr marL="0" indent="0">
              <a:buNone/>
            </a:pPr>
            <a:endParaRPr lang="es-ES" sz="1900"/>
          </a:p>
          <a:p>
            <a:pPr marL="0" indent="0">
              <a:buNone/>
            </a:pPr>
            <a:endParaRPr lang="es-ES" sz="1900"/>
          </a:p>
          <a:p>
            <a:pPr marL="0" indent="0">
              <a:buNone/>
            </a:pPr>
            <a:endParaRPr lang="es-ES" sz="1900"/>
          </a:p>
          <a:p>
            <a:pPr marL="0" indent="0">
              <a:buNone/>
            </a:pPr>
            <a:endParaRPr lang="es-ES" sz="1900"/>
          </a:p>
          <a:p>
            <a:pPr marL="0" indent="0">
              <a:buNone/>
            </a:pPr>
            <a:endParaRPr lang="es-ES" sz="1900"/>
          </a:p>
          <a:p>
            <a:pPr marL="0" indent="0">
              <a:buNone/>
            </a:pPr>
            <a:endParaRPr lang="es-ES" sz="1900"/>
          </a:p>
          <a:p>
            <a:pPr marL="0" indent="0">
              <a:buNone/>
            </a:pPr>
            <a:r>
              <a:rPr lang="es-ES" sz="1900"/>
              <a:t>Flujo básico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1900"/>
              <a:t>El issuer emite una credencial → la firma con su clave privada.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1900"/>
              <a:t>El holder la guarda en su wallet.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1900"/>
              <a:t>El verifier solicita una prueba → el holder presenta los datos firmados.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1900"/>
              <a:t>La validez se comprueba criptográficamente usando datos anclados en blockchain.</a:t>
            </a:r>
          </a:p>
          <a:p>
            <a:pPr marL="0" indent="0">
              <a:buNone/>
            </a:pPr>
            <a:r>
              <a:rPr lang="es-ES" sz="1900"/>
              <a:t>Ningún actor necesita conectarse con otro en tiempo real: la confianza se delega en las firmas y los anclajes.</a:t>
            </a:r>
          </a:p>
          <a:p>
            <a:pPr marL="0" indent="0">
              <a:buNone/>
            </a:pPr>
            <a:endParaRPr lang="es-ES" sz="200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D15476F-88A7-7186-60C9-AAAF77A9FE72}"/>
              </a:ext>
            </a:extLst>
          </p:cNvPr>
          <p:cNvGraphicFramePr>
            <a:graphicFrameLocks noGrp="1"/>
          </p:cNvGraphicFramePr>
          <p:nvPr/>
        </p:nvGraphicFramePr>
        <p:xfrm>
          <a:off x="917302" y="2015702"/>
          <a:ext cx="9472749" cy="1921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7583">
                  <a:extLst>
                    <a:ext uri="{9D8B030D-6E8A-4147-A177-3AD203B41FA5}">
                      <a16:colId xmlns:a16="http://schemas.microsoft.com/office/drawing/2014/main" val="3322694239"/>
                    </a:ext>
                  </a:extLst>
                </a:gridCol>
                <a:gridCol w="3157583">
                  <a:extLst>
                    <a:ext uri="{9D8B030D-6E8A-4147-A177-3AD203B41FA5}">
                      <a16:colId xmlns:a16="http://schemas.microsoft.com/office/drawing/2014/main" val="539883553"/>
                    </a:ext>
                  </a:extLst>
                </a:gridCol>
                <a:gridCol w="3157583">
                  <a:extLst>
                    <a:ext uri="{9D8B030D-6E8A-4147-A177-3AD203B41FA5}">
                      <a16:colId xmlns:a16="http://schemas.microsoft.com/office/drawing/2014/main" val="2218246525"/>
                    </a:ext>
                  </a:extLst>
                </a:gridCol>
              </a:tblGrid>
              <a:tr h="366931">
                <a:tc>
                  <a:txBody>
                    <a:bodyPr/>
                    <a:lstStyle/>
                    <a:p>
                      <a:r>
                        <a:rPr lang="es-ES" sz="1400"/>
                        <a:t>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Función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Ejemplo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661775"/>
                  </a:ext>
                </a:extLst>
              </a:tr>
              <a:tr h="366931">
                <a:tc>
                  <a:txBody>
                    <a:bodyPr/>
                    <a:lstStyle/>
                    <a:p>
                      <a:r>
                        <a:rPr lang="es-ES" sz="1400"/>
                        <a:t>Issuer (Emisor)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Crea y firma una credencial verificable.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Universidad, banco, administración pública.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870184"/>
                  </a:ext>
                </a:extLst>
              </a:tr>
              <a:tr h="366931">
                <a:tc>
                  <a:txBody>
                    <a:bodyPr/>
                    <a:lstStyle/>
                    <a:p>
                      <a:r>
                        <a:rPr lang="es-ES" sz="1400"/>
                        <a:t>Holder (Titular)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Recibe, almacena y presenta la credencial desde su wallet.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Estudiante, cliente, ciudadano.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519200"/>
                  </a:ext>
                </a:extLst>
              </a:tr>
              <a:tr h="366931">
                <a:tc>
                  <a:txBody>
                    <a:bodyPr/>
                    <a:lstStyle/>
                    <a:p>
                      <a:r>
                        <a:rPr lang="es-ES" sz="1400"/>
                        <a:t>Verifier (Verificador)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Comprueba la validez de la credencial sin contactar al emisor.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Empresa, policía, web de contratación.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09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0788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412D8-82E6-DAE0-BD28-C641D53BE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323B31-5B5F-8CBB-9A31-9E55E3597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DID - Identificador Descentralizado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EF825F-0B99-66FE-4E30-2A4721645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6"/>
            <a:ext cx="9472750" cy="463488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sz="1900"/>
              <a:t>DID es un identificador único y verificable que representa a una persona, organización o dispositivo.</a:t>
            </a:r>
          </a:p>
          <a:p>
            <a:pPr marL="0" indent="0">
              <a:buNone/>
            </a:pPr>
            <a:r>
              <a:rPr lang="es-ES" sz="1900"/>
              <a:t>Se general a partir de un par de claves pública/privada.</a:t>
            </a:r>
          </a:p>
          <a:p>
            <a:pPr marL="0" indent="0">
              <a:buNone/>
            </a:pPr>
            <a:r>
              <a:rPr lang="es-ES" sz="1900"/>
              <a:t>Es un identificador base, no un atributo.</a:t>
            </a:r>
          </a:p>
          <a:p>
            <a:pPr marL="0" indent="0">
              <a:buNone/>
            </a:pPr>
            <a:r>
              <a:rPr lang="es-ES" sz="1900"/>
              <a:t>Representa una entidad autónoma (persona, empresa, dispositivo, agente de software).</a:t>
            </a:r>
          </a:p>
          <a:p>
            <a:pPr marL="0" indent="0">
              <a:buNone/>
            </a:pPr>
            <a:r>
              <a:rPr lang="es-ES" sz="1900"/>
              <a:t>Se usa como referencia criptográfica: contiene la clave pública y permite verificar firmas.</a:t>
            </a:r>
          </a:p>
          <a:p>
            <a:pPr marL="0" indent="0">
              <a:buNone/>
            </a:pPr>
            <a:r>
              <a:rPr lang="es-ES" sz="1900"/>
              <a:t>Es la referencia pública e inmutable a la que cualquiera puede acudir para verificar algo.</a:t>
            </a:r>
          </a:p>
          <a:p>
            <a:pPr marL="0" indent="0">
              <a:buNone/>
            </a:pPr>
            <a:r>
              <a:rPr lang="es-ES" sz="1900"/>
              <a:t>Ejemplo:</a:t>
            </a:r>
          </a:p>
          <a:p>
            <a:pPr>
              <a:buFont typeface="+mj-lt"/>
              <a:buAutoNum type="arabicPeriod"/>
            </a:pPr>
            <a:r>
              <a:rPr lang="es-ES" sz="1900"/>
              <a:t>La Universidad de Sevilla tiene el DID did:university:sevilla.</a:t>
            </a:r>
          </a:p>
          <a:p>
            <a:pPr>
              <a:buFont typeface="+mj-lt"/>
              <a:buAutoNum type="arabicPeriod"/>
            </a:pPr>
            <a:r>
              <a:rPr lang="es-ES" sz="1900"/>
              <a:t>Publica su clave pública en la red (ledger SSI).</a:t>
            </a:r>
          </a:p>
          <a:p>
            <a:pPr>
              <a:buFont typeface="+mj-lt"/>
              <a:buAutoNum type="arabicPeriod"/>
            </a:pPr>
            <a:r>
              <a:rPr lang="es-ES" sz="1900"/>
              <a:t>Cuando firma un título universitario (una Verifiable Credential), el verificador puede: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1900"/>
              <a:t>Consultar el DID.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1900"/>
              <a:t>Obtener la clave pública.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1900"/>
              <a:t>Validar la firma del título.</a:t>
            </a:r>
          </a:p>
          <a:p>
            <a:pPr>
              <a:buNone/>
            </a:pPr>
            <a:r>
              <a:rPr lang="es-ES" sz="1900"/>
              <a:t>No hace falta llamar a la universidad: la confianza está anclada en el DID y su clave pública.</a:t>
            </a:r>
          </a:p>
          <a:p>
            <a:pPr marL="0" indent="0">
              <a:buNone/>
            </a:pPr>
            <a:endParaRPr lang="es-ES" sz="1900"/>
          </a:p>
        </p:txBody>
      </p:sp>
    </p:spTree>
    <p:extLst>
      <p:ext uri="{BB962C8B-B14F-4D97-AF65-F5344CB8AC3E}">
        <p14:creationId xmlns:p14="http://schemas.microsoft.com/office/powerpoint/2010/main" val="2019485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BADF9-A849-B395-8F28-27808F088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F05D78-78FB-E088-AE1A-20B46FF65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Formato del DID I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7037CF-4812-A244-8169-B01D1B416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6"/>
            <a:ext cx="9472750" cy="4634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900"/>
              <a:t>El formato de un did es: did:&lt;method&gt;:&lt;method-specific-identifier&gt;</a:t>
            </a:r>
          </a:p>
          <a:p>
            <a:pPr marL="0" indent="0">
              <a:buNone/>
            </a:pPr>
            <a:endParaRPr lang="es-ES" sz="1900"/>
          </a:p>
          <a:p>
            <a:pPr marL="0" indent="0">
              <a:buNone/>
            </a:pPr>
            <a:r>
              <a:rPr lang="es-ES" sz="1900" b="1"/>
              <a:t>did: — el esquema</a:t>
            </a:r>
          </a:p>
          <a:p>
            <a:pPr marL="0" indent="0">
              <a:buNone/>
            </a:pPr>
            <a:r>
              <a:rPr lang="es-ES" sz="1900"/>
              <a:t>Es el prefijo fijo que indica que el identificador sigue el estándar W3C DID.</a:t>
            </a:r>
          </a:p>
          <a:p>
            <a:pPr marL="0" indent="0">
              <a:buNone/>
            </a:pPr>
            <a:r>
              <a:rPr lang="es-ES" sz="1900"/>
              <a:t>Similar a https: o mailto: en las URLs, pero aquí señala que se trata de un identificador descentralizado.</a:t>
            </a:r>
          </a:p>
          <a:p>
            <a:pPr marL="0" indent="0">
              <a:buNone/>
            </a:pPr>
            <a:r>
              <a:rPr lang="es-ES" sz="1900"/>
              <a:t>Permite a los sistemas reconocer que deben resolverlo mediante un DID resolver y no un protocolo HTTP tradicional.</a:t>
            </a:r>
          </a:p>
        </p:txBody>
      </p:sp>
    </p:spTree>
    <p:extLst>
      <p:ext uri="{BB962C8B-B14F-4D97-AF65-F5344CB8AC3E}">
        <p14:creationId xmlns:p14="http://schemas.microsoft.com/office/powerpoint/2010/main" val="4270318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8DEA3-4DCD-6C0F-8EB3-07F2A1B9A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86D8E-4C72-9F6E-9236-A5B44011F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Formato del DID II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17A743-65D7-9078-A36C-AB3E4B11D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8273"/>
            <a:ext cx="9472750" cy="51046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900"/>
              <a:t>&lt;method&gt; — el método DID</a:t>
            </a:r>
          </a:p>
          <a:p>
            <a:r>
              <a:rPr lang="es-ES" sz="1900"/>
              <a:t>Define dónde y cómo se resuelve el DID (qué red, blockchain o registro lo gestiona).</a:t>
            </a:r>
          </a:p>
          <a:p>
            <a:r>
              <a:rPr lang="es-ES" sz="1900"/>
              <a:t>Cada método especifica:</a:t>
            </a:r>
          </a:p>
          <a:p>
            <a:pPr lvl="1"/>
            <a:r>
              <a:rPr lang="es-ES" sz="1500"/>
              <a:t>El formato del identificador.</a:t>
            </a:r>
          </a:p>
          <a:p>
            <a:pPr lvl="1"/>
            <a:r>
              <a:rPr lang="es-ES" sz="1500"/>
              <a:t>Cómo se obtiene el DID Document.</a:t>
            </a:r>
          </a:p>
          <a:p>
            <a:pPr lvl="1"/>
            <a:r>
              <a:rPr lang="es-ES" sz="1500"/>
              <a:t>Cómo se actualiza, revoca o rota la clave.</a:t>
            </a:r>
          </a:p>
          <a:p>
            <a:r>
              <a:rPr lang="es-ES" sz="1900"/>
              <a:t>Ejemplos reales:</a:t>
            </a:r>
          </a:p>
          <a:p>
            <a:endParaRPr lang="es-ES" sz="1900"/>
          </a:p>
          <a:p>
            <a:endParaRPr lang="es-ES" sz="1900"/>
          </a:p>
          <a:p>
            <a:endParaRPr lang="es-ES" sz="1900"/>
          </a:p>
          <a:p>
            <a:endParaRPr lang="es-ES" sz="1900"/>
          </a:p>
          <a:p>
            <a:endParaRPr lang="es-ES" sz="1900"/>
          </a:p>
          <a:p>
            <a:pPr marL="0" indent="0">
              <a:buNone/>
            </a:pPr>
            <a:endParaRPr lang="es-ES" sz="1900"/>
          </a:p>
          <a:p>
            <a:r>
              <a:rPr lang="es-ES" sz="2000"/>
              <a:t>El método indica </a:t>
            </a:r>
            <a:r>
              <a:rPr lang="es-ES" sz="2000" b="1"/>
              <a:t>cómo encontrar y validar el DID Document</a:t>
            </a:r>
            <a:r>
              <a:rPr lang="es-ES" sz="2000"/>
              <a:t> correspondiente.</a:t>
            </a:r>
          </a:p>
          <a:p>
            <a:endParaRPr lang="es-ES" sz="1900"/>
          </a:p>
          <a:p>
            <a:pPr marL="0" indent="0">
              <a:buNone/>
            </a:pPr>
            <a:endParaRPr lang="es-ES" sz="190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C0BCE62-8D10-F477-B9ED-3CD9228D103C}"/>
              </a:ext>
            </a:extLst>
          </p:cNvPr>
          <p:cNvGraphicFramePr>
            <a:graphicFrameLocks noGrp="1"/>
          </p:cNvGraphicFramePr>
          <p:nvPr/>
        </p:nvGraphicFramePr>
        <p:xfrm>
          <a:off x="1143726" y="3798116"/>
          <a:ext cx="8127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514">
                  <a:extLst>
                    <a:ext uri="{9D8B030D-6E8A-4147-A177-3AD203B41FA5}">
                      <a16:colId xmlns:a16="http://schemas.microsoft.com/office/drawing/2014/main" val="1131670517"/>
                    </a:ext>
                  </a:extLst>
                </a:gridCol>
                <a:gridCol w="3880152">
                  <a:extLst>
                    <a:ext uri="{9D8B030D-6E8A-4147-A177-3AD203B41FA5}">
                      <a16:colId xmlns:a16="http://schemas.microsoft.com/office/drawing/2014/main" val="213904081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497763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1400"/>
                        <a:t>Método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Red asociada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Ejemplo de DID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023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Documento publicado en dominio HTTPS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did:web:universidad.es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762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/>
                        <a:t>ebsi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Red europea EBSI (servicios públicos)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did:ebsi:zQmX45abC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923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/>
                        <a:t>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Red ION sobre Bitcoin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did:ion:EiA123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531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/>
                        <a:t>sov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Hyperledger Indy / Sovrin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did:sov:V4SG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871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/>
                        <a:t>ethr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Registro en Ethereum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did:ethr:0xabc123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72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1011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16035-91C6-5AA6-8783-9C81648B1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7D4329-22EE-ABB1-6364-EA3555006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Formato del DID III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F7AE26-F0F7-D202-2B2E-D4631CC39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6"/>
            <a:ext cx="9855926" cy="46348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sz="1900"/>
              <a:t>&lt;method-specific-identifier&gt; — Es el “nombre” único dentro del espacio de ese método.</a:t>
            </a:r>
          </a:p>
          <a:p>
            <a:r>
              <a:rPr lang="es-ES" sz="1900"/>
              <a:t>Es la parte que distingue una identidad dentro del método.</a:t>
            </a:r>
          </a:p>
          <a:p>
            <a:r>
              <a:rPr lang="es-ES" sz="1900"/>
              <a:t>Puede ser una dirección, hash, clave pública codificada, UUID, etc.</a:t>
            </a:r>
          </a:p>
          <a:p>
            <a:r>
              <a:rPr lang="es-ES" sz="1900"/>
              <a:t>Su formato y longitud dependen del método DID.</a:t>
            </a:r>
          </a:p>
          <a:p>
            <a:r>
              <a:rPr lang="es-ES" sz="1900"/>
              <a:t>Ejemplo:</a:t>
            </a:r>
          </a:p>
          <a:p>
            <a:pPr lvl="1"/>
            <a:r>
              <a:rPr lang="es-ES" sz="1500"/>
              <a:t>En did:web:universidad.es, el identificador es universidad.es.</a:t>
            </a:r>
          </a:p>
          <a:p>
            <a:pPr lvl="1"/>
            <a:r>
              <a:rPr lang="es-ES" sz="1500"/>
              <a:t>En did:ethr:0xabc123..., es la dirección Ethereum del usuario.</a:t>
            </a:r>
          </a:p>
          <a:p>
            <a:pPr lvl="1"/>
            <a:r>
              <a:rPr lang="es-ES" sz="1500"/>
              <a:t>En did:key:z6Mk..., es la clave pública codificada directamente.</a:t>
            </a:r>
          </a:p>
          <a:p>
            <a:pPr marL="0" indent="0">
              <a:buNone/>
            </a:pPr>
            <a:endParaRPr lang="es-ES" sz="1900"/>
          </a:p>
          <a:p>
            <a:pPr marL="0" indent="0">
              <a:buNone/>
            </a:pPr>
            <a:r>
              <a:rPr lang="es-ES" sz="1900"/>
              <a:t>Ejemplo completo: </a:t>
            </a:r>
            <a:r>
              <a:rPr lang="es-ES" sz="1900" b="1" i="1"/>
              <a:t>did:ebsi:</a:t>
            </a:r>
            <a:r>
              <a:rPr lang="es-ES" sz="2000" b="1"/>
              <a:t>zZeKyEJfUTGwajhNyNX928z</a:t>
            </a:r>
            <a:endParaRPr lang="es-ES" sz="1900" b="1" i="1"/>
          </a:p>
          <a:p>
            <a:pPr marL="0" indent="0">
              <a:buNone/>
            </a:pPr>
            <a:r>
              <a:rPr lang="es-ES" sz="1900"/>
              <a:t>did:Identificador descentralizado estándar</a:t>
            </a:r>
          </a:p>
          <a:p>
            <a:pPr marL="0" indent="0">
              <a:buNone/>
            </a:pPr>
            <a:r>
              <a:rPr lang="es-ES" sz="1900"/>
              <a:t>ebsiMétodo → resolver en la red European Blockchain Services Infrastructure</a:t>
            </a:r>
          </a:p>
          <a:p>
            <a:pPr marL="0" indent="0">
              <a:buNone/>
            </a:pPr>
            <a:r>
              <a:rPr lang="es-ES" sz="1900"/>
              <a:t>zQmWv4Y7X2tZqH9pK8fLIdentificador único generado por el titular o asignado al registro EBSI</a:t>
            </a:r>
          </a:p>
        </p:txBody>
      </p:sp>
    </p:spTree>
    <p:extLst>
      <p:ext uri="{BB962C8B-B14F-4D97-AF65-F5344CB8AC3E}">
        <p14:creationId xmlns:p14="http://schemas.microsoft.com/office/powerpoint/2010/main" val="1307163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E1FA9-EBF4-6B09-9AC1-B41FB0708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99C47-438A-C4D2-9870-F76DE38C5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Formato del DID IV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237102-72D6-FA0A-A1E3-002B20D1A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5188360" cy="485857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ES" sz="1900"/>
              <a:t>Probar:</a:t>
            </a:r>
          </a:p>
          <a:p>
            <a:pPr marL="0" indent="0">
              <a:buNone/>
            </a:pPr>
            <a:r>
              <a:rPr lang="es-ES" sz="1900"/>
              <a:t>https://api-pilot.ebsi.eu/did-registry/v5/identifiers/did:ebsi:zZeKyEJfUTGwajhNyNX928z</a:t>
            </a:r>
          </a:p>
          <a:p>
            <a:pPr marL="0" indent="0">
              <a:buNone/>
            </a:pPr>
            <a:endParaRPr lang="es-ES" sz="1900"/>
          </a:p>
          <a:p>
            <a:pPr marL="0" indent="0">
              <a:buNone/>
            </a:pPr>
            <a:r>
              <a:rPr lang="es-ES"/>
              <a:t>“Soy una identidad digital llamada </a:t>
            </a:r>
            <a:r>
              <a:rPr lang="es-ES" b="1"/>
              <a:t>did:ebsi:zZeKyEJfUTGwajhNyNX928z</a:t>
            </a:r>
            <a:r>
              <a:rPr lang="es-ES"/>
              <a:t>.</a:t>
            </a:r>
            <a:br>
              <a:rPr lang="es-ES"/>
            </a:br>
            <a:r>
              <a:rPr lang="es-ES"/>
              <a:t>Estas son mis </a:t>
            </a:r>
            <a:r>
              <a:rPr lang="es-ES" b="1"/>
              <a:t>claves públicas</a:t>
            </a:r>
            <a:r>
              <a:rPr lang="es-ES"/>
              <a:t>; si firmas algo y usas estas claves, cualquiera podrá comprobar que fui yo quien lo firmó.</a:t>
            </a:r>
            <a:br>
              <a:rPr lang="es-ES"/>
            </a:br>
            <a:r>
              <a:rPr lang="es-ES"/>
              <a:t>Nadie más puede cambiar mis datos porque </a:t>
            </a:r>
            <a:r>
              <a:rPr lang="es-ES" b="1"/>
              <a:t>solo yo tengo las claves privadas</a:t>
            </a:r>
            <a:r>
              <a:rPr lang="es-ES"/>
              <a:t> que lo permiten.”</a:t>
            </a:r>
          </a:p>
          <a:p>
            <a:pPr marL="0" indent="0">
              <a:buNone/>
            </a:pPr>
            <a:r>
              <a:rPr lang="es-ES"/>
              <a:t>Traducción más literal:</a:t>
            </a:r>
          </a:p>
          <a:p>
            <a:r>
              <a:rPr lang="es-ES" b="1"/>
              <a:t>id</a:t>
            </a:r>
            <a:r>
              <a:rPr lang="es-ES"/>
              <a:t> → nombre único de la identidad.</a:t>
            </a:r>
          </a:p>
          <a:p>
            <a:r>
              <a:rPr lang="es-ES" b="1"/>
              <a:t>controller</a:t>
            </a:r>
            <a:r>
              <a:rPr lang="es-ES"/>
              <a:t> → quién la controla (en este caso, ella misma).</a:t>
            </a:r>
          </a:p>
          <a:p>
            <a:r>
              <a:rPr lang="es-ES" b="1"/>
              <a:t>verificationMethod</a:t>
            </a:r>
            <a:r>
              <a:rPr lang="es-ES"/>
              <a:t> → las llaves que usa para identificarse.</a:t>
            </a:r>
          </a:p>
          <a:p>
            <a:r>
              <a:rPr lang="es-ES" b="1"/>
              <a:t>authentication</a:t>
            </a:r>
            <a:r>
              <a:rPr lang="es-ES"/>
              <a:t> → con qué llaves puede “iniciar sesión”.</a:t>
            </a:r>
          </a:p>
          <a:p>
            <a:r>
              <a:rPr lang="es-ES" b="1"/>
              <a:t>assertionMethod</a:t>
            </a:r>
            <a:r>
              <a:rPr lang="es-ES"/>
              <a:t> → con qué llaves puede “firmar cosas”.</a:t>
            </a:r>
          </a:p>
          <a:p>
            <a:r>
              <a:rPr lang="es-ES" b="1"/>
              <a:t>capabilityInvocation</a:t>
            </a:r>
            <a:r>
              <a:rPr lang="es-ES"/>
              <a:t> → con qué llaves puede “dar órdenes” o usar permisos.</a:t>
            </a:r>
          </a:p>
          <a:p>
            <a:pPr marL="0" indent="0">
              <a:buNone/>
            </a:pPr>
            <a:r>
              <a:rPr lang="es-ES"/>
              <a:t>Es el equivalente digital a decir:</a:t>
            </a:r>
          </a:p>
          <a:p>
            <a:pPr marL="0" indent="0">
              <a:buNone/>
            </a:pPr>
            <a:r>
              <a:rPr lang="es-ES"/>
              <a:t>“Este soy yo, estas son mis firmas válidas, y nadie puede suplantarme sin mis llaves secretas.”</a:t>
            </a:r>
          </a:p>
          <a:p>
            <a:pPr marL="0" indent="0">
              <a:buNone/>
            </a:pPr>
            <a:endParaRPr lang="es-ES" sz="19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71E27B-4FF8-7268-3A68-CFED232F1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560" y="878374"/>
            <a:ext cx="5069019" cy="556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492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E0201-2393-B966-A909-0AC3830C2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423130-8A22-3C81-FC02-A75C1B5BA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Formato del DID V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56A6AA-BAF6-50DF-ED23-83A59D886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9403080" cy="485857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sz="2000"/>
              <a:t>¿Cuando Tiene sentido cuando que el </a:t>
            </a:r>
            <a:r>
              <a:rPr lang="es-ES" sz="2000" b="1"/>
              <a:t>control de la identidad</a:t>
            </a:r>
            <a:r>
              <a:rPr lang="es-ES" sz="2000"/>
              <a:t> no lo ejerca directamente el sujeto, sino otra entidad responsable?</a:t>
            </a:r>
          </a:p>
          <a:p>
            <a:pPr marL="0" indent="0">
              <a:buNone/>
            </a:pPr>
            <a:r>
              <a:rPr lang="es-ES" sz="2000"/>
              <a:t>Casos típicos:</a:t>
            </a:r>
          </a:p>
          <a:p>
            <a:r>
              <a:rPr lang="es-ES" sz="2000" b="1"/>
              <a:t>Menores o personas representadas.</a:t>
            </a:r>
            <a:br>
              <a:rPr lang="es-ES" sz="2000"/>
            </a:br>
            <a:r>
              <a:rPr lang="es-ES" sz="2000"/>
              <a:t>El DID pertenece al menor, pero el </a:t>
            </a:r>
            <a:r>
              <a:rPr lang="es-ES" sz="2000" i="1"/>
              <a:t>controller</a:t>
            </a:r>
            <a:r>
              <a:rPr lang="es-ES" sz="2000"/>
              <a:t> es el tutor legal.</a:t>
            </a:r>
          </a:p>
          <a:p>
            <a:r>
              <a:rPr lang="es-ES" sz="2000" b="1"/>
              <a:t>Identidades de empresa o institución.</a:t>
            </a:r>
            <a:br>
              <a:rPr lang="es-ES" sz="2000"/>
            </a:br>
            <a:r>
              <a:rPr lang="es-ES" sz="2000"/>
              <a:t>El DID representa a una organización, y el controller es un departamento, un servidor o un sistema de gestión de identidades.</a:t>
            </a:r>
          </a:p>
          <a:p>
            <a:r>
              <a:rPr lang="es-ES" sz="2000" b="1"/>
              <a:t>Dispositivos IoT o agentes de software.</a:t>
            </a:r>
            <a:br>
              <a:rPr lang="es-ES" sz="2000"/>
            </a:br>
            <a:r>
              <a:rPr lang="es-ES" sz="2000"/>
              <a:t>El DID identifica al dispositivo, pero lo controla el fabricante o el propietario del sistema.</a:t>
            </a:r>
          </a:p>
          <a:p>
            <a:r>
              <a:rPr lang="es-ES" sz="2000" b="1"/>
              <a:t>Delegaciones temporales o multisig.</a:t>
            </a:r>
            <a:br>
              <a:rPr lang="es-ES" sz="2000"/>
            </a:br>
            <a:r>
              <a:rPr lang="es-ES" sz="2000"/>
              <a:t>El controller puede ser un grupo de DIDs (por ejemplo, un conjunto de firmas necesarias para actualizarlo).</a:t>
            </a:r>
          </a:p>
          <a:p>
            <a:pPr marL="0" indent="0">
              <a:buNone/>
            </a:pPr>
            <a:endParaRPr lang="es-ES" sz="2000"/>
          </a:p>
          <a:p>
            <a:pPr marL="0" indent="0">
              <a:buNone/>
            </a:pPr>
            <a:r>
              <a:rPr lang="es-ES" sz="2000"/>
              <a:t>En resumen:</a:t>
            </a:r>
          </a:p>
          <a:p>
            <a:r>
              <a:rPr lang="es-ES" sz="2000"/>
              <a:t>El </a:t>
            </a:r>
            <a:r>
              <a:rPr lang="es-ES" sz="2000" i="1"/>
              <a:t>controller</a:t>
            </a:r>
            <a:r>
              <a:rPr lang="es-ES" sz="2000"/>
              <a:t> es quien </a:t>
            </a:r>
            <a:r>
              <a:rPr lang="es-ES" sz="2000" b="1"/>
              <a:t>posee las claves y puede modificar o usar el DID.</a:t>
            </a:r>
          </a:p>
          <a:p>
            <a:r>
              <a:rPr lang="es-ES" sz="2000"/>
              <a:t>El </a:t>
            </a:r>
            <a:r>
              <a:rPr lang="es-ES" sz="2000" i="1"/>
              <a:t>subject</a:t>
            </a:r>
            <a:r>
              <a:rPr lang="es-ES" sz="2000"/>
              <a:t> (la identidad descrita) puede ser otra entidad distinta, física o lógica.</a:t>
            </a:r>
          </a:p>
          <a:p>
            <a:pPr marL="0" indent="0">
              <a:buNone/>
            </a:pPr>
            <a:endParaRPr lang="es-ES" sz="1900"/>
          </a:p>
        </p:txBody>
      </p:sp>
    </p:spTree>
    <p:extLst>
      <p:ext uri="{BB962C8B-B14F-4D97-AF65-F5344CB8AC3E}">
        <p14:creationId xmlns:p14="http://schemas.microsoft.com/office/powerpoint/2010/main" val="3240684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2163F-ECE9-7644-0F7F-FBCFDF11C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A44A2-580B-6870-6256-BBAF252B4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Verifiable Credentials (VCs)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B1A0DF-F9FC-3072-F7A7-B1D704346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6"/>
            <a:ext cx="9855926" cy="46348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sz="1900" b="1"/>
              <a:t>Qué es una Verifiable Credential</a:t>
            </a:r>
          </a:p>
          <a:p>
            <a:pPr marL="0" indent="0">
              <a:buNone/>
            </a:pPr>
            <a:r>
              <a:rPr lang="es-ES" sz="1900"/>
              <a:t>Una Verifiable Credential (VC) es un documento digital firmado criptográficamente que contiene una afirmación (claim) sobre un sujeto identificado por un DID.</a:t>
            </a:r>
          </a:p>
          <a:p>
            <a:pPr marL="0" indent="0">
              <a:buNone/>
            </a:pPr>
            <a:r>
              <a:rPr lang="es-ES" sz="1900" b="1"/>
              <a:t>Ejemplo</a:t>
            </a:r>
          </a:p>
          <a:p>
            <a:pPr marL="0" indent="0">
              <a:buNone/>
            </a:pPr>
            <a:r>
              <a:rPr lang="es-ES" sz="1900"/>
              <a:t>“El DID did:ebsi:1234abcd pertenece a una persona con título de Máster en Blockchain por la Universidad de Sevilla.”</a:t>
            </a:r>
          </a:p>
          <a:p>
            <a:pPr marL="0" indent="0">
              <a:buNone/>
            </a:pPr>
            <a:r>
              <a:rPr lang="es-ES" sz="1900" b="1"/>
              <a:t>Elementos clave</a:t>
            </a:r>
          </a:p>
          <a:p>
            <a:r>
              <a:rPr lang="es-ES" sz="1900"/>
              <a:t>Issuer (Emisor) → crea y firma la credencial.</a:t>
            </a:r>
          </a:p>
          <a:p>
            <a:r>
              <a:rPr lang="es-ES" sz="1900"/>
              <a:t>Subject (Titular) → el DID sobre el que se hace la afirmación.</a:t>
            </a:r>
          </a:p>
          <a:p>
            <a:r>
              <a:rPr lang="es-ES" sz="1900"/>
              <a:t>Verifier (Verificador) → valida la firma y autenticidad.</a:t>
            </a:r>
          </a:p>
          <a:p>
            <a:pPr marL="0" indent="0">
              <a:buNone/>
            </a:pPr>
            <a:r>
              <a:rPr lang="es-ES" sz="1900" b="1"/>
              <a:t>Comparación</a:t>
            </a:r>
          </a:p>
          <a:p>
            <a:pPr marL="0" indent="0">
              <a:buNone/>
            </a:pPr>
            <a:r>
              <a:rPr lang="es-ES" sz="1900"/>
              <a:t>VC = versión descentralizada y verificable de un título, diploma, certificado o carné digital.</a:t>
            </a:r>
          </a:p>
          <a:p>
            <a:pPr marL="0" indent="0">
              <a:buNone/>
            </a:pPr>
            <a:r>
              <a:rPr lang="es-ES" sz="1900"/>
              <a:t>La VC es el puente entre la identidad (DID) y los datos verificables (claims).</a:t>
            </a:r>
          </a:p>
        </p:txBody>
      </p:sp>
    </p:spTree>
    <p:extLst>
      <p:ext uri="{BB962C8B-B14F-4D97-AF65-F5344CB8AC3E}">
        <p14:creationId xmlns:p14="http://schemas.microsoft.com/office/powerpoint/2010/main" val="349247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6A93B-3C78-4233-614C-2C10C37EE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8226C1-9E31-8948-1C79-3E0DC765F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Estructura de una VC (W3C Standard)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1D98F8-2D97-1318-00DD-F8195D7B8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099" y="1588576"/>
            <a:ext cx="6210301" cy="4634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900"/>
              <a:t>Una VC sigue el formato JSON-LD definido por el W3C.</a:t>
            </a:r>
          </a:p>
          <a:p>
            <a:pPr marL="0" indent="0">
              <a:buNone/>
            </a:pPr>
            <a:endParaRPr lang="es-ES" sz="1900"/>
          </a:p>
          <a:p>
            <a:pPr lvl="1"/>
            <a:r>
              <a:rPr lang="es-ES" sz="1500"/>
              <a:t>@context → indica que sigue el modelo de credenciales verificables.</a:t>
            </a:r>
          </a:p>
          <a:p>
            <a:pPr lvl="1"/>
            <a:r>
              <a:rPr lang="es-ES" sz="1500"/>
              <a:t>id → identificador único de esta credencial concreta.</a:t>
            </a:r>
          </a:p>
          <a:p>
            <a:pPr lvl="1"/>
            <a:r>
              <a:rPr lang="es-ES" sz="1500"/>
              <a:t>type → define que es una “UniversityDegreeCredential”.</a:t>
            </a:r>
          </a:p>
          <a:p>
            <a:pPr lvl="1"/>
            <a:r>
              <a:rPr lang="es-ES" sz="1500"/>
              <a:t>issuer → el DID de quien la emite (did:ebsi:university-sev).</a:t>
            </a:r>
          </a:p>
          <a:p>
            <a:pPr lvl="1"/>
            <a:r>
              <a:rPr lang="es-ES" sz="1500"/>
              <a:t>issuanceDate → fecha de emisión.</a:t>
            </a:r>
          </a:p>
          <a:p>
            <a:pPr lvl="1"/>
            <a:r>
              <a:rPr lang="es-ES" sz="1500"/>
              <a:t>credentialSubject → a quién pertenece (did:ebsi:lola123) y qué afirma (“Máster en Blockchain”).</a:t>
            </a:r>
          </a:p>
          <a:p>
            <a:pPr lvl="1"/>
            <a:r>
              <a:rPr lang="es-ES" sz="1500"/>
              <a:t>proof → bloque con la firma digital del emisor.</a:t>
            </a:r>
          </a:p>
          <a:p>
            <a:pPr lvl="1"/>
            <a:r>
              <a:rPr lang="es-ES" sz="1500"/>
              <a:t>verificationMethod apunta a la clave pública del emisor en su DID Document.</a:t>
            </a:r>
          </a:p>
          <a:p>
            <a:pPr lvl="1"/>
            <a:r>
              <a:rPr lang="es-ES" sz="1500"/>
              <a:t>jws contiene la firma criptográfica.</a:t>
            </a:r>
          </a:p>
          <a:p>
            <a:pPr marL="0" indent="0">
              <a:buNone/>
            </a:pPr>
            <a:r>
              <a:rPr lang="es-ES" sz="1900"/>
              <a:t>Todo lo que necesita un verificador para validar una credencial está dentro del documento o puede obtenerse a través del DID.</a:t>
            </a:r>
          </a:p>
          <a:p>
            <a:pPr marL="0" indent="0">
              <a:buNone/>
            </a:pPr>
            <a:endParaRPr lang="es-ES" sz="19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E9B8C19-24AD-2065-3FB2-872B4B01B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583" y="1882277"/>
            <a:ext cx="4601217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559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D513B-B67A-1A97-D4E4-0D9F14FE2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44CDD2-5015-E6A9-F68E-7064B61C3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Flujo de emisión y verificación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0CC299-71CA-5DDB-55A7-09C454CE8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8576"/>
            <a:ext cx="10515600" cy="4634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900"/>
              <a:t>Emisión</a:t>
            </a:r>
          </a:p>
          <a:p>
            <a:r>
              <a:rPr lang="es-ES" sz="1900"/>
              <a:t>El issuer genera la VC y la firma con su clave privada.</a:t>
            </a:r>
          </a:p>
          <a:p>
            <a:r>
              <a:rPr lang="es-ES" sz="1900"/>
              <a:t>Entrega la VC al holder (usuario) → almacenada en su wallet.</a:t>
            </a:r>
          </a:p>
          <a:p>
            <a:pPr marL="0" indent="0">
              <a:buNone/>
            </a:pPr>
            <a:r>
              <a:rPr lang="es-ES" sz="1900"/>
              <a:t>Presentación</a:t>
            </a:r>
          </a:p>
          <a:p>
            <a:r>
              <a:rPr lang="es-ES" sz="1900"/>
              <a:t>El verifier solicita una prueba (“¿puedes demostrar que tienes un máster?”).</a:t>
            </a:r>
          </a:p>
          <a:p>
            <a:r>
              <a:rPr lang="es-ES" sz="1900"/>
              <a:t>El holder responde con una Verifiable Presentation (VP) → puede revelar solo parte de la VC (Selective Disclosure).</a:t>
            </a:r>
          </a:p>
          <a:p>
            <a:pPr marL="0" indent="0">
              <a:buNone/>
            </a:pPr>
            <a:r>
              <a:rPr lang="es-ES" sz="1900"/>
              <a:t>Verificación</a:t>
            </a:r>
          </a:p>
          <a:p>
            <a:r>
              <a:rPr lang="es-ES" sz="1900"/>
              <a:t>El verifier obtiene la clave pública del issuer desde su DID.</a:t>
            </a:r>
          </a:p>
          <a:p>
            <a:r>
              <a:rPr lang="es-ES" sz="1900"/>
              <a:t>Comprueba la firma digital y opcionalmente la revocación o vigencia.</a:t>
            </a:r>
          </a:p>
          <a:p>
            <a:endParaRPr lang="es-ES" sz="1900"/>
          </a:p>
          <a:p>
            <a:pPr marL="0" indent="0">
              <a:buNone/>
            </a:pPr>
            <a:r>
              <a:rPr lang="es-ES" sz="1900" b="1" i="1"/>
              <a:t>La confianza se apoya en criptografía, no en comunicación directa entre emisor y verificador.</a:t>
            </a:r>
          </a:p>
        </p:txBody>
      </p:sp>
    </p:spTree>
    <p:extLst>
      <p:ext uri="{BB962C8B-B14F-4D97-AF65-F5344CB8AC3E}">
        <p14:creationId xmlns:p14="http://schemas.microsoft.com/office/powerpoint/2010/main" val="715267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865CD-13D8-9013-33DC-BB1485B2B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8F3171-9EFA-4DD9-8D37-CDFCF215A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Ventajas y capacidades técnicas</a:t>
            </a:r>
            <a:endParaRPr lang="es-ES" sz="4000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362E3602-5143-B291-8A76-FCFF6F170A1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3" y="2504894"/>
          <a:ext cx="1051559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1057">
                  <a:extLst>
                    <a:ext uri="{9D8B030D-6E8A-4147-A177-3AD203B41FA5}">
                      <a16:colId xmlns:a16="http://schemas.microsoft.com/office/drawing/2014/main" val="1328140658"/>
                    </a:ext>
                  </a:extLst>
                </a:gridCol>
                <a:gridCol w="4539341">
                  <a:extLst>
                    <a:ext uri="{9D8B030D-6E8A-4147-A177-3AD203B41FA5}">
                      <a16:colId xmlns:a16="http://schemas.microsoft.com/office/drawing/2014/main" val="255722783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030989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1600"/>
                        <a:t>Capacidad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Descripción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Beneficio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426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/>
                        <a:t>Autenticidad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Firma digital verificable mediante el DID del emisor.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Imposible falsificar sin la clave privada.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517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/>
                        <a:t>Integridad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Cualquier cambio altera la firma.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Previene manipulaciones.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25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/>
                        <a:t>Selectividad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El titular puede revelar solo los datos necesarios.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Privacidad por diseño.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951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/>
                        <a:t>Portabilidad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Funciona entre redes SSI distintas.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Reutilizable globalmente.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17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/>
                        <a:t>Revocación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El emisor puede invalidarla en un registro accesible.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Control de vigencia y fraude.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587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/>
                        <a:t>Offline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Puede verificarse sin conexión al emisor.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Ideal para entornos desconectados.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222931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16C9AA05-EA11-6402-B75F-DC81DAED36CB}"/>
              </a:ext>
            </a:extLst>
          </p:cNvPr>
          <p:cNvSpPr txBox="1"/>
          <p:nvPr/>
        </p:nvSpPr>
        <p:spPr>
          <a:xfrm>
            <a:off x="539931" y="1690688"/>
            <a:ext cx="1099021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Las </a:t>
            </a: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Verifiable Credentials</a:t>
            </a:r>
            <a:r>
              <a: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convierten los datos en pruebas portátiles, verificables y resistentes a la falsificación.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Son el núcleo funcional de la </a:t>
            </a: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Self-Sovereign Identity (SSI)</a:t>
            </a:r>
            <a:r>
              <a: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y la base del </a:t>
            </a: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European Digital Identity Wallet (eIDAS 2)</a:t>
            </a:r>
            <a:r>
              <a: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9625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AB6E0-B935-C5C8-BFDD-4802EA3CC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A1BFED-4C24-FE8D-499E-9B98CE3BE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Agrupar y revocar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648730-60FE-CE8F-A4E5-2A528AD14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8576"/>
            <a:ext cx="10515600" cy="463488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sz="1900" b="1"/>
              <a:t>Verifiable Presentation (VP)</a:t>
            </a:r>
          </a:p>
          <a:p>
            <a:pPr marL="0" indent="0">
              <a:buNone/>
            </a:pPr>
            <a:r>
              <a:rPr lang="es-ES" sz="1900"/>
              <a:t>Qué es: un contenedor firmado por el titular que agrupa una o más VCs y demuestra su posesión ante un verificador</a:t>
            </a:r>
          </a:p>
          <a:p>
            <a:r>
              <a:rPr lang="es-ES" sz="1900"/>
              <a:t>Por qué es clave: permite aplicar Selective Disclosure (solo revelas lo necesario)</a:t>
            </a:r>
          </a:p>
          <a:p>
            <a:r>
              <a:rPr lang="es-ES" sz="1900"/>
              <a:t>Ejemplo práctico: demostrar “soy mayor de 18” sin revelar fecha de nacimiento</a:t>
            </a:r>
          </a:p>
          <a:p>
            <a:r>
              <a:rPr lang="es-ES" sz="1900"/>
              <a:t>Tecnología: el holder firma la presentación con su propia clave (su DID) → prueba de control y consentimiento</a:t>
            </a:r>
          </a:p>
          <a:p>
            <a:pPr marL="0" indent="0">
              <a:buNone/>
            </a:pPr>
            <a:r>
              <a:rPr lang="es-ES" sz="1900" b="1"/>
              <a:t>Mecanismos de revocación y actualización</a:t>
            </a:r>
          </a:p>
          <a:p>
            <a:pPr marL="0" indent="0">
              <a:buNone/>
            </a:pPr>
            <a:r>
              <a:rPr lang="es-ES" sz="1900"/>
              <a:t>Las VCs pueden tener vigencia limitada o ser revocadas.</a:t>
            </a:r>
          </a:p>
          <a:p>
            <a:pPr marL="0" indent="0">
              <a:buNone/>
            </a:pPr>
            <a:r>
              <a:rPr lang="es-ES" sz="1900"/>
              <a:t>Existen distintos modelos:</a:t>
            </a:r>
          </a:p>
          <a:p>
            <a:r>
              <a:rPr lang="es-ES" sz="1900"/>
              <a:t>Revocation List 2020 (W3C): lista hashada de credenciales revocadas.</a:t>
            </a:r>
          </a:p>
          <a:p>
            <a:r>
              <a:rPr lang="es-ES" sz="1900"/>
              <a:t>StatusList VC: credencial especial que almacena el estado de muchas VCs.</a:t>
            </a:r>
          </a:p>
          <a:p>
            <a:r>
              <a:rPr lang="es-ES" sz="1900"/>
              <a:t>On-chain registry: hash de VC marcado como inválido en blockchain.</a:t>
            </a:r>
          </a:p>
          <a:p>
            <a:pPr marL="0" indent="0">
              <a:buNone/>
            </a:pPr>
            <a:r>
              <a:rPr lang="es-ES" sz="1900"/>
              <a:t>Esto permite verificar no solo si la firma es válida, sino si sigue siendo válida.</a:t>
            </a:r>
          </a:p>
        </p:txBody>
      </p:sp>
    </p:spTree>
    <p:extLst>
      <p:ext uri="{BB962C8B-B14F-4D97-AF65-F5344CB8AC3E}">
        <p14:creationId xmlns:p14="http://schemas.microsoft.com/office/powerpoint/2010/main" val="3781646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E1F56-6723-D0F7-2300-B79C24E60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64963F-7985-D07D-79E0-60C9B81CF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Wallets e intro a eIDAS 2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3118DA-CC89-0A83-08AE-DE09036B6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8576"/>
            <a:ext cx="10515600" cy="4634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900" b="1"/>
              <a:t>Existen wallets de identidad</a:t>
            </a:r>
          </a:p>
          <a:p>
            <a:r>
              <a:rPr lang="es-ES" sz="1900"/>
              <a:t>Es el software donde el usuario controla sus DIDs, VCs y claves privadas.</a:t>
            </a:r>
          </a:p>
          <a:p>
            <a:r>
              <a:rPr lang="es-ES" sz="1900"/>
              <a:t>Al igual que con las wallets de Blockchain hay de dos tipos:</a:t>
            </a:r>
          </a:p>
          <a:p>
            <a:pPr lvl="1"/>
            <a:r>
              <a:rPr lang="es-ES" sz="1500"/>
              <a:t>Custodiada (managed): operador guarda las claves (menos soberanía, más comodidad).</a:t>
            </a:r>
          </a:p>
          <a:p>
            <a:pPr lvl="1"/>
            <a:r>
              <a:rPr lang="es-ES" sz="1500"/>
              <a:t>No custodiada (self-managed): el usuario posee la clave privada.</a:t>
            </a:r>
          </a:p>
          <a:p>
            <a:r>
              <a:rPr lang="es-ES" sz="1900"/>
              <a:t>Ejemplo europeo: EUDI Wallet (cartera oficial del Reglamento eIDAS 2).</a:t>
            </a:r>
          </a:p>
          <a:p>
            <a:pPr marL="0" indent="0">
              <a:buNone/>
            </a:pPr>
            <a:endParaRPr lang="es-ES" sz="1900"/>
          </a:p>
          <a:p>
            <a:pPr marL="0" indent="0">
              <a:buNone/>
            </a:pPr>
            <a:r>
              <a:rPr lang="es-ES" sz="1900"/>
              <a:t>Exiten varias redes que soportan estos procesos: Hyperledger Indy / Aries / Ursa, EBSI (European Blockchain Services Infrastructure), Alastria ID, Sovrin.</a:t>
            </a:r>
          </a:p>
          <a:p>
            <a:pPr marL="0" indent="0">
              <a:buNone/>
            </a:pPr>
            <a:endParaRPr lang="es-ES" sz="1900"/>
          </a:p>
          <a:p>
            <a:pPr marL="0" indent="0">
              <a:buNone/>
            </a:pPr>
            <a:r>
              <a:rPr lang="es-ES" sz="1900"/>
              <a:t>SSI no es una sola blockchain, sino un ecosistema de estándares interoperables (DID, VC, VP, DIDComm), la UE estandariza y regula todo esto con eIDAS 2</a:t>
            </a:r>
          </a:p>
        </p:txBody>
      </p:sp>
    </p:spTree>
    <p:extLst>
      <p:ext uri="{BB962C8B-B14F-4D97-AF65-F5344CB8AC3E}">
        <p14:creationId xmlns:p14="http://schemas.microsoft.com/office/powerpoint/2010/main" val="2247616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6FEF1-5D49-313E-1662-38AFCB9CB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246720-92B0-D2DB-DB98-EDB708EF4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/>
              <a:t>Repaso </a:t>
            </a:r>
            <a:r>
              <a:rPr lang="es-ES" sz="4000"/>
              <a:t>Día 17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26FB63-DCF1-F171-1C49-BE1ED7E4E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554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/>
              <a:t>¿En qué se diferencia una ICO de una STO y de una IEO?</a:t>
            </a:r>
          </a:p>
          <a:p>
            <a:pPr marL="0" indent="0">
              <a:buNone/>
            </a:pPr>
            <a:r>
              <a:rPr lang="es-ES" sz="2000"/>
              <a:t>¿Qué riesgos regulatorios y de fraude se observaron en las ICOs de 2017–2018? </a:t>
            </a:r>
          </a:p>
          <a:p>
            <a:pPr marL="0" indent="0">
              <a:buNone/>
            </a:pPr>
            <a:r>
              <a:rPr lang="es-ES" sz="2000"/>
              <a:t>¿Qué buenas prácticas deberían aplicarse para evitar un rug pull en un proyecto blockchain?</a:t>
            </a:r>
          </a:p>
          <a:p>
            <a:pPr marL="0" indent="0">
              <a:buNone/>
            </a:pPr>
            <a:r>
              <a:rPr lang="es-ES" sz="2000"/>
              <a:t>¿Qué problemas resuelve el modelo de identidad autosoberana frente al modelo centralizado o federado?</a:t>
            </a:r>
          </a:p>
          <a:p>
            <a:pPr marL="0" indent="0">
              <a:buNone/>
            </a:pPr>
            <a:r>
              <a:rPr lang="es-ES" sz="2000"/>
              <a:t>¿Qué papel cumplen los DIDs dentro del ecosistema SSI?</a:t>
            </a:r>
          </a:p>
          <a:p>
            <a:pPr marL="0" indent="0">
              <a:buNone/>
            </a:pPr>
            <a:r>
              <a:rPr lang="es-ES" sz="2000"/>
              <a:t>¿Y las VCs?</a:t>
            </a:r>
          </a:p>
          <a:p>
            <a:pPr marL="0" indent="0">
              <a:buNone/>
            </a:pPr>
            <a:r>
              <a:rPr lang="es-ES" sz="2000"/>
              <a:t>¿Qué diferencia hay entre el subject, el controller y el issuer de un DID?</a:t>
            </a:r>
          </a:p>
          <a:p>
            <a:pPr marL="0" indent="0">
              <a:buNone/>
            </a:pPr>
            <a:r>
              <a:rPr lang="es-ES" sz="2000"/>
              <a:t>¿Cómo puede un proyecto de SSI reducir la necesidad de intermediarios en la verificación de identidad digital?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2618092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E8496-4ADD-BF16-7255-CE785E68D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14FA1-B219-9109-D00C-DC114024B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Noticia Bit2Me</a:t>
            </a:r>
            <a:endParaRPr lang="es-ES" sz="40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AC86BC0-C142-F176-B51D-BA8374B6F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609" y="1689146"/>
            <a:ext cx="8758136" cy="462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3618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4B17C-BB02-2E16-642C-F8D7B333F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0FD538-8C65-E6EF-3603-6D326958F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Noticia Bit2Me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FEA97C-9FFD-A76A-941A-7B3850192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5546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sz="2000"/>
              <a:t>¿Qué tipo de autorización ha obtenido Bit2Me STX por parte de la CNMV y bajo qué normativa europea se enmarca? </a:t>
            </a:r>
          </a:p>
          <a:p>
            <a:pPr marL="0" indent="0">
              <a:buNone/>
            </a:pPr>
            <a:r>
              <a:rPr lang="es-ES" sz="2000"/>
              <a:t>¿Por qué Bit2Me STX no se rige por MiCA, aunque opere con activos tokenizados en blockchain?</a:t>
            </a:r>
          </a:p>
          <a:p>
            <a:pPr marL="0" indent="0">
              <a:buNone/>
            </a:pPr>
            <a:r>
              <a:rPr lang="es-ES" sz="2000"/>
              <a:t>¿Qué permite exactamente el DLT Pilot Regime (Reglamento UE 2022/858) y cuál es su finalidad dentro del mercado financiero europeo?</a:t>
            </a:r>
          </a:p>
          <a:p>
            <a:pPr marL="0" indent="0">
              <a:buNone/>
            </a:pPr>
            <a:r>
              <a:rPr lang="es-ES" sz="2000"/>
              <a:t>¿Qué ventajas ofrece operar una bolsa de valores tokenizados frente a una bolsa tradicional como BME?</a:t>
            </a:r>
          </a:p>
          <a:p>
            <a:pPr marL="0" indent="0">
              <a:buNone/>
            </a:pPr>
            <a:r>
              <a:rPr lang="es-ES" sz="2000"/>
              <a:t>¿Qué tipo de productos financieros podrán negociarse en Bit2Me STX: tokens de utilidad, stablecoins o valores tokenizados (acciones, bonos…)?</a:t>
            </a:r>
          </a:p>
          <a:p>
            <a:pPr marL="0" indent="0">
              <a:buNone/>
            </a:pPr>
            <a:r>
              <a:rPr lang="es-ES" sz="2000"/>
              <a:t>En cuanto al equity, ¿qué tipo de empresas cotizarán en Bit2Me STX: grandes compañías ya listadas o nuevas empresas con acciones nativas en blockchain?</a:t>
            </a:r>
          </a:p>
          <a:p>
            <a:pPr marL="0" indent="0">
              <a:buNone/>
            </a:pPr>
            <a:r>
              <a:rPr lang="es-ES" sz="2000"/>
              <a:t>¿Qué autoridades europeas intervienen en la supervisión del régimen piloto DLT y qué papel desempeña la CNMV en España?</a:t>
            </a:r>
          </a:p>
          <a:p>
            <a:pPr marL="0" indent="0">
              <a:buNone/>
            </a:pPr>
            <a:r>
              <a:rPr lang="es-ES" sz="2000"/>
              <a:t>¿Qué beneficios y riesgos regulatorios implica para los inversores operar en una infraestructura DLT como Bit2Me STX frente a los mercados financieros tradicionales?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3210749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43399-B89F-DF7D-1F84-F4A7627F4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039ADC-5D6C-29B5-7B71-DA69C2F89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Actividad – Roles para SSI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0224BF-5247-A893-2B84-E81B54053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8576"/>
            <a:ext cx="10515600" cy="463488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ES" sz="1900" b="1"/>
              <a:t>1 Curso de Blockchain</a:t>
            </a:r>
          </a:p>
          <a:p>
            <a:r>
              <a:rPr lang="es-ES" sz="1900" b="1"/>
              <a:t>Individuo</a:t>
            </a:r>
            <a:r>
              <a:rPr lang="es-ES" sz="1900"/>
              <a:t>: estudiante (did:class:nombre)</a:t>
            </a:r>
          </a:p>
          <a:p>
            <a:r>
              <a:rPr lang="es-ES" sz="1900" b="1"/>
              <a:t>Issuer</a:t>
            </a:r>
            <a:r>
              <a:rPr lang="es-ES" sz="1900"/>
              <a:t>: Comunidad de Madrid (did:uni:CM)</a:t>
            </a:r>
          </a:p>
          <a:p>
            <a:r>
              <a:rPr lang="es-ES" sz="1900" b="1"/>
              <a:t>Verifier</a:t>
            </a:r>
            <a:r>
              <a:rPr lang="es-ES" sz="1900"/>
              <a:t>: empresa tecnológica que contrata profesionales certificados (did:company:teknia)</a:t>
            </a:r>
          </a:p>
          <a:p>
            <a:r>
              <a:rPr lang="es-ES" sz="1900" b="1"/>
              <a:t>Caso</a:t>
            </a:r>
            <a:r>
              <a:rPr lang="es-ES" sz="1900"/>
              <a:t>: la CM emite una VC que acredita el título del estudiante. La empresa solicita verificación del grado antes de aceptarla en prácticas.</a:t>
            </a:r>
          </a:p>
          <a:p>
            <a:endParaRPr lang="es-ES" sz="1900"/>
          </a:p>
          <a:p>
            <a:pPr marL="0" indent="0">
              <a:buNone/>
            </a:pPr>
            <a:r>
              <a:rPr lang="es-ES" sz="1900" b="1"/>
              <a:t>2 Carné de conducir digital</a:t>
            </a:r>
          </a:p>
          <a:p>
            <a:r>
              <a:rPr lang="es-ES" sz="1900" b="1"/>
              <a:t>Individuo</a:t>
            </a:r>
            <a:r>
              <a:rPr lang="es-ES" sz="1900"/>
              <a:t>: conductor (did:citizen:nombre)</a:t>
            </a:r>
          </a:p>
          <a:p>
            <a:r>
              <a:rPr lang="es-ES" sz="1900" b="1"/>
              <a:t>Issuer</a:t>
            </a:r>
            <a:r>
              <a:rPr lang="es-ES" sz="1900"/>
              <a:t>: Dirección General de Tráfico (did:gob:dgt)</a:t>
            </a:r>
          </a:p>
          <a:p>
            <a:r>
              <a:rPr lang="es-ES" sz="1900" b="1"/>
              <a:t>Verifier</a:t>
            </a:r>
            <a:r>
              <a:rPr lang="es-ES" sz="1900"/>
              <a:t>: policía local (did:police:Colmenar)</a:t>
            </a:r>
          </a:p>
          <a:p>
            <a:r>
              <a:rPr lang="es-ES" sz="1900" b="1"/>
              <a:t>Caso</a:t>
            </a:r>
            <a:r>
              <a:rPr lang="es-ES" sz="1900"/>
              <a:t>: la DGT emite una VC de permiso de conducir. La policía pide una verifiable presentation que demuestre que el individuo tiene permiso vigente sin mostrar su dirección completa.</a:t>
            </a:r>
          </a:p>
          <a:p>
            <a:endParaRPr lang="es-ES" sz="1900"/>
          </a:p>
          <a:p>
            <a:pPr marL="0" indent="0">
              <a:buNone/>
            </a:pPr>
            <a:r>
              <a:rPr lang="es-ES" sz="1800" b="1"/>
              <a:t>5  Sanidad y recetas electrónicas</a:t>
            </a:r>
          </a:p>
          <a:p>
            <a:r>
              <a:rPr lang="es-ES" sz="1800" b="1"/>
              <a:t>Individuo</a:t>
            </a:r>
            <a:r>
              <a:rPr lang="es-ES" sz="1800"/>
              <a:t>: paciente (did:citizen:nombre)</a:t>
            </a:r>
          </a:p>
          <a:p>
            <a:r>
              <a:rPr lang="es-ES" sz="1800" b="1"/>
              <a:t>Issuer</a:t>
            </a:r>
            <a:r>
              <a:rPr lang="es-ES" sz="1800"/>
              <a:t>: hospital Virgen del Rocío (did:hospital:vdr)</a:t>
            </a:r>
          </a:p>
          <a:p>
            <a:r>
              <a:rPr lang="es-ES" sz="1800" b="1"/>
              <a:t>Verifier</a:t>
            </a:r>
            <a:r>
              <a:rPr lang="es-ES" sz="1800"/>
              <a:t>: farmacia (did:pharma:farmaciaA)</a:t>
            </a:r>
          </a:p>
          <a:p>
            <a:r>
              <a:rPr lang="es-ES" sz="1800" b="1"/>
              <a:t>Caso</a:t>
            </a:r>
            <a:r>
              <a:rPr lang="es-ES" sz="1800"/>
              <a:t>: el hospital emite una VC con la receta médica. La farmacia valida la firma antes de dispensar el medicamento.</a:t>
            </a:r>
          </a:p>
          <a:p>
            <a:endParaRPr lang="es-ES" sz="1900"/>
          </a:p>
          <a:p>
            <a:endParaRPr lang="es-ES" sz="1900"/>
          </a:p>
        </p:txBody>
      </p:sp>
    </p:spTree>
    <p:extLst>
      <p:ext uri="{BB962C8B-B14F-4D97-AF65-F5344CB8AC3E}">
        <p14:creationId xmlns:p14="http://schemas.microsoft.com/office/powerpoint/2010/main" val="2806539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DE470-FD76-CBE8-BB84-78B565801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DF7D4F-ECD2-36D8-07F3-CE505CB03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Qué es eIDAS 2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432834-D6BC-39DB-2452-5B0AE4B93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8576"/>
            <a:ext cx="10515600" cy="463488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ES" sz="1900" b="1"/>
              <a:t>eIDAS original (2014)</a:t>
            </a:r>
          </a:p>
          <a:p>
            <a:pPr marL="0" indent="0">
              <a:buNone/>
            </a:pPr>
            <a:r>
              <a:rPr lang="es-ES" sz="1900"/>
              <a:t>Reglamento europeo sobre identificación electrónica y servicios de confianza (firmas, sellos, timestamp, certificados digitales). Basado en PKI centralizada y proveedores cualificados (CAs, prestadores de servicios de confianza).</a:t>
            </a:r>
          </a:p>
          <a:p>
            <a:pPr marL="0" indent="0">
              <a:buNone/>
            </a:pPr>
            <a:r>
              <a:rPr lang="es-ES" sz="1900" b="1"/>
              <a:t>eIDAS 2 (Reglamento (UE) 2024/1183)</a:t>
            </a:r>
          </a:p>
          <a:p>
            <a:pPr marL="0" indent="0">
              <a:buNone/>
            </a:pPr>
            <a:r>
              <a:rPr lang="es-ES" sz="1900"/>
              <a:t>Actualiza el marco para incluir identidad digital descentralizada y wallets personales de credenciales verificables.</a:t>
            </a:r>
          </a:p>
          <a:p>
            <a:pPr marL="0" indent="0">
              <a:buNone/>
            </a:pPr>
            <a:r>
              <a:rPr lang="es-ES" sz="1900"/>
              <a:t>Objetivos clave:</a:t>
            </a:r>
          </a:p>
          <a:p>
            <a:r>
              <a:rPr lang="es-ES" sz="1900"/>
              <a:t>Garantizar a todos los ciudadanos de la UE una European Digital Identity (EUDI) Wallet.</a:t>
            </a:r>
          </a:p>
          <a:p>
            <a:r>
              <a:rPr lang="es-ES" sz="1900"/>
              <a:t>Incorporar el modelo SSI (Self-Sovereign Identity) en la regulación oficial.</a:t>
            </a:r>
          </a:p>
          <a:p>
            <a:r>
              <a:rPr lang="es-ES" sz="1900"/>
              <a:t>Permitir interoperabilidad entre Estados miembros y sectores (público/privado).</a:t>
            </a:r>
          </a:p>
          <a:p>
            <a:r>
              <a:rPr lang="es-ES" sz="1900"/>
              <a:t>Reconocer legalmente Verifiable Credentials (VCs) y Verifiable Presentations (VPs).</a:t>
            </a:r>
          </a:p>
          <a:p>
            <a:pPr marL="0" indent="0">
              <a:buNone/>
            </a:pPr>
            <a:r>
              <a:rPr lang="es-ES" sz="1900"/>
              <a:t>Pilares técnicos:</a:t>
            </a:r>
          </a:p>
          <a:p>
            <a:r>
              <a:rPr lang="es-ES" sz="1900"/>
              <a:t>Basado en DID, VC, VP (estándares W3C).</a:t>
            </a:r>
          </a:p>
          <a:p>
            <a:r>
              <a:rPr lang="es-ES" sz="1900"/>
              <a:t>Funcionará sobre redes como EBSI (European Blockchain Services Infrastructure).</a:t>
            </a:r>
          </a:p>
          <a:p>
            <a:r>
              <a:rPr lang="es-ES" sz="1900"/>
              <a:t>Incluye mecanismos de autenticación fuerte, consentimiento y privacidad por diseño.</a:t>
            </a:r>
          </a:p>
          <a:p>
            <a:pPr marL="0" indent="0">
              <a:buNone/>
            </a:pPr>
            <a:r>
              <a:rPr lang="es-ES" sz="1900"/>
              <a:t>eIDAS 2 convierte la identidad autosoberana (SSI) en un derecho legal dentro de la UE.</a:t>
            </a:r>
          </a:p>
        </p:txBody>
      </p:sp>
    </p:spTree>
    <p:extLst>
      <p:ext uri="{BB962C8B-B14F-4D97-AF65-F5344CB8AC3E}">
        <p14:creationId xmlns:p14="http://schemas.microsoft.com/office/powerpoint/2010/main" val="1649743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04FE2-60C8-F925-45B9-AA91EF363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7EA9AD-C049-6B0E-44C8-18642FDF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Componentes del ecosistema eIDAS 2</a:t>
            </a:r>
            <a:endParaRPr lang="es-ES" sz="4000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60438028-5D84-49FE-272B-4B0816DDFAD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3" y="1459867"/>
          <a:ext cx="10515597" cy="265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65232021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33271001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040531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1200"/>
                        <a:t>Elemento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/>
                        <a:t>Descripción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/>
                        <a:t>Rol práctico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791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/>
                        <a:t>EUDI Wallet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/>
                        <a:t>App o software certificado donde el ciudadano gestiona sus DIDs y VCs.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/>
                        <a:t>Control total sobre sus datos y credenciales.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15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/>
                        <a:t>Trust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/>
                        <a:t>Conjunto de normas técnicas y de gobernanza comunes en la UE.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/>
                        <a:t>Asegura interoperabilidad y confianza entre países.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078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/>
                        <a:t>Qualified Electronic Attestations of Attributes (QEAA)</a:t>
                      </a:r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/>
                        <a:t>Versión legalmente reconocida de las Verifiable Credentials.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/>
                        <a:t>Permite usar VCs en trámites oficiales con validez jurídica.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982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/>
                        <a:t>European Digital Identity Architecture (ESSIF + EBSI)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/>
                        <a:t>Infraestructura técnica de soporte.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/>
                        <a:t>Emisión, validación y revocación de identidades y atributos.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207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/>
                        <a:t>Supervisión y acreditación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/>
                        <a:t>Estados miembros designan entidades de confianza y nodos EBSI.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/>
                        <a:t>Garantiza cumplimiento y niveles de garantía (LoA).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136755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671CE3D3-7FD8-4DEB-131B-E43D9B221F22}"/>
              </a:ext>
            </a:extLst>
          </p:cNvPr>
          <p:cNvSpPr txBox="1"/>
          <p:nvPr/>
        </p:nvSpPr>
        <p:spPr>
          <a:xfrm>
            <a:off x="775063" y="4264753"/>
            <a:ext cx="1051559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Principios fundamentales:</a:t>
            </a:r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Voluntariedad: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cada ciudadano decide si usa el wallet.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Privacidad por diseño: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datos mínimos, revelación selectiva.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Interoperabilidad legal y técnica: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un wallet válido en toda la UE.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Neutralidad tecnológica: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no depende de una blockchain específica (ni siquiera obliga a usar blockchain).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eIDAS 2 no reemplaza la identidad nacional, la amplía con credenciales verificables interoperables y legalmente válidas.</a:t>
            </a:r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86077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6A2A1-0832-FC40-F67E-22E3E7D41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1DDF07-DB06-56D3-A4E6-8341768A0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Consideraciones finales sobre eIDAS 2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82A605-BD1C-6213-A6BF-345125C81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8576"/>
            <a:ext cx="5188132" cy="4634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900"/>
              <a:t>Se han lanzado pilotos a gran escala en numerosos países</a:t>
            </a:r>
          </a:p>
          <a:p>
            <a:pPr marL="0" indent="0">
              <a:buNone/>
            </a:pPr>
            <a:endParaRPr lang="es-ES" sz="1900"/>
          </a:p>
          <a:p>
            <a:pPr marL="0" indent="0">
              <a:buNone/>
            </a:pPr>
            <a:r>
              <a:rPr lang="es-ES" sz="1900"/>
              <a:t>No hay Ningún wallet plenamente funcional a día de hoy</a:t>
            </a:r>
          </a:p>
          <a:p>
            <a:pPr marL="0" indent="0">
              <a:buNone/>
            </a:pPr>
            <a:endParaRPr lang="es-ES" sz="1900"/>
          </a:p>
          <a:p>
            <a:pPr marL="0" indent="0">
              <a:buNone/>
            </a:pPr>
            <a:r>
              <a:rPr lang="es-ES" sz="1900"/>
              <a:t>Cada Estado miembro debe ofrecer al menos una wallet a ciudadanos/residentes antes de diciembre de 2026</a:t>
            </a:r>
          </a:p>
          <a:p>
            <a:pPr marL="0" indent="0">
              <a:buNone/>
            </a:pPr>
            <a:endParaRPr lang="es-ES" sz="1900"/>
          </a:p>
          <a:p>
            <a:pPr marL="0" indent="0">
              <a:buNone/>
            </a:pPr>
            <a:r>
              <a:rPr lang="es-ES" sz="1900"/>
              <a:t>Para 2027, los servicios públicos y privados deberán aceptar la wallet digital europea para autenticación cuando así lo requieran por ley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A6DC6E6-B5FC-E11F-4EF6-6BD1AC9F3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569" y="2158759"/>
            <a:ext cx="4196993" cy="359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3263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17201-AC78-F88F-A756-387730A75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C5B138-E000-1B72-67CB-5A8B02BE2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Debate abierto – eIDAS 2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9EDAF6-08E5-5223-B002-E6A2E854F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8576"/>
            <a:ext cx="10691950" cy="4634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900" b="1"/>
              <a:t>Objetivo</a:t>
            </a:r>
          </a:p>
          <a:p>
            <a:pPr marL="0" indent="0">
              <a:buNone/>
            </a:pPr>
            <a:r>
              <a:rPr lang="es-ES" sz="1900"/>
              <a:t>Explorar el equilibrio entre privacidad y seguridad jurídica en el modelo europeo.</a:t>
            </a:r>
          </a:p>
          <a:p>
            <a:pPr marL="0" indent="0">
              <a:buNone/>
            </a:pPr>
            <a:r>
              <a:rPr lang="es-ES" sz="1900" b="1"/>
              <a:t>Preguntas guía</a:t>
            </a:r>
          </a:p>
          <a:p>
            <a:r>
              <a:rPr lang="es-ES" sz="1900"/>
              <a:t>¿Es compatible una identidad autosoberana con la supervisión estatal?</a:t>
            </a:r>
          </a:p>
        </p:txBody>
      </p:sp>
    </p:spTree>
    <p:extLst>
      <p:ext uri="{BB962C8B-B14F-4D97-AF65-F5344CB8AC3E}">
        <p14:creationId xmlns:p14="http://schemas.microsoft.com/office/powerpoint/2010/main" val="38480409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F8D47-F7B8-71F5-3CCF-FFB7FD6C9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665ACC-9E57-5DF3-0032-95E2D49EA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Debate abierto – Notas del Profesor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1822A2-2F77-F3B0-8519-25FB728F3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8576"/>
            <a:ext cx="10691950" cy="4634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b="1"/>
              <a:t>¿Es compatible una identidad autosoberana con la supervisión estatal?</a:t>
            </a:r>
          </a:p>
          <a:p>
            <a:pPr marL="0" indent="0">
              <a:buNone/>
            </a:pPr>
            <a:r>
              <a:rPr lang="es-ES" sz="2000" b="1"/>
              <a:t>Sí, pero con límites.</a:t>
            </a:r>
            <a:endParaRPr lang="es-ES" sz="2000"/>
          </a:p>
          <a:p>
            <a:r>
              <a:rPr lang="es-ES" sz="2000"/>
              <a:t>La </a:t>
            </a:r>
            <a:r>
              <a:rPr lang="es-ES" sz="2000" b="1"/>
              <a:t>SSI</a:t>
            </a:r>
            <a:r>
              <a:rPr lang="es-ES" sz="2000"/>
              <a:t> garantiza que el ciudadano controle sus datos, mientras que el Estado puede </a:t>
            </a:r>
            <a:r>
              <a:rPr lang="es-ES" sz="2000" b="1"/>
              <a:t>supervisar los emisores y credenciales cualificadas</a:t>
            </a:r>
            <a:r>
              <a:rPr lang="es-ES" sz="2000"/>
              <a:t>, no los usos privados.</a:t>
            </a:r>
          </a:p>
          <a:p>
            <a:r>
              <a:rPr lang="es-ES" sz="2000"/>
              <a:t>Es compatible si la supervisión se centra en la </a:t>
            </a:r>
            <a:r>
              <a:rPr lang="es-ES" sz="2000" b="1"/>
              <a:t>infraestructura y la seguridad</a:t>
            </a:r>
            <a:r>
              <a:rPr lang="es-ES" sz="2000"/>
              <a:t>, no en el </a:t>
            </a:r>
            <a:r>
              <a:rPr lang="es-ES" sz="2000" b="1"/>
              <a:t>contenido de las credenciales personales</a:t>
            </a:r>
            <a:r>
              <a:rPr lang="es-ES" sz="2000"/>
              <a:t>.</a:t>
            </a:r>
          </a:p>
          <a:p>
            <a:r>
              <a:rPr lang="es-ES" sz="2000"/>
              <a:t>Riesgo: que los gobiernos intenten </a:t>
            </a:r>
            <a:r>
              <a:rPr lang="es-ES" sz="2000" b="1"/>
              <a:t>centralizar o monitorizar wallets</a:t>
            </a:r>
            <a:r>
              <a:rPr lang="es-ES" sz="2000"/>
              <a:t>, lo que contradice la autosoberanía.</a:t>
            </a:r>
          </a:p>
          <a:p>
            <a:r>
              <a:rPr lang="es-ES" sz="2000"/>
              <a:t>Buen equilibrio: </a:t>
            </a:r>
            <a:r>
              <a:rPr lang="es-ES" sz="2000" b="1"/>
              <a:t>modelo federado</a:t>
            </a:r>
            <a:r>
              <a:rPr lang="es-ES" sz="2000"/>
              <a:t> (EBSI/eIDAS 2), donde la autoridad valida la red, no al individuo.</a:t>
            </a:r>
          </a:p>
        </p:txBody>
      </p:sp>
    </p:spTree>
    <p:extLst>
      <p:ext uri="{BB962C8B-B14F-4D97-AF65-F5344CB8AC3E}">
        <p14:creationId xmlns:p14="http://schemas.microsoft.com/office/powerpoint/2010/main" val="10435982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D2DCE-B0C2-EF2A-9E26-FEFE70CE7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69D165-2790-3ADC-DC5D-AEA96C1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Debate abierto – eIDAS 2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4E5459-1896-D9FA-048B-33728723C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8576"/>
            <a:ext cx="10691950" cy="4634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900" b="1"/>
              <a:t>Objetivo</a:t>
            </a:r>
          </a:p>
          <a:p>
            <a:pPr marL="0" indent="0">
              <a:buNone/>
            </a:pPr>
            <a:r>
              <a:rPr lang="es-ES" sz="1900"/>
              <a:t>Explorar el equilibrio entre privacidad y seguridad jurídica en el modelo europeo.</a:t>
            </a:r>
          </a:p>
          <a:p>
            <a:pPr marL="0" indent="0">
              <a:buNone/>
            </a:pPr>
            <a:r>
              <a:rPr lang="es-ES" sz="1900" b="1"/>
              <a:t>Preguntas guía</a:t>
            </a:r>
          </a:p>
          <a:p>
            <a:r>
              <a:rPr lang="es-ES" sz="1900"/>
              <a:t>¿Qué ventajas e inconvenientes tiene que la EUDI Wallet sea emitida por cada Estado?</a:t>
            </a:r>
          </a:p>
        </p:txBody>
      </p:sp>
    </p:spTree>
    <p:extLst>
      <p:ext uri="{BB962C8B-B14F-4D97-AF65-F5344CB8AC3E}">
        <p14:creationId xmlns:p14="http://schemas.microsoft.com/office/powerpoint/2010/main" val="30869102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B38E2-D8FE-DCB7-6538-BFEB70D5F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4894DC-E9AF-C40E-AD1B-1344D07C7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Debate abierto – Notas del Profesor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18E107-742E-E65C-6B57-52482890A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8576"/>
            <a:ext cx="10691950" cy="4634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b="1"/>
              <a:t>¿Qué ventajas e inconvenientes tiene que la EUDI Wallet sea emitida por cada Estado?</a:t>
            </a:r>
          </a:p>
          <a:p>
            <a:pPr marL="0" indent="0">
              <a:buNone/>
            </a:pPr>
            <a:r>
              <a:rPr lang="es-ES" sz="2000" b="1"/>
              <a:t>Ventajas:</a:t>
            </a:r>
            <a:endParaRPr lang="es-ES" sz="2000"/>
          </a:p>
          <a:p>
            <a:r>
              <a:rPr lang="es-ES" sz="2000"/>
              <a:t>Garantiza </a:t>
            </a:r>
            <a:r>
              <a:rPr lang="es-ES" sz="2000" b="1"/>
              <a:t>confianza legal y certificación</a:t>
            </a:r>
            <a:r>
              <a:rPr lang="es-ES" sz="2000"/>
              <a:t> del wallet.</a:t>
            </a:r>
          </a:p>
          <a:p>
            <a:r>
              <a:rPr lang="es-ES" sz="2000"/>
              <a:t>Permite </a:t>
            </a:r>
            <a:r>
              <a:rPr lang="es-ES" sz="2000" b="1"/>
              <a:t>integración directa con identidades nacionales</a:t>
            </a:r>
            <a:r>
              <a:rPr lang="es-ES" sz="2000"/>
              <a:t>.</a:t>
            </a:r>
          </a:p>
          <a:p>
            <a:r>
              <a:rPr lang="es-ES" sz="2000"/>
              <a:t>Facilita </a:t>
            </a:r>
            <a:r>
              <a:rPr lang="es-ES" sz="2000" b="1"/>
              <a:t>responsabilidad clara</a:t>
            </a:r>
            <a:r>
              <a:rPr lang="es-ES" sz="2000"/>
              <a:t> ante ciberincidentes o fraude.</a:t>
            </a:r>
          </a:p>
          <a:p>
            <a:pPr marL="0" indent="0">
              <a:buNone/>
            </a:pPr>
            <a:r>
              <a:rPr lang="es-ES" sz="2000" b="1"/>
              <a:t>Inconvenientes:</a:t>
            </a:r>
            <a:endParaRPr lang="es-ES" sz="2000"/>
          </a:p>
          <a:p>
            <a:r>
              <a:rPr lang="es-ES" sz="2000"/>
              <a:t>Puede generar </a:t>
            </a:r>
            <a:r>
              <a:rPr lang="es-ES" sz="2000" b="1"/>
              <a:t>fragmentación</a:t>
            </a:r>
            <a:r>
              <a:rPr lang="es-ES" sz="2000"/>
              <a:t> técnica si los Estados usan implementaciones distintas.</a:t>
            </a:r>
          </a:p>
          <a:p>
            <a:r>
              <a:rPr lang="es-ES" sz="2000"/>
              <a:t>Riesgo de </a:t>
            </a:r>
            <a:r>
              <a:rPr lang="es-ES" sz="2000" b="1"/>
              <a:t>centralización o vigilancia</a:t>
            </a:r>
            <a:r>
              <a:rPr lang="es-ES" sz="2000"/>
              <a:t> si los gobiernos controlan claves o registros.</a:t>
            </a:r>
          </a:p>
          <a:p>
            <a:r>
              <a:rPr lang="es-ES" sz="2000"/>
              <a:t>Podría limitar la </a:t>
            </a:r>
            <a:r>
              <a:rPr lang="es-ES" sz="2000" b="1"/>
              <a:t>innovación privada</a:t>
            </a:r>
            <a:r>
              <a:rPr lang="es-ES" sz="2000"/>
              <a:t> si solo se permite una app oficial por país.</a:t>
            </a:r>
          </a:p>
          <a:p>
            <a:pPr marL="0" indent="0">
              <a:buNone/>
            </a:pPr>
            <a:r>
              <a:rPr lang="es-ES" sz="2000" b="1"/>
              <a:t>Solución prevista:</a:t>
            </a:r>
            <a:r>
              <a:rPr lang="es-ES" sz="2000"/>
              <a:t> interoperabilidad UE → wallet certificada por el Estado pero </a:t>
            </a:r>
            <a:r>
              <a:rPr lang="es-ES" sz="2000" b="1"/>
              <a:t>usable en toda la Unión</a:t>
            </a:r>
            <a:r>
              <a:rPr lang="es-ES" sz="2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56298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62390-6B75-000B-6803-3A7BC7D61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1128AB-4506-6AA2-ECEC-768FBAD6A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Debate abierto – eIDAS 2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B85080-1EE5-CF30-0FC2-D45FF43DA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8576"/>
            <a:ext cx="10691950" cy="4634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900" b="1"/>
              <a:t>Objetivo</a:t>
            </a:r>
          </a:p>
          <a:p>
            <a:pPr marL="0" indent="0">
              <a:buNone/>
            </a:pPr>
            <a:r>
              <a:rPr lang="es-ES" sz="1900"/>
              <a:t>Explorar el equilibrio entre privacidad y seguridad jurídica en el modelo europeo.</a:t>
            </a:r>
          </a:p>
          <a:p>
            <a:pPr marL="0" indent="0">
              <a:buNone/>
            </a:pPr>
            <a:r>
              <a:rPr lang="es-ES" sz="1900" b="1"/>
              <a:t>Preguntas guía</a:t>
            </a:r>
          </a:p>
          <a:p>
            <a:r>
              <a:rPr lang="es-ES" sz="1900"/>
              <a:t>¿Debería ser obligatorio el uso del wallet en trámites públicos?</a:t>
            </a:r>
          </a:p>
        </p:txBody>
      </p:sp>
    </p:spTree>
    <p:extLst>
      <p:ext uri="{BB962C8B-B14F-4D97-AF65-F5344CB8AC3E}">
        <p14:creationId xmlns:p14="http://schemas.microsoft.com/office/powerpoint/2010/main" val="25278832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1EEB9-CFFC-EC84-B3B9-6E7455D51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508B6-0DB7-E6F4-1B3C-A0E34B8B8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Debate abierto – Notas del Profesor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21ACFF-5627-20CC-FAB1-EF137619C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8576"/>
            <a:ext cx="10691950" cy="4634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b="1"/>
              <a:t>¿Debería ser obligatorio el uso del wallet en trámites públicos?</a:t>
            </a:r>
          </a:p>
          <a:p>
            <a:pPr marL="0" indent="0">
              <a:buNone/>
            </a:pPr>
            <a:r>
              <a:rPr lang="es-ES" sz="2000" b="1"/>
              <a:t>No obligatorio para el ciudadano, sí para la administración.</a:t>
            </a:r>
            <a:endParaRPr lang="es-ES" sz="2000"/>
          </a:p>
          <a:p>
            <a:r>
              <a:rPr lang="es-ES" sz="2000"/>
              <a:t>El espíritu de eIDAS 2 es la </a:t>
            </a:r>
            <a:r>
              <a:rPr lang="es-ES" sz="2000" b="1"/>
              <a:t>voluntariedad individual</a:t>
            </a:r>
            <a:r>
              <a:rPr lang="es-ES" sz="2000"/>
              <a:t>.</a:t>
            </a:r>
          </a:p>
          <a:p>
            <a:r>
              <a:rPr lang="es-ES" sz="2000"/>
              <a:t>Las administraciones públicas deben </a:t>
            </a:r>
            <a:r>
              <a:rPr lang="es-ES" sz="2000" b="1"/>
              <a:t>aceptar</a:t>
            </a:r>
            <a:r>
              <a:rPr lang="es-ES" sz="2000"/>
              <a:t> la wallet como opción válida, pero no imponerla.</a:t>
            </a:r>
          </a:p>
          <a:p>
            <a:r>
              <a:rPr lang="es-ES" sz="2000"/>
              <a:t>Obligarlo sería contradictorio con el principio de </a:t>
            </a:r>
            <a:r>
              <a:rPr lang="es-ES" sz="2000" b="1"/>
              <a:t>autodeterminación digital</a:t>
            </a:r>
            <a:r>
              <a:rPr lang="es-ES" sz="2000"/>
              <a:t>.</a:t>
            </a:r>
          </a:p>
          <a:p>
            <a:r>
              <a:rPr lang="es-ES" sz="2000"/>
              <a:t>Sin embargo, podría ser </a:t>
            </a:r>
            <a:r>
              <a:rPr lang="es-ES" sz="2000" b="1"/>
              <a:t>necesario</a:t>
            </a:r>
            <a:r>
              <a:rPr lang="es-ES" sz="2000"/>
              <a:t> en casos de alta seguridad (firmas cualificadas, licitaciones, títulos oficiales).</a:t>
            </a:r>
          </a:p>
        </p:txBody>
      </p:sp>
    </p:spTree>
    <p:extLst>
      <p:ext uri="{BB962C8B-B14F-4D97-AF65-F5344CB8AC3E}">
        <p14:creationId xmlns:p14="http://schemas.microsoft.com/office/powerpoint/2010/main" val="5277840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07F4B-7D36-ED22-6E93-1BC4DFDF0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76D54E-2B3C-A354-CF6C-2B0632E9D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Debate abierto – eIDAS 2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0A1EBC-4EEB-8227-6629-B26FF060F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8576"/>
            <a:ext cx="10691950" cy="4634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900" b="1"/>
              <a:t>Objetivo</a:t>
            </a:r>
          </a:p>
          <a:p>
            <a:pPr marL="0" indent="0">
              <a:buNone/>
            </a:pPr>
            <a:r>
              <a:rPr lang="es-ES" sz="1900"/>
              <a:t>Explorar el equilibrio entre privacidad y seguridad jurídica en el modelo europeo.</a:t>
            </a:r>
          </a:p>
          <a:p>
            <a:pPr marL="0" indent="0">
              <a:buNone/>
            </a:pPr>
            <a:r>
              <a:rPr lang="es-ES" sz="1900" b="1"/>
              <a:t>Preguntas guía</a:t>
            </a:r>
          </a:p>
          <a:p>
            <a:r>
              <a:rPr lang="es-ES" sz="1900"/>
              <a:t>¿Qué riesgos existen si empresas privadas pueden emitir credenciales QEAA?</a:t>
            </a:r>
          </a:p>
        </p:txBody>
      </p:sp>
    </p:spTree>
    <p:extLst>
      <p:ext uri="{BB962C8B-B14F-4D97-AF65-F5344CB8AC3E}">
        <p14:creationId xmlns:p14="http://schemas.microsoft.com/office/powerpoint/2010/main" val="7919018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61901-9914-4969-3D61-0DB13B1D2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99928C-6788-25C8-BB94-07E24D89E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Debate abierto – Notas del Profesor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F2A4D0-0C63-B129-413E-05BC32561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8576"/>
            <a:ext cx="10691950" cy="4634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b="1"/>
              <a:t>¿Qué riesgos existen si empresas privadas pueden emitir credenciales QEAA?</a:t>
            </a:r>
          </a:p>
          <a:p>
            <a:r>
              <a:rPr lang="es-ES" sz="2000" b="1"/>
              <a:t>Conflicto de intereses:</a:t>
            </a:r>
            <a:r>
              <a:rPr lang="es-ES" sz="2000"/>
              <a:t> podrían emitir credenciales que favorezcan su negocio.</a:t>
            </a:r>
          </a:p>
          <a:p>
            <a:r>
              <a:rPr lang="es-ES" sz="2000" b="1"/>
              <a:t>Riesgo de sobreemisión o falsedad</a:t>
            </a:r>
            <a:r>
              <a:rPr lang="es-ES" sz="2000"/>
              <a:t> si no se auditan adecuadamente.</a:t>
            </a:r>
          </a:p>
          <a:p>
            <a:r>
              <a:rPr lang="es-ES" sz="2000" b="1"/>
              <a:t>Dependencia comercial:</a:t>
            </a:r>
            <a:r>
              <a:rPr lang="es-ES" sz="2000"/>
              <a:t> el usuario perdería soberanía si necesita apps o APIs propietarias.</a:t>
            </a:r>
          </a:p>
          <a:p>
            <a:r>
              <a:rPr lang="es-ES" sz="2000" b="1"/>
              <a:t>Desigualdad de confianza:</a:t>
            </a:r>
            <a:r>
              <a:rPr lang="es-ES" sz="2000"/>
              <a:t> credenciales estatales vs. privadas podrían tener distinto nivel de aceptación.</a:t>
            </a:r>
          </a:p>
          <a:p>
            <a:pPr marL="0" indent="0">
              <a:buNone/>
            </a:pPr>
            <a:r>
              <a:rPr lang="es-ES" sz="2000" b="1"/>
              <a:t>Mitigación:</a:t>
            </a:r>
            <a:br>
              <a:rPr lang="es-ES" sz="2000"/>
            </a:br>
            <a:r>
              <a:rPr lang="es-ES" sz="2000"/>
              <a:t>Solo permitir emisores privados </a:t>
            </a:r>
            <a:r>
              <a:rPr lang="es-ES" sz="2000" b="1"/>
              <a:t>acreditados y supervisados</a:t>
            </a:r>
            <a:r>
              <a:rPr lang="es-ES" sz="2000"/>
              <a:t> bajo el trust framework de eIDAS 2 (igual que prestadores cualificados hoy).</a:t>
            </a:r>
          </a:p>
        </p:txBody>
      </p:sp>
    </p:spTree>
    <p:extLst>
      <p:ext uri="{BB962C8B-B14F-4D97-AF65-F5344CB8AC3E}">
        <p14:creationId xmlns:p14="http://schemas.microsoft.com/office/powerpoint/2010/main" val="4074257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FDD2C-3542-8AA8-D585-F869D3E7B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9BE737-05CD-3822-5A96-BFDA40899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Debate abierto – eIDAS 2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1D3D19-8B58-16BC-0DB2-E240D0950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8576"/>
            <a:ext cx="10691950" cy="4634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900" b="1"/>
              <a:t>Objetivo</a:t>
            </a:r>
          </a:p>
          <a:p>
            <a:pPr marL="0" indent="0">
              <a:buNone/>
            </a:pPr>
            <a:r>
              <a:rPr lang="es-ES" sz="1900"/>
              <a:t>Explorar el equilibrio entre privacidad y seguridad jurídica en el modelo europeo.</a:t>
            </a:r>
          </a:p>
          <a:p>
            <a:pPr marL="0" indent="0">
              <a:buNone/>
            </a:pPr>
            <a:r>
              <a:rPr lang="es-ES" sz="1900" b="1"/>
              <a:t>Preguntas guía</a:t>
            </a:r>
          </a:p>
          <a:p>
            <a:r>
              <a:rPr lang="es-ES" sz="1900"/>
              <a:t>¿Podría coexistir la SSI con el anonimato en blockchain?</a:t>
            </a:r>
          </a:p>
        </p:txBody>
      </p:sp>
    </p:spTree>
    <p:extLst>
      <p:ext uri="{BB962C8B-B14F-4D97-AF65-F5344CB8AC3E}">
        <p14:creationId xmlns:p14="http://schemas.microsoft.com/office/powerpoint/2010/main" val="2722219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A6C9C-958E-615F-F1A0-1F1646B78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BBFC6-6F0E-15E4-B92D-4BF184520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Debate abierto – Notas del Profesor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D481FC-339E-793A-4D6F-64071DD34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8576"/>
            <a:ext cx="10691950" cy="4634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b="1"/>
              <a:t>¿Podría coexistir la SSI con el anonimato en blockchain?</a:t>
            </a:r>
          </a:p>
          <a:p>
            <a:pPr marL="0" indent="0">
              <a:buNone/>
            </a:pPr>
            <a:r>
              <a:rPr lang="es-ES" sz="2000" b="1"/>
              <a:t>Solo parcialmente.</a:t>
            </a:r>
            <a:endParaRPr lang="es-ES" sz="2000"/>
          </a:p>
          <a:p>
            <a:r>
              <a:rPr lang="es-ES" sz="2000"/>
              <a:t>SSI busca </a:t>
            </a:r>
            <a:r>
              <a:rPr lang="es-ES" sz="2000" b="1"/>
              <a:t>identificación verificable</a:t>
            </a:r>
            <a:r>
              <a:rPr lang="es-ES" sz="2000"/>
              <a:t>, mientras que blockchain nació para </a:t>
            </a:r>
            <a:r>
              <a:rPr lang="es-ES" sz="2000" b="1"/>
              <a:t>seudonimato</a:t>
            </a:r>
            <a:r>
              <a:rPr lang="es-ES" sz="2000"/>
              <a:t>.</a:t>
            </a:r>
          </a:p>
          <a:p>
            <a:r>
              <a:rPr lang="es-ES" sz="2000"/>
              <a:t>Es posible lograr </a:t>
            </a:r>
            <a:r>
              <a:rPr lang="es-ES" sz="2000" b="1"/>
              <a:t>anonimato selectivo</a:t>
            </a:r>
            <a:r>
              <a:rPr lang="es-ES" sz="2000"/>
              <a:t> con técnicas como </a:t>
            </a:r>
            <a:r>
              <a:rPr lang="es-ES" sz="2000" b="1"/>
              <a:t>Zero-Knowledge Proofs (ZKP)</a:t>
            </a:r>
            <a:r>
              <a:rPr lang="es-ES" sz="2000"/>
              <a:t> y </a:t>
            </a:r>
            <a:r>
              <a:rPr lang="es-ES" sz="2000" b="1"/>
              <a:t>Selective Disclosure</a:t>
            </a:r>
            <a:r>
              <a:rPr lang="es-ES" sz="2000"/>
              <a:t>, donde se demuestra algo sin revelar identidad.</a:t>
            </a:r>
          </a:p>
          <a:p>
            <a:r>
              <a:rPr lang="es-ES" sz="2000"/>
              <a:t>Pero en contextos legales (KYC, contratos, servicios públicos), el </a:t>
            </a:r>
            <a:r>
              <a:rPr lang="es-ES" sz="2000" b="1"/>
              <a:t>anonimato total no es compatible</a:t>
            </a:r>
            <a:r>
              <a:rPr lang="es-ES" sz="2000"/>
              <a:t>.</a:t>
            </a:r>
          </a:p>
          <a:p>
            <a:r>
              <a:rPr lang="es-ES" sz="2000"/>
              <a:t>El equilibrio es la </a:t>
            </a:r>
            <a:r>
              <a:rPr lang="es-ES" sz="2000" b="1"/>
              <a:t>pseudonimización verificable</a:t>
            </a:r>
            <a:r>
              <a:rPr lang="es-ES" sz="2000"/>
              <a:t>: el usuario controla su identidad, pero puede probar atributos concretos cuando lo decide.</a:t>
            </a:r>
          </a:p>
        </p:txBody>
      </p:sp>
    </p:spTree>
    <p:extLst>
      <p:ext uri="{BB962C8B-B14F-4D97-AF65-F5344CB8AC3E}">
        <p14:creationId xmlns:p14="http://schemas.microsoft.com/office/powerpoint/2010/main" val="41167837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24CF3-A9FB-A16C-FBFB-FAA041433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FDE894-91B5-8F58-C0DB-1BA65AFD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Actividad – Roles de Identidad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8111D1-3199-327C-893D-83E1AC228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8576"/>
            <a:ext cx="10691950" cy="46348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sz="2000"/>
              <a:t>Dividir la clase en tres grupos.</a:t>
            </a:r>
          </a:p>
          <a:p>
            <a:pPr marL="0" indent="0">
              <a:buNone/>
            </a:pPr>
            <a:r>
              <a:rPr lang="es-ES" sz="2000"/>
              <a:t>Grupo A: representa una plataforma con identidad centralizada (tipo universidad o ministerio).</a:t>
            </a:r>
          </a:p>
          <a:p>
            <a:pPr marL="0" indent="0">
              <a:buNone/>
            </a:pPr>
            <a:r>
              <a:rPr lang="es-ES" sz="2000"/>
              <a:t>Grupo B: representa una identidad federada (tipo “Login con Google”).</a:t>
            </a:r>
          </a:p>
          <a:p>
            <a:pPr marL="0" indent="0">
              <a:buNone/>
            </a:pPr>
            <a:r>
              <a:rPr lang="es-ES" sz="2000"/>
              <a:t>Grupo C: representa una identidad autosoberana (SSI).</a:t>
            </a:r>
          </a:p>
          <a:p>
            <a:pPr marL="0" indent="0">
              <a:buNone/>
            </a:pPr>
            <a:endParaRPr lang="es-ES" sz="2000"/>
          </a:p>
          <a:p>
            <a:pPr marL="0" indent="0">
              <a:buNone/>
            </a:pPr>
            <a:r>
              <a:rPr lang="es-ES" sz="2000"/>
              <a:t>Caso común: “Un ciudadano quiere registrarse en un portal para acceder a una beca ofertada”.</a:t>
            </a:r>
          </a:p>
          <a:p>
            <a:pPr marL="0" indent="0">
              <a:buNone/>
            </a:pPr>
            <a:r>
              <a:rPr lang="es-ES" sz="2000"/>
              <a:t>Cada grupo debe responder:</a:t>
            </a:r>
          </a:p>
          <a:p>
            <a:r>
              <a:rPr lang="es-ES" sz="2000"/>
              <a:t>¿Quién controla los datos?</a:t>
            </a:r>
          </a:p>
          <a:p>
            <a:r>
              <a:rPr lang="es-ES" sz="2000"/>
              <a:t>¿Qué pasa si el proveedor cae o se hackea?</a:t>
            </a:r>
          </a:p>
          <a:p>
            <a:r>
              <a:rPr lang="es-ES" sz="2000"/>
              <a:t>¿Qué ventajas y desventajas tiene su modelo para el ciudadano y la administración?</a:t>
            </a:r>
          </a:p>
          <a:p>
            <a:pPr marL="0" indent="0">
              <a:buNone/>
            </a:pPr>
            <a:endParaRPr lang="es-ES" sz="2000"/>
          </a:p>
          <a:p>
            <a:pPr marL="0" indent="0">
              <a:buNone/>
            </a:pPr>
            <a:r>
              <a:rPr lang="es-ES" sz="2000"/>
              <a:t>Hacer una puesta en común y comparan qué modelo ofrece más control y menos riesgos.</a:t>
            </a:r>
          </a:p>
        </p:txBody>
      </p:sp>
    </p:spTree>
    <p:extLst>
      <p:ext uri="{BB962C8B-B14F-4D97-AF65-F5344CB8AC3E}">
        <p14:creationId xmlns:p14="http://schemas.microsoft.com/office/powerpoint/2010/main" val="37103030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A11FD-BEF6-CE97-42BF-865D1A48E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34750-2062-6992-AEB0-670743F2C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/>
              <a:t>Actividad – Diseña tu sistema de SSI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F5F328-7AD7-68A5-A99E-68B65DD18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8576"/>
            <a:ext cx="10691950" cy="4634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/>
              <a:t>Dividir la clase en tres grupos.</a:t>
            </a:r>
          </a:p>
          <a:p>
            <a:pPr marL="0" indent="0">
              <a:buNone/>
            </a:pPr>
            <a:r>
              <a:rPr lang="es-ES" sz="2000"/>
              <a:t>Deben planificar para una administración gubernamental inteligente un sistema de SSI. Para ello indicarán:</a:t>
            </a:r>
          </a:p>
          <a:p>
            <a:pPr marL="0" indent="0">
              <a:buNone/>
            </a:pPr>
            <a:endParaRPr lang="es-ES" sz="2000"/>
          </a:p>
          <a:p>
            <a:r>
              <a:rPr lang="es-ES" sz="2000"/>
              <a:t>¿Qué actores existen? (Quienes serán: Issuer, Holder, Verifier)</a:t>
            </a:r>
          </a:p>
          <a:p>
            <a:r>
              <a:rPr lang="es-ES" sz="2000"/>
              <a:t>¿Qué tipo de credenciales se emitirán? (títulos, historiales, permisos, identidades profesionales, etc.) </a:t>
            </a:r>
          </a:p>
          <a:p>
            <a:r>
              <a:rPr lang="es-ES" sz="2000"/>
              <a:t>¿Cómo se gestionará la confianza? (¿quién valida a los emisores? ¿qué auditorías o normas seguirán?)</a:t>
            </a:r>
          </a:p>
          <a:p>
            <a:r>
              <a:rPr lang="es-ES" sz="2000"/>
              <a:t>¿Qué problemas podrían surgir (pérdida de claves, privacidad)?</a:t>
            </a:r>
          </a:p>
          <a:p>
            <a:r>
              <a:rPr lang="es-ES" sz="2000"/>
              <a:t>Qué requisitos pedirán para aceptar a un issuer.</a:t>
            </a:r>
          </a:p>
          <a:p>
            <a:r>
              <a:rPr lang="es-ES" sz="2000"/>
              <a:t>Cómo controlarán el cumplimiento de esos requisitos.</a:t>
            </a:r>
          </a:p>
        </p:txBody>
      </p:sp>
    </p:spTree>
    <p:extLst>
      <p:ext uri="{BB962C8B-B14F-4D97-AF65-F5344CB8AC3E}">
        <p14:creationId xmlns:p14="http://schemas.microsoft.com/office/powerpoint/2010/main" val="32404369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4070</Words>
  <Application>Microsoft Office PowerPoint</Application>
  <PresentationFormat>Panorámica</PresentationFormat>
  <Paragraphs>442</Paragraphs>
  <Slides>36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Tema de Office</vt:lpstr>
      <vt:lpstr>Blockchain</vt:lpstr>
      <vt:lpstr>De la identidad centralizada a la identidad autosoberana</vt:lpstr>
      <vt:lpstr>Problemas del modelo actual</vt:lpstr>
      <vt:lpstr>Principios de la Self-Sovereign Identity</vt:lpstr>
      <vt:lpstr>Componentes básicos del modelo SSI</vt:lpstr>
      <vt:lpstr>DID - Identificador Descentralizado</vt:lpstr>
      <vt:lpstr>Formato del DID I</vt:lpstr>
      <vt:lpstr>Formato del DID II</vt:lpstr>
      <vt:lpstr>Formato del DID III</vt:lpstr>
      <vt:lpstr>Formato del DID IV</vt:lpstr>
      <vt:lpstr>Formato del DID V</vt:lpstr>
      <vt:lpstr>Verifiable Credentials (VCs)</vt:lpstr>
      <vt:lpstr>Estructura de una VC (W3C Standard)</vt:lpstr>
      <vt:lpstr>Flujo de emisión y verificación</vt:lpstr>
      <vt:lpstr>Ventajas y capacidades técnicas</vt:lpstr>
      <vt:lpstr>Agrupar y revocar</vt:lpstr>
      <vt:lpstr>Wallets e intro a eIDAS 2</vt:lpstr>
      <vt:lpstr>Repaso Día 17</vt:lpstr>
      <vt:lpstr>Noticia Bit2Me</vt:lpstr>
      <vt:lpstr>Noticia Bit2Me</vt:lpstr>
      <vt:lpstr>Actividad – Roles para SSI</vt:lpstr>
      <vt:lpstr>Qué es eIDAS 2</vt:lpstr>
      <vt:lpstr>Componentes del ecosistema eIDAS 2</vt:lpstr>
      <vt:lpstr>Consideraciones finales sobre eIDAS 2</vt:lpstr>
      <vt:lpstr>Debate abierto – eIDAS 2</vt:lpstr>
      <vt:lpstr>Debate abierto – Notas del Profesor</vt:lpstr>
      <vt:lpstr>Debate abierto – eIDAS 2</vt:lpstr>
      <vt:lpstr>Debate abierto – Notas del Profesor</vt:lpstr>
      <vt:lpstr>Debate abierto – eIDAS 2</vt:lpstr>
      <vt:lpstr>Debate abierto – Notas del Profesor</vt:lpstr>
      <vt:lpstr>Debate abierto – eIDAS 2</vt:lpstr>
      <vt:lpstr>Debate abierto – Notas del Profesor</vt:lpstr>
      <vt:lpstr>Debate abierto – eIDAS 2</vt:lpstr>
      <vt:lpstr>Debate abierto – Notas del Profesor</vt:lpstr>
      <vt:lpstr>Actividad – Roles de Identidad</vt:lpstr>
      <vt:lpstr>Actividad – Diseña tu sistema de SSI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Nieto</dc:creator>
  <cp:lastModifiedBy>Javier Nieto</cp:lastModifiedBy>
  <cp:revision>1</cp:revision>
  <dcterms:created xsi:type="dcterms:W3CDTF">2026-04-16T10:37:36Z</dcterms:created>
  <dcterms:modified xsi:type="dcterms:W3CDTF">2026-04-16T10:52:26Z</dcterms:modified>
</cp:coreProperties>
</file>