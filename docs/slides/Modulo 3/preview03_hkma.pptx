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5"/>
    <p:sldId id="266" r:id="rId16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7" d="100"/>
          <a:sy n="57" d="100"/>
        </p:scale>
        <p:origin x="948" y="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22627E"/>
                </a:solidFill>
                <a:latin typeface="Calibri"/>
              </a:defRPr>
            </a:pPr>
            <a:r>
              <a:t>Modulo 3: Vision Empresarial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097280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5400" b="1">
                <a:solidFill>
                  <a:srgbClr val="22627E"/>
                </a:solidFill>
                <a:latin typeface="Calibri"/>
              </a:defRPr>
            </a:pPr>
            <a:r>
              <a:t>HKMA eTradeConnect:</a:t>
            </a:r>
            <a:br/>
            <a:r>
              <a:t>Regulador en el consorcio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109728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0">
                <a:solidFill>
                  <a:srgbClr val="333333"/>
                </a:solidFill>
                <a:latin typeface="Calibri"/>
              </a:defRPr>
            </a:pPr>
            <a:r>
              <a:t>El banco central de Hong Kong como miembro de la red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Caso 3: HKMA eTradeConnect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Plataforma interbancaria con el regulador dentro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El problema que resolvieron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2041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Hong Kong es un hub de </a:t>
            </a:r>
            <a:r>
              <a:rPr dirty="0" err="1"/>
              <a:t>comercio</a:t>
            </a:r>
            <a:r>
              <a:rPr dirty="0"/>
              <a:t> </a:t>
            </a:r>
            <a:r>
              <a:rPr dirty="0" err="1"/>
              <a:t>internacional</a:t>
            </a:r>
            <a:endParaRPr dirty="0"/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 err="1"/>
              <a:t>Fraude</a:t>
            </a:r>
            <a:r>
              <a:rPr dirty="0"/>
              <a:t> de doble </a:t>
            </a:r>
            <a:r>
              <a:rPr dirty="0" err="1"/>
              <a:t>financiacion</a:t>
            </a:r>
            <a:r>
              <a:rPr dirty="0"/>
              <a:t>: un </a:t>
            </a:r>
            <a:r>
              <a:rPr dirty="0" err="1"/>
              <a:t>exportador</a:t>
            </a:r>
            <a:r>
              <a:rPr dirty="0"/>
              <a:t> </a:t>
            </a:r>
            <a:r>
              <a:rPr dirty="0" err="1"/>
              <a:t>pide</a:t>
            </a:r>
            <a:r>
              <a:rPr dirty="0"/>
              <a:t> </a:t>
            </a:r>
            <a:r>
              <a:rPr dirty="0" err="1"/>
              <a:t>credito</a:t>
            </a:r>
            <a:r>
              <a:rPr dirty="0"/>
              <a:t> a 2 </a:t>
            </a:r>
            <a:r>
              <a:rPr dirty="0" err="1"/>
              <a:t>bancos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la </a:t>
            </a:r>
            <a:r>
              <a:rPr dirty="0" err="1"/>
              <a:t>misma</a:t>
            </a:r>
            <a:r>
              <a:rPr dirty="0"/>
              <a:t> </a:t>
            </a:r>
            <a:r>
              <a:rPr dirty="0" err="1"/>
              <a:t>mercancia</a:t>
            </a:r>
            <a:endParaRPr dirty="0"/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Sin red </a:t>
            </a:r>
            <a:r>
              <a:rPr dirty="0" err="1"/>
              <a:t>compartida</a:t>
            </a:r>
            <a:r>
              <a:rPr dirty="0"/>
              <a:t>, </a:t>
            </a:r>
            <a:r>
              <a:rPr dirty="0" err="1"/>
              <a:t>cada</a:t>
            </a:r>
            <a:r>
              <a:rPr dirty="0"/>
              <a:t> banco solo </a:t>
            </a:r>
            <a:r>
              <a:rPr dirty="0" err="1"/>
              <a:t>ve</a:t>
            </a:r>
            <a:r>
              <a:rPr dirty="0"/>
              <a:t> sus </a:t>
            </a:r>
            <a:r>
              <a:rPr dirty="0" err="1"/>
              <a:t>operaciones</a:t>
            </a:r>
            <a:r>
              <a:rPr dirty="0"/>
              <a:t> — </a:t>
            </a:r>
            <a:r>
              <a:rPr dirty="0" err="1"/>
              <a:t>imposible</a:t>
            </a:r>
            <a:r>
              <a:rPr dirty="0"/>
              <a:t> </a:t>
            </a:r>
            <a:r>
              <a:rPr dirty="0" err="1"/>
              <a:t>detectar</a:t>
            </a:r>
            <a:r>
              <a:rPr dirty="0"/>
              <a:t> </a:t>
            </a:r>
            <a:r>
              <a:rPr dirty="0" err="1"/>
              <a:t>solapamientos</a:t>
            </a:r>
            <a:endParaRPr dirty="0"/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Cada a</a:t>
            </a:r>
            <a:r>
              <a:rPr lang="es-ES" dirty="0"/>
              <a:t>ñ</a:t>
            </a:r>
            <a:r>
              <a:rPr dirty="0"/>
              <a:t>o se </a:t>
            </a:r>
            <a:r>
              <a:rPr dirty="0" err="1"/>
              <a:t>pierden</a:t>
            </a:r>
            <a:r>
              <a:rPr dirty="0"/>
              <a:t> </a:t>
            </a:r>
            <a:r>
              <a:rPr dirty="0" err="1"/>
              <a:t>millones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este</a:t>
            </a:r>
            <a:r>
              <a:rPr dirty="0"/>
              <a:t> </a:t>
            </a:r>
            <a:r>
              <a:rPr dirty="0" err="1"/>
              <a:t>tipo</a:t>
            </a:r>
            <a:r>
              <a:rPr dirty="0"/>
              <a:t> de </a:t>
            </a:r>
            <a:r>
              <a:rPr dirty="0" err="1"/>
              <a:t>fraude</a:t>
            </a:r>
            <a:endParaRPr dirty="0"/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La HKMA (banco central) </a:t>
            </a:r>
            <a:r>
              <a:rPr dirty="0" err="1"/>
              <a:t>necesitaba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forma de </a:t>
            </a:r>
            <a:r>
              <a:rPr dirty="0" err="1"/>
              <a:t>supervisar</a:t>
            </a:r>
            <a:r>
              <a:rPr dirty="0"/>
              <a:t> sin </a:t>
            </a:r>
            <a:r>
              <a:rPr dirty="0" err="1"/>
              <a:t>crear</a:t>
            </a:r>
            <a:r>
              <a:rPr dirty="0"/>
              <a:t> overhead </a:t>
            </a:r>
            <a:r>
              <a:rPr dirty="0" err="1"/>
              <a:t>burocratico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La solucion con Hyperledger Fabric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Lanzado en 2018 por la Hong Kong Monetary Authority (HKMA)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Miembros iniciales: 12 bancos principales de Hong Kong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HSBC, Standard Chartered, BOC HK, DBS, ICBC, ANZ, Hang Seng, BNP Paribas...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Diferencia clave con We.Trade: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El regulador (HKMA) esta en el consorcio como una org mas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Tiene visibilidad completa de todas las operaciones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Puede marcar operaciones sospechosas para revision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Pero NO puede modificar operaciones entre bancos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Este diseno da equilibrio entre supervision y autonomia bancaria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Deteccion automatica de doble financiacion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Identificador unico: el hash SHA-256 de la factura original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Antes de financiar, el chaincode verifica que ese hash no este ya registrado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Si existe: se rechaza la transaccion Y se emite evento al regulador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Resultado: el fraude se detecta en el momento de la solicitud, no meses despues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En produccion: millones de operaciones procesadas, cientos de fraudes detectados automaticamente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Interoperable con We.Trade para operaciones Asia-Europa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Topologia HKMA eTradeConnect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371600" y="1371600"/>
            <a:ext cx="9418320" cy="4114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0" y="2286000"/>
            <a:ext cx="850392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0">
                <a:solidFill>
                  <a:srgbClr val="999999"/>
                </a:solidFill>
                <a:latin typeface="Calibri"/>
              </a:defRPr>
            </a:pPr>
            <a:r>
              <a:t>[Diagrama: 3-4 bancos conectados a un canal compartido, con la HKMA tambien conectada como org con permisos especiales]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840480"/>
            <a:ext cx="9418320" cy="3200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71600" y="3840480"/>
            <a:ext cx="94183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Prompt para IA generativa: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4297680"/>
            <a:ext cx="88696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7C3AED"/>
                </a:solidFill>
                <a:latin typeface="Consolas"/>
              </a:defRPr>
            </a:pPr>
            <a:r>
              <a:t>Network topology for HKMA eTradeConnect: three commercial banks (HSBC, Standard Chartered, BOC) each with their peer, plus a regulator node (HKMA) with special privileges. All connected to a shared channel. The regulator has reading access to everything plus flagging rights. Clean flat design with red accent for regulator.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2286000" cy="457200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2286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EJERCICIO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74320"/>
            <a:ext cx="8686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333333"/>
                </a:solidFill>
                <a:latin typeface="Calibri"/>
              </a:defRPr>
            </a:pPr>
            <a:r>
              <a:t>EJERCICIO: Diseña tu red con regulador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Caso practico adaptado al aula: 3 bancos + regulador.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Actores: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HSBC Hong Kong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Standard Chartered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BOC Hong Kong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HKMA (banco central como org auditora)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Tareas: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FASE 1 (sobre el papel, 30 min):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  Definir permisos del regulador (leer, marcar, bloquear?)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  Mecanismo de deteccion de doble financiacion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  Conciliar privacidad bancaria con auditoria del regulador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FASE 2 (en el ordenador, 90 min):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  Montar red con 4 orgs (3 bancos + regulador)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  Desplegar chaincode con control de acceso por MSPID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  Probar flujo happy path + intento de doble financiacion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  Validar que el regulador audita pero no modifica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Guia completa: docs/modulo-3/ejercicios/ejercicio-hkma.md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Preguntas clave para tu diseño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1. ¿El regulador endorsea cada transaccion o solo audita?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2. ¿Como identificas univocamente una factura para detectar duplicados?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3. ¿Que datos personales PUEDES guardar on-chain? (cuidado con GDPR)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4. ¿El regulador deberia poder CONGELAR operaciones sospechosas?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5. ¿Que pasa si el certificado del regulador es comprometido?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6. ¿Un rich query por invoiceHash es rapido con LevelDB? ¿Necesitas CouchDB?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1645920" cy="45720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6459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DEBATE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333333"/>
                </a:solidFill>
                <a:latin typeface="Calibri"/>
              </a:defRPr>
            </a:pPr>
            <a:r>
              <a:t>Debate: regulador como miembro del consorcio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1. ¿Tiene sentido que el regulador este en el consorcio o es mejor acceso via API?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2. Hong Kong tiene a la HKMA. En Europa, ¿seria la BCE? ¿Cada pais su banco central?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3. ¿Un regulador con acceso total a todas las operaciones es privacy-friendly?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4. Si el regulador es comprometido, ¿que impacto tendria?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5. ¿Puede un banco oponerse a una marca del regulador sin saltarse las reglas?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Respuestas a las preguntas clave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1. ¿Regulador endorsa o solo audita?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Solo audita. El regulador NO endorsea transacciones normales.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Evita que el regulador pueda alterar el flujo de negocio.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Excepcion: funciones administrativas (bloquear, marcar) si endorsa.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2. Identificar univocamente una factura: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Hash SHA-256 del contenido de la factura (datos normalizados).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El hash es unico, determinista y no revela el contenido.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3. Datos personales on-chain (GDPR):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NO guardar datos personales (nombres, DNIs, direcciones) on-chain.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Guardar solo HASHES o IDs pseudonimos.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Los datos reales van off-chain (BD tradicional de cada banco).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4. ¿Regulador puede CONGELAR operaciones?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Si, pero con garantias: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  - Evento de auditoria registrado (quien, cuando, por que)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  - Los bancos involucrados tienen derecho a apelar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  - Bloquear != confiscar; el estado del activo cambia, no desaparece.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5. Si el cert del regulador es comprometido: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Revocar el cert via Fabric CA + generar CRL + distribuir a peers.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Hasta que los peers aplican la CRL, el cert comprometido es valido.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Mitigacion: rotacion periodica + monitoreo de comportamiento anomalo.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6. Rich query por invoiceHash: ¿LevelDB o CouchDB?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LevelDB: rich queries NO funcionan, habria que escanear todo.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CouchDB: indice por invoiceHash permite busqueda O(log n).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Respuesta: CouchDB es IMPRESCINDIBLE para este caso de uso.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Respuestas al debate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1. ¿Regulador en el consorcio o acceso via API?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En el consorcio = supervision en tiempo real, deteccion inmediata.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Via API = mas control de acceso, menos intrusivo, mas lento.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Lo correcto depende del nivel de confianza y del marco legal local.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2. En Europa, ¿BCE o banco central nacional?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BCE a nivel europeo — operaciones transfronterizas.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Banco central nacional para operaciones domesticas (p.ej. Banco de Espana).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Modelo hibrido: federacion de bancos centrales (similar a EBSI).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3. ¿Regulador con acceso total es privacy-friendly?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No es privacy-friendly por naturaleza, pero SI es 'auditoria razonable'.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El regulador ya tiene acceso legal a esta informacion (aunque mas lento).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Clave: que sea PROPORCIONAL y AUDITABLE (acceso justificado y registrado).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4. Si el regulador es comprometido: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Grave — el regulador tiene visibilidad total de operaciones.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Requiere: rotacion frecuente de cert, HSM para la clave privada,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multi-factor para operaciones sensibles, auditoria de los accesos del regulador.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5. ¿Puede un banco oponerse a una marca del regulador?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Legalmente: via tribunales (el regulador tiene autoridad limitada).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Tecnicamente: NO dentro del chaincode (la politica lo rechaza).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El banco puede solicitar revision, pero la operacion queda marcada hasta aclarar.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702</Words>
  <Application>Microsoft Office PowerPoint</Application>
  <PresentationFormat>Personalizado</PresentationFormat>
  <Paragraphs>70</Paragraphs>
  <Slides>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Javier Nieto</cp:lastModifiedBy>
  <cp:revision>2</cp:revision>
  <dcterms:created xsi:type="dcterms:W3CDTF">2013-01-27T09:14:16Z</dcterms:created>
  <dcterms:modified xsi:type="dcterms:W3CDTF">2026-04-23T10:14:58Z</dcterms:modified>
  <cp:category/>
</cp:coreProperties>
</file>