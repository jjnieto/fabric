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  <p:sldId id="272" r:id="rId18"/>
    <p:sldId id="273" r:id="rId19"/>
    <p:sldId id="274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8" y="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2627E"/>
                </a:solidFill>
                <a:latin typeface="Calibri"/>
              </a:defRPr>
            </a:pPr>
            <a:r>
              <a:t>Modulo 3: Vision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22627E"/>
                </a:solidFill>
                <a:latin typeface="Calibri"/>
              </a:defRPr>
            </a:pPr>
            <a:r>
              <a:t>Casos de Uso Reales:</a:t>
            </a:r>
            <a:br/>
            <a:r>
              <a:t>Exitos y Fracasos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Calibri"/>
              </a:defRPr>
            </a:pPr>
            <a:r>
              <a:t>Dia 1 - Que funciona, que no funciona y por 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Casos que SI funcionan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Proyectos blockchain enterprise en produccion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Walmart Food Trust (IBM + Hyperledger Fabric)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Trazabilidad alimentaria: rastrear el origen de productos frescos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Antes: rastrear un mango de la tienda a la granja tardaba 7 dias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Con Fabric: el mismo rastreo tarda 2.2 segundos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Mas de 150 organizaciones conectadas (proveedores, distribuidores)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produccion desde 2018 — uno de los mayores exitos de Fabric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Clave del exito: Walmart exigio a sus proveedores que participaran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Cuando el actor mas grande del ecosistema impone la adopcion, funciona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Pero genera debate: ¿es un consorcio o una imposicion?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We.Trade (financiacion de comercio internacional)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Consorcio de 12 bancos europeos (Deutsche Bank, HSBC, Santander, etc.)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Plataforma para financiar operaciones de comercio internacional entre PYMEs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Basado en Hyperledger Fabric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Flujo: PYME solicita financiacion → banco del comprador garantiza → banco del vendedor adelanta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Reduce el papeleo y el riesgo de fraude en operaciones cross-border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Lecciones: funciona porque todos los bancos tienen incentivo claro (reducir riesgo y coste)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HKMA eTradeConnect (Hong Kong)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Hong Kong Monetary Authority: plataforma de trade finance en Fabric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Conecta bancos de Hong Kong para compartir informacion de operaciones comerciales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Evita el fraude de doble financiacion (un exportador pide credito a dos bancos por la misma mercancia)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Interoperable con We.Trade (Europa) para operaciones Asia-Europa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produccion desde 2019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Clave: respaldo del regulador (HKMA) desde el inicio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Otros casos en produccion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ANZ + Scentre Group (Australia): tokenizacion de alquileres comerciales en Fabric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Maersk + IBM TradeLens: trazabilidad maritima (cerro en 2022, pero funciono tecnicamente)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Marco Polo Network: trade finance multi-banco en Corda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De Beers Tracr: trazabilidad de diamantes (funciona pero adopcion limitada)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Everledger: certificados de autenticidad de vinos, diamantes y arte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Carrefour: trazabilidad alimentaria (pollos, tomates) en Francia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Casos que fracasaron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¿Que podemos aprender?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TradeLens (Maersk + IBM) — cerro en 2022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Trazabilidad de comercio maritimo global en Hyperledger Fabric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Inversion de cientos de millones de dolares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¿Por que fallo?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Las navieras competidoras no querian unirse a una plataforma de Maersk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Problema del 'fundador dominante': ¿por que dar mis datos a mi competidor?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No se alcanzo masa critica: la red sin todos los actores no aportaba valor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Leccion: la gobernanza importa mas que la tecnologia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B3i (consorcio de aseguradoras) — cerro en 2022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Reaseguros automatizados en R3 Corda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Fundadores: Allianz, Swiss Re, Zurich, Munich Re y +15 aseguradoras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¿Por que fallo?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No encontro modelo de negocio viable: ¿quien paga la plataforma?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Las aseguradoras querian participar pero no financiar indefinidamente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Complejidad regulatoria: cada pais con reglas distintas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Los sistemas legacy eran muy dificiles de integrar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Leccion: la tecnologia funcionaba, el negocio no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Mas fracasos y sus lecciones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MedRec (MIT): historial medico en Ethereum — nunca paso de piloto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Regulacion sanitaria + UX para medicos = barrera insalvable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Voatz: votacion electronica — auditores encontraron vulnerabilidades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Seguridad + desconfianza politica = rechazo total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Registro de propiedad Honduras: abandonado por resistencia institucional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Los beneficiarios de la corrupcion bloquearon el proyecto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Resumen: exitos vs fracasos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371600"/>
          <a:ext cx="10515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Factor</a:t>
                      </a:r>
                    </a:p>
                  </a:txBody>
                  <a:tcPr>
                    <a:solidFill>
                      <a:srgbClr val="2262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Los que funcionan</a:t>
                      </a:r>
                    </a:p>
                  </a:txBody>
                  <a:tcPr>
                    <a:solidFill>
                      <a:srgbClr val="2262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Los que fracasan</a:t>
                      </a:r>
                    </a:p>
                  </a:txBody>
                  <a:tcPr>
                    <a:solidFill>
                      <a:srgbClr val="2262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Gobernanza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Equilibrada o respaldada por regulador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Fundador dominante o sin gobierno claro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Incentivos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Todos ganan algo concreto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Solo unos pocos se benefician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Masa critica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Actor principal impone o regulador exige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Voluntario y sin urgencia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Regulacion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Compatible o con apoyo del regulador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Choca con leyes existentes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Invisible para el usuario final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Requiere que el usuario entienda blockchain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MVP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Empiezan pequeno y escalan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Intentan todo desde el dia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¿Blockchain o base de datos? Arbol de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Hazte estas preguntas en orden: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¿Hay multiples partes que no confian entre si? → Si no, usa una BD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¿Necesitan compartir datos y validar transacciones? → Si no, usa APIs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¿La inmutabilidad del registro es critica? → Si no, usa una BD compartida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¿Las reglas de negocio deben ser verificables por todos? → Si no, usa una BD con permisos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¿Ningun actor puede ser 'el dueño' de la base de datos? → Si no, que ese actor la gestione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 has respondido SI a todas: blockchain tiene sentido.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 has respondido NO a alguna: probablemente no necesitas blockchain.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Arbol de decision: ¿necesito blockchain?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BE2791D-3832-45CD-6DA5-D49D2B377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0456" y="1124712"/>
            <a:ext cx="4359731" cy="55498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45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200400" cy="457200"/>
          </a:xfrm>
          <a:prstGeom prst="rect">
            <a:avLst/>
          </a:prstGeom>
          <a:solidFill>
            <a:srgbClr val="B45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TREASURE HUNT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228600"/>
            <a:ext cx="7772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El primer proyecto blockchain enterprise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B45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Antes de Fabric, antes de Corda, antes de los consorcios...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hubo un proyecto que demostro que blockchain podia usarse en empresas.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Mision: Investigar: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1. ¿Que proyecto se considera el primero en usar blockchain en enterprise?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 Pista: fue en el sector financiero, en 2015, y no usaba Ethereum.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2. ¿Que empresa lo impulso?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3. ¿En que se convirtio ese proyecto despues?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Tiempo: 10 minutos.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DEBATE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¿Blockchain o base de datos?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Para cada caso, decidir en grupo si blockchain tiene sentido o no. Justificar: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1. Un hospital quiere registrar historiales medicos de sus pacientes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2. Tres hospitales quieren compartir historiales de pacientes compartidos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3. Un banco quiere un registro inmutable de sus transacciones internas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4. Diez bancos quieren un sistema de liquidacion interbancaria sin intermediario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5. Una empresa quiere rastrear sus envios internos entre almacenes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6. Un consorcio de 50 productores quiere certificar el origen de sus productos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Repaso del 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1. Nombra 3 proyectos blockchain enterprise que funcionan en produccion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2. Nombra 2 que fracasaron y la razon principal de cada uno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3. ¿Cuales son las 5 preguntas del arbol de decision para saber si necesitas blockchain?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4. ¿Que significa el 'problema del fundador dominante'?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5. ¿Por que el respaldo del regulador es un factor clave de exito?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debate: ¿blockchain o BD?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Hospital registra historiales de sus pacientes: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BD tradicional. Un solo actor, sin necesidad de compartir. Blockchain seria over-engineering.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Tres hospitales comparten historiales de pacientes compartidos: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Blockchain. Multiples orgs, datos compartidos, trazabilidad necesaria.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Requiere diseño con Private Data para proteger datos personales (GDPR).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Banco registra sus transacciones internas: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BD tradicional. Un solo actor; si necesita auditoria, append-only DB o WORM storage.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Diez bancos: liquidacion interbancaria sin intermediario: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Blockchain. Caso arquetipico (ver HKMA eTradeConnect). Evita intermediario y detecta fraude.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Empresa rastrea envios internos entre almacenes: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BD tradicional o ERP. Un solo actor — no hay problema de confianza.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6. Consorcio de 50 productores certifica origen: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Blockchain. Multiples orgs, desconfianza posible, certificacion verificable.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Ver caso Walmart Food Trust.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repaso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24712"/>
            <a:ext cx="1051560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sz="2400" dirty="0"/>
              <a:t>1. Tres </a:t>
            </a:r>
            <a:r>
              <a:rPr sz="2400" dirty="0" err="1"/>
              <a:t>proyectos</a:t>
            </a:r>
            <a:r>
              <a:rPr sz="2400" dirty="0"/>
              <a:t> </a:t>
            </a:r>
            <a:r>
              <a:rPr sz="2400" dirty="0" err="1"/>
              <a:t>en</a:t>
            </a:r>
            <a:r>
              <a:rPr sz="2400" dirty="0"/>
              <a:t> </a:t>
            </a:r>
            <a:r>
              <a:rPr sz="2400" dirty="0" err="1"/>
              <a:t>produccion</a:t>
            </a:r>
            <a:r>
              <a:rPr sz="2400" dirty="0"/>
              <a:t>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Walmart Food Trust (</a:t>
            </a:r>
            <a:r>
              <a:rPr sz="1600" dirty="0" err="1"/>
              <a:t>trazabilidad</a:t>
            </a:r>
            <a:r>
              <a:rPr sz="1600" dirty="0"/>
              <a:t> alimentaria).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HKMA </a:t>
            </a:r>
            <a:r>
              <a:rPr sz="1600" dirty="0" err="1"/>
              <a:t>eTradeConnect</a:t>
            </a:r>
            <a:r>
              <a:rPr sz="1600" dirty="0"/>
              <a:t> (trade finance </a:t>
            </a:r>
            <a:r>
              <a:rPr sz="1600" dirty="0" err="1"/>
              <a:t>bancos</a:t>
            </a:r>
            <a:r>
              <a:rPr sz="1600" dirty="0"/>
              <a:t> Hong Kong).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ANZ + </a:t>
            </a:r>
            <a:r>
              <a:rPr sz="1600" dirty="0" err="1"/>
              <a:t>Scentre</a:t>
            </a:r>
            <a:r>
              <a:rPr sz="1600" dirty="0"/>
              <a:t> Group (</a:t>
            </a:r>
            <a:r>
              <a:rPr sz="1600" dirty="0" err="1"/>
              <a:t>tokenizacion</a:t>
            </a:r>
            <a:r>
              <a:rPr sz="1600" dirty="0"/>
              <a:t> de </a:t>
            </a:r>
            <a:r>
              <a:rPr sz="1600" dirty="0" err="1"/>
              <a:t>alquileres</a:t>
            </a:r>
            <a:r>
              <a:rPr sz="1600" dirty="0"/>
              <a:t> </a:t>
            </a:r>
            <a:r>
              <a:rPr sz="1600" dirty="0" err="1"/>
              <a:t>comerciales</a:t>
            </a:r>
            <a:r>
              <a:rPr sz="1600" dirty="0"/>
              <a:t>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sz="2400" dirty="0"/>
              <a:t>2. Dos </a:t>
            </a:r>
            <a:r>
              <a:rPr sz="2400" dirty="0" err="1"/>
              <a:t>fracasos</a:t>
            </a:r>
            <a:r>
              <a:rPr sz="2400" dirty="0"/>
              <a:t> y </a:t>
            </a:r>
            <a:r>
              <a:rPr sz="2400" dirty="0" err="1"/>
              <a:t>su</a:t>
            </a:r>
            <a:r>
              <a:rPr sz="2400" dirty="0"/>
              <a:t> razon: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</a:t>
            </a:r>
            <a:r>
              <a:rPr sz="1600" dirty="0" err="1"/>
              <a:t>TradeLens</a:t>
            </a:r>
            <a:r>
              <a:rPr sz="1600" dirty="0"/>
              <a:t> (</a:t>
            </a:r>
            <a:r>
              <a:rPr sz="1600" dirty="0" err="1"/>
              <a:t>Maersk+IBM</a:t>
            </a:r>
            <a:r>
              <a:rPr sz="1600" dirty="0"/>
              <a:t>) — </a:t>
            </a:r>
            <a:r>
              <a:rPr sz="1600" dirty="0" err="1"/>
              <a:t>gobernanza</a:t>
            </a:r>
            <a:r>
              <a:rPr sz="1600" dirty="0"/>
              <a:t>: </a:t>
            </a:r>
            <a:r>
              <a:rPr sz="1600" dirty="0" err="1"/>
              <a:t>fundador</a:t>
            </a:r>
            <a:r>
              <a:rPr sz="1600" dirty="0"/>
              <a:t> </a:t>
            </a:r>
            <a:r>
              <a:rPr sz="1600" dirty="0" err="1"/>
              <a:t>dominante</a:t>
            </a:r>
            <a:r>
              <a:rPr sz="1600" dirty="0"/>
              <a:t> </a:t>
            </a:r>
            <a:r>
              <a:rPr sz="1600" dirty="0" err="1"/>
              <a:t>ahuyento</a:t>
            </a:r>
            <a:r>
              <a:rPr sz="1600" dirty="0"/>
              <a:t> </a:t>
            </a:r>
            <a:r>
              <a:rPr sz="1600" dirty="0" err="1"/>
              <a:t>competidores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B3i (</a:t>
            </a:r>
            <a:r>
              <a:rPr sz="1600" dirty="0" err="1"/>
              <a:t>reaseguros</a:t>
            </a:r>
            <a:r>
              <a:rPr sz="1600" dirty="0"/>
              <a:t>) — </a:t>
            </a:r>
            <a:r>
              <a:rPr sz="1600" dirty="0" err="1"/>
              <a:t>modelo</a:t>
            </a:r>
            <a:r>
              <a:rPr sz="1600" dirty="0"/>
              <a:t> de </a:t>
            </a:r>
            <a:r>
              <a:rPr sz="1600" dirty="0" err="1"/>
              <a:t>negocio</a:t>
            </a:r>
            <a:r>
              <a:rPr sz="1600" dirty="0"/>
              <a:t>: sin </a:t>
            </a:r>
            <a:r>
              <a:rPr sz="1600" dirty="0" err="1"/>
              <a:t>ingresos</a:t>
            </a:r>
            <a:r>
              <a:rPr sz="1600" dirty="0"/>
              <a:t>, capital se </a:t>
            </a:r>
            <a:r>
              <a:rPr sz="1600" dirty="0" err="1"/>
              <a:t>agoto</a:t>
            </a:r>
            <a:r>
              <a:rPr sz="1600" dirty="0"/>
              <a:t>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sz="2400" dirty="0"/>
              <a:t>3. Arbol de decision (5 </a:t>
            </a:r>
            <a:r>
              <a:rPr sz="2400" dirty="0" err="1"/>
              <a:t>preguntas</a:t>
            </a:r>
            <a:r>
              <a:rPr sz="2400" dirty="0"/>
              <a:t>):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¿Multiples partes sin confianza </a:t>
            </a:r>
            <a:r>
              <a:rPr sz="1600" dirty="0" err="1"/>
              <a:t>mutua</a:t>
            </a:r>
            <a:r>
              <a:rPr sz="1600" dirty="0"/>
              <a:t>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¿</a:t>
            </a:r>
            <a:r>
              <a:rPr sz="1600" dirty="0" err="1"/>
              <a:t>Necesitan</a:t>
            </a:r>
            <a:r>
              <a:rPr sz="1600" dirty="0"/>
              <a:t> </a:t>
            </a:r>
            <a:r>
              <a:rPr sz="1600" dirty="0" err="1"/>
              <a:t>compartir</a:t>
            </a:r>
            <a:r>
              <a:rPr sz="1600" dirty="0"/>
              <a:t> </a:t>
            </a:r>
            <a:r>
              <a:rPr sz="1600" dirty="0" err="1"/>
              <a:t>datos</a:t>
            </a:r>
            <a:r>
              <a:rPr sz="1600" dirty="0"/>
              <a:t>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¿</a:t>
            </a:r>
            <a:r>
              <a:rPr sz="1600" dirty="0" err="1"/>
              <a:t>Inmutabilidad</a:t>
            </a:r>
            <a:r>
              <a:rPr sz="1600" dirty="0"/>
              <a:t> del </a:t>
            </a:r>
            <a:r>
              <a:rPr sz="1600" dirty="0" err="1"/>
              <a:t>registro</a:t>
            </a:r>
            <a:r>
              <a:rPr sz="1600" dirty="0"/>
              <a:t> es </a:t>
            </a:r>
            <a:r>
              <a:rPr sz="1600" dirty="0" err="1"/>
              <a:t>critica</a:t>
            </a:r>
            <a:r>
              <a:rPr sz="1600" dirty="0"/>
              <a:t>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¿Reglas </a:t>
            </a:r>
            <a:r>
              <a:rPr sz="1600" dirty="0" err="1"/>
              <a:t>deben</a:t>
            </a:r>
            <a:r>
              <a:rPr sz="1600" dirty="0"/>
              <a:t> ser </a:t>
            </a:r>
            <a:r>
              <a:rPr sz="1600" dirty="0" err="1"/>
              <a:t>verificables</a:t>
            </a:r>
            <a:r>
              <a:rPr sz="1600" dirty="0"/>
              <a:t> </a:t>
            </a:r>
            <a:r>
              <a:rPr sz="1600" dirty="0" err="1"/>
              <a:t>por</a:t>
            </a:r>
            <a:r>
              <a:rPr sz="1600" dirty="0"/>
              <a:t> </a:t>
            </a:r>
            <a:r>
              <a:rPr sz="1600" dirty="0" err="1"/>
              <a:t>todos</a:t>
            </a:r>
            <a:r>
              <a:rPr sz="1600" dirty="0"/>
              <a:t>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¿</a:t>
            </a:r>
            <a:r>
              <a:rPr sz="1600" dirty="0" err="1"/>
              <a:t>Ningun</a:t>
            </a:r>
            <a:r>
              <a:rPr sz="1600" dirty="0"/>
              <a:t> actor </a:t>
            </a:r>
            <a:r>
              <a:rPr sz="1600" dirty="0" err="1"/>
              <a:t>puede</a:t>
            </a:r>
            <a:r>
              <a:rPr sz="1600" dirty="0"/>
              <a:t> ser </a:t>
            </a:r>
            <a:r>
              <a:rPr sz="1600" dirty="0" err="1"/>
              <a:t>el</a:t>
            </a:r>
            <a:r>
              <a:rPr sz="1600" dirty="0"/>
              <a:t> '</a:t>
            </a:r>
            <a:r>
              <a:rPr sz="1600" dirty="0" err="1"/>
              <a:t>dueno</a:t>
            </a:r>
            <a:r>
              <a:rPr sz="1600" dirty="0"/>
              <a:t>'?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C5411-F105-953A-1FC0-A698681F8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051F07-1A5E-0150-EADF-BC88532C3153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93EF30-C05E-980B-025C-0444FAA77BE5}"/>
              </a:ext>
            </a:extLst>
          </p:cNvPr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repaso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83D7CD-DDA8-A854-1BA3-E959426B2F63}"/>
              </a:ext>
            </a:extLst>
          </p:cNvPr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DBC02C8-7317-6843-F0AD-ABB41983B497}"/>
              </a:ext>
            </a:extLst>
          </p:cNvPr>
          <p:cNvSpPr txBox="1"/>
          <p:nvPr/>
        </p:nvSpPr>
        <p:spPr>
          <a:xfrm>
            <a:off x="781215" y="1234161"/>
            <a:ext cx="6142382" cy="3611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endParaRPr lang="es-ES" sz="1600" dirty="0"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lang="es-ES" sz="2400" dirty="0"/>
              <a:t>4. Problema del fundador dominante: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lang="es-ES" sz="1600" dirty="0"/>
              <a:t>    Cuando una empresa lanza y controla la red, los competidores no se suman.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lang="es-ES" sz="1600" dirty="0"/>
              <a:t>    Ven un conflicto de intereses: dar datos a un rival.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lang="es-ES" sz="1600" dirty="0"/>
              <a:t>    Sin competidores, la red no alcanza masa critica -&gt; fracaso.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lang="es-ES" sz="2400" dirty="0"/>
              <a:t>5. Respaldo del regulador como factor de </a:t>
            </a:r>
            <a:r>
              <a:rPr lang="es-ES" sz="2400" dirty="0" err="1"/>
              <a:t>exito</a:t>
            </a:r>
            <a:r>
              <a:rPr lang="es-ES" sz="2400" dirty="0"/>
              <a:t>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lang="es-ES" sz="1600" dirty="0"/>
              <a:t>    Impone </a:t>
            </a:r>
            <a:r>
              <a:rPr lang="es-ES" sz="1600" dirty="0" err="1"/>
              <a:t>adopcion</a:t>
            </a:r>
            <a:r>
              <a:rPr lang="es-ES" sz="1600" dirty="0"/>
              <a:t> (p.ej. HKMA obligo a bancos de Hong Kong).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lang="es-ES" sz="1600" dirty="0"/>
              <a:t>    Da legitimidad legal y regulatoria.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lang="es-ES" sz="1600" dirty="0"/>
              <a:t>    Elimina la incertidumbre sobre si el proyecto cumple la ley.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lang="es-ES" sz="1600" dirty="0"/>
              <a:t>    </a:t>
            </a:r>
            <a:r>
              <a:rPr lang="es-ES" sz="1600" dirty="0" err="1"/>
              <a:t>Actua</a:t>
            </a:r>
            <a:r>
              <a:rPr lang="es-ES" sz="1600" dirty="0"/>
              <a:t> como arbitro en disputas.</a:t>
            </a:r>
          </a:p>
        </p:txBody>
      </p:sp>
    </p:spTree>
    <p:extLst>
      <p:ext uri="{BB962C8B-B14F-4D97-AF65-F5344CB8AC3E}">
        <p14:creationId xmlns:p14="http://schemas.microsoft.com/office/powerpoint/2010/main" val="517529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1499</Words>
  <Application>Microsoft Office PowerPoint</Application>
  <PresentationFormat>Personalizado</PresentationFormat>
  <Paragraphs>165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Javier Nieto</cp:lastModifiedBy>
  <cp:revision>3</cp:revision>
  <dcterms:created xsi:type="dcterms:W3CDTF">2013-01-27T09:14:16Z</dcterms:created>
  <dcterms:modified xsi:type="dcterms:W3CDTF">2026-04-23T12:11:39Z</dcterms:modified>
  <cp:category/>
</cp:coreProperties>
</file>