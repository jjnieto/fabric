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5"/>
    <p:sldId id="266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5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3: Vision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Casos de Uso Reales:</a:t>
            </a:r>
            <a:br/>
            <a:r>
              <a:t>Exitos y Fracasos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1 - Que funciona, que no funciona y por 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1: Walmart Food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Trazabilidad alimentaria con Hyperledger Fabric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El problema que resolvieron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Walmart es </a:t>
            </a:r>
            <a:r>
              <a:rPr dirty="0" err="1"/>
              <a:t>el</a:t>
            </a:r>
            <a:r>
              <a:rPr dirty="0"/>
              <a:t> mayor </a:t>
            </a:r>
            <a:r>
              <a:rPr dirty="0" err="1"/>
              <a:t>supermercado</a:t>
            </a:r>
            <a:r>
              <a:rPr dirty="0"/>
              <a:t> del </a:t>
            </a:r>
            <a:r>
              <a:rPr dirty="0" err="1"/>
              <a:t>mundo</a:t>
            </a:r>
            <a:r>
              <a:rPr dirty="0"/>
              <a:t>: 10.500+ tiendas, 2.3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empleados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Problema</a:t>
            </a:r>
            <a:r>
              <a:rPr dirty="0"/>
              <a:t> 1: </a:t>
            </a:r>
            <a:r>
              <a:rPr dirty="0" err="1"/>
              <a:t>brotes</a:t>
            </a:r>
            <a:r>
              <a:rPr dirty="0"/>
              <a:t> de salmonella y E.coli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retirar</a:t>
            </a:r>
            <a:r>
              <a:rPr dirty="0"/>
              <a:t> </a:t>
            </a:r>
            <a:r>
              <a:rPr dirty="0" err="1"/>
              <a:t>productos</a:t>
            </a:r>
            <a:r>
              <a:rPr dirty="0"/>
              <a:t> </a:t>
            </a:r>
            <a:r>
              <a:rPr dirty="0" err="1"/>
              <a:t>inmediatamente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Problema</a:t>
            </a:r>
            <a:r>
              <a:rPr dirty="0"/>
              <a:t> 2: antes de Fabric, </a:t>
            </a:r>
            <a:r>
              <a:rPr dirty="0" err="1"/>
              <a:t>rastrear</a:t>
            </a:r>
            <a:r>
              <a:rPr dirty="0"/>
              <a:t> un </a:t>
            </a:r>
            <a:r>
              <a:rPr dirty="0" err="1"/>
              <a:t>lote</a:t>
            </a:r>
            <a:r>
              <a:rPr dirty="0"/>
              <a:t> de </a:t>
            </a:r>
            <a:r>
              <a:rPr lang="es-ES" dirty="0"/>
              <a:t>producto</a:t>
            </a:r>
            <a:r>
              <a:rPr dirty="0"/>
              <a:t> </a:t>
            </a:r>
            <a:r>
              <a:rPr dirty="0" err="1"/>
              <a:t>tardaba</a:t>
            </a:r>
            <a:r>
              <a:rPr dirty="0"/>
              <a:t> 7 </a:t>
            </a:r>
            <a:r>
              <a:rPr dirty="0" err="1"/>
              <a:t>dias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Problema</a:t>
            </a:r>
            <a:r>
              <a:rPr dirty="0"/>
              <a:t> 3: </a:t>
            </a:r>
            <a:r>
              <a:rPr dirty="0" err="1"/>
              <a:t>esos</a:t>
            </a:r>
            <a:r>
              <a:rPr dirty="0"/>
              <a:t> 7 </a:t>
            </a:r>
            <a:r>
              <a:rPr dirty="0" err="1"/>
              <a:t>dias</a:t>
            </a:r>
            <a:r>
              <a:rPr dirty="0"/>
              <a:t> =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productos</a:t>
            </a:r>
            <a:r>
              <a:rPr dirty="0"/>
              <a:t> </a:t>
            </a:r>
            <a:r>
              <a:rPr dirty="0" err="1"/>
              <a:t>potencialmente</a:t>
            </a:r>
            <a:r>
              <a:rPr dirty="0"/>
              <a:t> </a:t>
            </a:r>
            <a:r>
              <a:rPr dirty="0" err="1"/>
              <a:t>contaminados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circulacion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Problema</a:t>
            </a:r>
            <a:r>
              <a:rPr dirty="0"/>
              <a:t> 4: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proveedor</a:t>
            </a:r>
            <a:r>
              <a:rPr dirty="0"/>
              <a:t> tenia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imposible</a:t>
            </a:r>
            <a:r>
              <a:rPr dirty="0"/>
              <a:t> de </a:t>
            </a:r>
            <a:r>
              <a:rPr dirty="0" err="1"/>
              <a:t>consolidar</a:t>
            </a:r>
            <a:endParaRPr dirty="0"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Coste </a:t>
            </a:r>
            <a:r>
              <a:rPr dirty="0" err="1"/>
              <a:t>estimado</a:t>
            </a:r>
            <a:r>
              <a:rPr dirty="0"/>
              <a:t>: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dia</a:t>
            </a:r>
            <a:r>
              <a:rPr dirty="0"/>
              <a:t> de </a:t>
            </a:r>
            <a:r>
              <a:rPr dirty="0" err="1"/>
              <a:t>retraso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recall =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dolares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perdidas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La solucion con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Walmart + IBM lanzaron IBM Food Trust en 2018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Basado en Hyperledger Fabric (permissioned)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actor de la cadena tiene su peer: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Productor (granja)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Procesador (lavado, empaquetado)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Distribuidor (transporte refrigerado)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Walmart (tienda)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Trazabilidad end-to-end: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movimiento del lote se registra en el ledger compartido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Cualquier actor puede consultar el historial completo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Con un QR en el producto, se ve todo el recorrido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Rastreo de mango de 7 dias a 2.2 segundos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Mas de 150 organizaciones conectadas en 2020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Productos cubiertos: hoja verde, carne, mariscos, yogur, huevos, pollo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2019, Walmart obligo a todos sus proveedores de hoja verde a unirse al sistema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Uno de los mayores exitos de Fabric en produccion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Clave del exito: Walmart es el actor dominante y forzo la adopcion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Topologia simplificada de IBM Food 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D41DE5C-CADF-11F3-FC8C-E4FD97C2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61" y="1492253"/>
            <a:ext cx="9244904" cy="5010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EJERCICIO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EJERCICIO: Diseña tu propia red de trazabilidad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8147081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Caso </a:t>
            </a:r>
            <a:r>
              <a:rPr dirty="0" err="1"/>
              <a:t>practico</a:t>
            </a:r>
            <a:r>
              <a:rPr dirty="0"/>
              <a:t> </a:t>
            </a:r>
            <a:r>
              <a:rPr dirty="0" err="1"/>
              <a:t>adaptado</a:t>
            </a:r>
            <a:r>
              <a:rPr dirty="0"/>
              <a:t> al aula: </a:t>
            </a:r>
            <a:r>
              <a:rPr dirty="0" err="1"/>
              <a:t>trazabilidad</a:t>
            </a:r>
            <a:r>
              <a:rPr dirty="0"/>
              <a:t> de </a:t>
            </a:r>
            <a:r>
              <a:rPr dirty="0" err="1"/>
              <a:t>aguacates</a:t>
            </a:r>
            <a:r>
              <a:rPr dirty="0"/>
              <a:t> de Malaga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Actores</a:t>
            </a:r>
            <a:r>
              <a:rPr dirty="0"/>
              <a:t> del </a:t>
            </a:r>
            <a:r>
              <a:rPr dirty="0" err="1"/>
              <a:t>consorcio</a:t>
            </a:r>
            <a:r>
              <a:rPr dirty="0"/>
              <a:t>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- Productor (</a:t>
            </a:r>
            <a:r>
              <a:rPr dirty="0" err="1"/>
              <a:t>granja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- </a:t>
            </a:r>
            <a:r>
              <a:rPr dirty="0" err="1"/>
              <a:t>Distribuidor</a:t>
            </a:r>
            <a:r>
              <a:rPr dirty="0"/>
              <a:t> (</a:t>
            </a:r>
            <a:r>
              <a:rPr dirty="0" err="1"/>
              <a:t>transporte</a:t>
            </a:r>
            <a:r>
              <a:rPr dirty="0"/>
              <a:t> </a:t>
            </a:r>
            <a:r>
              <a:rPr dirty="0" err="1"/>
              <a:t>refrigerado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- Supermercado (</a:t>
            </a:r>
            <a:r>
              <a:rPr dirty="0" err="1"/>
              <a:t>venta</a:t>
            </a:r>
            <a:r>
              <a:rPr dirty="0"/>
              <a:t> final)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- </a:t>
            </a:r>
            <a:r>
              <a:rPr dirty="0" err="1"/>
              <a:t>Regulador</a:t>
            </a:r>
            <a:r>
              <a:rPr dirty="0"/>
              <a:t> (AESAN - </a:t>
            </a:r>
            <a:r>
              <a:rPr dirty="0" err="1"/>
              <a:t>seguridad</a:t>
            </a:r>
            <a:r>
              <a:rPr dirty="0"/>
              <a:t> alimentaria)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Guia </a:t>
            </a:r>
            <a:r>
              <a:rPr dirty="0" err="1"/>
              <a:t>tecnica</a:t>
            </a:r>
            <a:r>
              <a:rPr dirty="0"/>
              <a:t> completa: docs/modulo-3/ejercicios/ejercicio-walmart.md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5BA6A5-778B-1651-2E89-2C6A128C34DB}"/>
              </a:ext>
            </a:extLst>
          </p:cNvPr>
          <p:cNvSpPr txBox="1"/>
          <p:nvPr/>
        </p:nvSpPr>
        <p:spPr>
          <a:xfrm>
            <a:off x="6094412" y="1824880"/>
            <a:ext cx="6138746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Tareas: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FASE 1: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 </a:t>
            </a:r>
            <a:r>
              <a:rPr lang="es-ES" dirty="0" err="1"/>
              <a:t>Disenar</a:t>
            </a:r>
            <a:r>
              <a:rPr lang="es-ES" dirty="0"/>
              <a:t> la </a:t>
            </a:r>
            <a:r>
              <a:rPr lang="es-ES" dirty="0" err="1"/>
              <a:t>topologia</a:t>
            </a:r>
            <a:r>
              <a:rPr lang="es-ES" dirty="0"/>
              <a:t> de red: cuantas </a:t>
            </a:r>
            <a:r>
              <a:rPr lang="es-ES" dirty="0" err="1"/>
              <a:t>orgs</a:t>
            </a:r>
            <a:r>
              <a:rPr lang="es-ES" dirty="0"/>
              <a:t>, canales, </a:t>
            </a:r>
            <a:r>
              <a:rPr lang="es-ES" dirty="0" err="1"/>
              <a:t>Private</a:t>
            </a:r>
            <a:r>
              <a:rPr lang="es-ES" dirty="0"/>
              <a:t> Data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 Decidir </a:t>
            </a:r>
            <a:r>
              <a:rPr lang="es-ES" dirty="0" err="1"/>
              <a:t>politicas</a:t>
            </a:r>
            <a:r>
              <a:rPr lang="es-ES" dirty="0"/>
              <a:t> de </a:t>
            </a:r>
            <a:r>
              <a:rPr lang="es-ES" dirty="0" err="1"/>
              <a:t>endorsement</a:t>
            </a:r>
            <a:r>
              <a:rPr lang="es-ES" dirty="0"/>
              <a:t> y control de acceso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FASE 2: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 Montar la red con 4 organizaciones + </a:t>
            </a:r>
            <a:r>
              <a:rPr lang="es-ES" dirty="0" err="1"/>
              <a:t>orderer</a:t>
            </a: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 Desplegar el </a:t>
            </a:r>
            <a:r>
              <a:rPr lang="es-ES" dirty="0" err="1"/>
              <a:t>chaincode</a:t>
            </a:r>
            <a:r>
              <a:rPr lang="es-ES" dirty="0"/>
              <a:t> con </a:t>
            </a:r>
            <a:r>
              <a:rPr lang="es-ES" dirty="0" err="1"/>
              <a:t>Private</a:t>
            </a:r>
            <a:r>
              <a:rPr lang="es-ES" dirty="0"/>
              <a:t> Data </a:t>
            </a:r>
            <a:r>
              <a:rPr lang="es-ES" dirty="0" err="1"/>
              <a:t>Collections</a:t>
            </a:r>
            <a:endParaRPr lang="es-ES" dirty="0"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lang="es-ES" dirty="0"/>
              <a:t>    Probar el flujo completo de trazabilidad y un </a:t>
            </a:r>
            <a:r>
              <a:rPr lang="es-ES" dirty="0" err="1"/>
              <a:t>recall</a:t>
            </a:r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Preguntas clave para tu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Piensa en estas preguntas antes de empezar a codificar: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¿Cuantas organizaciones? ¿Con peer propio cada una?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¿Un canal unico o multiples canales segregados?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¿Que datos van on-chain (publicos) y cuales en Private Data?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Pista: los precios de compra entre actores son confidenciales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¿Quien puede crear un lote? ¿Solo el productor?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¿Quien puede hacer recall? ¿Solo el regulador o cualquier actor?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¿Que politica de endorsement tiene sentido?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Para movimientos normales vs para recall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¿Como verificaria el consumidor final un QR? (no tiene peer)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Debate tras el ejercicio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¿Vuestra topologia se parece a la de IBM Food Trust? ¿En que difiere?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¿Que ventaja real aporta Fabric aqui frente a una BD compartida gestionada por Walmart?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¿Que pasa si el productor miente sobre el origen? ¿Blockchain lo detecta?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Walmart fue el que impuso la adopcion. ¿Es justo? ¿Es necesario?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¿Como integrariais sensores IoT para automatizar el registro de temperatura?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 las preguntas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¿Cuantas organizaciones y con peer propio?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4 orgs (Productor, Distribuidor, Supermercado, Regulador), cada una con su peer.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¿Un canal unico o multiples canales segregados?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canal unico compartido — la trazabilidad NECESITA ser publica entre miembros.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¿Datos on-chain vs Private Data?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On-chain: lotID, origen, estado, movimientos (historial).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Private Data: precios entre actores, margenes, terminos comerciales.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¿Quien puede crear un lote?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el Productor (validar MSPID == ProductorMSP en el chaincode).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¿Quien puede hacer recall?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Solo el Regulador (via atributo role=regulador en cert X.509 — ABAC).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Politica de endorsement (normal vs recall):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Movimientos normales: solo el holder actual endorsa (state-based endorsement).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Recall: AND(Productor, Distribuidor, Supermercado) para consenso amplio.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¿Como verifica el consumidor final un QR?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Web publica del consorcio con QR -&gt; API REST -&gt; chaincode query.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consumidor no tiene peer ni certificado — es un lector publico.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¿Vuestra topologia vs IBM Food Trust?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Food Trust tiene +150 orgs; nuestra red es reducida para aula.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Diferencia clave: Food Trust no tiene regulador como org — Walmart es el fundador dominante.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¿Ventaja de Fabric vs una BD gestionada por Walmart?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Walmart gestionando la BD: los competidores (Carrefour, Lidl) desconfian.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Fabric: nadie controla solo; cada org valida independientemente.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¿Y si el productor miente sobre el origen?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 garantiza INTEGRIDAD, no VERACIDAD.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el productor miente al registrar, la mentira queda inmutable.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Mitigar: auditorias fisicas, sensores IoT, validacion cruzada, responsabilidad legal.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Walmart impuso la adopcion. ¿Justo? ¿Necesario?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Funcional (es el lider), pero no ideal — genera problema del fundador dominante.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Ideal: un regulador (AESAN, FDA) impulsa la adopcion; el mercado se suma.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Aprender de TradeLens: sin los competidores no hay masa critica.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Integrar sensores IoT para temperatura: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Gateway IoT intermedio con certificado X.509.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sensores firman con HMAC/TPM; el gateway valida y envia al chaincode.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chaincode ve: 'gateway-X certifica que sensor-Y reporto temp=X°C a las H'.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Personalizado</PresentationFormat>
  <Paragraphs>73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2</cp:revision>
  <dcterms:created xsi:type="dcterms:W3CDTF">2013-01-27T09:14:16Z</dcterms:created>
  <dcterms:modified xsi:type="dcterms:W3CDTF">2026-04-22T08:50:45Z</dcterms:modified>
  <cp:category/>
</cp:coreProperties>
</file>