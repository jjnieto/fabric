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457200"/>
          </a:xfrm>
          <a:prstGeom prst="rect">
            <a:avLst/>
          </a:prstGeom>
          <a:noFill/>
        </p:spPr>
        <p:txBody>
          <a:bodyPr wrap="square"/>
          <a:lstStyle/>
          <a:p>
            <a:pPr algn="l">
              <a:defRPr sz="1600" b="1">
                <a:solidFill>
                  <a:srgbClr val="22627E"/>
                </a:solidFill>
                <a:latin typeface="Calibri"/>
              </a:defRPr>
            </a:pPr>
            <a:r>
              <a:t>Modulo 3: Vision Empresarial</a:t>
            </a:r>
          </a:p>
        </p:txBody>
      </p:sp>
      <p:sp>
        <p:nvSpPr>
          <p:cNvPr id="5" name="TextBox 4"/>
          <p:cNvSpPr txBox="1"/>
          <p:nvPr/>
        </p:nvSpPr>
        <p:spPr>
          <a:xfrm>
            <a:off x="457200" y="1828800"/>
            <a:ext cx="10972800" cy="2286000"/>
          </a:xfrm>
          <a:prstGeom prst="rect">
            <a:avLst/>
          </a:prstGeom>
          <a:noFill/>
        </p:spPr>
        <p:txBody>
          <a:bodyPr wrap="square"/>
          <a:lstStyle/>
          <a:p>
            <a:pPr algn="l">
              <a:defRPr sz="5400" b="1">
                <a:solidFill>
                  <a:srgbClr val="22627E"/>
                </a:solidFill>
                <a:latin typeface="Calibri"/>
              </a:defRPr>
            </a:pPr>
            <a:r>
              <a:t>Diseño de Proyectos</a:t>
            </a:r>
            <a:br/>
            <a:r>
              <a:t>Empresariales con Fabric</a:t>
            </a:r>
          </a:p>
        </p:txBody>
      </p:sp>
      <p:sp>
        <p:nvSpPr>
          <p:cNvPr id="6" name="TextBox 5"/>
          <p:cNvSpPr txBox="1"/>
          <p:nvPr/>
        </p:nvSpPr>
        <p:spPr>
          <a:xfrm>
            <a:off x="457200" y="4114800"/>
            <a:ext cx="10972800" cy="1371600"/>
          </a:xfrm>
          <a:prstGeom prst="rect">
            <a:avLst/>
          </a:prstGeom>
          <a:noFill/>
        </p:spPr>
        <p:txBody>
          <a:bodyPr wrap="square"/>
          <a:lstStyle/>
          <a:p>
            <a:pPr algn="l">
              <a:defRPr sz="2400" b="0">
                <a:solidFill>
                  <a:srgbClr val="333333"/>
                </a:solidFill>
                <a:latin typeface="Calibri"/>
              </a:defRPr>
            </a:pPr>
            <a:r>
              <a:t>Dia 5 - De la idea al proyecto: metodologia practica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Metodologia: de la idea al proyecto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1. Identificar el problema (dia 2): ¿que duele? ¿a quien? ¿cuanto cuesta?</a:t>
            </a:r>
          </a:p>
          <a:p>
            <a:pPr>
              <a:spcAft>
                <a:spcPts val="800"/>
              </a:spcAft>
              <a:defRPr sz="2000">
                <a:solidFill>
                  <a:srgbClr val="333333"/>
                </a:solidFill>
                <a:latin typeface="Calibri"/>
              </a:defRPr>
            </a:pPr>
            <a:r>
              <a:t>2. Validar que blockchain aporta (dia 1): arbol de decision</a:t>
            </a:r>
          </a:p>
          <a:p>
            <a:pPr>
              <a:spcAft>
                <a:spcPts val="800"/>
              </a:spcAft>
              <a:defRPr sz="2000">
                <a:solidFill>
                  <a:srgbClr val="333333"/>
                </a:solidFill>
                <a:latin typeface="Calibri"/>
              </a:defRPr>
            </a:pPr>
            <a:r>
              <a:t>3. Definir el consorcio: quienes participan, que rol tiene cada uno</a:t>
            </a:r>
          </a:p>
          <a:p>
            <a:pPr>
              <a:spcAft>
                <a:spcPts val="800"/>
              </a:spcAft>
              <a:defRPr sz="2000">
                <a:solidFill>
                  <a:srgbClr val="333333"/>
                </a:solidFill>
                <a:latin typeface="Calibri"/>
              </a:defRPr>
            </a:pPr>
            <a:r>
              <a:t>4. Disenar la gobernanza (dia 3): politicas, costes, onboarding</a:t>
            </a:r>
          </a:p>
          <a:p>
            <a:pPr>
              <a:spcAft>
                <a:spcPts val="800"/>
              </a:spcAft>
              <a:defRPr sz="2000">
                <a:solidFill>
                  <a:srgbClr val="333333"/>
                </a:solidFill>
                <a:latin typeface="Calibri"/>
              </a:defRPr>
            </a:pPr>
            <a:r>
              <a:t>5. Disenar la red Fabric: organizaciones, canales, datos</a:t>
            </a:r>
          </a:p>
          <a:p>
            <a:pPr>
              <a:spcAft>
                <a:spcPts val="800"/>
              </a:spcAft>
              <a:defRPr sz="2000">
                <a:solidFill>
                  <a:srgbClr val="333333"/>
                </a:solidFill>
                <a:latin typeface="Calibri"/>
              </a:defRPr>
            </a:pPr>
            <a:r>
              <a:t>6. Definir el MVP: empezar pequeno, demostrar valor</a:t>
            </a:r>
          </a:p>
          <a:p>
            <a:pPr>
              <a:spcAft>
                <a:spcPts val="800"/>
              </a:spcAft>
              <a:defRPr sz="2000">
                <a:solidFill>
                  <a:srgbClr val="333333"/>
                </a:solidFill>
                <a:latin typeface="Calibri"/>
              </a:defRPr>
            </a:pPr>
            <a:r>
              <a:t>7. Planificar: roadmap, equipo, presupuesto, riesgos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Disenar la red: preguntas clave</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¿Cuantas organizaciones? ¿Cada una tiene su propio peer?</a:t>
            </a:r>
          </a:p>
          <a:p>
            <a:pPr>
              <a:spcAft>
                <a:spcPts val="800"/>
              </a:spcAft>
              <a:defRPr sz="2000">
                <a:solidFill>
                  <a:srgbClr val="333333"/>
                </a:solidFill>
                <a:latin typeface="Calibri"/>
              </a:defRPr>
            </a:pPr>
            <a:r>
              <a:t>¿Cuantos canales? ¿Todas las orgs comparten todo o hay datos segregados?</a:t>
            </a:r>
          </a:p>
          <a:p>
            <a:pPr>
              <a:spcAft>
                <a:spcPts val="800"/>
              </a:spcAft>
              <a:defRPr sz="2000">
                <a:solidFill>
                  <a:srgbClr val="333333"/>
                </a:solidFill>
                <a:latin typeface="Calibri"/>
              </a:defRPr>
            </a:pPr>
            <a:r>
              <a:t>¿Que datos van on-chain y cuales off-chain?</a:t>
            </a:r>
          </a:p>
          <a:p>
            <a:pPr>
              <a:spcAft>
                <a:spcPts val="800"/>
              </a:spcAft>
              <a:defRPr sz="2000">
                <a:solidFill>
                  <a:srgbClr val="333333"/>
                </a:solidFill>
                <a:latin typeface="Calibri"/>
              </a:defRPr>
            </a:pPr>
            <a:r>
              <a:t>¿Private Data Collections o canales separados para datos confidenciales?</a:t>
            </a:r>
          </a:p>
          <a:p>
            <a:pPr>
              <a:spcAft>
                <a:spcPts val="800"/>
              </a:spcAft>
              <a:defRPr sz="2000">
                <a:solidFill>
                  <a:srgbClr val="333333"/>
                </a:solidFill>
                <a:latin typeface="Calibri"/>
              </a:defRPr>
            </a:pPr>
            <a:r>
              <a:t>¿CouchDB (rich queries) o LevelDB (rendimiento)?</a:t>
            </a:r>
          </a:p>
          <a:p>
            <a:pPr>
              <a:spcAft>
                <a:spcPts val="800"/>
              </a:spcAft>
              <a:defRPr sz="2000">
                <a:solidFill>
                  <a:srgbClr val="333333"/>
                </a:solidFill>
                <a:latin typeface="Calibri"/>
              </a:defRPr>
            </a:pPr>
            <a:r>
              <a:t>¿Cuantos orderers? ¿Quien los opera?</a:t>
            </a:r>
          </a:p>
          <a:p>
            <a:pPr>
              <a:spcAft>
                <a:spcPts val="800"/>
              </a:spcAft>
              <a:defRPr sz="2000">
                <a:solidFill>
                  <a:srgbClr val="333333"/>
                </a:solidFill>
                <a:latin typeface="Calibri"/>
              </a:defRPr>
            </a:pPr>
            <a:r>
              <a:t>¿cryptogen (piloto) o Fabric CA (produccion)?</a:t>
            </a:r>
          </a:p>
          <a:p>
            <a:pPr>
              <a:spcAft>
                <a:spcPts val="800"/>
              </a:spcAft>
              <a:defRPr sz="2000">
                <a:solidFill>
                  <a:srgbClr val="333333"/>
                </a:solidFill>
                <a:latin typeface="Calibri"/>
              </a:defRPr>
            </a:pPr>
            <a:r>
              <a:t>¿On-premise o cloud (AWS, Azure, IBM)?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Template: topologia de red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371600"/>
            <a:ext cx="9418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286000"/>
            <a:ext cx="8503920" cy="1371600"/>
          </a:xfrm>
          <a:prstGeom prst="rect">
            <a:avLst/>
          </a:prstGeom>
          <a:noFill/>
        </p:spPr>
        <p:txBody>
          <a:bodyPr wrap="square"/>
          <a:lstStyle/>
          <a:p>
            <a:pPr algn="ctr">
              <a:defRPr sz="2400" b="0">
                <a:solidFill>
                  <a:srgbClr val="999999"/>
                </a:solidFill>
                <a:latin typeface="Calibri"/>
              </a:defRPr>
            </a:pPr>
            <a:r>
              <a:t>[Diagrama en blanco con cajas para rellenar: Org1, Org2, Org3, Orderer, Canal A, Canal B, Private Data]</a:t>
            </a:r>
          </a:p>
        </p:txBody>
      </p:sp>
      <p:sp>
        <p:nvSpPr>
          <p:cNvPr id="7" name="Rectangle 6"/>
          <p:cNvSpPr/>
          <p:nvPr/>
        </p:nvSpPr>
        <p:spPr>
          <a:xfrm>
            <a:off x="1371600" y="3840480"/>
            <a:ext cx="941832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840480"/>
            <a:ext cx="9418320" cy="320040"/>
          </a:xfrm>
          <a:prstGeom prst="rect">
            <a:avLst/>
          </a:prstGeom>
          <a:noFill/>
        </p:spPr>
        <p:txBody>
          <a:bodyPr wrap="square"/>
          <a:lstStyle/>
          <a:p>
            <a:pPr algn="ctr">
              <a:defRPr sz="1300" b="1">
                <a:solidFill>
                  <a:srgbClr val="FFFFFF"/>
                </a:solidFill>
                <a:latin typeface="Calibri"/>
              </a:defRPr>
            </a:pPr>
            <a:r>
              <a:t>Prompt para IA generativa:</a:t>
            </a:r>
          </a:p>
        </p:txBody>
      </p:sp>
      <p:sp>
        <p:nvSpPr>
          <p:cNvPr id="9" name="TextBox 8"/>
          <p:cNvSpPr txBox="1"/>
          <p:nvPr/>
        </p:nvSpPr>
        <p:spPr>
          <a:xfrm>
            <a:off x="1645920" y="4297680"/>
            <a:ext cx="8869680" cy="914400"/>
          </a:xfrm>
          <a:prstGeom prst="rect">
            <a:avLst/>
          </a:prstGeom>
          <a:noFill/>
        </p:spPr>
        <p:txBody>
          <a:bodyPr wrap="square"/>
          <a:lstStyle/>
          <a:p>
            <a:pPr algn="l">
              <a:defRPr sz="1400" b="0">
                <a:solidFill>
                  <a:srgbClr val="7C3AED"/>
                </a:solidFill>
                <a:latin typeface="Consolas"/>
              </a:defRPr>
            </a:pPr>
            <a:r>
              <a:t>Blank network topology template for Hyperledger Fabric: empty boxes labeled Org1, Org2, Org3, Orderer Service. Dashed lines showing potential channels (Channel A, Channel B). Separate box for Private Data Collections. Clean wireframe style, ready to be filled in by students.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Estimar costes de un proyecto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Infraestructura:</a:t>
            </a:r>
          </a:p>
          <a:p>
            <a:pPr lvl="1">
              <a:spcAft>
                <a:spcPts val="400"/>
              </a:spcAft>
              <a:defRPr sz="1700">
                <a:solidFill>
                  <a:srgbClr val="666666"/>
                </a:solidFill>
                <a:latin typeface="Calibri"/>
              </a:defRPr>
            </a:pPr>
            <a:r>
              <a:t>    Servidores/cloud para peers, orderers, CAs, CouchDB</a:t>
            </a:r>
          </a:p>
          <a:p>
            <a:pPr lvl="1">
              <a:spcAft>
                <a:spcPts val="400"/>
              </a:spcAft>
              <a:defRPr sz="1700">
                <a:solidFill>
                  <a:srgbClr val="666666"/>
                </a:solidFill>
                <a:latin typeface="Calibri"/>
              </a:defRPr>
            </a:pPr>
            <a:r>
              <a:t>    Estimacion: 500-2000 EUR/mes por organizacion (cloud)</a:t>
            </a:r>
          </a:p>
          <a:p>
            <a:pPr lvl="1">
              <a:spcAft>
                <a:spcPts val="400"/>
              </a:spcAft>
              <a:defRPr sz="1700">
                <a:solidFill>
                  <a:srgbClr val="666666"/>
                </a:solidFill>
                <a:latin typeface="Calibri"/>
              </a:defRPr>
            </a:pPr>
            <a:r>
              <a:t>    Mas barato on-premise pero requiere equipo de sistemas</a:t>
            </a:r>
          </a:p>
          <a:p>
            <a:pPr>
              <a:spcAft>
                <a:spcPts val="800"/>
              </a:spcAft>
              <a:defRPr sz="2000">
                <a:solidFill>
                  <a:srgbClr val="333333"/>
                </a:solidFill>
                <a:latin typeface="Calibri"/>
              </a:defRPr>
            </a:pPr>
            <a:r>
              <a:t>Desarrollo:</a:t>
            </a:r>
          </a:p>
          <a:p>
            <a:pPr lvl="1">
              <a:spcAft>
                <a:spcPts val="400"/>
              </a:spcAft>
              <a:defRPr sz="1700">
                <a:solidFill>
                  <a:srgbClr val="666666"/>
                </a:solidFill>
                <a:latin typeface="Calibri"/>
              </a:defRPr>
            </a:pPr>
            <a:r>
              <a:t>    Chaincodes: 2-6 meses de desarrollo segun complejidad</a:t>
            </a:r>
          </a:p>
          <a:p>
            <a:pPr lvl="1">
              <a:spcAft>
                <a:spcPts val="400"/>
              </a:spcAft>
              <a:defRPr sz="1700">
                <a:solidFill>
                  <a:srgbClr val="666666"/>
                </a:solidFill>
                <a:latin typeface="Calibri"/>
              </a:defRPr>
            </a:pPr>
            <a:r>
              <a:t>    Aplicacion cliente: 1-3 meses adicionales</a:t>
            </a:r>
          </a:p>
          <a:p>
            <a:pPr lvl="1">
              <a:spcAft>
                <a:spcPts val="400"/>
              </a:spcAft>
              <a:defRPr sz="1700">
                <a:solidFill>
                  <a:srgbClr val="666666"/>
                </a:solidFill>
                <a:latin typeface="Calibri"/>
              </a:defRPr>
            </a:pPr>
            <a:r>
              <a:t>    Integracion con sistemas legacy: el coste mas impredecible</a:t>
            </a:r>
          </a:p>
          <a:p>
            <a:pPr>
              <a:spcAft>
                <a:spcPts val="800"/>
              </a:spcAft>
              <a:defRPr sz="2000">
                <a:solidFill>
                  <a:srgbClr val="333333"/>
                </a:solidFill>
                <a:latin typeface="Calibri"/>
              </a:defRPr>
            </a:pPr>
            <a:r>
              <a:t>Operaciones:</a:t>
            </a:r>
          </a:p>
          <a:p>
            <a:pPr lvl="1">
              <a:spcAft>
                <a:spcPts val="400"/>
              </a:spcAft>
              <a:defRPr sz="1700">
                <a:solidFill>
                  <a:srgbClr val="666666"/>
                </a:solidFill>
                <a:latin typeface="Calibri"/>
              </a:defRPr>
            </a:pPr>
            <a:r>
              <a:t>    Administracion de la red: 0.5-1 persona por org</a:t>
            </a:r>
          </a:p>
          <a:p>
            <a:pPr lvl="1">
              <a:spcAft>
                <a:spcPts val="400"/>
              </a:spcAft>
              <a:defRPr sz="1700">
                <a:solidFill>
                  <a:srgbClr val="666666"/>
                </a:solidFill>
                <a:latin typeface="Calibri"/>
              </a:defRPr>
            </a:pPr>
            <a:r>
              <a:t>    Soporte y mantenimiento: 20-30% del coste de desarrollo anual</a:t>
            </a:r>
          </a:p>
          <a:p>
            <a:pPr lvl="1">
              <a:spcAft>
                <a:spcPts val="400"/>
              </a:spcAft>
              <a:defRPr sz="1700">
                <a:solidFill>
                  <a:srgbClr val="666666"/>
                </a:solidFill>
                <a:latin typeface="Calibri"/>
              </a:defRPr>
            </a:pPr>
            <a:r>
              <a:t>    Gobernanza: reuniones, comites, decision-making (tiempo de directivos)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Roadmap tipico de un proyecto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Mes 1-2: Descubrimiento</a:t>
            </a:r>
          </a:p>
          <a:p>
            <a:pPr>
              <a:spcAft>
                <a:spcPts val="800"/>
              </a:spcAft>
              <a:defRPr sz="2000">
                <a:solidFill>
                  <a:srgbClr val="333333"/>
                </a:solidFill>
                <a:latin typeface="Calibri"/>
              </a:defRPr>
            </a:pPr>
            <a:r>
              <a:t>  Definir el problema, validar blockchain, identificar socios</a:t>
            </a:r>
          </a:p>
          <a:p>
            <a:pPr>
              <a:spcAft>
                <a:spcPts val="800"/>
              </a:spcAft>
              <a:defRPr sz="2000">
                <a:solidFill>
                  <a:srgbClr val="333333"/>
                </a:solidFill>
                <a:latin typeface="Calibri"/>
              </a:defRPr>
            </a:pPr>
          </a:p>
          <a:p>
            <a:pPr>
              <a:spcAft>
                <a:spcPts val="800"/>
              </a:spcAft>
              <a:defRPr sz="2000">
                <a:solidFill>
                  <a:srgbClr val="333333"/>
                </a:solidFill>
                <a:latin typeface="Calibri"/>
              </a:defRPr>
            </a:pPr>
            <a:r>
              <a:t>Mes 3-4: PoC (Proof of Concept)</a:t>
            </a:r>
          </a:p>
          <a:p>
            <a:pPr>
              <a:spcAft>
                <a:spcPts val="800"/>
              </a:spcAft>
              <a:defRPr sz="2000">
                <a:solidFill>
                  <a:srgbClr val="333333"/>
                </a:solidFill>
                <a:latin typeface="Calibri"/>
              </a:defRPr>
            </a:pPr>
            <a:r>
              <a:t>  Red minima (2 orgs), chaincode basico, demostrar que funciona</a:t>
            </a:r>
          </a:p>
          <a:p>
            <a:pPr>
              <a:spcAft>
                <a:spcPts val="800"/>
              </a:spcAft>
              <a:defRPr sz="2000">
                <a:solidFill>
                  <a:srgbClr val="333333"/>
                </a:solidFill>
                <a:latin typeface="Calibri"/>
              </a:defRPr>
            </a:pPr>
          </a:p>
          <a:p>
            <a:pPr>
              <a:spcAft>
                <a:spcPts val="800"/>
              </a:spcAft>
              <a:defRPr sz="2000">
                <a:solidFill>
                  <a:srgbClr val="333333"/>
                </a:solidFill>
                <a:latin typeface="Calibri"/>
              </a:defRPr>
            </a:pPr>
            <a:r>
              <a:t>Mes 5-8: MVP (Minimum Viable Product)</a:t>
            </a:r>
          </a:p>
          <a:p>
            <a:pPr>
              <a:spcAft>
                <a:spcPts val="800"/>
              </a:spcAft>
              <a:defRPr sz="2000">
                <a:solidFill>
                  <a:srgbClr val="333333"/>
                </a:solidFill>
                <a:latin typeface="Calibri"/>
              </a:defRPr>
            </a:pPr>
            <a:r>
              <a:t>  Red con Fabric CA, chaincode completo, app cliente, tests</a:t>
            </a:r>
          </a:p>
          <a:p>
            <a:pPr>
              <a:spcAft>
                <a:spcPts val="800"/>
              </a:spcAft>
              <a:defRPr sz="2000">
                <a:solidFill>
                  <a:srgbClr val="333333"/>
                </a:solidFill>
                <a:latin typeface="Calibri"/>
              </a:defRPr>
            </a:pPr>
          </a:p>
          <a:p>
            <a:pPr>
              <a:spcAft>
                <a:spcPts val="800"/>
              </a:spcAft>
              <a:defRPr sz="2000">
                <a:solidFill>
                  <a:srgbClr val="333333"/>
                </a:solidFill>
                <a:latin typeface="Calibri"/>
              </a:defRPr>
            </a:pPr>
            <a:r>
              <a:t>Mes 9-12: Piloto</a:t>
            </a:r>
          </a:p>
          <a:p>
            <a:pPr>
              <a:spcAft>
                <a:spcPts val="800"/>
              </a:spcAft>
              <a:defRPr sz="2000">
                <a:solidFill>
                  <a:srgbClr val="333333"/>
                </a:solidFill>
                <a:latin typeface="Calibri"/>
              </a:defRPr>
            </a:pPr>
            <a:r>
              <a:t>  Datos reales, mas organizaciones, integracion con sistemas</a:t>
            </a:r>
          </a:p>
          <a:p>
            <a:pPr>
              <a:spcAft>
                <a:spcPts val="800"/>
              </a:spcAft>
              <a:defRPr sz="2000">
                <a:solidFill>
                  <a:srgbClr val="333333"/>
                </a:solidFill>
                <a:latin typeface="Calibri"/>
              </a:defRPr>
            </a:pPr>
          </a:p>
          <a:p>
            <a:pPr>
              <a:spcAft>
                <a:spcPts val="800"/>
              </a:spcAft>
              <a:defRPr sz="2000">
                <a:solidFill>
                  <a:srgbClr val="333333"/>
                </a:solidFill>
                <a:latin typeface="Calibri"/>
              </a:defRPr>
            </a:pPr>
            <a:r>
              <a:t>Mes 12+: Produccion</a:t>
            </a:r>
          </a:p>
          <a:p>
            <a:pPr>
              <a:spcAft>
                <a:spcPts val="800"/>
              </a:spcAft>
              <a:defRPr sz="2000">
                <a:solidFill>
                  <a:srgbClr val="333333"/>
                </a:solidFill>
                <a:latin typeface="Calibri"/>
              </a:defRPr>
            </a:pPr>
            <a:r>
              <a:t>  SLAs, monitorizacion, soporte 24/7, gobernanza formal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2286000" cy="457200"/>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2286000" cy="457200"/>
          </a:xfrm>
          <a:prstGeom prst="rect">
            <a:avLst/>
          </a:prstGeom>
          <a:noFill/>
        </p:spPr>
        <p:txBody>
          <a:bodyPr wrap="square"/>
          <a:lstStyle/>
          <a:p>
            <a:pPr algn="ctr">
              <a:defRPr sz="1800" b="1">
                <a:solidFill>
                  <a:srgbClr val="FFFFFF"/>
                </a:solidFill>
                <a:latin typeface="Calibri"/>
              </a:defRPr>
            </a:pPr>
            <a:r>
              <a:t>PROYECTO</a:t>
            </a:r>
          </a:p>
        </p:txBody>
      </p:sp>
      <p:sp>
        <p:nvSpPr>
          <p:cNvPr id="5" name="TextBox 4"/>
          <p:cNvSpPr txBox="1"/>
          <p:nvPr/>
        </p:nvSpPr>
        <p:spPr>
          <a:xfrm>
            <a:off x="3017520" y="274320"/>
            <a:ext cx="8686800" cy="731520"/>
          </a:xfrm>
          <a:prstGeom prst="rect">
            <a:avLst/>
          </a:prstGeom>
          <a:noFill/>
        </p:spPr>
        <p:txBody>
          <a:bodyPr wrap="square"/>
          <a:lstStyle/>
          <a:p>
            <a:pPr algn="l">
              <a:defRPr sz="3000" b="1">
                <a:solidFill>
                  <a:srgbClr val="333333"/>
                </a:solidFill>
                <a:latin typeface="Calibri"/>
              </a:defRPr>
            </a:pPr>
            <a:r>
              <a:t>Disena tu proyecto Fabric</a:t>
            </a:r>
          </a:p>
        </p:txBody>
      </p:sp>
      <p:sp>
        <p:nvSpPr>
          <p:cNvPr id="6" name="Rectangle 5"/>
          <p:cNvSpPr/>
          <p:nvPr/>
        </p:nvSpPr>
        <p:spPr>
          <a:xfrm>
            <a:off x="457200" y="1051560"/>
            <a:ext cx="10972800" cy="2743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333333"/>
                </a:solidFill>
                <a:latin typeface="Calibri"/>
              </a:defRPr>
            </a:pPr>
            <a:r>
              <a:t>Cada grupo disena un proyecto completo para un caso de uso de su sector.</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Entregables (en papel o pizarra):</a:t>
            </a:r>
          </a:p>
          <a:p>
            <a:pPr>
              <a:spcAft>
                <a:spcPts val="1000"/>
              </a:spcAft>
              <a:defRPr sz="2000">
                <a:solidFill>
                  <a:srgbClr val="333333"/>
                </a:solidFill>
                <a:latin typeface="Calibri"/>
              </a:defRPr>
            </a:pPr>
            <a:r>
              <a:t>  1. Problema y propuesta de valor (2 frases)</a:t>
            </a:r>
          </a:p>
          <a:p>
            <a:pPr>
              <a:spcAft>
                <a:spcPts val="1000"/>
              </a:spcAft>
              <a:defRPr sz="2000">
                <a:solidFill>
                  <a:srgbClr val="333333"/>
                </a:solidFill>
                <a:latin typeface="Calibri"/>
              </a:defRPr>
            </a:pPr>
            <a:r>
              <a:t>  2. Organizaciones del consorcio (quienes, que rol)</a:t>
            </a:r>
          </a:p>
          <a:p>
            <a:pPr>
              <a:spcAft>
                <a:spcPts val="1000"/>
              </a:spcAft>
              <a:defRPr sz="2000">
                <a:solidFill>
                  <a:srgbClr val="333333"/>
                </a:solidFill>
                <a:latin typeface="Calibri"/>
              </a:defRPr>
            </a:pPr>
            <a:r>
              <a:t>  3. Diagrama de la red: orgs, canales, datos on/off-chain</a:t>
            </a:r>
          </a:p>
          <a:p>
            <a:pPr>
              <a:spcAft>
                <a:spcPts val="1000"/>
              </a:spcAft>
              <a:defRPr sz="2000">
                <a:solidFill>
                  <a:srgbClr val="333333"/>
                </a:solidFill>
                <a:latin typeface="Calibri"/>
              </a:defRPr>
            </a:pPr>
            <a:r>
              <a:t>  4. Modelo de gobernanza: politicas, costes, onboarding</a:t>
            </a:r>
          </a:p>
          <a:p>
            <a:pPr>
              <a:spcAft>
                <a:spcPts val="1000"/>
              </a:spcAft>
              <a:defRPr sz="2000">
                <a:solidFill>
                  <a:srgbClr val="333333"/>
                </a:solidFill>
                <a:latin typeface="Calibri"/>
              </a:defRPr>
            </a:pPr>
            <a:r>
              <a:t>  5. MVP: que incluye la primera version</a:t>
            </a:r>
          </a:p>
          <a:p>
            <a:pPr>
              <a:spcAft>
                <a:spcPts val="1000"/>
              </a:spcAft>
              <a:defRPr sz="2000">
                <a:solidFill>
                  <a:srgbClr val="333333"/>
                </a:solidFill>
                <a:latin typeface="Calibri"/>
              </a:defRPr>
            </a:pPr>
            <a:r>
              <a:t>  6. Roadmap: 4 fases con duraciones estimadas</a:t>
            </a:r>
          </a:p>
          <a:p>
            <a:pPr>
              <a:spcAft>
                <a:spcPts val="1000"/>
              </a:spcAft>
              <a:defRPr sz="2000">
                <a:solidFill>
                  <a:srgbClr val="333333"/>
                </a:solidFill>
                <a:latin typeface="Calibri"/>
              </a:defRPr>
            </a:pPr>
            <a:r>
              <a:t>  7. 3 riesgos principales y como mitigarlos</a:t>
            </a:r>
          </a:p>
          <a:p>
            <a:pPr>
              <a:spcAft>
                <a:spcPts val="1000"/>
              </a:spcAft>
              <a:defRPr sz="2000">
                <a:solidFill>
                  <a:srgbClr val="333333"/>
                </a:solidFill>
                <a:latin typeface="Calibri"/>
              </a:defRPr>
            </a:pPr>
          </a:p>
          <a:p>
            <a:pPr>
              <a:spcAft>
                <a:spcPts val="1000"/>
              </a:spcAft>
              <a:defRPr sz="2000">
                <a:solidFill>
                  <a:srgbClr val="333333"/>
                </a:solidFill>
                <a:latin typeface="Calibri"/>
              </a:defRPr>
            </a:pPr>
            <a:r>
              <a:t>Tiempo: 40 minutos. Presentar en 10 minutos por grupo.</a:t>
            </a:r>
          </a:p>
          <a:p>
            <a:pPr>
              <a:spcAft>
                <a:spcPts val="1000"/>
              </a:spcAft>
              <a:defRPr sz="2000">
                <a:solidFill>
                  <a:srgbClr val="333333"/>
                </a:solidFill>
                <a:latin typeface="Calibri"/>
              </a:defRPr>
            </a:pPr>
            <a:r>
              <a:t>El resto de la clase hace de 'comite de inversion' y da feedback.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74320"/>
            <a:ext cx="1645920" cy="4572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645920" cy="457200"/>
          </a:xfrm>
          <a:prstGeom prst="rect">
            <a:avLst/>
          </a:prstGeom>
          <a:noFill/>
        </p:spPr>
        <p:txBody>
          <a:bodyPr wrap="square"/>
          <a:lstStyle/>
          <a:p>
            <a:pPr algn="ctr">
              <a:defRPr sz="1800" b="1">
                <a:solidFill>
                  <a:srgbClr val="FFFFFF"/>
                </a:solidFill>
                <a:latin typeface="Calibri"/>
              </a:defRPr>
            </a:pPr>
            <a:r>
              <a:t>DEBATE</a:t>
            </a:r>
          </a:p>
        </p:txBody>
      </p:sp>
      <p:sp>
        <p:nvSpPr>
          <p:cNvPr id="5" name="TextBox 4"/>
          <p:cNvSpPr txBox="1"/>
          <p:nvPr/>
        </p:nvSpPr>
        <p:spPr>
          <a:xfrm>
            <a:off x="2377440" y="274320"/>
            <a:ext cx="9144000" cy="731520"/>
          </a:xfrm>
          <a:prstGeom prst="rect">
            <a:avLst/>
          </a:prstGeom>
          <a:noFill/>
        </p:spPr>
        <p:txBody>
          <a:bodyPr wrap="square"/>
          <a:lstStyle/>
          <a:p>
            <a:pPr algn="l">
              <a:defRPr sz="3000" b="1">
                <a:solidFill>
                  <a:srgbClr val="333333"/>
                </a:solidFill>
                <a:latin typeface="Calibri"/>
              </a:defRPr>
            </a:pPr>
            <a:r>
              <a:t>Cierre del Modulo 3</a:t>
            </a:r>
          </a:p>
        </p:txBody>
      </p:sp>
      <p:sp>
        <p:nvSpPr>
          <p:cNvPr id="6" name="Rectangle 5"/>
          <p:cNvSpPr/>
          <p:nvPr/>
        </p:nvSpPr>
        <p:spPr>
          <a:xfrm>
            <a:off x="457200" y="1051560"/>
            <a:ext cx="10972800" cy="2743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600"/>
              </a:spcAft>
              <a:defRPr sz="2200">
                <a:solidFill>
                  <a:srgbClr val="333333"/>
                </a:solidFill>
                <a:latin typeface="Calibri"/>
              </a:defRPr>
            </a:pPr>
            <a:r>
              <a:t>1. ¿Que ha sido lo mas sorprendente de este modulo?</a:t>
            </a:r>
          </a:p>
          <a:p>
            <a:pPr>
              <a:spcAft>
                <a:spcPts val="1600"/>
              </a:spcAft>
              <a:defRPr sz="2200">
                <a:solidFill>
                  <a:srgbClr val="333333"/>
                </a:solidFill>
                <a:latin typeface="Calibri"/>
              </a:defRPr>
            </a:pPr>
            <a:r>
              <a:t>2. ¿Habeis cambiado de opinion sobre blockchain enterprise respecto al inicio del curso?</a:t>
            </a:r>
          </a:p>
          <a:p>
            <a:pPr>
              <a:spcAft>
                <a:spcPts val="1600"/>
              </a:spcAft>
              <a:defRPr sz="2200">
                <a:solidFill>
                  <a:srgbClr val="333333"/>
                </a:solidFill>
                <a:latin typeface="Calibri"/>
              </a:defRPr>
            </a:pPr>
            <a:r>
              <a:t>3. ¿Veis una oportunidad real en vuestro sector? ¿Cual?</a:t>
            </a:r>
          </a:p>
          <a:p>
            <a:pPr>
              <a:spcAft>
                <a:spcPts val="1600"/>
              </a:spcAft>
              <a:defRPr sz="2200">
                <a:solidFill>
                  <a:srgbClr val="333333"/>
                </a:solidFill>
                <a:latin typeface="Calibri"/>
              </a:defRPr>
            </a:pPr>
            <a:r>
              <a:t>4. ¿Que es mas dificil: la tecnologia, la gobernanza o la regulacion?</a:t>
            </a:r>
          </a:p>
          <a:p>
            <a:pPr>
              <a:spcAft>
                <a:spcPts val="1600"/>
              </a:spcAft>
              <a:defRPr sz="2200">
                <a:solidFill>
                  <a:srgbClr val="333333"/>
                </a:solidFill>
                <a:latin typeface="Calibri"/>
              </a:defRPr>
            </a:pPr>
            <a:r>
              <a:t>5. Si tuvierais presupuesto ilimitado, ¿que proyecto blockchain montariais?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lstStyle/>
          <a:p>
            <a:pPr algn="l">
              <a:defRPr sz="3600" b="1">
                <a:solidFill>
                  <a:srgbClr val="FFFFFF"/>
                </a:solidFill>
                <a:latin typeface="Calibri"/>
              </a:defRPr>
            </a:pPr>
            <a:r>
              <a:t>Repaso del Modulo 3</a:t>
            </a:r>
          </a:p>
        </p:txBody>
      </p:sp>
      <p:sp>
        <p:nvSpPr>
          <p:cNvPr id="4" name="Rectangle 3"/>
          <p:cNvSpPr/>
          <p:nvPr/>
        </p:nvSpPr>
        <p:spPr>
          <a:xfrm>
            <a:off x="457200" y="105156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FFFFFF"/>
                </a:solidFill>
                <a:latin typeface="Calibri"/>
              </a:defRPr>
            </a:pPr>
            <a:r>
              <a:t>1. Casos de exito y fracaso: patrones comunes</a:t>
            </a:r>
          </a:p>
          <a:p>
            <a:pPr>
              <a:spcAft>
                <a:spcPts val="1000"/>
              </a:spcAft>
              <a:defRPr sz="2000">
                <a:solidFill>
                  <a:srgbClr val="FFFFFF"/>
                </a:solidFill>
                <a:latin typeface="Calibri"/>
              </a:defRPr>
            </a:pPr>
            <a:r>
              <a:t>2. Arbol de decision: ¿blockchain o base de datos?</a:t>
            </a:r>
          </a:p>
          <a:p>
            <a:pPr>
              <a:spcAft>
                <a:spcPts val="1000"/>
              </a:spcAft>
              <a:defRPr sz="2000">
                <a:solidFill>
                  <a:srgbClr val="FFFFFF"/>
                </a:solidFill>
                <a:latin typeface="Calibri"/>
              </a:defRPr>
            </a:pPr>
            <a:r>
              <a:t>3. Como presentar un proyecto blockchain a direccion</a:t>
            </a:r>
          </a:p>
          <a:p>
            <a:pPr>
              <a:spcAft>
                <a:spcPts val="1000"/>
              </a:spcAft>
              <a:defRPr sz="2000">
                <a:solidFill>
                  <a:srgbClr val="FFFFFF"/>
                </a:solidFill>
                <a:latin typeface="Calibri"/>
              </a:defRPr>
            </a:pPr>
            <a:r>
              <a:t>4. Modelos de gobernanza: fundador, democratico, federado</a:t>
            </a:r>
          </a:p>
          <a:p>
            <a:pPr>
              <a:spcAft>
                <a:spcPts val="1000"/>
              </a:spcAft>
              <a:defRPr sz="2000">
                <a:solidFill>
                  <a:srgbClr val="FFFFFF"/>
                </a:solidFill>
                <a:latin typeface="Calibri"/>
              </a:defRPr>
            </a:pPr>
            <a:r>
              <a:t>5. GDPR vs inmutabilidad: como resolverlo</a:t>
            </a:r>
          </a:p>
          <a:p>
            <a:pPr>
              <a:spcAft>
                <a:spcPts val="1000"/>
              </a:spcAft>
              <a:defRPr sz="2000">
                <a:solidFill>
                  <a:srgbClr val="FFFFFF"/>
                </a:solidFill>
                <a:latin typeface="Calibri"/>
              </a:defRPr>
            </a:pPr>
            <a:r>
              <a:t>6. MiCA y regulacion de tokens</a:t>
            </a:r>
          </a:p>
          <a:p>
            <a:pPr>
              <a:spcAft>
                <a:spcPts val="1000"/>
              </a:spcAft>
              <a:defRPr sz="2000">
                <a:solidFill>
                  <a:srgbClr val="FFFFFF"/>
                </a:solidFill>
                <a:latin typeface="Calibri"/>
              </a:defRPr>
            </a:pPr>
            <a:r>
              <a:t>7. Metodologia: de la idea al roadmap</a:t>
            </a:r>
          </a:p>
          <a:p>
            <a:pPr>
              <a:spcAft>
                <a:spcPts val="1000"/>
              </a:spcAft>
              <a:defRPr sz="2000">
                <a:solidFill>
                  <a:srgbClr val="FFFFFF"/>
                </a:solidFill>
                <a:latin typeface="Calibri"/>
              </a:defRPr>
            </a:pPr>
            <a:r>
              <a:t>8. Costes tipicos de un proyecto Fabric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