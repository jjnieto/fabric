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6" r:id="rId13"/>
    <p:sldId id="267" r:id="rId14"/>
    <p:sldId id="269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68" y="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3: Vision Empresarial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Diseño de Proyectos</a:t>
            </a:r>
            <a:br/>
            <a:r>
              <a:t>Empresariales con Fabric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Dia 5 - De la idea al proyecto: metodologia practica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Metodologia: de la idea al proyecto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Identificar el problema (dia 2): ¿que duele? ¿a quien? ¿cuanto cuesta?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Validar que blockchain aporta (dia 1): arbol de decision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Definir el consorcio: quienes participan, que rol tiene cada uno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Disenar la gobernanza (dia 3): politicas, costes, onboarding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Disenar la red Fabric: organizaciones, canales, datos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6. Definir el MVP: empezar pequeno, demostrar valor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7. Planificar: roadmap, equipo, presupuesto, riesgos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Disenar la red: preguntas clave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¿Cuantas organizaciones? ¿Cada una tiene su propio peer?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¿Cuantos canales? ¿Todas las orgs comparten todo o hay datos segregados?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¿Que datos van on-chain y cuales off-chain?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¿Private Data Collections o canales separados para datos confidenciales?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¿CouchDB (rich queries) o LevelDB (rendimiento)?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¿Cuantos orderers? ¿Quien los opera?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¿cryptogen (piloto) o Fabric CA (produccion)?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¿On-premise o cloud (AWS, Azure, IBM)?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Template: topologia de red 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A672EF5-4DDE-A5F4-EFBA-46395DD7B2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8638" y="1406382"/>
            <a:ext cx="7609924" cy="498349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Estimar costes de un proyecto 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Infraestructura: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Servidores/cloud para peers, orderers, CAs, CouchDB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Estimacion: 500-2000 EUR/mes por organizacion (cloud)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Mas barato on-premise pero requiere equipo de sistemas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Desarrollo: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Chaincodes: 2-6 meses de desarrollo segun complejidad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Aplicacion cliente: 1-3 meses adicionales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Integracion con sistemas legacy: el coste mas impredecible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Operaciones: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Administracion de la red: 0.5-1 persona por org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Soporte y mantenimiento: 20-30% del coste de desarrollo anual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Gobernanza: reuniones, comites, decision-making (tiempo de directivos)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Roadmap tipico de un proyecto 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Mes 1-2: Descubrimiento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Definir el problema, validar blockchain, identificar socios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Mes 3-4: PoC (Proof of Concept)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Red minima (2 orgs), chaincode basico, demostrar que funciona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Mes 5-8: MVP (Minimum Viable Product)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Red con Fabric CA, chaincode completo, app cliente, tests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Mes 9-12: Piloto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Datos reales, mas organizaciones, integracion con sistemas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Mes 12+: Produccion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SLAs, monitorizacion, soporte 24/7, gobernanza formal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Disena tu proyecto Fabric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grupo disena un proyecto completo para un caso de uso de su sector.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Entregables (en papel o pizarra):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1. Problema y propuesta de valor (2 frases)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2. Organizaciones del consorcio (quienes, que rol)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3. Diagrama de la red: orgs, canales, datos on/off-chain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4. Modelo de gobernanza: politicas, costes, onboarding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5. MVP: que incluye la primera version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6. Roadmap: 4 fases con duraciones estimadas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7. 3 riesgos principales y como mitigarlos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Tiempo: 40 minutos. Presentar en 10 minutos por grupo.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resto de la clase hace de 'comite de inversion' y da feedback.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Cierre del Modulo 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¿Que ha sido lo mas sorprendente de este modulo?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¿Habeis cambiado de opinion sobre blockchain enterprise respecto al inicio del curso?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¿Veis una oportunidad real en vuestro sector? ¿Cual?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¿Que es mas dificil: la tecnologia, la gobernanza o la regulacion?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Si tuvierais presupuesto ilimitado, ¿que proyecto blockchain montariais?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Modulo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Casos de exito y fracaso: patrones comunes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Arbol de decision: ¿blockchain o base de datos?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Como presentar un proyecto blockchain a direccion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Modelos de gobernanza: fundador, democratico, federado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GDPR vs inmutabilidad: como resolverlo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6. MiCA y regulacion de tokens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7. Metodologia: de la idea al roadmap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8. Costes tipicos de un proyecto Fabric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debate de 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1. Lo mas </a:t>
            </a:r>
            <a:r>
              <a:rPr dirty="0" err="1"/>
              <a:t>sorprendente</a:t>
            </a:r>
            <a:r>
              <a:rPr dirty="0"/>
              <a:t> del modulo: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</a:t>
            </a:r>
            <a:r>
              <a:rPr dirty="0" err="1"/>
              <a:t>Normalmente</a:t>
            </a:r>
            <a:r>
              <a:rPr dirty="0"/>
              <a:t>: </a:t>
            </a:r>
            <a:r>
              <a:rPr dirty="0" err="1"/>
              <a:t>que</a:t>
            </a:r>
            <a:r>
              <a:rPr dirty="0"/>
              <a:t> la </a:t>
            </a:r>
            <a:r>
              <a:rPr dirty="0" err="1"/>
              <a:t>mayoria</a:t>
            </a:r>
            <a:r>
              <a:rPr dirty="0"/>
              <a:t> de </a:t>
            </a:r>
            <a:r>
              <a:rPr dirty="0" err="1"/>
              <a:t>fracasos</a:t>
            </a:r>
            <a:r>
              <a:rPr dirty="0"/>
              <a:t> NO son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tecnologia</a:t>
            </a:r>
            <a:r>
              <a:rPr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Son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gobernanza</a:t>
            </a:r>
            <a:r>
              <a:rPr dirty="0"/>
              <a:t>, </a:t>
            </a:r>
            <a:r>
              <a:rPr dirty="0" err="1"/>
              <a:t>incentivos</a:t>
            </a:r>
            <a:r>
              <a:rPr dirty="0"/>
              <a:t>, </a:t>
            </a:r>
            <a:r>
              <a:rPr dirty="0" err="1"/>
              <a:t>regulacion</a:t>
            </a:r>
            <a:r>
              <a:rPr dirty="0"/>
              <a:t> o UX.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La </a:t>
            </a:r>
            <a:r>
              <a:rPr dirty="0" err="1"/>
              <a:t>tecnologia</a:t>
            </a:r>
            <a:r>
              <a:rPr dirty="0"/>
              <a:t> Fabric </a:t>
            </a:r>
            <a:r>
              <a:rPr dirty="0" err="1"/>
              <a:t>funciona</a:t>
            </a:r>
            <a:r>
              <a:rPr dirty="0"/>
              <a:t> —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problema</a:t>
            </a:r>
            <a:r>
              <a:rPr dirty="0"/>
              <a:t> 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contexto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2. ¿Han </a:t>
            </a:r>
            <a:r>
              <a:rPr dirty="0" err="1"/>
              <a:t>cambiado</a:t>
            </a:r>
            <a:r>
              <a:rPr dirty="0"/>
              <a:t> de opinion </a:t>
            </a:r>
            <a:r>
              <a:rPr dirty="0" err="1"/>
              <a:t>sobre</a:t>
            </a:r>
            <a:r>
              <a:rPr dirty="0"/>
              <a:t> blockchain enterprise?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</a:t>
            </a:r>
            <a:r>
              <a:rPr dirty="0" err="1"/>
              <a:t>Depende</a:t>
            </a:r>
            <a:r>
              <a:rPr dirty="0"/>
              <a:t> del </a:t>
            </a:r>
            <a:r>
              <a:rPr dirty="0" err="1"/>
              <a:t>alumno</a:t>
            </a:r>
            <a:r>
              <a:rPr dirty="0"/>
              <a:t>, </a:t>
            </a:r>
            <a:r>
              <a:rPr dirty="0" err="1"/>
              <a:t>pero</a:t>
            </a:r>
            <a:r>
              <a:rPr dirty="0"/>
              <a:t> patron </a:t>
            </a:r>
            <a:r>
              <a:rPr dirty="0" err="1"/>
              <a:t>comun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  - De '</a:t>
            </a:r>
            <a:r>
              <a:rPr dirty="0" err="1"/>
              <a:t>revolucionario</a:t>
            </a:r>
            <a:r>
              <a:rPr dirty="0"/>
              <a:t>' a 'util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ciertos</a:t>
            </a:r>
            <a:r>
              <a:rPr dirty="0"/>
              <a:t> </a:t>
            </a:r>
            <a:r>
              <a:rPr dirty="0" err="1"/>
              <a:t>casos</a:t>
            </a:r>
            <a:r>
              <a:rPr dirty="0"/>
              <a:t> </a:t>
            </a:r>
            <a:r>
              <a:rPr dirty="0" err="1"/>
              <a:t>concretos</a:t>
            </a:r>
            <a:r>
              <a:rPr dirty="0"/>
              <a:t>'.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  - De '</a:t>
            </a:r>
            <a:r>
              <a:rPr dirty="0" err="1"/>
              <a:t>solucion</a:t>
            </a:r>
            <a:r>
              <a:rPr dirty="0"/>
              <a:t> a </a:t>
            </a:r>
            <a:r>
              <a:rPr dirty="0" err="1"/>
              <a:t>todo</a:t>
            </a:r>
            <a:r>
              <a:rPr dirty="0"/>
              <a:t>' a '</a:t>
            </a:r>
            <a:r>
              <a:rPr dirty="0" err="1"/>
              <a:t>herramienta</a:t>
            </a:r>
            <a:r>
              <a:rPr dirty="0"/>
              <a:t> para </a:t>
            </a:r>
            <a:r>
              <a:rPr dirty="0" err="1"/>
              <a:t>problemas</a:t>
            </a:r>
            <a:r>
              <a:rPr dirty="0"/>
              <a:t> </a:t>
            </a:r>
            <a:r>
              <a:rPr dirty="0" err="1"/>
              <a:t>especificos</a:t>
            </a:r>
            <a:r>
              <a:rPr dirty="0"/>
              <a:t>'.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  - Muchos </a:t>
            </a:r>
            <a:r>
              <a:rPr dirty="0" err="1"/>
              <a:t>empiezan</a:t>
            </a:r>
            <a:r>
              <a:rPr dirty="0"/>
              <a:t> </a:t>
            </a:r>
            <a:r>
              <a:rPr dirty="0" err="1"/>
              <a:t>esceptico</a:t>
            </a:r>
            <a:r>
              <a:rPr dirty="0"/>
              <a:t> con </a:t>
            </a:r>
            <a:r>
              <a:rPr dirty="0" err="1"/>
              <a:t>cripto</a:t>
            </a:r>
            <a:r>
              <a:rPr dirty="0"/>
              <a:t> y </a:t>
            </a:r>
            <a:r>
              <a:rPr dirty="0" err="1"/>
              <a:t>terminan</a:t>
            </a:r>
            <a:r>
              <a:rPr dirty="0"/>
              <a:t> </a:t>
            </a:r>
            <a:r>
              <a:rPr dirty="0" err="1"/>
              <a:t>valorando</a:t>
            </a:r>
            <a:r>
              <a:rPr dirty="0"/>
              <a:t> enterprise.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3. </a:t>
            </a:r>
            <a:r>
              <a:rPr dirty="0" err="1"/>
              <a:t>Oportunidades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vuestro</a:t>
            </a:r>
            <a:r>
              <a:rPr dirty="0"/>
              <a:t> sector: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Sin </a:t>
            </a:r>
            <a:r>
              <a:rPr dirty="0" err="1"/>
              <a:t>respuesta</a:t>
            </a:r>
            <a:r>
              <a:rPr dirty="0"/>
              <a:t> unica — </a:t>
            </a:r>
            <a:r>
              <a:rPr dirty="0" err="1"/>
              <a:t>depende</a:t>
            </a:r>
            <a:r>
              <a:rPr dirty="0"/>
              <a:t> del sector de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alumno</a:t>
            </a:r>
            <a:r>
              <a:rPr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</a:t>
            </a:r>
            <a:r>
              <a:rPr dirty="0" err="1"/>
              <a:t>Preguntas</a:t>
            </a:r>
            <a:r>
              <a:rPr dirty="0"/>
              <a:t> </a:t>
            </a:r>
            <a:r>
              <a:rPr dirty="0" err="1"/>
              <a:t>guia</a:t>
            </a:r>
            <a:r>
              <a:rPr dirty="0"/>
              <a:t>: ¿</a:t>
            </a:r>
            <a:r>
              <a:rPr dirty="0" err="1"/>
              <a:t>tenemos</a:t>
            </a:r>
            <a:r>
              <a:rPr dirty="0"/>
              <a:t> multiples </a:t>
            </a:r>
            <a:r>
              <a:rPr dirty="0" err="1"/>
              <a:t>actores</a:t>
            </a:r>
            <a:r>
              <a:rPr dirty="0"/>
              <a:t> con </a:t>
            </a:r>
            <a:r>
              <a:rPr dirty="0" err="1"/>
              <a:t>desconfianza</a:t>
            </a:r>
            <a:r>
              <a:rPr dirty="0"/>
              <a:t>? ¿</a:t>
            </a:r>
            <a:r>
              <a:rPr dirty="0" err="1"/>
              <a:t>trazabilidad</a:t>
            </a:r>
            <a:r>
              <a:rPr dirty="0"/>
              <a:t>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dirty="0"/>
              <a:t>    Si la </a:t>
            </a:r>
            <a:r>
              <a:rPr dirty="0" err="1"/>
              <a:t>respuesta</a:t>
            </a:r>
            <a:r>
              <a:rPr dirty="0"/>
              <a:t> es </a:t>
            </a:r>
            <a:r>
              <a:rPr dirty="0" err="1"/>
              <a:t>si</a:t>
            </a:r>
            <a:r>
              <a:rPr dirty="0"/>
              <a:t> a ambas, </a:t>
            </a:r>
            <a:r>
              <a:rPr dirty="0" err="1"/>
              <a:t>probablemente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88CA2-9CC6-E11F-E7BD-7D6419427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56BEC58-AF77-A230-5839-1CA234EF5693}"/>
              </a:ext>
            </a:extLst>
          </p:cNvPr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CB174B-8300-8DDA-E847-2AE80BA600F3}"/>
              </a:ext>
            </a:extLst>
          </p:cNvPr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debate de cierre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AD63EE-0586-35D1-688D-3C88C6012E3C}"/>
              </a:ext>
            </a:extLst>
          </p:cNvPr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C8A947-4584-A895-21A4-261E282F0144}"/>
              </a:ext>
            </a:extLst>
          </p:cNvPr>
          <p:cNvSpPr txBox="1"/>
          <p:nvPr/>
        </p:nvSpPr>
        <p:spPr>
          <a:xfrm>
            <a:off x="640080" y="1280160"/>
            <a:ext cx="10515600" cy="336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lang="es-ES" dirty="0"/>
              <a:t>4. ¿Que es mas </a:t>
            </a:r>
            <a:r>
              <a:rPr lang="es-ES" dirty="0" err="1"/>
              <a:t>dificil</a:t>
            </a:r>
            <a:r>
              <a:rPr lang="es-ES" dirty="0"/>
              <a:t>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lang="es-ES" dirty="0"/>
              <a:t>    Consenso habitual: GOBERNANZA &gt; REGULACION &gt; TECNOLOGIA.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lang="es-ES" dirty="0"/>
              <a:t>    La </a:t>
            </a:r>
            <a:r>
              <a:rPr lang="es-ES" dirty="0" err="1"/>
              <a:t>tecnologia</a:t>
            </a:r>
            <a:r>
              <a:rPr lang="es-ES" dirty="0"/>
              <a:t> esta madura; la gobernanza no siempre se resuelve bien.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lang="es-ES" dirty="0"/>
              <a:t>    La </a:t>
            </a:r>
            <a:r>
              <a:rPr lang="es-ES" dirty="0" err="1"/>
              <a:t>regulacion</a:t>
            </a:r>
            <a:r>
              <a:rPr lang="es-ES" dirty="0"/>
              <a:t> depende de la </a:t>
            </a:r>
            <a:r>
              <a:rPr lang="es-ES" dirty="0" err="1"/>
              <a:t>jurisdiccion</a:t>
            </a:r>
            <a:r>
              <a:rPr lang="es-ES" dirty="0"/>
              <a:t> y evoluciona, no es un bloqueo absoluto.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lang="es-ES" dirty="0"/>
              <a:t>5. Proyecto con presupuesto ilimitado: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lang="es-ES" dirty="0"/>
              <a:t>    Trazabilidad alimentaria a escala europea (</a:t>
            </a:r>
            <a:r>
              <a:rPr lang="es-ES" dirty="0" err="1"/>
              <a:t>Food</a:t>
            </a:r>
            <a:r>
              <a:rPr lang="es-ES" dirty="0"/>
              <a:t> Trust pan-europeo).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lang="es-ES" dirty="0"/>
              <a:t>    KYC compartido entre bancos europeos.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lang="es-ES" dirty="0"/>
              <a:t>    Registro de propiedad inmobiliaria </a:t>
            </a:r>
            <a:r>
              <a:rPr lang="es-ES" dirty="0" err="1"/>
              <a:t>tokenizado</a:t>
            </a:r>
            <a:r>
              <a:rPr lang="es-ES"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lang="es-ES" dirty="0"/>
              <a:t>    </a:t>
            </a:r>
            <a:r>
              <a:rPr lang="es-ES" dirty="0" err="1"/>
              <a:t>Creditos</a:t>
            </a:r>
            <a:r>
              <a:rPr lang="es-ES" dirty="0"/>
              <a:t> de carbono auditables para cumplimiento </a:t>
            </a:r>
            <a:r>
              <a:rPr lang="es-ES" dirty="0" err="1"/>
              <a:t>climatico</a:t>
            </a:r>
            <a:r>
              <a:rPr lang="es-ES"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lang="es-ES" dirty="0"/>
              <a:t>    Interoperabilidad entre redes: </a:t>
            </a:r>
            <a:r>
              <a:rPr lang="es-ES" dirty="0" err="1"/>
              <a:t>Alastria</a:t>
            </a:r>
            <a:r>
              <a:rPr lang="es-ES" dirty="0"/>
              <a:t>-EBSI-HKMA interoperables.</a:t>
            </a:r>
          </a:p>
        </p:txBody>
      </p:sp>
    </p:spTree>
    <p:extLst>
      <p:ext uri="{BB962C8B-B14F-4D97-AF65-F5344CB8AC3E}">
        <p14:creationId xmlns:p14="http://schemas.microsoft.com/office/powerpoint/2010/main" val="13328886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repaso del Modulo 3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84421" y="1124712"/>
            <a:ext cx="10515600" cy="5750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1. Casos de </a:t>
            </a:r>
            <a:r>
              <a:rPr dirty="0" err="1"/>
              <a:t>exito</a:t>
            </a:r>
            <a:r>
              <a:rPr dirty="0"/>
              <a:t>/</a:t>
            </a:r>
            <a:r>
              <a:rPr dirty="0" err="1"/>
              <a:t>fracaso</a:t>
            </a:r>
            <a:r>
              <a:rPr dirty="0"/>
              <a:t> — </a:t>
            </a:r>
            <a:r>
              <a:rPr dirty="0" err="1"/>
              <a:t>patrones</a:t>
            </a:r>
            <a:r>
              <a:rPr dirty="0"/>
              <a:t> </a:t>
            </a:r>
            <a:r>
              <a:rPr dirty="0" err="1"/>
              <a:t>comunes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Los </a:t>
            </a:r>
            <a:r>
              <a:rPr sz="1600" dirty="0" err="1"/>
              <a:t>que</a:t>
            </a:r>
            <a:r>
              <a:rPr sz="1600" dirty="0"/>
              <a:t> </a:t>
            </a:r>
            <a:r>
              <a:rPr sz="1600" dirty="0" err="1"/>
              <a:t>funcionan</a:t>
            </a:r>
            <a:r>
              <a:rPr sz="1600" dirty="0"/>
              <a:t>: </a:t>
            </a:r>
            <a:r>
              <a:rPr sz="1600" dirty="0" err="1"/>
              <a:t>consorcio</a:t>
            </a:r>
            <a:r>
              <a:rPr sz="1600" dirty="0"/>
              <a:t> con </a:t>
            </a:r>
            <a:r>
              <a:rPr sz="1600" dirty="0" err="1"/>
              <a:t>incentivos</a:t>
            </a:r>
            <a:r>
              <a:rPr sz="1600" dirty="0"/>
              <a:t> </a:t>
            </a:r>
            <a:r>
              <a:rPr sz="1600" dirty="0" err="1"/>
              <a:t>alineados</a:t>
            </a:r>
            <a:r>
              <a:rPr sz="1600" dirty="0"/>
              <a:t>, </a:t>
            </a:r>
            <a:r>
              <a:rPr sz="1600" dirty="0" err="1"/>
              <a:t>regulacion</a:t>
            </a:r>
            <a:r>
              <a:rPr sz="1600" dirty="0"/>
              <a:t> compatible,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UX </a:t>
            </a:r>
            <a:r>
              <a:rPr sz="1600" dirty="0" err="1"/>
              <a:t>transparente</a:t>
            </a:r>
            <a:r>
              <a:rPr sz="1600" dirty="0"/>
              <a:t>, MVP </a:t>
            </a:r>
            <a:r>
              <a:rPr sz="1600" dirty="0" err="1"/>
              <a:t>pequeno</a:t>
            </a:r>
            <a:r>
              <a:rPr sz="1600" dirty="0"/>
              <a:t>, </a:t>
            </a:r>
            <a:r>
              <a:rPr sz="1600" dirty="0" err="1"/>
              <a:t>gobernanza</a:t>
            </a:r>
            <a:r>
              <a:rPr sz="1600" dirty="0"/>
              <a:t> </a:t>
            </a:r>
            <a:r>
              <a:rPr sz="1600" dirty="0" err="1"/>
              <a:t>equilibrada</a:t>
            </a:r>
            <a:r>
              <a:rPr sz="1600"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Los </a:t>
            </a:r>
            <a:r>
              <a:rPr sz="1600" dirty="0" err="1"/>
              <a:t>que</a:t>
            </a:r>
            <a:r>
              <a:rPr sz="1600" dirty="0"/>
              <a:t> </a:t>
            </a:r>
            <a:r>
              <a:rPr sz="1600" dirty="0" err="1"/>
              <a:t>fracasan</a:t>
            </a:r>
            <a:r>
              <a:rPr sz="1600" dirty="0"/>
              <a:t>: </a:t>
            </a:r>
            <a:r>
              <a:rPr sz="1600" dirty="0" err="1"/>
              <a:t>fundador</a:t>
            </a:r>
            <a:r>
              <a:rPr sz="1600" dirty="0"/>
              <a:t> </a:t>
            </a:r>
            <a:r>
              <a:rPr sz="1600" dirty="0" err="1"/>
              <a:t>dominante</a:t>
            </a:r>
            <a:r>
              <a:rPr sz="1600" dirty="0"/>
              <a:t>, sin </a:t>
            </a:r>
            <a:r>
              <a:rPr sz="1600" dirty="0" err="1"/>
              <a:t>modelo</a:t>
            </a:r>
            <a:r>
              <a:rPr sz="1600" dirty="0"/>
              <a:t> de </a:t>
            </a:r>
            <a:r>
              <a:rPr sz="1600" dirty="0" err="1"/>
              <a:t>ingresos</a:t>
            </a:r>
            <a:r>
              <a:rPr sz="1600" dirty="0"/>
              <a:t>,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regulacion</a:t>
            </a:r>
            <a:r>
              <a:rPr sz="1600" dirty="0"/>
              <a:t> incompatible, UX </a:t>
            </a:r>
            <a:r>
              <a:rPr sz="1600" dirty="0" err="1"/>
              <a:t>compleja</a:t>
            </a:r>
            <a:r>
              <a:rPr sz="1600" dirty="0"/>
              <a:t>, </a:t>
            </a:r>
            <a:r>
              <a:rPr sz="1600" dirty="0" err="1"/>
              <a:t>intentar</a:t>
            </a:r>
            <a:r>
              <a:rPr sz="1600" dirty="0"/>
              <a:t> </a:t>
            </a:r>
            <a:r>
              <a:rPr sz="1600" dirty="0" err="1"/>
              <a:t>cubrir</a:t>
            </a:r>
            <a:r>
              <a:rPr sz="1600" dirty="0"/>
              <a:t> </a:t>
            </a:r>
            <a:r>
              <a:rPr sz="1600" dirty="0" err="1"/>
              <a:t>todo</a:t>
            </a:r>
            <a:r>
              <a:rPr sz="1600" dirty="0"/>
              <a:t> </a:t>
            </a:r>
            <a:r>
              <a:rPr sz="1600" dirty="0" err="1"/>
              <a:t>el</a:t>
            </a:r>
            <a:r>
              <a:rPr sz="1600" dirty="0"/>
              <a:t> mercado.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2. Arbol de decision ¿blockchain o BD?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5 </a:t>
            </a:r>
            <a:r>
              <a:rPr sz="1600" dirty="0" err="1"/>
              <a:t>preguntas</a:t>
            </a:r>
            <a:r>
              <a:rPr sz="1600" dirty="0"/>
              <a:t>: partes sin confianza / </a:t>
            </a:r>
            <a:r>
              <a:rPr sz="1600" dirty="0" err="1"/>
              <a:t>compartir</a:t>
            </a:r>
            <a:r>
              <a:rPr sz="1600" dirty="0"/>
              <a:t> </a:t>
            </a:r>
            <a:r>
              <a:rPr sz="1600" dirty="0" err="1"/>
              <a:t>datos</a:t>
            </a:r>
            <a:r>
              <a:rPr sz="1600" dirty="0"/>
              <a:t> / </a:t>
            </a:r>
            <a:r>
              <a:rPr sz="1600" dirty="0" err="1"/>
              <a:t>inmutabilidad</a:t>
            </a:r>
            <a:r>
              <a:rPr sz="1600" dirty="0"/>
              <a:t> </a:t>
            </a:r>
            <a:r>
              <a:rPr sz="1600" dirty="0" err="1"/>
              <a:t>critica</a:t>
            </a:r>
            <a:r>
              <a:rPr sz="1600" dirty="0"/>
              <a:t> /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reglas</a:t>
            </a:r>
            <a:r>
              <a:rPr sz="1600" dirty="0"/>
              <a:t> </a:t>
            </a:r>
            <a:r>
              <a:rPr sz="1600" dirty="0" err="1"/>
              <a:t>verificables</a:t>
            </a:r>
            <a:r>
              <a:rPr sz="1600" dirty="0"/>
              <a:t> / </a:t>
            </a:r>
            <a:r>
              <a:rPr sz="1600" dirty="0" err="1"/>
              <a:t>ningun</a:t>
            </a:r>
            <a:r>
              <a:rPr sz="1600" dirty="0"/>
              <a:t> </a:t>
            </a:r>
            <a:r>
              <a:rPr sz="1600" dirty="0" err="1"/>
              <a:t>dueno</a:t>
            </a:r>
            <a:r>
              <a:rPr sz="1600" dirty="0"/>
              <a:t> </a:t>
            </a:r>
            <a:r>
              <a:rPr sz="1600" dirty="0" err="1"/>
              <a:t>unico</a:t>
            </a:r>
            <a:r>
              <a:rPr sz="1600" dirty="0"/>
              <a:t>. Si a </a:t>
            </a:r>
            <a:r>
              <a:rPr sz="1600" dirty="0" err="1"/>
              <a:t>todas</a:t>
            </a:r>
            <a:r>
              <a:rPr sz="1600" dirty="0"/>
              <a:t> -&gt; blockchain.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3. Como </a:t>
            </a:r>
            <a:r>
              <a:rPr dirty="0" err="1"/>
              <a:t>presentar</a:t>
            </a:r>
            <a:r>
              <a:rPr dirty="0"/>
              <a:t> a </a:t>
            </a:r>
            <a:r>
              <a:rPr dirty="0" err="1"/>
              <a:t>direccion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Empezar</a:t>
            </a:r>
            <a:r>
              <a:rPr sz="1600" dirty="0"/>
              <a:t> </a:t>
            </a:r>
            <a:r>
              <a:rPr sz="1600" dirty="0" err="1"/>
              <a:t>por</a:t>
            </a:r>
            <a:r>
              <a:rPr sz="1600" dirty="0"/>
              <a:t> </a:t>
            </a:r>
            <a:r>
              <a:rPr sz="1600" dirty="0" err="1"/>
              <a:t>el</a:t>
            </a:r>
            <a:r>
              <a:rPr sz="1600" dirty="0"/>
              <a:t> </a:t>
            </a:r>
            <a:r>
              <a:rPr sz="1600" dirty="0" err="1"/>
              <a:t>problema</a:t>
            </a:r>
            <a:r>
              <a:rPr sz="1600" dirty="0"/>
              <a:t> y </a:t>
            </a:r>
            <a:r>
              <a:rPr sz="1600" dirty="0" err="1"/>
              <a:t>el</a:t>
            </a:r>
            <a:r>
              <a:rPr sz="1600" dirty="0"/>
              <a:t> </a:t>
            </a:r>
            <a:r>
              <a:rPr sz="1600" dirty="0" err="1"/>
              <a:t>coste</a:t>
            </a:r>
            <a:r>
              <a:rPr sz="1600" dirty="0"/>
              <a:t> actual.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Evitar</a:t>
            </a:r>
            <a:r>
              <a:rPr sz="1600" dirty="0"/>
              <a:t> la palabra 'blockchain' al </a:t>
            </a:r>
            <a:r>
              <a:rPr sz="1600" dirty="0" err="1"/>
              <a:t>inicio</a:t>
            </a:r>
            <a:r>
              <a:rPr sz="1600"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Hablar de '</a:t>
            </a:r>
            <a:r>
              <a:rPr sz="1600" dirty="0" err="1"/>
              <a:t>registro</a:t>
            </a:r>
            <a:r>
              <a:rPr sz="1600" dirty="0"/>
              <a:t> </a:t>
            </a:r>
            <a:r>
              <a:rPr sz="1600" dirty="0" err="1"/>
              <a:t>distribuido</a:t>
            </a:r>
            <a:r>
              <a:rPr sz="1600" dirty="0"/>
              <a:t> </a:t>
            </a:r>
            <a:r>
              <a:rPr sz="1600" dirty="0" err="1"/>
              <a:t>compartido</a:t>
            </a:r>
            <a:r>
              <a:rPr sz="1600" dirty="0"/>
              <a:t>'.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Presentar</a:t>
            </a:r>
            <a:r>
              <a:rPr sz="1600" dirty="0"/>
              <a:t> ROI, </a:t>
            </a:r>
            <a:r>
              <a:rPr sz="1600" dirty="0" err="1"/>
              <a:t>socios</a:t>
            </a:r>
            <a:r>
              <a:rPr sz="1600" dirty="0"/>
              <a:t>, MVP, </a:t>
            </a:r>
            <a:r>
              <a:rPr sz="1600" dirty="0" err="1"/>
              <a:t>riesgos</a:t>
            </a:r>
            <a:r>
              <a:rPr sz="1600" dirty="0"/>
              <a:t>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4. </a:t>
            </a:r>
            <a:r>
              <a:rPr dirty="0" err="1"/>
              <a:t>Modelos</a:t>
            </a:r>
            <a:r>
              <a:rPr dirty="0"/>
              <a:t> de </a:t>
            </a:r>
            <a:r>
              <a:rPr dirty="0" err="1"/>
              <a:t>gobernanza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Fundador</a:t>
            </a:r>
            <a:r>
              <a:rPr sz="1600" dirty="0"/>
              <a:t> </a:t>
            </a:r>
            <a:r>
              <a:rPr sz="1600" dirty="0" err="1"/>
              <a:t>dominante</a:t>
            </a:r>
            <a:r>
              <a:rPr sz="1600" dirty="0"/>
              <a:t>: Walmart Food Trust.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Democratico: </a:t>
            </a:r>
            <a:r>
              <a:rPr sz="1600" dirty="0" err="1"/>
              <a:t>Alastria</a:t>
            </a:r>
            <a:r>
              <a:rPr sz="1600" dirty="0"/>
              <a:t> (1 </a:t>
            </a:r>
            <a:r>
              <a:rPr sz="1600" dirty="0" err="1"/>
              <a:t>miembro</a:t>
            </a:r>
            <a:r>
              <a:rPr sz="1600" dirty="0"/>
              <a:t> = 1 </a:t>
            </a:r>
            <a:r>
              <a:rPr sz="1600" dirty="0" err="1"/>
              <a:t>voto</a:t>
            </a:r>
            <a:r>
              <a:rPr sz="1600" dirty="0"/>
              <a:t>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Federado</a:t>
            </a:r>
            <a:r>
              <a:rPr sz="1600" dirty="0"/>
              <a:t>: EBSI (</a:t>
            </a:r>
            <a:r>
              <a:rPr sz="1600" dirty="0" err="1"/>
              <a:t>comite</a:t>
            </a:r>
            <a:r>
              <a:rPr sz="1600" dirty="0"/>
              <a:t> </a:t>
            </a:r>
            <a:r>
              <a:rPr sz="1600" dirty="0" err="1"/>
              <a:t>ejecutivo</a:t>
            </a:r>
            <a:r>
              <a:rPr sz="1600" dirty="0"/>
              <a:t> </a:t>
            </a:r>
            <a:r>
              <a:rPr sz="1600" dirty="0" err="1"/>
              <a:t>rotativo</a:t>
            </a:r>
            <a:r>
              <a:rPr sz="1600" dirty="0"/>
              <a:t>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repaso del Modulo 3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086943"/>
            <a:ext cx="10515600" cy="472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sz="2400" dirty="0"/>
              <a:t>5. GDPR vs </a:t>
            </a:r>
            <a:r>
              <a:rPr sz="2400" dirty="0" err="1"/>
              <a:t>inmutabilidad</a:t>
            </a:r>
            <a:r>
              <a:rPr sz="2400" dirty="0"/>
              <a:t>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Datos </a:t>
            </a:r>
            <a:r>
              <a:rPr sz="1600" dirty="0" err="1"/>
              <a:t>personales</a:t>
            </a:r>
            <a:r>
              <a:rPr sz="1600" dirty="0"/>
              <a:t> off-chain. Hash on-chain.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Private Data con </a:t>
            </a:r>
            <a:r>
              <a:rPr sz="1600" dirty="0" err="1"/>
              <a:t>blockToLive</a:t>
            </a:r>
            <a:r>
              <a:rPr sz="1600" dirty="0"/>
              <a:t> </a:t>
            </a:r>
            <a:r>
              <a:rPr sz="1600" dirty="0" err="1"/>
              <a:t>caduca</a:t>
            </a:r>
            <a:r>
              <a:rPr sz="1600" dirty="0"/>
              <a:t> </a:t>
            </a:r>
            <a:r>
              <a:rPr sz="1600" dirty="0" err="1"/>
              <a:t>datos</a:t>
            </a:r>
            <a:r>
              <a:rPr sz="1600" dirty="0"/>
              <a:t> privados.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Borrar</a:t>
            </a:r>
            <a:r>
              <a:rPr sz="1600" dirty="0"/>
              <a:t> off-chain </a:t>
            </a:r>
            <a:r>
              <a:rPr sz="1600" dirty="0" err="1"/>
              <a:t>deja</a:t>
            </a:r>
            <a:r>
              <a:rPr sz="1600" dirty="0"/>
              <a:t> hash </a:t>
            </a:r>
            <a:r>
              <a:rPr sz="1600" dirty="0" err="1"/>
              <a:t>huerfano</a:t>
            </a:r>
            <a:r>
              <a:rPr sz="1600" dirty="0"/>
              <a:t> = </a:t>
            </a:r>
            <a:r>
              <a:rPr sz="1600" dirty="0" err="1"/>
              <a:t>pseudonimizacion</a:t>
            </a:r>
            <a:r>
              <a:rPr sz="1600" dirty="0"/>
              <a:t> </a:t>
            </a:r>
            <a:r>
              <a:rPr sz="1600" dirty="0" err="1"/>
              <a:t>efectiva</a:t>
            </a:r>
            <a:r>
              <a:rPr sz="1600" dirty="0"/>
              <a:t>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sz="2400" dirty="0"/>
              <a:t>6. </a:t>
            </a:r>
            <a:r>
              <a:rPr sz="2400" dirty="0" err="1"/>
              <a:t>MiCA</a:t>
            </a:r>
            <a:r>
              <a:rPr sz="2400" dirty="0"/>
              <a:t> y </a:t>
            </a:r>
            <a:r>
              <a:rPr sz="2400" dirty="0" err="1"/>
              <a:t>regulacion</a:t>
            </a:r>
            <a:r>
              <a:rPr sz="2400" dirty="0"/>
              <a:t> de tokens: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MiCA</a:t>
            </a:r>
            <a:r>
              <a:rPr sz="1600" dirty="0"/>
              <a:t> </a:t>
            </a:r>
            <a:r>
              <a:rPr sz="1600" dirty="0" err="1"/>
              <a:t>aplica</a:t>
            </a:r>
            <a:r>
              <a:rPr sz="1600" dirty="0"/>
              <a:t> a </a:t>
            </a:r>
            <a:r>
              <a:rPr sz="1600" dirty="0" err="1"/>
              <a:t>cripto</a:t>
            </a:r>
            <a:r>
              <a:rPr sz="1600" dirty="0"/>
              <a:t> publica (stablecoins, exchanges, tokens).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Fabric enterprise SIN tokens </a:t>
            </a:r>
            <a:r>
              <a:rPr sz="1600" dirty="0" err="1"/>
              <a:t>publicos</a:t>
            </a:r>
            <a:r>
              <a:rPr sz="1600" dirty="0"/>
              <a:t>: </a:t>
            </a:r>
            <a:r>
              <a:rPr sz="1600" dirty="0" err="1"/>
              <a:t>menos</a:t>
            </a:r>
            <a:r>
              <a:rPr sz="1600" dirty="0"/>
              <a:t> </a:t>
            </a:r>
            <a:r>
              <a:rPr sz="1600" dirty="0" err="1"/>
              <a:t>regulacion</a:t>
            </a:r>
            <a:r>
              <a:rPr sz="1600" dirty="0"/>
              <a:t> </a:t>
            </a:r>
            <a:r>
              <a:rPr sz="1600" dirty="0" err="1"/>
              <a:t>directa</a:t>
            </a:r>
            <a:r>
              <a:rPr sz="1600"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Tokenizar</a:t>
            </a:r>
            <a:r>
              <a:rPr sz="1600" dirty="0"/>
              <a:t> </a:t>
            </a:r>
            <a:r>
              <a:rPr sz="1600" dirty="0" err="1"/>
              <a:t>valores</a:t>
            </a:r>
            <a:r>
              <a:rPr sz="1600" dirty="0"/>
              <a:t> (</a:t>
            </a:r>
            <a:r>
              <a:rPr sz="1600" dirty="0" err="1"/>
              <a:t>bonos</a:t>
            </a:r>
            <a:r>
              <a:rPr sz="1600" dirty="0"/>
              <a:t>, </a:t>
            </a:r>
            <a:r>
              <a:rPr sz="1600" dirty="0" err="1"/>
              <a:t>acciones</a:t>
            </a:r>
            <a:r>
              <a:rPr sz="1600" dirty="0"/>
              <a:t>) </a:t>
            </a:r>
            <a:r>
              <a:rPr sz="1600" dirty="0" err="1"/>
              <a:t>en</a:t>
            </a:r>
            <a:r>
              <a:rPr sz="1600" dirty="0"/>
              <a:t> Fabric: MiFID II + </a:t>
            </a:r>
            <a:r>
              <a:rPr sz="1600" dirty="0" err="1"/>
              <a:t>autorizacion</a:t>
            </a:r>
            <a:r>
              <a:rPr sz="1600" dirty="0"/>
              <a:t> CNMV.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sz="2400" dirty="0"/>
              <a:t>7. </a:t>
            </a:r>
            <a:r>
              <a:rPr sz="2400" dirty="0" err="1"/>
              <a:t>Metodologia</a:t>
            </a:r>
            <a:r>
              <a:rPr sz="2400" dirty="0"/>
              <a:t>: de la idea al roadmap: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Descubrimiento</a:t>
            </a:r>
            <a:r>
              <a:rPr sz="1600" dirty="0"/>
              <a:t> (1-2 meses): </a:t>
            </a:r>
            <a:r>
              <a:rPr sz="1600" dirty="0" err="1"/>
              <a:t>problema</a:t>
            </a:r>
            <a:r>
              <a:rPr sz="1600" dirty="0"/>
              <a:t>, </a:t>
            </a:r>
            <a:r>
              <a:rPr sz="1600" dirty="0" err="1"/>
              <a:t>validar</a:t>
            </a:r>
            <a:r>
              <a:rPr sz="1600" dirty="0"/>
              <a:t> </a:t>
            </a:r>
            <a:r>
              <a:rPr sz="1600" dirty="0" err="1"/>
              <a:t>si</a:t>
            </a:r>
            <a:r>
              <a:rPr sz="1600" dirty="0"/>
              <a:t> blockchain </a:t>
            </a:r>
            <a:r>
              <a:rPr sz="1600" dirty="0" err="1"/>
              <a:t>aporta</a:t>
            </a:r>
            <a:r>
              <a:rPr sz="1600" dirty="0"/>
              <a:t>, </a:t>
            </a:r>
            <a:r>
              <a:rPr sz="1600" dirty="0" err="1"/>
              <a:t>socios</a:t>
            </a:r>
            <a:r>
              <a:rPr sz="1600"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PoC (3-4 meses): red minima, </a:t>
            </a:r>
            <a:r>
              <a:rPr sz="1600" dirty="0" err="1"/>
              <a:t>chaincode</a:t>
            </a:r>
            <a:r>
              <a:rPr sz="1600" dirty="0"/>
              <a:t> </a:t>
            </a:r>
            <a:r>
              <a:rPr sz="1600" dirty="0" err="1"/>
              <a:t>basico</a:t>
            </a:r>
            <a:r>
              <a:rPr sz="1600" dirty="0"/>
              <a:t>, </a:t>
            </a:r>
            <a:r>
              <a:rPr sz="1600" dirty="0" err="1"/>
              <a:t>demostrar</a:t>
            </a:r>
            <a:r>
              <a:rPr sz="1600" dirty="0"/>
              <a:t> </a:t>
            </a:r>
            <a:r>
              <a:rPr sz="1600" dirty="0" err="1"/>
              <a:t>funciona</a:t>
            </a:r>
            <a:r>
              <a:rPr sz="1600"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MVP (5-8 meses): red con Fabric CA, </a:t>
            </a:r>
            <a:r>
              <a:rPr sz="1600" dirty="0" err="1"/>
              <a:t>chaincode</a:t>
            </a:r>
            <a:r>
              <a:rPr sz="1600" dirty="0"/>
              <a:t> </a:t>
            </a:r>
            <a:r>
              <a:rPr sz="1600" dirty="0" err="1"/>
              <a:t>completo</a:t>
            </a:r>
            <a:r>
              <a:rPr sz="1600" dirty="0"/>
              <a:t>, app, tests.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Piloto (9-12 meses): </a:t>
            </a:r>
            <a:r>
              <a:rPr sz="1600" dirty="0" err="1"/>
              <a:t>datos</a:t>
            </a:r>
            <a:r>
              <a:rPr sz="1600" dirty="0"/>
              <a:t> reales, mas orgs, </a:t>
            </a:r>
            <a:r>
              <a:rPr sz="1600" dirty="0" err="1"/>
              <a:t>integracion</a:t>
            </a:r>
            <a:r>
              <a:rPr sz="1600" dirty="0"/>
              <a:t> legacy.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Produccion</a:t>
            </a:r>
            <a:r>
              <a:rPr sz="1600" dirty="0"/>
              <a:t> (12+ meses): SLAs, </a:t>
            </a:r>
            <a:r>
              <a:rPr sz="1600" dirty="0" err="1"/>
              <a:t>monitorizacion</a:t>
            </a:r>
            <a:r>
              <a:rPr sz="1600" dirty="0"/>
              <a:t>, </a:t>
            </a:r>
            <a:r>
              <a:rPr sz="1600" dirty="0" err="1"/>
              <a:t>soporte</a:t>
            </a:r>
            <a:r>
              <a:rPr sz="1600" dirty="0"/>
              <a:t> 24/7.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7540E-4FCC-8D6B-B59F-0763243D7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5D8616-204D-A519-3FF3-3685ACB1F313}"/>
              </a:ext>
            </a:extLst>
          </p:cNvPr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CDDF90-6377-B558-75DB-8298984107D9}"/>
              </a:ext>
            </a:extLst>
          </p:cNvPr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repaso del Modulo 3 (2/2)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1EF763-17A1-6EFE-E1CC-17F419EB24F2}"/>
              </a:ext>
            </a:extLst>
          </p:cNvPr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D48B40-931D-DA51-C1D0-07D81F9360A5}"/>
              </a:ext>
            </a:extLst>
          </p:cNvPr>
          <p:cNvSpPr txBox="1"/>
          <p:nvPr/>
        </p:nvSpPr>
        <p:spPr>
          <a:xfrm>
            <a:off x="640080" y="1086943"/>
            <a:ext cx="10515600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lang="es-ES" sz="2400" dirty="0"/>
              <a:t>8. Costes </a:t>
            </a:r>
            <a:r>
              <a:rPr lang="es-ES" sz="2400" dirty="0" err="1"/>
              <a:t>tipicos</a:t>
            </a:r>
            <a:r>
              <a:rPr lang="es-ES" sz="2400" dirty="0"/>
              <a:t> de un proyecto </a:t>
            </a:r>
            <a:r>
              <a:rPr lang="es-ES" sz="2400" dirty="0" err="1"/>
              <a:t>Fabric</a:t>
            </a:r>
            <a:r>
              <a:rPr lang="es-ES" sz="2400" dirty="0"/>
              <a:t>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lang="es-ES" sz="1600" dirty="0"/>
              <a:t>    Infraestructura: 500-2000€/mes por </a:t>
            </a:r>
            <a:r>
              <a:rPr lang="es-ES" sz="1600" dirty="0" err="1"/>
              <a:t>org</a:t>
            </a:r>
            <a:r>
              <a:rPr lang="es-ES" sz="1600" dirty="0"/>
              <a:t> (</a:t>
            </a:r>
            <a:r>
              <a:rPr lang="es-ES" sz="1600" dirty="0" err="1"/>
              <a:t>cloud</a:t>
            </a:r>
            <a:r>
              <a:rPr lang="es-ES" sz="1600" dirty="0"/>
              <a:t>), menos </a:t>
            </a:r>
            <a:r>
              <a:rPr lang="es-ES" sz="1600" dirty="0" err="1"/>
              <a:t>on</a:t>
            </a:r>
            <a:r>
              <a:rPr lang="es-ES" sz="1600" dirty="0"/>
              <a:t>-premise.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lang="es-ES" sz="1600" dirty="0"/>
              <a:t>    Desarrollo: </a:t>
            </a:r>
            <a:r>
              <a:rPr lang="es-ES" sz="1600" dirty="0" err="1"/>
              <a:t>chaincode</a:t>
            </a:r>
            <a:r>
              <a:rPr lang="es-ES" sz="1600" dirty="0"/>
              <a:t> 2-6 meses + app cliente 1-3 meses.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lang="es-ES" sz="1600" dirty="0"/>
              <a:t>    </a:t>
            </a:r>
            <a:r>
              <a:rPr lang="es-ES" sz="1600" dirty="0" err="1"/>
              <a:t>Integracion</a:t>
            </a:r>
            <a:r>
              <a:rPr lang="es-ES" sz="1600" dirty="0"/>
              <a:t> con </a:t>
            </a:r>
            <a:r>
              <a:rPr lang="es-ES" sz="1600" dirty="0" err="1"/>
              <a:t>legacy</a:t>
            </a:r>
            <a:r>
              <a:rPr lang="es-ES" sz="1600" dirty="0"/>
              <a:t>: el coste mas impredecible (depende del sistema).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lang="es-ES" sz="1600" dirty="0"/>
              <a:t>    Operaciones: 0.5-1 persona por </a:t>
            </a:r>
            <a:r>
              <a:rPr lang="es-ES" sz="1600" dirty="0" err="1"/>
              <a:t>org</a:t>
            </a:r>
            <a:r>
              <a:rPr lang="es-ES" sz="1600" dirty="0"/>
              <a:t> + 20-30% del </a:t>
            </a:r>
            <a:r>
              <a:rPr lang="es-ES" sz="1600" dirty="0" err="1"/>
              <a:t>dev</a:t>
            </a:r>
            <a:r>
              <a:rPr lang="es-ES" sz="1600" dirty="0"/>
              <a:t>/ano mantenimiento.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lang="es-ES" sz="1600" dirty="0"/>
              <a:t>    Gobernanza: reuniones, </a:t>
            </a:r>
            <a:r>
              <a:rPr lang="es-ES" sz="1600" dirty="0" err="1"/>
              <a:t>comites</a:t>
            </a:r>
            <a:r>
              <a:rPr lang="es-ES" sz="1600" dirty="0"/>
              <a:t>, </a:t>
            </a:r>
            <a:r>
              <a:rPr lang="es-ES" sz="1600" dirty="0" err="1"/>
              <a:t>decision-making</a:t>
            </a:r>
            <a:r>
              <a:rPr lang="es-ES" sz="1600" dirty="0"/>
              <a:t> (tiempo directivos).</a:t>
            </a:r>
          </a:p>
        </p:txBody>
      </p:sp>
    </p:spTree>
    <p:extLst>
      <p:ext uri="{BB962C8B-B14F-4D97-AF65-F5344CB8AC3E}">
        <p14:creationId xmlns:p14="http://schemas.microsoft.com/office/powerpoint/2010/main" val="133195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1419</Words>
  <Application>Microsoft Office PowerPoint</Application>
  <PresentationFormat>Personalizado</PresentationFormat>
  <Paragraphs>145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Javier Nieto</cp:lastModifiedBy>
  <cp:revision>3</cp:revision>
  <dcterms:created xsi:type="dcterms:W3CDTF">2013-01-27T09:14:16Z</dcterms:created>
  <dcterms:modified xsi:type="dcterms:W3CDTF">2026-04-23T12:14:14Z</dcterms:modified>
  <cp:category/>
</cp:coreProperties>
</file>