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88" r:id="rId22"/>
    <p:sldId id="276" r:id="rId23"/>
    <p:sldId id="282" r:id="rId24"/>
    <p:sldId id="283" r:id="rId25"/>
    <p:sldId id="277" r:id="rId26"/>
    <p:sldId id="284" r:id="rId27"/>
    <p:sldId id="281" r:id="rId28"/>
    <p:sldId id="287"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 id="335" r:id="rId76"/>
    <p:sldId id="336" r:id="rId77"/>
    <p:sldId id="337" r:id="rId78"/>
    <p:sldId id="338" r:id="rId7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8" autoAdjust="0"/>
    <p:restoredTop sz="94660"/>
  </p:normalViewPr>
  <p:slideViewPr>
    <p:cSldViewPr snapToGrid="0" snapToObjects="1">
      <p:cViewPr varScale="1">
        <p:scale>
          <a:sx n="78" d="100"/>
          <a:sy n="78" d="100"/>
        </p:scale>
        <p:origin x="60"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20840"/>
            <a:ext cx="12188952" cy="13716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65760"/>
            <a:ext cx="10972800" cy="457200"/>
          </a:xfrm>
          <a:prstGeom prst="rect">
            <a:avLst/>
          </a:prstGeom>
          <a:noFill/>
        </p:spPr>
        <p:txBody>
          <a:bodyPr wrap="square"/>
          <a:lstStyle/>
          <a:p>
            <a:pPr algn="l">
              <a:defRPr sz="1600" b="1">
                <a:solidFill>
                  <a:srgbClr val="22627E"/>
                </a:solidFill>
                <a:latin typeface="Calibri"/>
              </a:defRPr>
            </a:pPr>
            <a:r>
              <a:t>Modulo 3: Vision Empresarial</a:t>
            </a:r>
          </a:p>
        </p:txBody>
      </p:sp>
      <p:sp>
        <p:nvSpPr>
          <p:cNvPr id="5" name="TextBox 4"/>
          <p:cNvSpPr txBox="1"/>
          <p:nvPr/>
        </p:nvSpPr>
        <p:spPr>
          <a:xfrm>
            <a:off x="457200" y="1828800"/>
            <a:ext cx="10972800" cy="2286000"/>
          </a:xfrm>
          <a:prstGeom prst="rect">
            <a:avLst/>
          </a:prstGeom>
          <a:noFill/>
        </p:spPr>
        <p:txBody>
          <a:bodyPr wrap="square"/>
          <a:lstStyle/>
          <a:p>
            <a:pPr algn="l">
              <a:defRPr sz="5400" b="1">
                <a:solidFill>
                  <a:srgbClr val="22627E"/>
                </a:solidFill>
                <a:latin typeface="Calibri"/>
              </a:defRPr>
            </a:pPr>
            <a:r>
              <a:t>Casos de Uso Reales:</a:t>
            </a:r>
            <a:br/>
            <a:r>
              <a:t>Exitos y Fracasos</a:t>
            </a:r>
          </a:p>
        </p:txBody>
      </p:sp>
      <p:sp>
        <p:nvSpPr>
          <p:cNvPr id="6" name="TextBox 5"/>
          <p:cNvSpPr txBox="1"/>
          <p:nvPr/>
        </p:nvSpPr>
        <p:spPr>
          <a:xfrm>
            <a:off x="457200" y="4114800"/>
            <a:ext cx="10972800" cy="1371600"/>
          </a:xfrm>
          <a:prstGeom prst="rect">
            <a:avLst/>
          </a:prstGeom>
          <a:noFill/>
        </p:spPr>
        <p:txBody>
          <a:bodyPr wrap="square"/>
          <a:lstStyle/>
          <a:p>
            <a:pPr algn="l">
              <a:defRPr sz="2400" b="0">
                <a:solidFill>
                  <a:srgbClr val="333333"/>
                </a:solidFill>
                <a:latin typeface="Calibri"/>
              </a:defRPr>
            </a:pPr>
            <a:r>
              <a:t>Dia 1 - Que funciona, que no funciona y por que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La promesa vs la realidad</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Blockchain prometia revolucionar industrias enteras:</a:t>
            </a:r>
          </a:p>
          <a:p>
            <a:pPr lvl="1">
              <a:spcAft>
                <a:spcPts val="400"/>
              </a:spcAft>
              <a:defRPr sz="1700">
                <a:solidFill>
                  <a:srgbClr val="666666"/>
                </a:solidFill>
                <a:latin typeface="Calibri"/>
              </a:defRPr>
            </a:pPr>
            <a:r>
              <a:t>    Cadenas de suministro transparentes y trazables</a:t>
            </a:r>
          </a:p>
          <a:p>
            <a:pPr lvl="1">
              <a:spcAft>
                <a:spcPts val="400"/>
              </a:spcAft>
              <a:defRPr sz="1700">
                <a:solidFill>
                  <a:srgbClr val="666666"/>
                </a:solidFill>
                <a:latin typeface="Calibri"/>
              </a:defRPr>
            </a:pPr>
            <a:r>
              <a:t>    Registros inmutables de propiedad, identidad, salud</a:t>
            </a:r>
          </a:p>
          <a:p>
            <a:pPr lvl="1">
              <a:spcAft>
                <a:spcPts val="400"/>
              </a:spcAft>
              <a:defRPr sz="1700">
                <a:solidFill>
                  <a:srgbClr val="666666"/>
                </a:solidFill>
                <a:latin typeface="Calibri"/>
              </a:defRPr>
            </a:pPr>
            <a:r>
              <a:t>    Pagos transfronterizos instantaneos y baratos</a:t>
            </a:r>
          </a:p>
          <a:p>
            <a:pPr lvl="1">
              <a:spcAft>
                <a:spcPts val="400"/>
              </a:spcAft>
              <a:defRPr sz="1700">
                <a:solidFill>
                  <a:srgbClr val="666666"/>
                </a:solidFill>
                <a:latin typeface="Calibri"/>
              </a:defRPr>
            </a:pPr>
            <a:r>
              <a:t>    Votacion electronica segura y verificable</a:t>
            </a:r>
          </a:p>
          <a:p>
            <a:pPr lvl="1">
              <a:spcAft>
                <a:spcPts val="400"/>
              </a:spcAft>
              <a:defRPr sz="1700">
                <a:solidFill>
                  <a:srgbClr val="666666"/>
                </a:solidFill>
                <a:latin typeface="Calibri"/>
              </a:defRPr>
            </a:pPr>
            <a:r>
              <a:t>    Eliminacion de intermediarios en seguros, finanzas, comercio</a:t>
            </a:r>
          </a:p>
          <a:p>
            <a:pPr>
              <a:spcAft>
                <a:spcPts val="800"/>
              </a:spcAft>
              <a:defRPr sz="2000">
                <a:solidFill>
                  <a:srgbClr val="333333"/>
                </a:solidFill>
                <a:latin typeface="Calibri"/>
              </a:defRPr>
            </a:pPr>
            <a:r>
              <a:t>La realidad (2024-2026):</a:t>
            </a:r>
          </a:p>
          <a:p>
            <a:pPr lvl="1">
              <a:spcAft>
                <a:spcPts val="400"/>
              </a:spcAft>
              <a:defRPr sz="1700">
                <a:solidFill>
                  <a:srgbClr val="666666"/>
                </a:solidFill>
                <a:latin typeface="Calibri"/>
              </a:defRPr>
            </a:pPr>
            <a:r>
              <a:t>    La mayoria de pilotos no pasaron a produccion</a:t>
            </a:r>
          </a:p>
          <a:p>
            <a:pPr lvl="1">
              <a:spcAft>
                <a:spcPts val="400"/>
              </a:spcAft>
              <a:defRPr sz="1700">
                <a:solidFill>
                  <a:srgbClr val="666666"/>
                </a:solidFill>
                <a:latin typeface="Calibri"/>
              </a:defRPr>
            </a:pPr>
            <a:r>
              <a:t>    Varios consorcios de grandes empresas cerraron</a:t>
            </a:r>
          </a:p>
          <a:p>
            <a:pPr lvl="1">
              <a:spcAft>
                <a:spcPts val="400"/>
              </a:spcAft>
              <a:defRPr sz="1700">
                <a:solidFill>
                  <a:srgbClr val="666666"/>
                </a:solidFill>
                <a:latin typeface="Calibri"/>
              </a:defRPr>
            </a:pPr>
            <a:r>
              <a:t>    La adopcion masiva no ha llegado fuera de cripto/DeFi</a:t>
            </a:r>
          </a:p>
          <a:p>
            <a:pPr lvl="1">
              <a:spcAft>
                <a:spcPts val="400"/>
              </a:spcAft>
              <a:defRPr sz="1700">
                <a:solidFill>
                  <a:srgbClr val="666666"/>
                </a:solidFill>
                <a:latin typeface="Calibri"/>
              </a:defRPr>
            </a:pPr>
            <a:r>
              <a:t>    Las empresas siguen usando bases de datos tradicionales</a:t>
            </a:r>
          </a:p>
          <a:p>
            <a:pPr>
              <a:spcAft>
                <a:spcPts val="800"/>
              </a:spcAft>
              <a:defRPr sz="2000">
                <a:solidFill>
                  <a:srgbClr val="333333"/>
                </a:solidFill>
                <a:latin typeface="Calibri"/>
              </a:defRPr>
            </a:pPr>
            <a:r>
              <a:t>¿Que ha fallado? No es la tecnologia. Son los incentivos, la regulacion y la UX.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rPr dirty="0"/>
              <a:t>El </a:t>
            </a:r>
            <a:r>
              <a:rPr dirty="0" err="1"/>
              <a:t>ciclo</a:t>
            </a:r>
            <a:r>
              <a:rPr dirty="0"/>
              <a:t> de hype de </a:t>
            </a:r>
            <a:r>
              <a:rPr lang="es-ES" dirty="0"/>
              <a:t>las tecnologías (Curva de Gartner)</a:t>
            </a:r>
            <a:endParaRPr dirty="0"/>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Imagen 10">
            <a:extLst>
              <a:ext uri="{FF2B5EF4-FFF2-40B4-BE49-F238E27FC236}">
                <a16:creationId xmlns:a16="http://schemas.microsoft.com/office/drawing/2014/main" id="{68F9B7BF-8B12-85E4-5BF7-BBDF04BACDE4}"/>
              </a:ext>
            </a:extLst>
          </p:cNvPr>
          <p:cNvPicPr>
            <a:picLocks noChangeAspect="1"/>
          </p:cNvPicPr>
          <p:nvPr/>
        </p:nvPicPr>
        <p:blipFill>
          <a:blip r:embed="rId2"/>
          <a:stretch>
            <a:fillRect/>
          </a:stretch>
        </p:blipFill>
        <p:spPr>
          <a:xfrm>
            <a:off x="2117193" y="1299268"/>
            <a:ext cx="7954438" cy="50003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0"/>
            <a:ext cx="10058400" cy="1828800"/>
          </a:xfrm>
          <a:prstGeom prst="rect">
            <a:avLst/>
          </a:prstGeom>
          <a:noFill/>
        </p:spPr>
        <p:txBody>
          <a:bodyPr wrap="square"/>
          <a:lstStyle/>
          <a:p>
            <a:pPr algn="l">
              <a:defRPr sz="4800" b="1">
                <a:solidFill>
                  <a:srgbClr val="FFFFFF"/>
                </a:solidFill>
                <a:latin typeface="Calibri"/>
              </a:defRPr>
            </a:pPr>
            <a:r>
              <a:t>Casos que SI funcionan</a:t>
            </a:r>
          </a:p>
        </p:txBody>
      </p:sp>
      <p:sp>
        <p:nvSpPr>
          <p:cNvPr id="4" name="TextBox 3"/>
          <p:cNvSpPr txBox="1"/>
          <p:nvPr/>
        </p:nvSpPr>
        <p:spPr>
          <a:xfrm>
            <a:off x="914400" y="4114800"/>
            <a:ext cx="10058400" cy="1371600"/>
          </a:xfrm>
          <a:prstGeom prst="rect">
            <a:avLst/>
          </a:prstGeom>
          <a:noFill/>
        </p:spPr>
        <p:txBody>
          <a:bodyPr wrap="square"/>
          <a:lstStyle/>
          <a:p>
            <a:pPr algn="l">
              <a:defRPr sz="2400" b="0">
                <a:solidFill>
                  <a:srgbClr val="FFFFFF"/>
                </a:solidFill>
                <a:latin typeface="Calibri"/>
              </a:defRPr>
            </a:pPr>
            <a:r>
              <a:t>Proyectos blockchain enterprise en produccion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Walmart Food Trust (IBM + Hyperledger Fabric)</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Trazabilidad alimentaria: rastrear el origen de productos frescos</a:t>
            </a:r>
          </a:p>
          <a:p>
            <a:pPr>
              <a:spcAft>
                <a:spcPts val="800"/>
              </a:spcAft>
              <a:defRPr sz="2000">
                <a:solidFill>
                  <a:srgbClr val="333333"/>
                </a:solidFill>
                <a:latin typeface="Calibri"/>
              </a:defRPr>
            </a:pPr>
            <a:r>
              <a:t>Antes: rastrear un mango de la tienda a la granja tardaba 7 dias</a:t>
            </a:r>
          </a:p>
          <a:p>
            <a:pPr>
              <a:spcAft>
                <a:spcPts val="800"/>
              </a:spcAft>
              <a:defRPr sz="2000">
                <a:solidFill>
                  <a:srgbClr val="333333"/>
                </a:solidFill>
                <a:latin typeface="Calibri"/>
              </a:defRPr>
            </a:pPr>
            <a:r>
              <a:t>Con Fabric: el mismo rastreo tarda 2.2 segundos</a:t>
            </a:r>
          </a:p>
          <a:p>
            <a:pPr>
              <a:spcAft>
                <a:spcPts val="800"/>
              </a:spcAft>
              <a:defRPr sz="2000">
                <a:solidFill>
                  <a:srgbClr val="333333"/>
                </a:solidFill>
                <a:latin typeface="Calibri"/>
              </a:defRPr>
            </a:pPr>
            <a:r>
              <a:t>Mas de 150 organizaciones conectadas (proveedores, distribuidores)</a:t>
            </a:r>
          </a:p>
          <a:p>
            <a:pPr>
              <a:spcAft>
                <a:spcPts val="800"/>
              </a:spcAft>
              <a:defRPr sz="2000">
                <a:solidFill>
                  <a:srgbClr val="333333"/>
                </a:solidFill>
                <a:latin typeface="Calibri"/>
              </a:defRPr>
            </a:pPr>
            <a:r>
              <a:t>En produccion desde 2018 — uno de los mayores exitos de Fabric</a:t>
            </a:r>
          </a:p>
          <a:p>
            <a:pPr>
              <a:spcAft>
                <a:spcPts val="800"/>
              </a:spcAft>
              <a:defRPr sz="2000">
                <a:solidFill>
                  <a:srgbClr val="333333"/>
                </a:solidFill>
                <a:latin typeface="Calibri"/>
              </a:defRPr>
            </a:pPr>
            <a:r>
              <a:t>Clave del exito: Walmart exigio a sus proveedores que participaran</a:t>
            </a:r>
          </a:p>
          <a:p>
            <a:pPr lvl="1">
              <a:spcAft>
                <a:spcPts val="400"/>
              </a:spcAft>
              <a:defRPr sz="1700">
                <a:solidFill>
                  <a:srgbClr val="666666"/>
                </a:solidFill>
                <a:latin typeface="Calibri"/>
              </a:defRPr>
            </a:pPr>
            <a:r>
              <a:t>    Cuando el actor mas grande del ecosistema impone la adopcion, funciona</a:t>
            </a:r>
          </a:p>
          <a:p>
            <a:pPr lvl="1">
              <a:spcAft>
                <a:spcPts val="400"/>
              </a:spcAft>
              <a:defRPr sz="1700">
                <a:solidFill>
                  <a:srgbClr val="666666"/>
                </a:solidFill>
                <a:latin typeface="Calibri"/>
              </a:defRPr>
            </a:pPr>
            <a:r>
              <a:t>    Pero genera debate: ¿es un consorcio o una imposicion?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We.Trade (financiacion de comercio internacional)</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Consorcio de 12 bancos europeos (Deutsche Bank, HSBC, Santander, etc.)</a:t>
            </a:r>
          </a:p>
          <a:p>
            <a:pPr>
              <a:spcAft>
                <a:spcPts val="800"/>
              </a:spcAft>
              <a:defRPr sz="2000">
                <a:solidFill>
                  <a:srgbClr val="333333"/>
                </a:solidFill>
                <a:latin typeface="Calibri"/>
              </a:defRPr>
            </a:pPr>
            <a:r>
              <a:t>Plataforma para financiar operaciones de comercio internacional entre PYMEs</a:t>
            </a:r>
          </a:p>
          <a:p>
            <a:pPr>
              <a:spcAft>
                <a:spcPts val="800"/>
              </a:spcAft>
              <a:defRPr sz="2000">
                <a:solidFill>
                  <a:srgbClr val="333333"/>
                </a:solidFill>
                <a:latin typeface="Calibri"/>
              </a:defRPr>
            </a:pPr>
            <a:r>
              <a:t>Basado en Hyperledger Fabric</a:t>
            </a:r>
          </a:p>
          <a:p>
            <a:pPr>
              <a:spcAft>
                <a:spcPts val="800"/>
              </a:spcAft>
              <a:defRPr sz="2000">
                <a:solidFill>
                  <a:srgbClr val="333333"/>
                </a:solidFill>
                <a:latin typeface="Calibri"/>
              </a:defRPr>
            </a:pPr>
            <a:r>
              <a:t>Flujo: PYME solicita financiacion → banco del comprador garantiza → banco del vendedor adelanta</a:t>
            </a:r>
          </a:p>
          <a:p>
            <a:pPr>
              <a:spcAft>
                <a:spcPts val="800"/>
              </a:spcAft>
              <a:defRPr sz="2000">
                <a:solidFill>
                  <a:srgbClr val="333333"/>
                </a:solidFill>
                <a:latin typeface="Calibri"/>
              </a:defRPr>
            </a:pPr>
            <a:r>
              <a:t>Reduce el papeleo y el riesgo de fraude en operaciones cross-border</a:t>
            </a:r>
          </a:p>
          <a:p>
            <a:pPr>
              <a:spcAft>
                <a:spcPts val="800"/>
              </a:spcAft>
              <a:defRPr sz="2000">
                <a:solidFill>
                  <a:srgbClr val="333333"/>
                </a:solidFill>
                <a:latin typeface="Calibri"/>
              </a:defRPr>
            </a:pPr>
            <a:r>
              <a:t>Lecciones: funciona porque todos los bancos tienen incentivo claro (reducir riesgo y coste)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HKMA eTradeConnect (Hong Kong)</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Hong Kong Monetary Authority: plataforma de trade finance en Fabric</a:t>
            </a:r>
          </a:p>
          <a:p>
            <a:pPr>
              <a:spcAft>
                <a:spcPts val="800"/>
              </a:spcAft>
              <a:defRPr sz="2000">
                <a:solidFill>
                  <a:srgbClr val="333333"/>
                </a:solidFill>
                <a:latin typeface="Calibri"/>
              </a:defRPr>
            </a:pPr>
            <a:r>
              <a:t>Conecta bancos de Hong Kong para compartir informacion de operaciones comerciales</a:t>
            </a:r>
          </a:p>
          <a:p>
            <a:pPr>
              <a:spcAft>
                <a:spcPts val="800"/>
              </a:spcAft>
              <a:defRPr sz="2000">
                <a:solidFill>
                  <a:srgbClr val="333333"/>
                </a:solidFill>
                <a:latin typeface="Calibri"/>
              </a:defRPr>
            </a:pPr>
            <a:r>
              <a:t>Evita el fraude de doble financiacion (un exportador pide credito a dos bancos por la misma mercancia)</a:t>
            </a:r>
          </a:p>
          <a:p>
            <a:pPr>
              <a:spcAft>
                <a:spcPts val="800"/>
              </a:spcAft>
              <a:defRPr sz="2000">
                <a:solidFill>
                  <a:srgbClr val="333333"/>
                </a:solidFill>
                <a:latin typeface="Calibri"/>
              </a:defRPr>
            </a:pPr>
            <a:r>
              <a:t>Interoperable con We.Trade (Europa) para operaciones Asia-Europa</a:t>
            </a:r>
          </a:p>
          <a:p>
            <a:pPr>
              <a:spcAft>
                <a:spcPts val="800"/>
              </a:spcAft>
              <a:defRPr sz="2000">
                <a:solidFill>
                  <a:srgbClr val="333333"/>
                </a:solidFill>
                <a:latin typeface="Calibri"/>
              </a:defRPr>
            </a:pPr>
            <a:r>
              <a:t>En produccion desde 2019</a:t>
            </a:r>
          </a:p>
          <a:p>
            <a:pPr>
              <a:spcAft>
                <a:spcPts val="800"/>
              </a:spcAft>
              <a:defRPr sz="2000">
                <a:solidFill>
                  <a:srgbClr val="333333"/>
                </a:solidFill>
                <a:latin typeface="Calibri"/>
              </a:defRPr>
            </a:pPr>
            <a:r>
              <a:t>Clave: respaldo del regulador (HKMA) desde el inicio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Otros casos en produccion</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ANZ + Scentre Group (Australia): tokenizacion de alquileres comerciales en Fabric</a:t>
            </a:r>
          </a:p>
          <a:p>
            <a:pPr>
              <a:spcAft>
                <a:spcPts val="800"/>
              </a:spcAft>
              <a:defRPr sz="2000">
                <a:solidFill>
                  <a:srgbClr val="333333"/>
                </a:solidFill>
                <a:latin typeface="Calibri"/>
              </a:defRPr>
            </a:pPr>
            <a:r>
              <a:t>Maersk + IBM TradeLens: trazabilidad maritima (cerro en 2022, pero funciono tecnicamente)</a:t>
            </a:r>
          </a:p>
          <a:p>
            <a:pPr>
              <a:spcAft>
                <a:spcPts val="800"/>
              </a:spcAft>
              <a:defRPr sz="2000">
                <a:solidFill>
                  <a:srgbClr val="333333"/>
                </a:solidFill>
                <a:latin typeface="Calibri"/>
              </a:defRPr>
            </a:pPr>
            <a:r>
              <a:t>Marco Polo Network: trade finance multi-banco en Corda</a:t>
            </a:r>
          </a:p>
          <a:p>
            <a:pPr>
              <a:spcAft>
                <a:spcPts val="800"/>
              </a:spcAft>
              <a:defRPr sz="2000">
                <a:solidFill>
                  <a:srgbClr val="333333"/>
                </a:solidFill>
                <a:latin typeface="Calibri"/>
              </a:defRPr>
            </a:pPr>
            <a:r>
              <a:t>De Beers Tracr: trazabilidad de diamantes (funciona pero adopcion limitada)</a:t>
            </a:r>
          </a:p>
          <a:p>
            <a:pPr>
              <a:spcAft>
                <a:spcPts val="800"/>
              </a:spcAft>
              <a:defRPr sz="2000">
                <a:solidFill>
                  <a:srgbClr val="333333"/>
                </a:solidFill>
                <a:latin typeface="Calibri"/>
              </a:defRPr>
            </a:pPr>
            <a:r>
              <a:t>Everledger: certificados de autenticidad de vinos, diamantes y arte</a:t>
            </a:r>
          </a:p>
          <a:p>
            <a:pPr>
              <a:spcAft>
                <a:spcPts val="800"/>
              </a:spcAft>
              <a:defRPr sz="2000">
                <a:solidFill>
                  <a:srgbClr val="333333"/>
                </a:solidFill>
                <a:latin typeface="Calibri"/>
              </a:defRPr>
            </a:pPr>
            <a:r>
              <a:t>Carrefour: trazabilidad alimentaria (pollos, tomates) en Francia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0"/>
            <a:ext cx="10058400" cy="1828800"/>
          </a:xfrm>
          <a:prstGeom prst="rect">
            <a:avLst/>
          </a:prstGeom>
          <a:noFill/>
        </p:spPr>
        <p:txBody>
          <a:bodyPr wrap="square"/>
          <a:lstStyle/>
          <a:p>
            <a:pPr algn="l">
              <a:defRPr sz="4800" b="1">
                <a:solidFill>
                  <a:srgbClr val="FFFFFF"/>
                </a:solidFill>
                <a:latin typeface="Calibri"/>
              </a:defRPr>
            </a:pPr>
            <a:r>
              <a:t>6 casos reales</a:t>
            </a:r>
            <a:br/>
            <a:r>
              <a:t>que no llegaron al mainstream</a:t>
            </a:r>
          </a:p>
        </p:txBody>
      </p:sp>
      <p:sp>
        <p:nvSpPr>
          <p:cNvPr id="4" name="TextBox 3"/>
          <p:cNvSpPr txBox="1"/>
          <p:nvPr/>
        </p:nvSpPr>
        <p:spPr>
          <a:xfrm>
            <a:off x="914400" y="4114800"/>
            <a:ext cx="10058400" cy="1371600"/>
          </a:xfrm>
          <a:prstGeom prst="rect">
            <a:avLst/>
          </a:prstGeom>
          <a:noFill/>
        </p:spPr>
        <p:txBody>
          <a:bodyPr wrap="square"/>
          <a:lstStyle/>
          <a:p>
            <a:pPr algn="l">
              <a:defRPr sz="2400" b="0">
                <a:solidFill>
                  <a:srgbClr val="FFFFFF"/>
                </a:solidFill>
                <a:latin typeface="Calibri"/>
              </a:defRPr>
            </a:pPr>
            <a:r>
              <a:t>¿Que podemos aprender de cada uno?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Caso 1: TradeLens (Maersk + IBM)</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Que era: plataforma de trazabilidad de comercio maritimo global</a:t>
            </a:r>
          </a:p>
          <a:p>
            <a:pPr>
              <a:spcAft>
                <a:spcPts val="800"/>
              </a:spcAft>
              <a:defRPr sz="2000">
                <a:solidFill>
                  <a:srgbClr val="333333"/>
                </a:solidFill>
                <a:latin typeface="Calibri"/>
              </a:defRPr>
            </a:pPr>
            <a:r>
              <a:t>Tecnologia: Hyperledger Fabric</a:t>
            </a:r>
          </a:p>
          <a:p>
            <a:pPr>
              <a:spcAft>
                <a:spcPts val="800"/>
              </a:spcAft>
              <a:defRPr sz="2000">
                <a:solidFill>
                  <a:srgbClr val="333333"/>
                </a:solidFill>
                <a:latin typeface="Calibri"/>
              </a:defRPr>
            </a:pPr>
            <a:r>
              <a:t>Inversion: cientos de millones de dolares, respaldada por IBM y Maersk</a:t>
            </a:r>
          </a:p>
          <a:p>
            <a:pPr>
              <a:spcAft>
                <a:spcPts val="800"/>
              </a:spcAft>
              <a:defRPr sz="2000">
                <a:solidFill>
                  <a:srgbClr val="333333"/>
                </a:solidFill>
                <a:latin typeface="Calibri"/>
              </a:defRPr>
            </a:pPr>
            <a:r>
              <a:t>Participantes: llego a conectar a mas de 150 organizaciones</a:t>
            </a:r>
          </a:p>
          <a:p>
            <a:pPr>
              <a:spcAft>
                <a:spcPts val="800"/>
              </a:spcAft>
              <a:defRPr sz="2000">
                <a:solidFill>
                  <a:srgbClr val="333333"/>
                </a:solidFill>
                <a:latin typeface="Calibri"/>
              </a:defRPr>
            </a:pPr>
            <a:r>
              <a:t>Que paso: cerro en noviembre de 2022</a:t>
            </a:r>
          </a:p>
          <a:p>
            <a:pPr>
              <a:spcAft>
                <a:spcPts val="800"/>
              </a:spcAft>
              <a:defRPr sz="2000">
                <a:solidFill>
                  <a:srgbClr val="333333"/>
                </a:solidFill>
                <a:latin typeface="Calibri"/>
              </a:defRPr>
            </a:pPr>
            <a:r>
              <a:t>¿Por que fallo?</a:t>
            </a:r>
          </a:p>
          <a:p>
            <a:pPr lvl="1">
              <a:spcAft>
                <a:spcPts val="400"/>
              </a:spcAft>
              <a:defRPr sz="1700">
                <a:solidFill>
                  <a:srgbClr val="666666"/>
                </a:solidFill>
                <a:latin typeface="Calibri"/>
              </a:defRPr>
            </a:pPr>
            <a:r>
              <a:t>    Las navieras competidoras (MSC, CMA CGM) no querian unirse a una plataforma controlada por Maersk</a:t>
            </a:r>
          </a:p>
          <a:p>
            <a:pPr lvl="1">
              <a:spcAft>
                <a:spcPts val="400"/>
              </a:spcAft>
              <a:defRPr sz="1700">
                <a:solidFill>
                  <a:srgbClr val="666666"/>
                </a:solidFill>
                <a:latin typeface="Calibri"/>
              </a:defRPr>
            </a:pPr>
            <a:r>
              <a:t>    Problema del 'fundador dominante': ¿por que dar mis datos a mi competidor?</a:t>
            </a:r>
          </a:p>
          <a:p>
            <a:pPr lvl="1">
              <a:spcAft>
                <a:spcPts val="400"/>
              </a:spcAft>
              <a:defRPr sz="1700">
                <a:solidFill>
                  <a:srgbClr val="666666"/>
                </a:solidFill>
                <a:latin typeface="Calibri"/>
              </a:defRPr>
            </a:pPr>
            <a:r>
              <a:t>    No se alcanzo la masa critica necesaria para que la red fuera util</a:t>
            </a:r>
          </a:p>
          <a:p>
            <a:pPr lvl="1">
              <a:spcAft>
                <a:spcPts val="400"/>
              </a:spcAft>
              <a:defRPr sz="1700">
                <a:solidFill>
                  <a:srgbClr val="666666"/>
                </a:solidFill>
                <a:latin typeface="Calibri"/>
              </a:defRPr>
            </a:pPr>
            <a:r>
              <a:t>    La propuesta de valor no compensaba el coste de integracion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Caso 2: B3i (consorcio de aseguradoras)</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Que era: plataforma de reaseguros automatizados con smart contracts</a:t>
            </a:r>
          </a:p>
          <a:p>
            <a:pPr>
              <a:spcAft>
                <a:spcPts val="800"/>
              </a:spcAft>
              <a:defRPr sz="2000">
                <a:solidFill>
                  <a:srgbClr val="333333"/>
                </a:solidFill>
                <a:latin typeface="Calibri"/>
              </a:defRPr>
            </a:pPr>
            <a:r>
              <a:t>Tecnologia: R3 Corda</a:t>
            </a:r>
          </a:p>
          <a:p>
            <a:pPr>
              <a:spcAft>
                <a:spcPts val="800"/>
              </a:spcAft>
              <a:defRPr sz="2000">
                <a:solidFill>
                  <a:srgbClr val="333333"/>
                </a:solidFill>
                <a:latin typeface="Calibri"/>
              </a:defRPr>
            </a:pPr>
            <a:r>
              <a:t>Fundadores: Allianz, Swiss Re, Zurich, Munich Re y otras 15+ aseguradoras</a:t>
            </a:r>
          </a:p>
          <a:p>
            <a:pPr>
              <a:spcAft>
                <a:spcPts val="800"/>
              </a:spcAft>
              <a:defRPr sz="2000">
                <a:solidFill>
                  <a:srgbClr val="333333"/>
                </a:solidFill>
                <a:latin typeface="Calibri"/>
              </a:defRPr>
            </a:pPr>
            <a:r>
              <a:t>Que paso: cerro en julio de 2022 tras declararse insolvente</a:t>
            </a:r>
          </a:p>
          <a:p>
            <a:pPr>
              <a:spcAft>
                <a:spcPts val="800"/>
              </a:spcAft>
              <a:defRPr sz="2000">
                <a:solidFill>
                  <a:srgbClr val="333333"/>
                </a:solidFill>
                <a:latin typeface="Calibri"/>
              </a:defRPr>
            </a:pPr>
            <a:r>
              <a:t>¿Por que fallo?</a:t>
            </a:r>
          </a:p>
          <a:p>
            <a:pPr lvl="1">
              <a:spcAft>
                <a:spcPts val="400"/>
              </a:spcAft>
              <a:defRPr sz="1700">
                <a:solidFill>
                  <a:srgbClr val="666666"/>
                </a:solidFill>
                <a:latin typeface="Calibri"/>
              </a:defRPr>
            </a:pPr>
            <a:r>
              <a:t>    No encontro un modelo de negocio viable: ¿quien paga la plataforma?</a:t>
            </a:r>
          </a:p>
          <a:p>
            <a:pPr lvl="1">
              <a:spcAft>
                <a:spcPts val="400"/>
              </a:spcAft>
              <a:defRPr sz="1700">
                <a:solidFill>
                  <a:srgbClr val="666666"/>
                </a:solidFill>
                <a:latin typeface="Calibri"/>
              </a:defRPr>
            </a:pPr>
            <a:r>
              <a:t>    Las aseguradoras querian participar pero no financiar indefinidamente</a:t>
            </a:r>
          </a:p>
          <a:p>
            <a:pPr lvl="1">
              <a:spcAft>
                <a:spcPts val="400"/>
              </a:spcAft>
              <a:defRPr sz="1700">
                <a:solidFill>
                  <a:srgbClr val="666666"/>
                </a:solidFill>
                <a:latin typeface="Calibri"/>
              </a:defRPr>
            </a:pPr>
            <a:r>
              <a:t>    Complejidad regulatoria: cada pais con reglas distintas para reaseguros</a:t>
            </a:r>
          </a:p>
          <a:p>
            <a:pPr lvl="1">
              <a:spcAft>
                <a:spcPts val="400"/>
              </a:spcAft>
              <a:defRPr sz="1700">
                <a:solidFill>
                  <a:srgbClr val="666666"/>
                </a:solidFill>
                <a:latin typeface="Calibri"/>
              </a:defRPr>
            </a:pPr>
            <a:r>
              <a:t>    Los sistemas legacy de las aseguradoras eran muy dificiles de integrar</a:t>
            </a:r>
          </a:p>
          <a:p>
            <a:pPr lvl="1">
              <a:spcAft>
                <a:spcPts val="400"/>
              </a:spcAft>
              <a:defRPr sz="1700">
                <a:solidFill>
                  <a:srgbClr val="666666"/>
                </a:solidFill>
                <a:latin typeface="Calibri"/>
              </a:defRPr>
            </a:pPr>
            <a:r>
              <a:t>    Leccion: la tecnologia funcionaba, el negocio no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Caso 3: MedRec (MIT - historial medico)</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Que era: sistema de historial medico compartido entre hospitales</a:t>
            </a:r>
          </a:p>
          <a:p>
            <a:pPr>
              <a:spcAft>
                <a:spcPts val="800"/>
              </a:spcAft>
              <a:defRPr sz="2000">
                <a:solidFill>
                  <a:srgbClr val="333333"/>
                </a:solidFill>
                <a:latin typeface="Calibri"/>
              </a:defRPr>
            </a:pPr>
            <a:r>
              <a:t>Tecnologia: Ethereum (red privada)</a:t>
            </a:r>
          </a:p>
          <a:p>
            <a:pPr>
              <a:spcAft>
                <a:spcPts val="800"/>
              </a:spcAft>
              <a:defRPr sz="2000">
                <a:solidFill>
                  <a:srgbClr val="333333"/>
                </a:solidFill>
                <a:latin typeface="Calibri"/>
              </a:defRPr>
            </a:pPr>
            <a:r>
              <a:t>Concepto: el paciente controla quien accede a sus datos medicos</a:t>
            </a:r>
          </a:p>
          <a:p>
            <a:pPr>
              <a:spcAft>
                <a:spcPts val="800"/>
              </a:spcAft>
              <a:defRPr sz="2000">
                <a:solidFill>
                  <a:srgbClr val="333333"/>
                </a:solidFill>
                <a:latin typeface="Calibri"/>
              </a:defRPr>
            </a:pPr>
            <a:r>
              <a:t>Que paso: nunca paso de fase de investigacion academica</a:t>
            </a:r>
          </a:p>
          <a:p>
            <a:pPr>
              <a:spcAft>
                <a:spcPts val="800"/>
              </a:spcAft>
              <a:defRPr sz="2000">
                <a:solidFill>
                  <a:srgbClr val="333333"/>
                </a:solidFill>
                <a:latin typeface="Calibri"/>
              </a:defRPr>
            </a:pPr>
            <a:r>
              <a:t>¿Por que fallo?</a:t>
            </a:r>
          </a:p>
          <a:p>
            <a:pPr lvl="1">
              <a:spcAft>
                <a:spcPts val="400"/>
              </a:spcAft>
              <a:defRPr sz="1700">
                <a:solidFill>
                  <a:srgbClr val="666666"/>
                </a:solidFill>
                <a:latin typeface="Calibri"/>
              </a:defRPr>
            </a:pPr>
            <a:r>
              <a:t>    Regulacion sanitaria extremadamente estricta (HIPAA en EE.UU., GDPR en Europa)</a:t>
            </a:r>
          </a:p>
          <a:p>
            <a:pPr lvl="1">
              <a:spcAft>
                <a:spcPts val="400"/>
              </a:spcAft>
              <a:defRPr sz="1700">
                <a:solidFill>
                  <a:srgbClr val="666666"/>
                </a:solidFill>
                <a:latin typeface="Calibri"/>
              </a:defRPr>
            </a:pPr>
            <a:r>
              <a:t>    Los medicos no quieren aprender herramientas nuevas: la UX debe ser invisible</a:t>
            </a:r>
          </a:p>
          <a:p>
            <a:pPr lvl="1">
              <a:spcAft>
                <a:spcPts val="400"/>
              </a:spcAft>
              <a:defRPr sz="1700">
                <a:solidFill>
                  <a:srgbClr val="666666"/>
                </a:solidFill>
                <a:latin typeface="Calibri"/>
              </a:defRPr>
            </a:pPr>
            <a:r>
              <a:t>    Los hospitales tienen sistemas legacy incompatibles entre si</a:t>
            </a:r>
          </a:p>
          <a:p>
            <a:pPr lvl="1">
              <a:spcAft>
                <a:spcPts val="400"/>
              </a:spcAft>
              <a:defRPr sz="1700">
                <a:solidFill>
                  <a:srgbClr val="666666"/>
                </a:solidFill>
                <a:latin typeface="Calibri"/>
              </a:defRPr>
            </a:pPr>
            <a:r>
              <a:t>    ¿Quien administra la red? ¿Quien paga los nodos? ¿Quien es responsable?</a:t>
            </a:r>
          </a:p>
          <a:p>
            <a:pPr lvl="1">
              <a:spcAft>
                <a:spcPts val="400"/>
              </a:spcAft>
              <a:defRPr sz="1700">
                <a:solidFill>
                  <a:srgbClr val="666666"/>
                </a:solidFill>
                <a:latin typeface="Calibri"/>
              </a:defRPr>
            </a:pPr>
            <a:r>
              <a:t>    Privacidad: ¿realmente queremos datos medicos en CUALQUIER tipo de blockchain?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Caso 4: Voatz (votacion electronica)</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Que era: app de votacion electronica basada en blockchain</a:t>
            </a:r>
          </a:p>
          <a:p>
            <a:pPr>
              <a:spcAft>
                <a:spcPts val="800"/>
              </a:spcAft>
              <a:defRPr sz="2000">
                <a:solidFill>
                  <a:srgbClr val="333333"/>
                </a:solidFill>
                <a:latin typeface="Calibri"/>
              </a:defRPr>
            </a:pPr>
            <a:r>
              <a:t>Uso real: se uso en elecciones locales en West Virginia (EE.UU.) en 2018</a:t>
            </a:r>
          </a:p>
          <a:p>
            <a:pPr>
              <a:spcAft>
                <a:spcPts val="800"/>
              </a:spcAft>
              <a:defRPr sz="2000">
                <a:solidFill>
                  <a:srgbClr val="333333"/>
                </a:solidFill>
                <a:latin typeface="Calibri"/>
              </a:defRPr>
            </a:pPr>
            <a:r>
              <a:t>Promesa: votacion segura, verificable y accesible desde el movil</a:t>
            </a:r>
          </a:p>
          <a:p>
            <a:pPr>
              <a:spcAft>
                <a:spcPts val="800"/>
              </a:spcAft>
              <a:defRPr sz="2000">
                <a:solidFill>
                  <a:srgbClr val="333333"/>
                </a:solidFill>
                <a:latin typeface="Calibri"/>
              </a:defRPr>
            </a:pPr>
            <a:r>
              <a:t>Que paso: auditoria del MIT encontro vulnerabilidades criticas</a:t>
            </a:r>
          </a:p>
          <a:p>
            <a:pPr>
              <a:spcAft>
                <a:spcPts val="800"/>
              </a:spcAft>
              <a:defRPr sz="2000">
                <a:solidFill>
                  <a:srgbClr val="333333"/>
                </a:solidFill>
                <a:latin typeface="Calibri"/>
              </a:defRPr>
            </a:pPr>
            <a:r>
              <a:t>¿Por que fallo?</a:t>
            </a:r>
          </a:p>
          <a:p>
            <a:pPr lvl="1">
              <a:spcAft>
                <a:spcPts val="400"/>
              </a:spcAft>
              <a:defRPr sz="1700">
                <a:solidFill>
                  <a:srgbClr val="666666"/>
                </a:solidFill>
                <a:latin typeface="Calibri"/>
              </a:defRPr>
            </a:pPr>
            <a:r>
              <a:t>    Investigadores del MIT demostraron que los votos podian ser alterados</a:t>
            </a:r>
          </a:p>
          <a:p>
            <a:pPr lvl="1">
              <a:spcAft>
                <a:spcPts val="400"/>
              </a:spcAft>
              <a:defRPr sz="1700">
                <a:solidFill>
                  <a:srgbClr val="666666"/>
                </a:solidFill>
                <a:latin typeface="Calibri"/>
              </a:defRPr>
            </a:pPr>
            <a:r>
              <a:t>    La app dependia de un servidor central: no era realmente descentralizada</a:t>
            </a:r>
          </a:p>
          <a:p>
            <a:pPr lvl="1">
              <a:spcAft>
                <a:spcPts val="400"/>
              </a:spcAft>
              <a:defRPr sz="1700">
                <a:solidFill>
                  <a:srgbClr val="666666"/>
                </a:solidFill>
                <a:latin typeface="Calibri"/>
              </a:defRPr>
            </a:pPr>
            <a:r>
              <a:t>    El voto electronico tiene un problema fundamental: verificabilidad vs anonimato</a:t>
            </a:r>
          </a:p>
          <a:p>
            <a:pPr lvl="1">
              <a:spcAft>
                <a:spcPts val="400"/>
              </a:spcAft>
              <a:defRPr sz="1700">
                <a:solidFill>
                  <a:srgbClr val="666666"/>
                </a:solidFill>
                <a:latin typeface="Calibri"/>
              </a:defRPr>
            </a:pPr>
            <a:r>
              <a:t>    Rechazo politico: ambos partidos desconfian del voto electronico</a:t>
            </a:r>
          </a:p>
          <a:p>
            <a:pPr lvl="1">
              <a:spcAft>
                <a:spcPts val="400"/>
              </a:spcAft>
              <a:defRPr sz="1700">
                <a:solidFill>
                  <a:srgbClr val="666666"/>
                </a:solidFill>
                <a:latin typeface="Calibri"/>
              </a:defRPr>
            </a:pPr>
            <a:r>
              <a:t>    Blockchain no resuelve el 'ultimo metro': ¿como verificas la identidad del votante?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Caso 5: De Beers - Tracr (diamantes)</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Que era: trazabilidad de diamantes desde la mina al consumidor final</a:t>
            </a:r>
          </a:p>
          <a:p>
            <a:pPr>
              <a:spcAft>
                <a:spcPts val="800"/>
              </a:spcAft>
              <a:defRPr sz="2000">
                <a:solidFill>
                  <a:srgbClr val="333333"/>
                </a:solidFill>
                <a:latin typeface="Calibri"/>
              </a:defRPr>
            </a:pPr>
            <a:r>
              <a:t>Tecnologia: blockchain privada</a:t>
            </a:r>
          </a:p>
          <a:p>
            <a:pPr>
              <a:spcAft>
                <a:spcPts val="800"/>
              </a:spcAft>
              <a:defRPr sz="2000">
                <a:solidFill>
                  <a:srgbClr val="333333"/>
                </a:solidFill>
                <a:latin typeface="Calibri"/>
              </a:defRPr>
            </a:pPr>
            <a:r>
              <a:t>Objetivo: demostrar que un diamante no es 'de sangre' ni de conflicto</a:t>
            </a:r>
          </a:p>
          <a:p>
            <a:pPr>
              <a:spcAft>
                <a:spcPts val="800"/>
              </a:spcAft>
              <a:defRPr sz="2000">
                <a:solidFill>
                  <a:srgbClr val="333333"/>
                </a:solidFill>
                <a:latin typeface="Calibri"/>
              </a:defRPr>
            </a:pPr>
            <a:r>
              <a:t>Estado: funciona, pero adopcion limitada</a:t>
            </a:r>
          </a:p>
          <a:p>
            <a:pPr>
              <a:spcAft>
                <a:spcPts val="800"/>
              </a:spcAft>
              <a:defRPr sz="2000">
                <a:solidFill>
                  <a:srgbClr val="333333"/>
                </a:solidFill>
                <a:latin typeface="Calibri"/>
              </a:defRPr>
            </a:pPr>
            <a:r>
              <a:t>¿Por que no ha triunfado?</a:t>
            </a:r>
          </a:p>
          <a:p>
            <a:pPr lvl="1">
              <a:spcAft>
                <a:spcPts val="400"/>
              </a:spcAft>
              <a:defRPr sz="1700">
                <a:solidFill>
                  <a:srgbClr val="666666"/>
                </a:solidFill>
                <a:latin typeface="Calibri"/>
              </a:defRPr>
            </a:pPr>
            <a:r>
              <a:t>    Los proveedores pequenos (minas artesanales) no tienen infraestructura digital</a:t>
            </a:r>
          </a:p>
          <a:p>
            <a:pPr lvl="1">
              <a:spcAft>
                <a:spcPts val="400"/>
              </a:spcAft>
              <a:defRPr sz="1700">
                <a:solidFill>
                  <a:srgbClr val="666666"/>
                </a:solidFill>
                <a:latin typeface="Calibri"/>
              </a:defRPr>
            </a:pPr>
            <a:r>
              <a:t>    Problema del 'garbage in, garbage out': si la mina miente al registrar, blockchain no lo detecta</a:t>
            </a:r>
          </a:p>
          <a:p>
            <a:pPr lvl="1">
              <a:spcAft>
                <a:spcPts val="400"/>
              </a:spcAft>
              <a:defRPr sz="1700">
                <a:solidFill>
                  <a:srgbClr val="666666"/>
                </a:solidFill>
                <a:latin typeface="Calibri"/>
              </a:defRPr>
            </a:pPr>
            <a:r>
              <a:t>    Los intermediarios que se benefician de la opacidad no quieren participar</a:t>
            </a:r>
          </a:p>
          <a:p>
            <a:pPr lvl="1">
              <a:spcAft>
                <a:spcPts val="400"/>
              </a:spcAft>
              <a:defRPr sz="1700">
                <a:solidFill>
                  <a:srgbClr val="666666"/>
                </a:solidFill>
                <a:latin typeface="Calibri"/>
              </a:defRPr>
            </a:pPr>
            <a:r>
              <a:t>    El consumidor final no sabe (ni le importa) verificar en blockchain</a:t>
            </a:r>
          </a:p>
          <a:p>
            <a:pPr lvl="1">
              <a:spcAft>
                <a:spcPts val="400"/>
              </a:spcAft>
              <a:defRPr sz="1700">
                <a:solidFill>
                  <a:srgbClr val="666666"/>
                </a:solidFill>
                <a:latin typeface="Calibri"/>
              </a:defRPr>
            </a:pPr>
            <a:r>
              <a:t>    De Beers controla la plataforma: mismo problema de 'fundador dominante' que TradeLens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Caso 6: Registro de propiedad de Honduras</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Que era: registro inmobiliario en blockchain para combatir la corrupcion</a:t>
            </a:r>
          </a:p>
          <a:p>
            <a:pPr>
              <a:spcAft>
                <a:spcPts val="800"/>
              </a:spcAft>
              <a:defRPr sz="2000">
                <a:solidFill>
                  <a:srgbClr val="333333"/>
                </a:solidFill>
                <a:latin typeface="Calibri"/>
              </a:defRPr>
            </a:pPr>
            <a:r>
              <a:t>Contexto: en Honduras, el fraude en registros de propiedad es endemico</a:t>
            </a:r>
          </a:p>
          <a:p>
            <a:pPr>
              <a:spcAft>
                <a:spcPts val="800"/>
              </a:spcAft>
              <a:defRPr sz="2000">
                <a:solidFill>
                  <a:srgbClr val="333333"/>
                </a:solidFill>
                <a:latin typeface="Calibri"/>
              </a:defRPr>
            </a:pPr>
            <a:r>
              <a:t>Promesa: un registro inmutable que ningun funcionario pudiera alterar</a:t>
            </a:r>
          </a:p>
          <a:p>
            <a:pPr>
              <a:spcAft>
                <a:spcPts val="800"/>
              </a:spcAft>
              <a:defRPr sz="2000">
                <a:solidFill>
                  <a:srgbClr val="333333"/>
                </a:solidFill>
                <a:latin typeface="Calibri"/>
              </a:defRPr>
            </a:pPr>
            <a:r>
              <a:t>Que paso: el proyecto fue abandonado en fase inicial</a:t>
            </a:r>
          </a:p>
          <a:p>
            <a:pPr>
              <a:spcAft>
                <a:spcPts val="800"/>
              </a:spcAft>
              <a:defRPr sz="2000">
                <a:solidFill>
                  <a:srgbClr val="333333"/>
                </a:solidFill>
                <a:latin typeface="Calibri"/>
              </a:defRPr>
            </a:pPr>
            <a:r>
              <a:t>¿Por que fallo?</a:t>
            </a:r>
          </a:p>
          <a:p>
            <a:pPr lvl="1">
              <a:spcAft>
                <a:spcPts val="400"/>
              </a:spcAft>
              <a:defRPr sz="1700">
                <a:solidFill>
                  <a:srgbClr val="666666"/>
                </a:solidFill>
                <a:latin typeface="Calibri"/>
              </a:defRPr>
            </a:pPr>
            <a:r>
              <a:t>    Resistencia institucional: los que se benefician de la corrupcion bloquearon el proyecto</a:t>
            </a:r>
          </a:p>
          <a:p>
            <a:pPr lvl="1">
              <a:spcAft>
                <a:spcPts val="400"/>
              </a:spcAft>
              <a:defRPr sz="1700">
                <a:solidFill>
                  <a:srgbClr val="666666"/>
                </a:solidFill>
                <a:latin typeface="Calibri"/>
              </a:defRPr>
            </a:pPr>
            <a:r>
              <a:t>    Marco legal: la ley hondurena no reconoce registros digitales como validos</a:t>
            </a:r>
          </a:p>
          <a:p>
            <a:pPr lvl="1">
              <a:spcAft>
                <a:spcPts val="400"/>
              </a:spcAft>
              <a:defRPr sz="1700">
                <a:solidFill>
                  <a:srgbClr val="666666"/>
                </a:solidFill>
                <a:latin typeface="Calibri"/>
              </a:defRPr>
            </a:pPr>
            <a:r>
              <a:t>    Falta de infraestructura: muchas zonas rurales sin internet fiable</a:t>
            </a:r>
          </a:p>
          <a:p>
            <a:pPr lvl="1">
              <a:spcAft>
                <a:spcPts val="400"/>
              </a:spcAft>
              <a:defRPr sz="1700">
                <a:solidFill>
                  <a:srgbClr val="666666"/>
                </a:solidFill>
                <a:latin typeface="Calibri"/>
              </a:defRPr>
            </a:pPr>
            <a:r>
              <a:t>    Problema del 'genesis': ¿quien carga los datos iniciales? ¿y si ya son fraudulentos?</a:t>
            </a:r>
          </a:p>
          <a:p>
            <a:pPr lvl="1">
              <a:spcAft>
                <a:spcPts val="400"/>
              </a:spcAft>
              <a:defRPr sz="1700">
                <a:solidFill>
                  <a:srgbClr val="666666"/>
                </a:solidFill>
                <a:latin typeface="Calibri"/>
              </a:defRPr>
            </a:pPr>
            <a:r>
              <a:t>    Blockchain no elimina la corrupcion si los corruptos controlan la entrada de datos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Resumen: exitos vs fracasos</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822960" y="1371600"/>
          <a:ext cx="10515600" cy="288036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411480">
                <a:tc>
                  <a:txBody>
                    <a:bodyPr/>
                    <a:lstStyle/>
                    <a:p>
                      <a:pPr>
                        <a:defRPr sz="1600" b="1">
                          <a:solidFill>
                            <a:srgbClr val="FFFFFF"/>
                          </a:solidFill>
                          <a:latin typeface="Calibri"/>
                        </a:defRPr>
                      </a:pPr>
                      <a:r>
                        <a:t>Factor</a:t>
                      </a:r>
                    </a:p>
                  </a:txBody>
                  <a:tcPr>
                    <a:solidFill>
                      <a:srgbClr val="22627E"/>
                    </a:solidFill>
                  </a:tcPr>
                </a:tc>
                <a:tc>
                  <a:txBody>
                    <a:bodyPr/>
                    <a:lstStyle/>
                    <a:p>
                      <a:pPr>
                        <a:defRPr sz="1600" b="1">
                          <a:solidFill>
                            <a:srgbClr val="FFFFFF"/>
                          </a:solidFill>
                          <a:latin typeface="Calibri"/>
                        </a:defRPr>
                      </a:pPr>
                      <a:r>
                        <a:t>Los que funcionan</a:t>
                      </a:r>
                    </a:p>
                  </a:txBody>
                  <a:tcPr>
                    <a:solidFill>
                      <a:srgbClr val="22627E"/>
                    </a:solidFill>
                  </a:tcPr>
                </a:tc>
                <a:tc>
                  <a:txBody>
                    <a:bodyPr/>
                    <a:lstStyle/>
                    <a:p>
                      <a:pPr>
                        <a:defRPr sz="1600" b="1">
                          <a:solidFill>
                            <a:srgbClr val="FFFFFF"/>
                          </a:solidFill>
                          <a:latin typeface="Calibri"/>
                        </a:defRPr>
                      </a:pPr>
                      <a:r>
                        <a:t>Los que fracasan</a:t>
                      </a:r>
                    </a:p>
                  </a:txBody>
                  <a:tcPr>
                    <a:solidFill>
                      <a:srgbClr val="22627E"/>
                    </a:solidFill>
                  </a:tcPr>
                </a:tc>
                <a:extLst>
                  <a:ext uri="{0D108BD9-81ED-4DB2-BD59-A6C34878D82A}">
                    <a16:rowId xmlns:a16="http://schemas.microsoft.com/office/drawing/2014/main" val="10000"/>
                  </a:ext>
                </a:extLst>
              </a:tr>
              <a:tr h="411480">
                <a:tc>
                  <a:txBody>
                    <a:bodyPr/>
                    <a:lstStyle/>
                    <a:p>
                      <a:pPr>
                        <a:defRPr sz="1500">
                          <a:solidFill>
                            <a:srgbClr val="333333"/>
                          </a:solidFill>
                          <a:latin typeface="Calibri"/>
                        </a:defRPr>
                      </a:pPr>
                      <a:r>
                        <a:t>Gobernanza</a:t>
                      </a:r>
                    </a:p>
                  </a:txBody>
                  <a:tcPr>
                    <a:solidFill>
                      <a:srgbClr val="F2F2F2"/>
                    </a:solidFill>
                  </a:tcPr>
                </a:tc>
                <a:tc>
                  <a:txBody>
                    <a:bodyPr/>
                    <a:lstStyle/>
                    <a:p>
                      <a:pPr>
                        <a:defRPr sz="1500">
                          <a:solidFill>
                            <a:srgbClr val="333333"/>
                          </a:solidFill>
                          <a:latin typeface="Calibri"/>
                        </a:defRPr>
                      </a:pPr>
                      <a:r>
                        <a:t>Equilibrada o respaldada por regulador</a:t>
                      </a:r>
                    </a:p>
                  </a:txBody>
                  <a:tcPr>
                    <a:solidFill>
                      <a:srgbClr val="F2F2F2"/>
                    </a:solidFill>
                  </a:tcPr>
                </a:tc>
                <a:tc>
                  <a:txBody>
                    <a:bodyPr/>
                    <a:lstStyle/>
                    <a:p>
                      <a:pPr>
                        <a:defRPr sz="1500">
                          <a:solidFill>
                            <a:srgbClr val="333333"/>
                          </a:solidFill>
                          <a:latin typeface="Calibri"/>
                        </a:defRPr>
                      </a:pPr>
                      <a:r>
                        <a:t>Fundador dominante o sin gobierno claro</a:t>
                      </a:r>
                    </a:p>
                  </a:txBody>
                  <a:tcPr>
                    <a:solidFill>
                      <a:srgbClr val="F2F2F2"/>
                    </a:solidFill>
                  </a:tcPr>
                </a:tc>
                <a:extLst>
                  <a:ext uri="{0D108BD9-81ED-4DB2-BD59-A6C34878D82A}">
                    <a16:rowId xmlns:a16="http://schemas.microsoft.com/office/drawing/2014/main" val="10001"/>
                  </a:ext>
                </a:extLst>
              </a:tr>
              <a:tr h="411480">
                <a:tc>
                  <a:txBody>
                    <a:bodyPr/>
                    <a:lstStyle/>
                    <a:p>
                      <a:pPr>
                        <a:defRPr sz="1500">
                          <a:solidFill>
                            <a:srgbClr val="333333"/>
                          </a:solidFill>
                          <a:latin typeface="Calibri"/>
                        </a:defRPr>
                      </a:pPr>
                      <a:r>
                        <a:t>Incentivos</a:t>
                      </a:r>
                    </a:p>
                  </a:txBody>
                  <a:tcPr/>
                </a:tc>
                <a:tc>
                  <a:txBody>
                    <a:bodyPr/>
                    <a:lstStyle/>
                    <a:p>
                      <a:pPr>
                        <a:defRPr sz="1500">
                          <a:solidFill>
                            <a:srgbClr val="333333"/>
                          </a:solidFill>
                          <a:latin typeface="Calibri"/>
                        </a:defRPr>
                      </a:pPr>
                      <a:r>
                        <a:t>Todos ganan algo concreto</a:t>
                      </a:r>
                    </a:p>
                  </a:txBody>
                  <a:tcPr/>
                </a:tc>
                <a:tc>
                  <a:txBody>
                    <a:bodyPr/>
                    <a:lstStyle/>
                    <a:p>
                      <a:pPr>
                        <a:defRPr sz="1500">
                          <a:solidFill>
                            <a:srgbClr val="333333"/>
                          </a:solidFill>
                          <a:latin typeface="Calibri"/>
                        </a:defRPr>
                      </a:pPr>
                      <a:r>
                        <a:t>Solo unos pocos se benefician</a:t>
                      </a:r>
                    </a:p>
                  </a:txBody>
                  <a:tcPr/>
                </a:tc>
                <a:extLst>
                  <a:ext uri="{0D108BD9-81ED-4DB2-BD59-A6C34878D82A}">
                    <a16:rowId xmlns:a16="http://schemas.microsoft.com/office/drawing/2014/main" val="10002"/>
                  </a:ext>
                </a:extLst>
              </a:tr>
              <a:tr h="411480">
                <a:tc>
                  <a:txBody>
                    <a:bodyPr/>
                    <a:lstStyle/>
                    <a:p>
                      <a:pPr>
                        <a:defRPr sz="1500">
                          <a:solidFill>
                            <a:srgbClr val="333333"/>
                          </a:solidFill>
                          <a:latin typeface="Calibri"/>
                        </a:defRPr>
                      </a:pPr>
                      <a:r>
                        <a:t>Masa critica</a:t>
                      </a:r>
                    </a:p>
                  </a:txBody>
                  <a:tcPr>
                    <a:solidFill>
                      <a:srgbClr val="F2F2F2"/>
                    </a:solidFill>
                  </a:tcPr>
                </a:tc>
                <a:tc>
                  <a:txBody>
                    <a:bodyPr/>
                    <a:lstStyle/>
                    <a:p>
                      <a:pPr>
                        <a:defRPr sz="1500">
                          <a:solidFill>
                            <a:srgbClr val="333333"/>
                          </a:solidFill>
                          <a:latin typeface="Calibri"/>
                        </a:defRPr>
                      </a:pPr>
                      <a:r>
                        <a:t>Actor principal impone o regulador exige</a:t>
                      </a:r>
                    </a:p>
                  </a:txBody>
                  <a:tcPr>
                    <a:solidFill>
                      <a:srgbClr val="F2F2F2"/>
                    </a:solidFill>
                  </a:tcPr>
                </a:tc>
                <a:tc>
                  <a:txBody>
                    <a:bodyPr/>
                    <a:lstStyle/>
                    <a:p>
                      <a:pPr>
                        <a:defRPr sz="1500">
                          <a:solidFill>
                            <a:srgbClr val="333333"/>
                          </a:solidFill>
                          <a:latin typeface="Calibri"/>
                        </a:defRPr>
                      </a:pPr>
                      <a:r>
                        <a:t>Voluntario y sin urgencia</a:t>
                      </a:r>
                    </a:p>
                  </a:txBody>
                  <a:tcPr>
                    <a:solidFill>
                      <a:srgbClr val="F2F2F2"/>
                    </a:solidFill>
                  </a:tcPr>
                </a:tc>
                <a:extLst>
                  <a:ext uri="{0D108BD9-81ED-4DB2-BD59-A6C34878D82A}">
                    <a16:rowId xmlns:a16="http://schemas.microsoft.com/office/drawing/2014/main" val="10003"/>
                  </a:ext>
                </a:extLst>
              </a:tr>
              <a:tr h="411480">
                <a:tc>
                  <a:txBody>
                    <a:bodyPr/>
                    <a:lstStyle/>
                    <a:p>
                      <a:pPr>
                        <a:defRPr sz="1500">
                          <a:solidFill>
                            <a:srgbClr val="333333"/>
                          </a:solidFill>
                          <a:latin typeface="Calibri"/>
                        </a:defRPr>
                      </a:pPr>
                      <a:r>
                        <a:t>Regulacion</a:t>
                      </a:r>
                    </a:p>
                  </a:txBody>
                  <a:tcPr/>
                </a:tc>
                <a:tc>
                  <a:txBody>
                    <a:bodyPr/>
                    <a:lstStyle/>
                    <a:p>
                      <a:pPr>
                        <a:defRPr sz="1500">
                          <a:solidFill>
                            <a:srgbClr val="333333"/>
                          </a:solidFill>
                          <a:latin typeface="Calibri"/>
                        </a:defRPr>
                      </a:pPr>
                      <a:r>
                        <a:t>Compatible o con apoyo del regulador</a:t>
                      </a:r>
                    </a:p>
                  </a:txBody>
                  <a:tcPr/>
                </a:tc>
                <a:tc>
                  <a:txBody>
                    <a:bodyPr/>
                    <a:lstStyle/>
                    <a:p>
                      <a:pPr>
                        <a:defRPr sz="1500">
                          <a:solidFill>
                            <a:srgbClr val="333333"/>
                          </a:solidFill>
                          <a:latin typeface="Calibri"/>
                        </a:defRPr>
                      </a:pPr>
                      <a:r>
                        <a:t>Choca con leyes existentes</a:t>
                      </a:r>
                    </a:p>
                  </a:txBody>
                  <a:tcPr/>
                </a:tc>
                <a:extLst>
                  <a:ext uri="{0D108BD9-81ED-4DB2-BD59-A6C34878D82A}">
                    <a16:rowId xmlns:a16="http://schemas.microsoft.com/office/drawing/2014/main" val="10004"/>
                  </a:ext>
                </a:extLst>
              </a:tr>
              <a:tr h="411480">
                <a:tc>
                  <a:txBody>
                    <a:bodyPr/>
                    <a:lstStyle/>
                    <a:p>
                      <a:pPr>
                        <a:defRPr sz="1500">
                          <a:solidFill>
                            <a:srgbClr val="333333"/>
                          </a:solidFill>
                          <a:latin typeface="Calibri"/>
                        </a:defRPr>
                      </a:pPr>
                      <a:r>
                        <a:t>UX</a:t>
                      </a:r>
                    </a:p>
                  </a:txBody>
                  <a:tcPr>
                    <a:solidFill>
                      <a:srgbClr val="F2F2F2"/>
                    </a:solidFill>
                  </a:tcPr>
                </a:tc>
                <a:tc>
                  <a:txBody>
                    <a:bodyPr/>
                    <a:lstStyle/>
                    <a:p>
                      <a:pPr>
                        <a:defRPr sz="1500">
                          <a:solidFill>
                            <a:srgbClr val="333333"/>
                          </a:solidFill>
                          <a:latin typeface="Calibri"/>
                        </a:defRPr>
                      </a:pPr>
                      <a:r>
                        <a:t>Invisible para el usuario final</a:t>
                      </a:r>
                    </a:p>
                  </a:txBody>
                  <a:tcPr>
                    <a:solidFill>
                      <a:srgbClr val="F2F2F2"/>
                    </a:solidFill>
                  </a:tcPr>
                </a:tc>
                <a:tc>
                  <a:txBody>
                    <a:bodyPr/>
                    <a:lstStyle/>
                    <a:p>
                      <a:pPr>
                        <a:defRPr sz="1500">
                          <a:solidFill>
                            <a:srgbClr val="333333"/>
                          </a:solidFill>
                          <a:latin typeface="Calibri"/>
                        </a:defRPr>
                      </a:pPr>
                      <a:r>
                        <a:t>Requiere que el usuario entienda blockchain</a:t>
                      </a:r>
                    </a:p>
                  </a:txBody>
                  <a:tcPr>
                    <a:solidFill>
                      <a:srgbClr val="F2F2F2"/>
                    </a:solidFill>
                  </a:tcPr>
                </a:tc>
                <a:extLst>
                  <a:ext uri="{0D108BD9-81ED-4DB2-BD59-A6C34878D82A}">
                    <a16:rowId xmlns:a16="http://schemas.microsoft.com/office/drawing/2014/main" val="10005"/>
                  </a:ext>
                </a:extLst>
              </a:tr>
              <a:tr h="411480">
                <a:tc>
                  <a:txBody>
                    <a:bodyPr/>
                    <a:lstStyle/>
                    <a:p>
                      <a:pPr>
                        <a:defRPr sz="1500">
                          <a:solidFill>
                            <a:srgbClr val="333333"/>
                          </a:solidFill>
                          <a:latin typeface="Calibri"/>
                        </a:defRPr>
                      </a:pPr>
                      <a:r>
                        <a:t>MVP</a:t>
                      </a:r>
                    </a:p>
                  </a:txBody>
                  <a:tcPr/>
                </a:tc>
                <a:tc>
                  <a:txBody>
                    <a:bodyPr/>
                    <a:lstStyle/>
                    <a:p>
                      <a:pPr>
                        <a:defRPr sz="1500">
                          <a:solidFill>
                            <a:srgbClr val="333333"/>
                          </a:solidFill>
                          <a:latin typeface="Calibri"/>
                        </a:defRPr>
                      </a:pPr>
                      <a:r>
                        <a:t>Empiezan pequeno y escalan</a:t>
                      </a:r>
                    </a:p>
                  </a:txBody>
                  <a:tcPr/>
                </a:tc>
                <a:tc>
                  <a:txBody>
                    <a:bodyPr/>
                    <a:lstStyle/>
                    <a:p>
                      <a:pPr>
                        <a:defRPr sz="1500">
                          <a:solidFill>
                            <a:srgbClr val="333333"/>
                          </a:solidFill>
                          <a:latin typeface="Calibri"/>
                        </a:defRPr>
                      </a:pPr>
                      <a:r>
                        <a:t>Intentan todo desde el dia 1</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Patrones comunes: las 5 barreras reales</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1. Gobernanza: ¿quien controla la red? El fundador dominante ahuyenta a los demas</a:t>
            </a:r>
          </a:p>
          <a:p>
            <a:pPr>
              <a:spcAft>
                <a:spcPts val="800"/>
              </a:spcAft>
              <a:defRPr sz="2000">
                <a:solidFill>
                  <a:srgbClr val="333333"/>
                </a:solidFill>
                <a:latin typeface="Calibri"/>
              </a:defRPr>
            </a:pPr>
            <a:r>
              <a:t>2. Incentivos: ¿por que participaria cada actor? Si no gana nada, no se une</a:t>
            </a:r>
          </a:p>
          <a:p>
            <a:pPr>
              <a:spcAft>
                <a:spcPts val="800"/>
              </a:spcAft>
              <a:defRPr sz="2000">
                <a:solidFill>
                  <a:srgbClr val="333333"/>
                </a:solidFill>
                <a:latin typeface="Calibri"/>
              </a:defRPr>
            </a:pPr>
            <a:r>
              <a:t>3. Regulacion: las leyes no estan preparadas para registros inmutables descentralizados</a:t>
            </a:r>
          </a:p>
          <a:p>
            <a:pPr>
              <a:spcAft>
                <a:spcPts val="800"/>
              </a:spcAft>
              <a:defRPr sz="2000">
                <a:solidFill>
                  <a:srgbClr val="333333"/>
                </a:solidFill>
                <a:latin typeface="Calibri"/>
              </a:defRPr>
            </a:pPr>
            <a:r>
              <a:t>4. UX y complejidad: si el usuario final necesita entender blockchain, ya has perdido</a:t>
            </a:r>
          </a:p>
          <a:p>
            <a:pPr>
              <a:spcAft>
                <a:spcPts val="800"/>
              </a:spcAft>
              <a:defRPr sz="2000">
                <a:solidFill>
                  <a:srgbClr val="333333"/>
                </a:solidFill>
                <a:latin typeface="Calibri"/>
              </a:defRPr>
            </a:pPr>
            <a:r>
              <a:t>5. El problema del genesis: blockchain garantiza inmutabilidad, pero no veracidad del dato inicial</a:t>
            </a:r>
          </a:p>
          <a:p>
            <a:pPr>
              <a:spcAft>
                <a:spcPts val="800"/>
              </a:spcAft>
              <a:defRPr sz="2000">
                <a:solidFill>
                  <a:srgbClr val="333333"/>
                </a:solidFill>
                <a:latin typeface="Calibri"/>
              </a:defRPr>
            </a:pPr>
            <a:endParaRPr/>
          </a:p>
          <a:p>
            <a:pPr>
              <a:spcAft>
                <a:spcPts val="800"/>
              </a:spcAft>
              <a:defRPr sz="2000">
                <a:solidFill>
                  <a:srgbClr val="333333"/>
                </a:solidFill>
                <a:latin typeface="Calibri"/>
              </a:defRPr>
            </a:pPr>
            <a:r>
              <a:t>Ninguno de estos problemas es tecnologico. Son problemas de personas, de negocio y de regulacion.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¿Blockchain o base de datos? Arbol de decision</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Hazte estas preguntas en orden:</a:t>
            </a:r>
          </a:p>
          <a:p>
            <a:pPr>
              <a:spcAft>
                <a:spcPts val="800"/>
              </a:spcAft>
              <a:defRPr sz="2000">
                <a:solidFill>
                  <a:srgbClr val="333333"/>
                </a:solidFill>
                <a:latin typeface="Calibri"/>
              </a:defRPr>
            </a:pPr>
            <a:endParaRPr/>
          </a:p>
          <a:p>
            <a:pPr>
              <a:spcAft>
                <a:spcPts val="800"/>
              </a:spcAft>
              <a:defRPr sz="2000">
                <a:solidFill>
                  <a:srgbClr val="333333"/>
                </a:solidFill>
                <a:latin typeface="Calibri"/>
              </a:defRPr>
            </a:pPr>
            <a:r>
              <a:t>1. ¿Hay multiples partes que no confian entre si? → Si no, usa una BD</a:t>
            </a:r>
          </a:p>
          <a:p>
            <a:pPr>
              <a:spcAft>
                <a:spcPts val="800"/>
              </a:spcAft>
              <a:defRPr sz="2000">
                <a:solidFill>
                  <a:srgbClr val="333333"/>
                </a:solidFill>
                <a:latin typeface="Calibri"/>
              </a:defRPr>
            </a:pPr>
            <a:r>
              <a:t>2. ¿Necesitan compartir datos y validar transacciones? → Si no, usa APIs</a:t>
            </a:r>
          </a:p>
          <a:p>
            <a:pPr>
              <a:spcAft>
                <a:spcPts val="800"/>
              </a:spcAft>
              <a:defRPr sz="2000">
                <a:solidFill>
                  <a:srgbClr val="333333"/>
                </a:solidFill>
                <a:latin typeface="Calibri"/>
              </a:defRPr>
            </a:pPr>
            <a:r>
              <a:t>3. ¿La inmutabilidad del registro es critica? → Si no, usa una BD compartida</a:t>
            </a:r>
          </a:p>
          <a:p>
            <a:pPr>
              <a:spcAft>
                <a:spcPts val="800"/>
              </a:spcAft>
              <a:defRPr sz="2000">
                <a:solidFill>
                  <a:srgbClr val="333333"/>
                </a:solidFill>
                <a:latin typeface="Calibri"/>
              </a:defRPr>
            </a:pPr>
            <a:r>
              <a:t>4. ¿Las reglas de negocio deben ser verificables por todos? → Si no, usa una BD con permisos</a:t>
            </a:r>
          </a:p>
          <a:p>
            <a:pPr>
              <a:spcAft>
                <a:spcPts val="800"/>
              </a:spcAft>
              <a:defRPr sz="2000">
                <a:solidFill>
                  <a:srgbClr val="333333"/>
                </a:solidFill>
                <a:latin typeface="Calibri"/>
              </a:defRPr>
            </a:pPr>
            <a:r>
              <a:t>5. ¿Ningun actor puede ser 'el dueño' de la base de datos? → Si no, que ese actor la gestione</a:t>
            </a:r>
          </a:p>
          <a:p>
            <a:pPr>
              <a:spcAft>
                <a:spcPts val="800"/>
              </a:spcAft>
              <a:defRPr sz="2000">
                <a:solidFill>
                  <a:srgbClr val="333333"/>
                </a:solidFill>
                <a:latin typeface="Calibri"/>
              </a:defRPr>
            </a:pPr>
            <a:endParaRPr/>
          </a:p>
          <a:p>
            <a:pPr>
              <a:spcAft>
                <a:spcPts val="800"/>
              </a:spcAft>
              <a:defRPr sz="2000">
                <a:solidFill>
                  <a:srgbClr val="333333"/>
                </a:solidFill>
                <a:latin typeface="Calibri"/>
              </a:defRPr>
            </a:pPr>
            <a:r>
              <a:t>Si has respondido SI a todas: blockchain tiene sentido.</a:t>
            </a:r>
          </a:p>
          <a:p>
            <a:pPr>
              <a:spcAft>
                <a:spcPts val="800"/>
              </a:spcAft>
              <a:defRPr sz="2000">
                <a:solidFill>
                  <a:srgbClr val="333333"/>
                </a:solidFill>
                <a:latin typeface="Calibri"/>
              </a:defRPr>
            </a:pPr>
            <a:r>
              <a:t>Si has respondido NO a alguna: probablemente no necesitas blockchain.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Arbol de decision: ¿necesito blockchain?</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Imagen 7">
            <a:extLst>
              <a:ext uri="{FF2B5EF4-FFF2-40B4-BE49-F238E27FC236}">
                <a16:creationId xmlns:a16="http://schemas.microsoft.com/office/drawing/2014/main" id="{691F4348-3C58-517E-E501-ECC3C1D7A93D}"/>
              </a:ext>
            </a:extLst>
          </p:cNvPr>
          <p:cNvPicPr>
            <a:picLocks noChangeAspect="1"/>
          </p:cNvPicPr>
          <p:nvPr/>
        </p:nvPicPr>
        <p:blipFill>
          <a:blip r:embed="rId2"/>
          <a:stretch>
            <a:fillRect/>
          </a:stretch>
        </p:blipFill>
        <p:spPr>
          <a:xfrm>
            <a:off x="3756673" y="1124712"/>
            <a:ext cx="4373854" cy="545374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B45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3200400" cy="457200"/>
          </a:xfrm>
          <a:prstGeom prst="rect">
            <a:avLst/>
          </a:prstGeom>
          <a:solidFill>
            <a:srgbClr val="B45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3200400" cy="457200"/>
          </a:xfrm>
          <a:prstGeom prst="rect">
            <a:avLst/>
          </a:prstGeom>
          <a:noFill/>
        </p:spPr>
        <p:txBody>
          <a:bodyPr wrap="square"/>
          <a:lstStyle/>
          <a:p>
            <a:pPr algn="ctr">
              <a:defRPr sz="1800" b="1">
                <a:solidFill>
                  <a:srgbClr val="FFFFFF"/>
                </a:solidFill>
                <a:latin typeface="Calibri"/>
              </a:defRPr>
            </a:pPr>
            <a:r>
              <a:t>TREASURE HUNT</a:t>
            </a:r>
          </a:p>
        </p:txBody>
      </p:sp>
      <p:sp>
        <p:nvSpPr>
          <p:cNvPr id="5" name="TextBox 4"/>
          <p:cNvSpPr txBox="1"/>
          <p:nvPr/>
        </p:nvSpPr>
        <p:spPr>
          <a:xfrm>
            <a:off x="3931920" y="228600"/>
            <a:ext cx="7772400" cy="731520"/>
          </a:xfrm>
          <a:prstGeom prst="rect">
            <a:avLst/>
          </a:prstGeom>
          <a:noFill/>
        </p:spPr>
        <p:txBody>
          <a:bodyPr wrap="square"/>
          <a:lstStyle/>
          <a:p>
            <a:pPr algn="l">
              <a:defRPr sz="2800" b="1">
                <a:solidFill>
                  <a:srgbClr val="333333"/>
                </a:solidFill>
                <a:latin typeface="Calibri"/>
              </a:defRPr>
            </a:pPr>
            <a:r>
              <a:t>El primer proyecto blockchain enterprise</a:t>
            </a:r>
          </a:p>
        </p:txBody>
      </p:sp>
      <p:sp>
        <p:nvSpPr>
          <p:cNvPr id="6" name="Rectangle 5"/>
          <p:cNvSpPr/>
          <p:nvPr/>
        </p:nvSpPr>
        <p:spPr>
          <a:xfrm>
            <a:off x="457200" y="1051560"/>
            <a:ext cx="10972800" cy="27432"/>
          </a:xfrm>
          <a:prstGeom prst="rect">
            <a:avLst/>
          </a:prstGeom>
          <a:solidFill>
            <a:srgbClr val="B45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371600"/>
            <a:ext cx="10515600" cy="5029200"/>
          </a:xfrm>
          <a:prstGeom prst="rect">
            <a:avLst/>
          </a:prstGeom>
          <a:noFill/>
        </p:spPr>
        <p:txBody>
          <a:bodyPr wrap="square">
            <a:spAutoFit/>
          </a:bodyPr>
          <a:lstStyle/>
          <a:p>
            <a:pPr>
              <a:spcAft>
                <a:spcPts val="1000"/>
              </a:spcAft>
              <a:defRPr sz="2000">
                <a:solidFill>
                  <a:srgbClr val="333333"/>
                </a:solidFill>
                <a:latin typeface="Calibri"/>
              </a:defRPr>
            </a:pPr>
            <a:r>
              <a:t>Antes de Fabric, antes de Corda, antes de los consorcios...</a:t>
            </a:r>
          </a:p>
          <a:p>
            <a:pPr>
              <a:spcAft>
                <a:spcPts val="1000"/>
              </a:spcAft>
              <a:defRPr sz="2000">
                <a:solidFill>
                  <a:srgbClr val="333333"/>
                </a:solidFill>
                <a:latin typeface="Calibri"/>
              </a:defRPr>
            </a:pPr>
            <a:r>
              <a:t>hubo un proyecto que demostro que blockchain podia usarse en empresas.</a:t>
            </a:r>
          </a:p>
          <a:p>
            <a:pPr>
              <a:spcAft>
                <a:spcPts val="1000"/>
              </a:spcAft>
              <a:defRPr sz="2000">
                <a:solidFill>
                  <a:srgbClr val="333333"/>
                </a:solidFill>
                <a:latin typeface="Calibri"/>
              </a:defRPr>
            </a:pPr>
            <a:endParaRPr/>
          </a:p>
          <a:p>
            <a:pPr>
              <a:spcAft>
                <a:spcPts val="1000"/>
              </a:spcAft>
              <a:defRPr sz="2000">
                <a:solidFill>
                  <a:srgbClr val="333333"/>
                </a:solidFill>
                <a:latin typeface="Calibri"/>
              </a:defRPr>
            </a:pPr>
            <a:r>
              <a:t>Mision: Investigar:</a:t>
            </a:r>
          </a:p>
          <a:p>
            <a:pPr>
              <a:spcAft>
                <a:spcPts val="1000"/>
              </a:spcAft>
              <a:defRPr sz="2000">
                <a:solidFill>
                  <a:srgbClr val="333333"/>
                </a:solidFill>
                <a:latin typeface="Calibri"/>
              </a:defRPr>
            </a:pPr>
            <a:r>
              <a:t>  1. ¿Que proyecto se considera el primero en usar blockchain en enterprise?</a:t>
            </a:r>
          </a:p>
          <a:p>
            <a:pPr>
              <a:spcAft>
                <a:spcPts val="1000"/>
              </a:spcAft>
              <a:defRPr sz="2000">
                <a:solidFill>
                  <a:srgbClr val="333333"/>
                </a:solidFill>
                <a:latin typeface="Calibri"/>
              </a:defRPr>
            </a:pPr>
            <a:r>
              <a:t>     Pista: fue en el sector financiero, en 2015, y no usaba Ethereum.</a:t>
            </a:r>
          </a:p>
          <a:p>
            <a:pPr>
              <a:spcAft>
                <a:spcPts val="1000"/>
              </a:spcAft>
              <a:defRPr sz="2000">
                <a:solidFill>
                  <a:srgbClr val="333333"/>
                </a:solidFill>
                <a:latin typeface="Calibri"/>
              </a:defRPr>
            </a:pPr>
            <a:r>
              <a:t>  2. ¿Que empresa lo impulso?</a:t>
            </a:r>
          </a:p>
          <a:p>
            <a:pPr>
              <a:spcAft>
                <a:spcPts val="1000"/>
              </a:spcAft>
              <a:defRPr sz="2000">
                <a:solidFill>
                  <a:srgbClr val="333333"/>
                </a:solidFill>
                <a:latin typeface="Calibri"/>
              </a:defRPr>
            </a:pPr>
            <a:r>
              <a:t>  3. ¿En que se convirtio ese proyecto despues?</a:t>
            </a:r>
          </a:p>
          <a:p>
            <a:pPr>
              <a:spcAft>
                <a:spcPts val="1000"/>
              </a:spcAft>
              <a:defRPr sz="2000">
                <a:solidFill>
                  <a:srgbClr val="333333"/>
                </a:solidFill>
                <a:latin typeface="Calibri"/>
              </a:defRPr>
            </a:pPr>
            <a:endParaRPr/>
          </a:p>
          <a:p>
            <a:pPr>
              <a:spcAft>
                <a:spcPts val="1000"/>
              </a:spcAft>
              <a:defRPr sz="2000">
                <a:solidFill>
                  <a:srgbClr val="333333"/>
                </a:solidFill>
                <a:latin typeface="Calibri"/>
              </a:defRPr>
            </a:pPr>
            <a:r>
              <a:t>Tiempo: 10 minutos.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60693-8CE7-1098-A55D-27ED43B286E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91A3C2C-7AA6-79BA-11D4-AC2A6AF91F69}"/>
              </a:ext>
            </a:extLst>
          </p:cNvPr>
          <p:cNvSpPr/>
          <p:nvPr/>
        </p:nvSpPr>
        <p:spPr>
          <a:xfrm>
            <a:off x="0" y="0"/>
            <a:ext cx="12188952" cy="73152"/>
          </a:xfrm>
          <a:prstGeom prst="rect">
            <a:avLst/>
          </a:prstGeom>
          <a:solidFill>
            <a:srgbClr val="B45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F0AE7931-2146-4C7A-F8C4-F2DB08C51DFF}"/>
              </a:ext>
            </a:extLst>
          </p:cNvPr>
          <p:cNvSpPr/>
          <p:nvPr/>
        </p:nvSpPr>
        <p:spPr>
          <a:xfrm>
            <a:off x="457200" y="274320"/>
            <a:ext cx="3200400" cy="457200"/>
          </a:xfrm>
          <a:prstGeom prst="rect">
            <a:avLst/>
          </a:prstGeom>
          <a:solidFill>
            <a:srgbClr val="B45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24C837F-8757-E2A5-A300-93DC8DF15128}"/>
              </a:ext>
            </a:extLst>
          </p:cNvPr>
          <p:cNvSpPr txBox="1"/>
          <p:nvPr/>
        </p:nvSpPr>
        <p:spPr>
          <a:xfrm>
            <a:off x="457200" y="274320"/>
            <a:ext cx="3200400" cy="457200"/>
          </a:xfrm>
          <a:prstGeom prst="rect">
            <a:avLst/>
          </a:prstGeom>
          <a:noFill/>
        </p:spPr>
        <p:txBody>
          <a:bodyPr wrap="square"/>
          <a:lstStyle/>
          <a:p>
            <a:pPr algn="ctr">
              <a:defRPr sz="1800" b="1">
                <a:solidFill>
                  <a:srgbClr val="FFFFFF"/>
                </a:solidFill>
                <a:latin typeface="Calibri"/>
              </a:defRPr>
            </a:pPr>
            <a:r>
              <a:t>TREASURE HUNT</a:t>
            </a:r>
          </a:p>
        </p:txBody>
      </p:sp>
      <p:sp>
        <p:nvSpPr>
          <p:cNvPr id="5" name="TextBox 4">
            <a:extLst>
              <a:ext uri="{FF2B5EF4-FFF2-40B4-BE49-F238E27FC236}">
                <a16:creationId xmlns:a16="http://schemas.microsoft.com/office/drawing/2014/main" id="{E01101C3-6A57-23CF-DA5C-6A7C56C5B9A0}"/>
              </a:ext>
            </a:extLst>
          </p:cNvPr>
          <p:cNvSpPr txBox="1"/>
          <p:nvPr/>
        </p:nvSpPr>
        <p:spPr>
          <a:xfrm>
            <a:off x="3931920" y="228600"/>
            <a:ext cx="7772400" cy="731520"/>
          </a:xfrm>
          <a:prstGeom prst="rect">
            <a:avLst/>
          </a:prstGeom>
          <a:noFill/>
        </p:spPr>
        <p:txBody>
          <a:bodyPr wrap="square"/>
          <a:lstStyle/>
          <a:p>
            <a:pPr algn="l">
              <a:defRPr sz="2800" b="1">
                <a:solidFill>
                  <a:srgbClr val="333333"/>
                </a:solidFill>
                <a:latin typeface="Calibri"/>
              </a:defRPr>
            </a:pPr>
            <a:r>
              <a:t>El primer proyecto blockchain enterprise</a:t>
            </a:r>
          </a:p>
        </p:txBody>
      </p:sp>
      <p:sp>
        <p:nvSpPr>
          <p:cNvPr id="6" name="Rectangle 5">
            <a:extLst>
              <a:ext uri="{FF2B5EF4-FFF2-40B4-BE49-F238E27FC236}">
                <a16:creationId xmlns:a16="http://schemas.microsoft.com/office/drawing/2014/main" id="{F1E98CF4-9BF7-E4F1-E70E-B6E612791EA7}"/>
              </a:ext>
            </a:extLst>
          </p:cNvPr>
          <p:cNvSpPr/>
          <p:nvPr/>
        </p:nvSpPr>
        <p:spPr>
          <a:xfrm>
            <a:off x="457200" y="1051560"/>
            <a:ext cx="10972800" cy="27432"/>
          </a:xfrm>
          <a:prstGeom prst="rect">
            <a:avLst/>
          </a:prstGeom>
          <a:solidFill>
            <a:srgbClr val="B45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780ECB1D-BFCC-A191-246D-32652D20E752}"/>
              </a:ext>
            </a:extLst>
          </p:cNvPr>
          <p:cNvSpPr txBox="1"/>
          <p:nvPr/>
        </p:nvSpPr>
        <p:spPr>
          <a:xfrm>
            <a:off x="640080" y="1279217"/>
            <a:ext cx="10515600" cy="5350183"/>
          </a:xfrm>
          <a:prstGeom prst="rect">
            <a:avLst/>
          </a:prstGeom>
          <a:noFill/>
        </p:spPr>
        <p:txBody>
          <a:bodyPr wrap="square">
            <a:spAutoFit/>
          </a:bodyPr>
          <a:lstStyle/>
          <a:p>
            <a:pPr>
              <a:spcAft>
                <a:spcPts val="1000"/>
              </a:spcAft>
              <a:defRPr sz="2000">
                <a:solidFill>
                  <a:srgbClr val="333333"/>
                </a:solidFill>
                <a:latin typeface="Calibri"/>
              </a:defRPr>
            </a:pPr>
            <a:r>
              <a:rPr lang="es-ES" b="1" dirty="0"/>
              <a:t>1. ¿Qué proyecto?</a:t>
            </a:r>
          </a:p>
          <a:p>
            <a:pPr>
              <a:spcAft>
                <a:spcPts val="1000"/>
              </a:spcAft>
              <a:defRPr sz="2000">
                <a:solidFill>
                  <a:srgbClr val="333333"/>
                </a:solidFill>
                <a:latin typeface="Calibri"/>
              </a:defRPr>
            </a:pPr>
            <a:r>
              <a:rPr lang="es-ES" dirty="0"/>
              <a:t>  El consorcio R3 CEV (a veces llamado simplemente R3), lanzado públicamente en septiembre de 2015. Nació como un  consorcio de grandes bancos (9 iniciales que luego fueron más de 70) para explorar tecnologías de libro mayor distribuido aplicadas a servicios financieros. Fue el primer proyecto empresarial de </a:t>
            </a:r>
            <a:r>
              <a:rPr lang="es-ES" dirty="0" err="1"/>
              <a:t>blockchain</a:t>
            </a:r>
            <a:r>
              <a:rPr lang="es-ES" dirty="0"/>
              <a:t> que obtuvo tracción  real, con bancos participando en </a:t>
            </a:r>
            <a:r>
              <a:rPr lang="es-ES" dirty="0" err="1"/>
              <a:t>PoCs</a:t>
            </a:r>
            <a:r>
              <a:rPr lang="es-ES" dirty="0"/>
              <a:t> conjuntas.</a:t>
            </a:r>
          </a:p>
          <a:p>
            <a:pPr>
              <a:spcAft>
                <a:spcPts val="1000"/>
              </a:spcAft>
              <a:defRPr sz="2000">
                <a:solidFill>
                  <a:srgbClr val="333333"/>
                </a:solidFill>
                <a:latin typeface="Calibri"/>
              </a:defRPr>
            </a:pPr>
            <a:r>
              <a:rPr lang="es-ES" b="1" dirty="0"/>
              <a:t>  2. ¿Qué empresa lo impulsó?</a:t>
            </a:r>
          </a:p>
          <a:p>
            <a:pPr>
              <a:spcAft>
                <a:spcPts val="1000"/>
              </a:spcAft>
              <a:defRPr sz="2000">
                <a:solidFill>
                  <a:srgbClr val="333333"/>
                </a:solidFill>
                <a:latin typeface="Calibri"/>
              </a:defRPr>
            </a:pPr>
            <a:r>
              <a:rPr lang="es-ES" dirty="0"/>
              <a:t>  R3, una startup fundada por David Rutter (ex-ICAP, veterano de mercados financieros). No era un proveedor tecnológico  clásico — era un coordinador de consorcio. Entre los bancos fundadores estaban Barclays, BBVA, </a:t>
            </a:r>
            <a:r>
              <a:rPr lang="es-ES" dirty="0" err="1"/>
              <a:t>Credit</a:t>
            </a:r>
            <a:r>
              <a:rPr lang="es-ES" dirty="0"/>
              <a:t> </a:t>
            </a:r>
            <a:r>
              <a:rPr lang="es-ES" dirty="0" err="1"/>
              <a:t>Suisse</a:t>
            </a:r>
            <a:r>
              <a:rPr lang="es-ES" dirty="0"/>
              <a:t>, Goldman Sachs, JP Morgan, </a:t>
            </a:r>
            <a:r>
              <a:rPr lang="es-ES" dirty="0" err="1"/>
              <a:t>State</a:t>
            </a:r>
            <a:r>
              <a:rPr lang="es-ES" dirty="0"/>
              <a:t> Street y UBS.</a:t>
            </a:r>
          </a:p>
          <a:p>
            <a:pPr>
              <a:spcAft>
                <a:spcPts val="1000"/>
              </a:spcAft>
              <a:defRPr sz="2000">
                <a:solidFill>
                  <a:srgbClr val="333333"/>
                </a:solidFill>
                <a:latin typeface="Calibri"/>
              </a:defRPr>
            </a:pPr>
            <a:r>
              <a:rPr lang="es-ES" b="1" dirty="0"/>
              <a:t>  3. ¿En qué se convirtió después?</a:t>
            </a:r>
          </a:p>
          <a:p>
            <a:pPr>
              <a:spcAft>
                <a:spcPts val="1000"/>
              </a:spcAft>
              <a:defRPr sz="2000">
                <a:solidFill>
                  <a:srgbClr val="333333"/>
                </a:solidFill>
                <a:latin typeface="Calibri"/>
              </a:defRPr>
            </a:pPr>
            <a:r>
              <a:rPr lang="es-ES" dirty="0"/>
              <a:t>  R3 desarrolló </a:t>
            </a:r>
            <a:r>
              <a:rPr lang="es-ES" dirty="0" err="1"/>
              <a:t>Corda</a:t>
            </a:r>
            <a:r>
              <a:rPr lang="es-ES" dirty="0"/>
              <a:t>, una plataforma de libro distribuido específicamente diseñada para instituciones financieras  (</a:t>
            </a:r>
            <a:r>
              <a:rPr lang="es-ES" dirty="0" err="1"/>
              <a:t>permissioned</a:t>
            </a:r>
            <a:r>
              <a:rPr lang="es-ES" dirty="0"/>
              <a:t>, sin </a:t>
            </a:r>
            <a:r>
              <a:rPr lang="es-ES" dirty="0" err="1"/>
              <a:t>blockchain</a:t>
            </a:r>
            <a:r>
              <a:rPr lang="es-ES" dirty="0"/>
              <a:t> tradicional, transacciones solo visibles para las partes involucradas). </a:t>
            </a:r>
            <a:r>
              <a:rPr lang="es-ES" dirty="0" err="1"/>
              <a:t>Corda</a:t>
            </a:r>
            <a:r>
              <a:rPr lang="es-ES" dirty="0"/>
              <a:t> se  convirtió en la plataforma principal del consorcio y hoy es una de las tres grandes plataformas </a:t>
            </a:r>
            <a:r>
              <a:rPr lang="es-ES" dirty="0" err="1"/>
              <a:t>enterprise</a:t>
            </a:r>
            <a:r>
              <a:rPr lang="es-ES" dirty="0"/>
              <a:t> junto con  </a:t>
            </a:r>
            <a:r>
              <a:rPr lang="es-ES" dirty="0" err="1"/>
              <a:t>Hyperledger</a:t>
            </a:r>
            <a:r>
              <a:rPr lang="es-ES" dirty="0"/>
              <a:t> </a:t>
            </a:r>
            <a:r>
              <a:rPr lang="es-ES" dirty="0" err="1"/>
              <a:t>Fabric</a:t>
            </a:r>
            <a:r>
              <a:rPr lang="es-ES" dirty="0"/>
              <a:t> y Quorum/</a:t>
            </a:r>
            <a:r>
              <a:rPr lang="es-ES" dirty="0" err="1"/>
              <a:t>Besu</a:t>
            </a:r>
            <a:r>
              <a:rPr lang="es-ES" dirty="0"/>
              <a:t>.</a:t>
            </a:r>
            <a:endParaRPr dirty="0"/>
          </a:p>
        </p:txBody>
      </p:sp>
    </p:spTree>
    <p:extLst>
      <p:ext uri="{BB962C8B-B14F-4D97-AF65-F5344CB8AC3E}">
        <p14:creationId xmlns:p14="http://schemas.microsoft.com/office/powerpoint/2010/main" val="4266165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0D9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2286000" cy="457200"/>
          </a:xfrm>
          <a:prstGeom prst="rect">
            <a:avLst/>
          </a:prstGeom>
          <a:solidFill>
            <a:srgbClr val="0D9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2286000" cy="457200"/>
          </a:xfrm>
          <a:prstGeom prst="rect">
            <a:avLst/>
          </a:prstGeom>
          <a:noFill/>
        </p:spPr>
        <p:txBody>
          <a:bodyPr wrap="square"/>
          <a:lstStyle/>
          <a:p>
            <a:pPr algn="ctr">
              <a:defRPr sz="1800" b="1">
                <a:solidFill>
                  <a:srgbClr val="FFFFFF"/>
                </a:solidFill>
                <a:latin typeface="Calibri"/>
              </a:defRPr>
            </a:pPr>
            <a:r>
              <a:t>ACTIVIDAD</a:t>
            </a:r>
          </a:p>
        </p:txBody>
      </p:sp>
      <p:sp>
        <p:nvSpPr>
          <p:cNvPr id="5" name="TextBox 4"/>
          <p:cNvSpPr txBox="1"/>
          <p:nvPr/>
        </p:nvSpPr>
        <p:spPr>
          <a:xfrm>
            <a:off x="3017520" y="274320"/>
            <a:ext cx="8686800" cy="731520"/>
          </a:xfrm>
          <a:prstGeom prst="rect">
            <a:avLst/>
          </a:prstGeom>
          <a:noFill/>
        </p:spPr>
        <p:txBody>
          <a:bodyPr wrap="square"/>
          <a:lstStyle/>
          <a:p>
            <a:pPr algn="l">
              <a:defRPr sz="3000" b="1">
                <a:solidFill>
                  <a:srgbClr val="333333"/>
                </a:solidFill>
                <a:latin typeface="Calibri"/>
              </a:defRPr>
            </a:pPr>
            <a:r>
              <a:t>Debate: ¿Por que blockchain no ha triunfado?</a:t>
            </a:r>
          </a:p>
        </p:txBody>
      </p:sp>
      <p:sp>
        <p:nvSpPr>
          <p:cNvPr id="6" name="Rectangle 5"/>
          <p:cNvSpPr/>
          <p:nvPr/>
        </p:nvSpPr>
        <p:spPr>
          <a:xfrm>
            <a:off x="457200" y="1051560"/>
            <a:ext cx="10972800" cy="27432"/>
          </a:xfrm>
          <a:prstGeom prst="rect">
            <a:avLst/>
          </a:prstGeom>
          <a:solidFill>
            <a:srgbClr val="0D9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371600"/>
            <a:ext cx="10515600" cy="5206554"/>
          </a:xfrm>
          <a:prstGeom prst="rect">
            <a:avLst/>
          </a:prstGeom>
          <a:noFill/>
        </p:spPr>
        <p:txBody>
          <a:bodyPr wrap="square">
            <a:spAutoFit/>
          </a:bodyPr>
          <a:lstStyle/>
          <a:p>
            <a:pPr>
              <a:spcAft>
                <a:spcPts val="1000"/>
              </a:spcAft>
              <a:defRPr sz="2000">
                <a:solidFill>
                  <a:srgbClr val="333333"/>
                </a:solidFill>
                <a:latin typeface="Calibri"/>
              </a:defRPr>
            </a:pPr>
            <a:r>
              <a:rPr sz="1600" dirty="0" err="1"/>
              <a:t>Dividirse</a:t>
            </a:r>
            <a:r>
              <a:rPr sz="1600" dirty="0"/>
              <a:t> </a:t>
            </a:r>
            <a:r>
              <a:rPr sz="1600" dirty="0" err="1"/>
              <a:t>en</a:t>
            </a:r>
            <a:r>
              <a:rPr sz="1600" dirty="0"/>
              <a:t> 3 </a:t>
            </a:r>
            <a:r>
              <a:rPr sz="1600" dirty="0" err="1"/>
              <a:t>grupos</a:t>
            </a:r>
            <a:r>
              <a:rPr sz="1600" dirty="0"/>
              <a:t>. Cada </a:t>
            </a:r>
            <a:r>
              <a:rPr sz="1600" dirty="0" err="1"/>
              <a:t>grupo</a:t>
            </a:r>
            <a:r>
              <a:rPr sz="1600" dirty="0"/>
              <a:t> </a:t>
            </a:r>
            <a:r>
              <a:rPr sz="1600" dirty="0" err="1"/>
              <a:t>recibe</a:t>
            </a:r>
            <a:r>
              <a:rPr sz="1600" dirty="0"/>
              <a:t> 2 </a:t>
            </a:r>
            <a:r>
              <a:rPr sz="1600" dirty="0" err="1"/>
              <a:t>casos</a:t>
            </a:r>
            <a:r>
              <a:rPr sz="1600" dirty="0"/>
              <a:t>.</a:t>
            </a:r>
          </a:p>
          <a:p>
            <a:pPr>
              <a:spcAft>
                <a:spcPts val="1000"/>
              </a:spcAft>
              <a:defRPr sz="2000">
                <a:solidFill>
                  <a:srgbClr val="333333"/>
                </a:solidFill>
                <a:latin typeface="Calibri"/>
              </a:defRPr>
            </a:pPr>
            <a:r>
              <a:rPr sz="1600" dirty="0"/>
              <a:t>Para </a:t>
            </a:r>
            <a:r>
              <a:rPr sz="1600" dirty="0" err="1"/>
              <a:t>cada</a:t>
            </a:r>
            <a:r>
              <a:rPr sz="1600" dirty="0"/>
              <a:t> </a:t>
            </a:r>
            <a:r>
              <a:rPr sz="1600" dirty="0" err="1"/>
              <a:t>caso</a:t>
            </a:r>
            <a:r>
              <a:rPr sz="1600" dirty="0"/>
              <a:t>, </a:t>
            </a:r>
            <a:r>
              <a:rPr sz="1600" dirty="0" err="1"/>
              <a:t>debatir</a:t>
            </a:r>
            <a:r>
              <a:rPr sz="1600" dirty="0"/>
              <a:t> y </a:t>
            </a:r>
            <a:r>
              <a:rPr sz="1600" dirty="0" err="1"/>
              <a:t>preparar</a:t>
            </a:r>
            <a:r>
              <a:rPr sz="1600" dirty="0"/>
              <a:t> (15 </a:t>
            </a:r>
            <a:r>
              <a:rPr sz="1600" dirty="0" err="1"/>
              <a:t>minutos</a:t>
            </a:r>
            <a:r>
              <a:rPr sz="1600" dirty="0"/>
              <a:t>):</a:t>
            </a:r>
          </a:p>
          <a:p>
            <a:pPr>
              <a:spcAft>
                <a:spcPts val="1000"/>
              </a:spcAft>
              <a:defRPr sz="2000">
                <a:solidFill>
                  <a:srgbClr val="333333"/>
                </a:solidFill>
                <a:latin typeface="Calibri"/>
              </a:defRPr>
            </a:pPr>
            <a:r>
              <a:rPr sz="1600" dirty="0"/>
              <a:t>  1. ¿El </a:t>
            </a:r>
            <a:r>
              <a:rPr sz="1600" dirty="0" err="1"/>
              <a:t>problema</a:t>
            </a:r>
            <a:r>
              <a:rPr sz="1600" dirty="0"/>
              <a:t> era real? ¿Blockchain era la </a:t>
            </a:r>
            <a:r>
              <a:rPr sz="1600" dirty="0" err="1"/>
              <a:t>solucion</a:t>
            </a:r>
            <a:r>
              <a:rPr sz="1600" dirty="0"/>
              <a:t> </a:t>
            </a:r>
            <a:r>
              <a:rPr sz="1600" dirty="0" err="1"/>
              <a:t>correcta</a:t>
            </a:r>
            <a:r>
              <a:rPr sz="1600" dirty="0"/>
              <a:t>?</a:t>
            </a:r>
          </a:p>
          <a:p>
            <a:pPr>
              <a:spcAft>
                <a:spcPts val="1000"/>
              </a:spcAft>
              <a:defRPr sz="2000">
                <a:solidFill>
                  <a:srgbClr val="333333"/>
                </a:solidFill>
                <a:latin typeface="Calibri"/>
              </a:defRPr>
            </a:pPr>
            <a:r>
              <a:rPr sz="1600" dirty="0"/>
              <a:t>  2. ¿</a:t>
            </a:r>
            <a:r>
              <a:rPr sz="1600" dirty="0" err="1"/>
              <a:t>Cual</a:t>
            </a:r>
            <a:r>
              <a:rPr sz="1600" dirty="0"/>
              <a:t> </a:t>
            </a:r>
            <a:r>
              <a:rPr sz="1600" dirty="0" err="1"/>
              <a:t>fue</a:t>
            </a:r>
            <a:r>
              <a:rPr sz="1600" dirty="0"/>
              <a:t> la barrera principal? (</a:t>
            </a:r>
            <a:r>
              <a:rPr sz="1600" dirty="0" err="1"/>
              <a:t>gobernanza</a:t>
            </a:r>
            <a:r>
              <a:rPr sz="1600" dirty="0"/>
              <a:t>, </a:t>
            </a:r>
            <a:r>
              <a:rPr sz="1600" dirty="0" err="1"/>
              <a:t>incentivos</a:t>
            </a:r>
            <a:r>
              <a:rPr sz="1600" dirty="0"/>
              <a:t>, </a:t>
            </a:r>
            <a:r>
              <a:rPr sz="1600" dirty="0" err="1"/>
              <a:t>regulacion</a:t>
            </a:r>
            <a:r>
              <a:rPr sz="1600" dirty="0"/>
              <a:t>, UX, genesis)</a:t>
            </a:r>
          </a:p>
          <a:p>
            <a:pPr>
              <a:spcAft>
                <a:spcPts val="1000"/>
              </a:spcAft>
              <a:defRPr sz="2000">
                <a:solidFill>
                  <a:srgbClr val="333333"/>
                </a:solidFill>
                <a:latin typeface="Calibri"/>
              </a:defRPr>
            </a:pPr>
            <a:r>
              <a:rPr sz="1600" dirty="0"/>
              <a:t>  3. ¿</a:t>
            </a:r>
            <a:r>
              <a:rPr sz="1600" dirty="0" err="1"/>
              <a:t>Podria</a:t>
            </a:r>
            <a:r>
              <a:rPr sz="1600" dirty="0"/>
              <a:t> </a:t>
            </a:r>
            <a:r>
              <a:rPr sz="1600" dirty="0" err="1"/>
              <a:t>funcionar</a:t>
            </a:r>
            <a:r>
              <a:rPr sz="1600" dirty="0"/>
              <a:t> HOY con </a:t>
            </a:r>
            <a:r>
              <a:rPr sz="1600" dirty="0" err="1"/>
              <a:t>una</a:t>
            </a:r>
            <a:r>
              <a:rPr sz="1600" dirty="0"/>
              <a:t> blockchain </a:t>
            </a:r>
            <a:r>
              <a:rPr sz="1600" dirty="0" err="1"/>
              <a:t>privada</a:t>
            </a:r>
            <a:r>
              <a:rPr sz="1600" dirty="0"/>
              <a:t>/permissioned </a:t>
            </a:r>
            <a:r>
              <a:rPr sz="1600" dirty="0" err="1"/>
              <a:t>tipo</a:t>
            </a:r>
            <a:r>
              <a:rPr sz="1600" dirty="0"/>
              <a:t> Fabric?</a:t>
            </a:r>
          </a:p>
          <a:p>
            <a:pPr>
              <a:spcAft>
                <a:spcPts val="1000"/>
              </a:spcAft>
              <a:defRPr sz="2000">
                <a:solidFill>
                  <a:srgbClr val="333333"/>
                </a:solidFill>
                <a:latin typeface="Calibri"/>
              </a:defRPr>
            </a:pPr>
            <a:r>
              <a:rPr sz="1600" dirty="0"/>
              <a:t>  4. ¿</a:t>
            </a:r>
            <a:r>
              <a:rPr sz="1600" dirty="0" err="1"/>
              <a:t>Que</a:t>
            </a:r>
            <a:r>
              <a:rPr sz="1600" dirty="0"/>
              <a:t> </a:t>
            </a:r>
            <a:r>
              <a:rPr sz="1600" dirty="0" err="1"/>
              <a:t>condiciones</a:t>
            </a:r>
            <a:r>
              <a:rPr sz="1600" dirty="0"/>
              <a:t> </a:t>
            </a:r>
            <a:r>
              <a:rPr sz="1600" dirty="0" err="1"/>
              <a:t>deberian</a:t>
            </a:r>
            <a:r>
              <a:rPr sz="1600" dirty="0"/>
              <a:t> </a:t>
            </a:r>
            <a:r>
              <a:rPr sz="1600" dirty="0" err="1"/>
              <a:t>darse</a:t>
            </a:r>
            <a:r>
              <a:rPr sz="1600" dirty="0"/>
              <a:t> para </a:t>
            </a:r>
            <a:r>
              <a:rPr sz="1600" dirty="0" err="1"/>
              <a:t>que</a:t>
            </a:r>
            <a:r>
              <a:rPr sz="1600" dirty="0"/>
              <a:t> </a:t>
            </a:r>
            <a:r>
              <a:rPr sz="1600" dirty="0" err="1"/>
              <a:t>funcionase</a:t>
            </a:r>
            <a:r>
              <a:rPr sz="1600" dirty="0"/>
              <a:t>?</a:t>
            </a:r>
          </a:p>
          <a:p>
            <a:pPr>
              <a:spcAft>
                <a:spcPts val="1000"/>
              </a:spcAft>
              <a:defRPr sz="2000">
                <a:solidFill>
                  <a:srgbClr val="333333"/>
                </a:solidFill>
                <a:latin typeface="Calibri"/>
              </a:defRPr>
            </a:pPr>
            <a:endParaRPr sz="1600" dirty="0"/>
          </a:p>
          <a:p>
            <a:pPr>
              <a:spcAft>
                <a:spcPts val="1000"/>
              </a:spcAft>
              <a:defRPr sz="2000">
                <a:solidFill>
                  <a:srgbClr val="333333"/>
                </a:solidFill>
                <a:latin typeface="Calibri"/>
              </a:defRPr>
            </a:pPr>
            <a:r>
              <a:rPr sz="1600" dirty="0" err="1"/>
              <a:t>Puesta</a:t>
            </a:r>
            <a:r>
              <a:rPr sz="1600" dirty="0"/>
              <a:t> </a:t>
            </a:r>
            <a:r>
              <a:rPr sz="1600" dirty="0" err="1"/>
              <a:t>en</a:t>
            </a:r>
            <a:r>
              <a:rPr sz="1600" dirty="0"/>
              <a:t> </a:t>
            </a:r>
            <a:r>
              <a:rPr sz="1600" dirty="0" err="1"/>
              <a:t>comun</a:t>
            </a:r>
            <a:r>
              <a:rPr sz="1600" dirty="0"/>
              <a:t> (5 </a:t>
            </a:r>
            <a:r>
              <a:rPr sz="1600" dirty="0" err="1"/>
              <a:t>minutos</a:t>
            </a:r>
            <a:r>
              <a:rPr sz="1600" dirty="0"/>
              <a:t> </a:t>
            </a:r>
            <a:r>
              <a:rPr sz="1600" dirty="0" err="1"/>
              <a:t>por</a:t>
            </a:r>
            <a:r>
              <a:rPr sz="1600" dirty="0"/>
              <a:t> </a:t>
            </a:r>
            <a:r>
              <a:rPr sz="1600" dirty="0" err="1"/>
              <a:t>grupo</a:t>
            </a:r>
            <a:r>
              <a:rPr sz="1600" dirty="0"/>
              <a:t>):</a:t>
            </a:r>
          </a:p>
          <a:p>
            <a:pPr>
              <a:spcAft>
                <a:spcPts val="1000"/>
              </a:spcAft>
              <a:defRPr sz="2000">
                <a:solidFill>
                  <a:srgbClr val="333333"/>
                </a:solidFill>
                <a:latin typeface="Calibri"/>
              </a:defRPr>
            </a:pPr>
            <a:r>
              <a:rPr sz="1600" dirty="0"/>
              <a:t>  - </a:t>
            </a:r>
            <a:r>
              <a:rPr sz="1600" dirty="0" err="1"/>
              <a:t>Presentar</a:t>
            </a:r>
            <a:r>
              <a:rPr sz="1600" dirty="0"/>
              <a:t> </a:t>
            </a:r>
            <a:r>
              <a:rPr sz="1600" dirty="0" err="1"/>
              <a:t>los</a:t>
            </a:r>
            <a:r>
              <a:rPr sz="1600" dirty="0"/>
              <a:t> 2 </a:t>
            </a:r>
            <a:r>
              <a:rPr sz="1600" dirty="0" err="1"/>
              <a:t>casos</a:t>
            </a:r>
            <a:r>
              <a:rPr sz="1600" dirty="0"/>
              <a:t> y las </a:t>
            </a:r>
            <a:r>
              <a:rPr sz="1600" dirty="0" err="1"/>
              <a:t>conclusiones</a:t>
            </a:r>
            <a:endParaRPr sz="1600" dirty="0"/>
          </a:p>
          <a:p>
            <a:pPr>
              <a:spcAft>
                <a:spcPts val="1000"/>
              </a:spcAft>
              <a:defRPr sz="2000">
                <a:solidFill>
                  <a:srgbClr val="333333"/>
                </a:solidFill>
                <a:latin typeface="Calibri"/>
              </a:defRPr>
            </a:pPr>
            <a:r>
              <a:rPr sz="1600" dirty="0"/>
              <a:t>  - ¿Hay </a:t>
            </a:r>
            <a:r>
              <a:rPr sz="1600" dirty="0" err="1"/>
              <a:t>patrones</a:t>
            </a:r>
            <a:r>
              <a:rPr sz="1600" dirty="0"/>
              <a:t> </a:t>
            </a:r>
            <a:r>
              <a:rPr sz="1600" dirty="0" err="1"/>
              <a:t>comunes</a:t>
            </a:r>
            <a:r>
              <a:rPr sz="1600" dirty="0"/>
              <a:t> entre </a:t>
            </a:r>
            <a:r>
              <a:rPr sz="1600" dirty="0" err="1"/>
              <a:t>los</a:t>
            </a:r>
            <a:r>
              <a:rPr sz="1600" dirty="0"/>
              <a:t> </a:t>
            </a:r>
            <a:r>
              <a:rPr sz="1600" dirty="0" err="1"/>
              <a:t>fracasos</a:t>
            </a:r>
            <a:r>
              <a:rPr sz="1600" dirty="0"/>
              <a:t>?</a:t>
            </a:r>
          </a:p>
          <a:p>
            <a:pPr>
              <a:spcAft>
                <a:spcPts val="1000"/>
              </a:spcAft>
              <a:defRPr sz="2000">
                <a:solidFill>
                  <a:srgbClr val="333333"/>
                </a:solidFill>
                <a:latin typeface="Calibri"/>
              </a:defRPr>
            </a:pPr>
            <a:endParaRPr sz="1600" dirty="0"/>
          </a:p>
          <a:p>
            <a:pPr>
              <a:spcAft>
                <a:spcPts val="1000"/>
              </a:spcAft>
              <a:defRPr sz="2000">
                <a:solidFill>
                  <a:srgbClr val="333333"/>
                </a:solidFill>
                <a:latin typeface="Calibri"/>
              </a:defRPr>
            </a:pPr>
            <a:r>
              <a:rPr sz="1600" dirty="0"/>
              <a:t>Grupo A: </a:t>
            </a:r>
            <a:r>
              <a:rPr sz="1600" dirty="0" err="1"/>
              <a:t>TradeLens</a:t>
            </a:r>
            <a:r>
              <a:rPr sz="1600" dirty="0"/>
              <a:t> + B3i</a:t>
            </a:r>
          </a:p>
          <a:p>
            <a:pPr>
              <a:spcAft>
                <a:spcPts val="1000"/>
              </a:spcAft>
              <a:defRPr sz="2000">
                <a:solidFill>
                  <a:srgbClr val="333333"/>
                </a:solidFill>
                <a:latin typeface="Calibri"/>
              </a:defRPr>
            </a:pPr>
            <a:r>
              <a:rPr sz="1600" dirty="0"/>
              <a:t>Grupo B: </a:t>
            </a:r>
            <a:r>
              <a:rPr sz="1600" dirty="0" err="1"/>
              <a:t>MedRec</a:t>
            </a:r>
            <a:r>
              <a:rPr sz="1600" dirty="0"/>
              <a:t> + </a:t>
            </a:r>
            <a:r>
              <a:rPr sz="1600" dirty="0" err="1"/>
              <a:t>Voatz</a:t>
            </a:r>
            <a:endParaRPr sz="1600" dirty="0"/>
          </a:p>
          <a:p>
            <a:pPr>
              <a:spcAft>
                <a:spcPts val="1000"/>
              </a:spcAft>
              <a:defRPr sz="2000">
                <a:solidFill>
                  <a:srgbClr val="333333"/>
                </a:solidFill>
                <a:latin typeface="Calibri"/>
              </a:defRPr>
            </a:pPr>
            <a:r>
              <a:rPr sz="1600" dirty="0"/>
              <a:t>Grupo C: De Beers Tracr + Honduras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Respuestas a la actividad (1/2)</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rPr dirty="0" err="1"/>
              <a:t>TradeLens</a:t>
            </a:r>
            <a:r>
              <a:rPr dirty="0"/>
              <a:t> (Maersk + IBM):</a:t>
            </a:r>
          </a:p>
          <a:p>
            <a:pPr lvl="1">
              <a:spcAft>
                <a:spcPts val="400"/>
              </a:spcAft>
              <a:defRPr sz="1700">
                <a:solidFill>
                  <a:srgbClr val="666666"/>
                </a:solidFill>
                <a:latin typeface="Calibri"/>
              </a:defRPr>
            </a:pPr>
            <a:r>
              <a:rPr dirty="0"/>
              <a:t>    ¿</a:t>
            </a:r>
            <a:r>
              <a:rPr dirty="0" err="1"/>
              <a:t>Problema</a:t>
            </a:r>
            <a:r>
              <a:rPr dirty="0"/>
              <a:t> real? Si — </a:t>
            </a:r>
            <a:r>
              <a:rPr dirty="0" err="1"/>
              <a:t>coordinacion</a:t>
            </a:r>
            <a:r>
              <a:rPr dirty="0"/>
              <a:t> entre </a:t>
            </a:r>
            <a:r>
              <a:rPr dirty="0" err="1"/>
              <a:t>navieras</a:t>
            </a:r>
            <a:r>
              <a:rPr dirty="0"/>
              <a:t>, </a:t>
            </a:r>
            <a:r>
              <a:rPr dirty="0" err="1"/>
              <a:t>puertos</a:t>
            </a:r>
            <a:r>
              <a:rPr dirty="0"/>
              <a:t>, </a:t>
            </a:r>
            <a:r>
              <a:rPr dirty="0" err="1"/>
              <a:t>aduanas</a:t>
            </a:r>
            <a:r>
              <a:rPr dirty="0"/>
              <a:t>.</a:t>
            </a:r>
          </a:p>
          <a:p>
            <a:pPr lvl="1">
              <a:spcAft>
                <a:spcPts val="400"/>
              </a:spcAft>
              <a:defRPr sz="1700">
                <a:solidFill>
                  <a:srgbClr val="666666"/>
                </a:solidFill>
                <a:latin typeface="Calibri"/>
              </a:defRPr>
            </a:pPr>
            <a:r>
              <a:rPr dirty="0"/>
              <a:t>    Barrera: GOBERNANZA (</a:t>
            </a:r>
            <a:r>
              <a:rPr dirty="0" err="1"/>
              <a:t>fundador</a:t>
            </a:r>
            <a:r>
              <a:rPr dirty="0"/>
              <a:t> </a:t>
            </a:r>
            <a:r>
              <a:rPr dirty="0" err="1"/>
              <a:t>dominante</a:t>
            </a:r>
            <a:r>
              <a:rPr dirty="0"/>
              <a:t>).</a:t>
            </a:r>
          </a:p>
          <a:p>
            <a:pPr lvl="1">
              <a:spcAft>
                <a:spcPts val="400"/>
              </a:spcAft>
              <a:defRPr sz="1700">
                <a:solidFill>
                  <a:srgbClr val="666666"/>
                </a:solidFill>
                <a:latin typeface="Calibri"/>
              </a:defRPr>
            </a:pPr>
            <a:r>
              <a:rPr dirty="0"/>
              <a:t>    ¿</a:t>
            </a:r>
            <a:r>
              <a:rPr dirty="0" err="1"/>
              <a:t>Funcionaria</a:t>
            </a:r>
            <a:r>
              <a:rPr dirty="0"/>
              <a:t> </a:t>
            </a:r>
            <a:r>
              <a:rPr dirty="0" err="1"/>
              <a:t>en</a:t>
            </a:r>
            <a:r>
              <a:rPr dirty="0"/>
              <a:t> Fabric </a:t>
            </a:r>
            <a:r>
              <a:rPr dirty="0" err="1"/>
              <a:t>privada</a:t>
            </a:r>
            <a:r>
              <a:rPr dirty="0"/>
              <a:t>? Si, </a:t>
            </a:r>
            <a:r>
              <a:rPr dirty="0" err="1"/>
              <a:t>si</a:t>
            </a:r>
            <a:r>
              <a:rPr dirty="0"/>
              <a:t> lo funda un </a:t>
            </a:r>
            <a:r>
              <a:rPr dirty="0" err="1"/>
              <a:t>consorcio</a:t>
            </a:r>
            <a:r>
              <a:rPr dirty="0"/>
              <a:t> </a:t>
            </a:r>
            <a:r>
              <a:rPr dirty="0" err="1"/>
              <a:t>neutro</a:t>
            </a:r>
            <a:r>
              <a:rPr dirty="0"/>
              <a:t> o la IMO.</a:t>
            </a:r>
          </a:p>
          <a:p>
            <a:pPr lvl="1">
              <a:spcAft>
                <a:spcPts val="400"/>
              </a:spcAft>
              <a:defRPr sz="1700">
                <a:solidFill>
                  <a:srgbClr val="666666"/>
                </a:solidFill>
                <a:latin typeface="Calibri"/>
              </a:defRPr>
            </a:pPr>
            <a:r>
              <a:rPr dirty="0"/>
              <a:t>    </a:t>
            </a:r>
            <a:r>
              <a:rPr dirty="0" err="1"/>
              <a:t>Condiciones</a:t>
            </a:r>
            <a:r>
              <a:rPr dirty="0"/>
              <a:t>: </a:t>
            </a:r>
            <a:r>
              <a:rPr dirty="0" err="1"/>
              <a:t>nadie</a:t>
            </a:r>
            <a:r>
              <a:rPr dirty="0"/>
              <a:t> </a:t>
            </a:r>
            <a:r>
              <a:rPr dirty="0" err="1"/>
              <a:t>controla</a:t>
            </a:r>
            <a:r>
              <a:rPr dirty="0"/>
              <a:t> </a:t>
            </a:r>
            <a:r>
              <a:rPr dirty="0" err="1"/>
              <a:t>los</a:t>
            </a:r>
            <a:r>
              <a:rPr dirty="0"/>
              <a:t> </a:t>
            </a:r>
            <a:r>
              <a:rPr dirty="0" err="1"/>
              <a:t>orderers</a:t>
            </a:r>
            <a:r>
              <a:rPr dirty="0"/>
              <a:t>, </a:t>
            </a:r>
            <a:r>
              <a:rPr dirty="0" err="1"/>
              <a:t>reglas</a:t>
            </a:r>
            <a:r>
              <a:rPr dirty="0"/>
              <a:t> de entrada/</a:t>
            </a:r>
            <a:r>
              <a:rPr dirty="0" err="1"/>
              <a:t>salida</a:t>
            </a:r>
            <a:r>
              <a:rPr dirty="0"/>
              <a:t> </a:t>
            </a:r>
            <a:r>
              <a:rPr dirty="0" err="1"/>
              <a:t>claras</a:t>
            </a:r>
            <a:r>
              <a:rPr dirty="0"/>
              <a:t>,</a:t>
            </a:r>
          </a:p>
          <a:p>
            <a:pPr lvl="1">
              <a:spcAft>
                <a:spcPts val="400"/>
              </a:spcAft>
              <a:defRPr sz="1700">
                <a:solidFill>
                  <a:srgbClr val="666666"/>
                </a:solidFill>
                <a:latin typeface="Calibri"/>
              </a:defRPr>
            </a:pPr>
            <a:r>
              <a:rPr dirty="0"/>
              <a:t>      </a:t>
            </a:r>
            <a:r>
              <a:rPr dirty="0" err="1"/>
              <a:t>modelo</a:t>
            </a:r>
            <a:r>
              <a:rPr dirty="0"/>
              <a:t> de </a:t>
            </a:r>
            <a:r>
              <a:rPr dirty="0" err="1"/>
              <a:t>costes</a:t>
            </a:r>
            <a:r>
              <a:rPr dirty="0"/>
              <a:t> </a:t>
            </a:r>
            <a:r>
              <a:rPr dirty="0" err="1"/>
              <a:t>proporcional</a:t>
            </a:r>
            <a:r>
              <a:rPr dirty="0"/>
              <a:t> (</a:t>
            </a:r>
            <a:r>
              <a:rPr dirty="0" err="1"/>
              <a:t>cuotas</a:t>
            </a:r>
            <a:r>
              <a:rPr dirty="0"/>
              <a:t> </a:t>
            </a:r>
            <a:r>
              <a:rPr dirty="0" err="1"/>
              <a:t>por</a:t>
            </a:r>
            <a:r>
              <a:rPr dirty="0"/>
              <a:t> </a:t>
            </a:r>
            <a:r>
              <a:rPr dirty="0" err="1"/>
              <a:t>tamano</a:t>
            </a:r>
            <a:r>
              <a:rPr dirty="0"/>
              <a:t>).</a:t>
            </a:r>
          </a:p>
          <a:p>
            <a:pPr>
              <a:spcAft>
                <a:spcPts val="800"/>
              </a:spcAft>
              <a:defRPr sz="2000">
                <a:solidFill>
                  <a:srgbClr val="333333"/>
                </a:solidFill>
                <a:latin typeface="Calibri"/>
              </a:defRPr>
            </a:pPr>
            <a:r>
              <a:rPr dirty="0"/>
              <a:t>B3i (</a:t>
            </a:r>
            <a:r>
              <a:rPr dirty="0" err="1"/>
              <a:t>consorcio</a:t>
            </a:r>
            <a:r>
              <a:rPr dirty="0"/>
              <a:t> </a:t>
            </a:r>
            <a:r>
              <a:rPr dirty="0" err="1"/>
              <a:t>reaseguros</a:t>
            </a:r>
            <a:r>
              <a:rPr dirty="0"/>
              <a:t>):</a:t>
            </a:r>
          </a:p>
          <a:p>
            <a:pPr lvl="1">
              <a:spcAft>
                <a:spcPts val="400"/>
              </a:spcAft>
              <a:defRPr sz="1700">
                <a:solidFill>
                  <a:srgbClr val="666666"/>
                </a:solidFill>
                <a:latin typeface="Calibri"/>
              </a:defRPr>
            </a:pPr>
            <a:r>
              <a:rPr dirty="0"/>
              <a:t>    ¿</a:t>
            </a:r>
            <a:r>
              <a:rPr dirty="0" err="1"/>
              <a:t>Problema</a:t>
            </a:r>
            <a:r>
              <a:rPr dirty="0"/>
              <a:t> real? Si — </a:t>
            </a:r>
            <a:r>
              <a:rPr dirty="0" err="1"/>
              <a:t>duplicacion</a:t>
            </a:r>
            <a:r>
              <a:rPr dirty="0"/>
              <a:t> documental y </a:t>
            </a:r>
            <a:r>
              <a:rPr dirty="0" err="1"/>
              <a:t>liquidaciones</a:t>
            </a:r>
            <a:r>
              <a:rPr dirty="0"/>
              <a:t> </a:t>
            </a:r>
            <a:r>
              <a:rPr dirty="0" err="1"/>
              <a:t>lentas</a:t>
            </a:r>
            <a:r>
              <a:rPr dirty="0"/>
              <a:t>.</a:t>
            </a:r>
          </a:p>
          <a:p>
            <a:pPr lvl="1">
              <a:spcAft>
                <a:spcPts val="400"/>
              </a:spcAft>
              <a:defRPr sz="1700">
                <a:solidFill>
                  <a:srgbClr val="666666"/>
                </a:solidFill>
                <a:latin typeface="Calibri"/>
              </a:defRPr>
            </a:pPr>
            <a:r>
              <a:rPr dirty="0"/>
              <a:t>    Barrera: INCENTIVOS (</a:t>
            </a:r>
            <a:r>
              <a:rPr dirty="0" err="1"/>
              <a:t>modelo</a:t>
            </a:r>
            <a:r>
              <a:rPr dirty="0"/>
              <a:t> de </a:t>
            </a:r>
            <a:r>
              <a:rPr dirty="0" err="1"/>
              <a:t>negocio</a:t>
            </a:r>
            <a:r>
              <a:rPr dirty="0"/>
              <a:t> </a:t>
            </a:r>
            <a:r>
              <a:rPr dirty="0" err="1"/>
              <a:t>insostenible</a:t>
            </a:r>
            <a:r>
              <a:rPr dirty="0"/>
              <a:t>).</a:t>
            </a:r>
          </a:p>
          <a:p>
            <a:pPr lvl="1">
              <a:spcAft>
                <a:spcPts val="400"/>
              </a:spcAft>
              <a:defRPr sz="1700">
                <a:solidFill>
                  <a:srgbClr val="666666"/>
                </a:solidFill>
                <a:latin typeface="Calibri"/>
              </a:defRPr>
            </a:pPr>
            <a:r>
              <a:rPr dirty="0"/>
              <a:t>    ¿</a:t>
            </a:r>
            <a:r>
              <a:rPr dirty="0" err="1"/>
              <a:t>Funcionaria</a:t>
            </a:r>
            <a:r>
              <a:rPr dirty="0"/>
              <a:t> hoy </a:t>
            </a:r>
            <a:r>
              <a:rPr dirty="0" err="1"/>
              <a:t>en</a:t>
            </a:r>
            <a:r>
              <a:rPr dirty="0"/>
              <a:t> Fabric </a:t>
            </a:r>
            <a:r>
              <a:rPr dirty="0" err="1"/>
              <a:t>privada</a:t>
            </a:r>
            <a:r>
              <a:rPr dirty="0"/>
              <a:t>? Si, con fees </a:t>
            </a:r>
            <a:r>
              <a:rPr dirty="0" err="1"/>
              <a:t>por</a:t>
            </a:r>
            <a:r>
              <a:rPr dirty="0"/>
              <a:t> </a:t>
            </a:r>
            <a:r>
              <a:rPr dirty="0" err="1"/>
              <a:t>transaccion</a:t>
            </a:r>
            <a:r>
              <a:rPr dirty="0"/>
              <a:t>.</a:t>
            </a:r>
          </a:p>
          <a:p>
            <a:pPr lvl="1">
              <a:spcAft>
                <a:spcPts val="400"/>
              </a:spcAft>
              <a:defRPr sz="1700">
                <a:solidFill>
                  <a:srgbClr val="666666"/>
                </a:solidFill>
                <a:latin typeface="Calibri"/>
              </a:defRPr>
            </a:pPr>
            <a:r>
              <a:rPr dirty="0"/>
              <a:t>    </a:t>
            </a:r>
            <a:r>
              <a:rPr dirty="0" err="1"/>
              <a:t>Condiciones</a:t>
            </a:r>
            <a:r>
              <a:rPr dirty="0"/>
              <a:t>: </a:t>
            </a:r>
            <a:r>
              <a:rPr dirty="0" err="1"/>
              <a:t>cada</a:t>
            </a:r>
            <a:r>
              <a:rPr dirty="0"/>
              <a:t> </a:t>
            </a:r>
            <a:r>
              <a:rPr dirty="0" err="1"/>
              <a:t>reaseguro</a:t>
            </a:r>
            <a:r>
              <a:rPr dirty="0"/>
              <a:t> </a:t>
            </a:r>
            <a:r>
              <a:rPr dirty="0" err="1"/>
              <a:t>paga</a:t>
            </a:r>
            <a:r>
              <a:rPr dirty="0"/>
              <a:t> </a:t>
            </a:r>
            <a:r>
              <a:rPr dirty="0" err="1"/>
              <a:t>una</a:t>
            </a:r>
            <a:r>
              <a:rPr dirty="0"/>
              <a:t> </a:t>
            </a:r>
            <a:r>
              <a:rPr dirty="0" err="1"/>
              <a:t>pequena</a:t>
            </a:r>
            <a:r>
              <a:rPr dirty="0"/>
              <a:t> </a:t>
            </a:r>
            <a:r>
              <a:rPr dirty="0" err="1"/>
              <a:t>comision</a:t>
            </a:r>
            <a:r>
              <a:rPr dirty="0"/>
              <a:t> al </a:t>
            </a:r>
            <a:r>
              <a:rPr dirty="0" err="1"/>
              <a:t>consorcio</a:t>
            </a:r>
            <a:r>
              <a:rPr dirty="0"/>
              <a:t>,</a:t>
            </a:r>
          </a:p>
          <a:p>
            <a:pPr lvl="1">
              <a:spcAft>
                <a:spcPts val="400"/>
              </a:spcAft>
              <a:defRPr sz="1700">
                <a:solidFill>
                  <a:srgbClr val="666666"/>
                </a:solidFill>
                <a:latin typeface="Calibri"/>
              </a:defRPr>
            </a:pPr>
            <a:r>
              <a:rPr dirty="0"/>
              <a:t>      MVP con 1 </a:t>
            </a:r>
            <a:r>
              <a:rPr dirty="0" err="1"/>
              <a:t>linea</a:t>
            </a:r>
            <a:r>
              <a:rPr dirty="0"/>
              <a:t> de </a:t>
            </a:r>
            <a:r>
              <a:rPr dirty="0" err="1"/>
              <a:t>negocio</a:t>
            </a:r>
            <a:r>
              <a:rPr dirty="0"/>
              <a:t> (</a:t>
            </a:r>
            <a:r>
              <a:rPr dirty="0" err="1"/>
              <a:t>catastroficos</a:t>
            </a:r>
            <a:r>
              <a:rPr dirty="0"/>
              <a:t>), </a:t>
            </a:r>
            <a:r>
              <a:rPr dirty="0" err="1"/>
              <a:t>apoyo</a:t>
            </a:r>
            <a:r>
              <a:rPr dirty="0"/>
              <a:t> de EIOPA.</a:t>
            </a:r>
          </a:p>
          <a:p>
            <a:pPr>
              <a:spcAft>
                <a:spcPts val="800"/>
              </a:spcAft>
              <a:defRPr sz="2000">
                <a:solidFill>
                  <a:srgbClr val="333333"/>
                </a:solidFill>
                <a:latin typeface="Calibri"/>
              </a:defRPr>
            </a:pPr>
            <a:r>
              <a:rPr dirty="0" err="1"/>
              <a:t>MedRec</a:t>
            </a:r>
            <a:r>
              <a:rPr dirty="0"/>
              <a:t> (MIT - </a:t>
            </a:r>
            <a:r>
              <a:rPr dirty="0" err="1"/>
              <a:t>historiales</a:t>
            </a:r>
            <a:r>
              <a:rPr dirty="0"/>
              <a:t> medicos):</a:t>
            </a:r>
          </a:p>
          <a:p>
            <a:pPr lvl="1">
              <a:spcAft>
                <a:spcPts val="400"/>
              </a:spcAft>
              <a:defRPr sz="1700">
                <a:solidFill>
                  <a:srgbClr val="666666"/>
                </a:solidFill>
                <a:latin typeface="Calibri"/>
              </a:defRPr>
            </a:pPr>
            <a:r>
              <a:rPr dirty="0"/>
              <a:t>    ¿</a:t>
            </a:r>
            <a:r>
              <a:rPr dirty="0" err="1"/>
              <a:t>Problema</a:t>
            </a:r>
            <a:r>
              <a:rPr dirty="0"/>
              <a:t> real? Si — </a:t>
            </a:r>
            <a:r>
              <a:rPr dirty="0" err="1"/>
              <a:t>pacientes</a:t>
            </a:r>
            <a:r>
              <a:rPr dirty="0"/>
              <a:t> sin control </a:t>
            </a:r>
            <a:r>
              <a:rPr dirty="0" err="1"/>
              <a:t>sobre</a:t>
            </a:r>
            <a:r>
              <a:rPr dirty="0"/>
              <a:t> sus </a:t>
            </a:r>
            <a:r>
              <a:rPr dirty="0" err="1"/>
              <a:t>datos</a:t>
            </a:r>
            <a:r>
              <a:rPr dirty="0"/>
              <a:t> medicos.</a:t>
            </a:r>
          </a:p>
          <a:p>
            <a:pPr lvl="1">
              <a:spcAft>
                <a:spcPts val="400"/>
              </a:spcAft>
              <a:defRPr sz="1700">
                <a:solidFill>
                  <a:srgbClr val="666666"/>
                </a:solidFill>
                <a:latin typeface="Calibri"/>
              </a:defRPr>
            </a:pPr>
            <a:r>
              <a:rPr dirty="0"/>
              <a:t>    Barrera: REGULACION + UX + GENESIS.</a:t>
            </a:r>
          </a:p>
          <a:p>
            <a:pPr lvl="1">
              <a:spcAft>
                <a:spcPts val="400"/>
              </a:spcAft>
              <a:defRPr sz="1700">
                <a:solidFill>
                  <a:srgbClr val="666666"/>
                </a:solidFill>
                <a:latin typeface="Calibri"/>
              </a:defRPr>
            </a:pPr>
            <a:r>
              <a:rPr dirty="0"/>
              <a:t>    ¿</a:t>
            </a:r>
            <a:r>
              <a:rPr dirty="0" err="1"/>
              <a:t>Funcionaria</a:t>
            </a:r>
            <a:r>
              <a:rPr dirty="0"/>
              <a:t> </a:t>
            </a:r>
            <a:r>
              <a:rPr dirty="0" err="1"/>
              <a:t>en</a:t>
            </a:r>
            <a:r>
              <a:rPr dirty="0"/>
              <a:t> Fabric? </a:t>
            </a:r>
            <a:r>
              <a:rPr dirty="0" err="1"/>
              <a:t>Parcialmente</a:t>
            </a:r>
            <a:r>
              <a:rPr dirty="0"/>
              <a:t> — </a:t>
            </a:r>
            <a:r>
              <a:rPr dirty="0" err="1"/>
              <a:t>si</a:t>
            </a:r>
            <a:r>
              <a:rPr dirty="0"/>
              <a:t>, con </a:t>
            </a:r>
            <a:r>
              <a:rPr dirty="0" err="1"/>
              <a:t>datos</a:t>
            </a:r>
            <a:r>
              <a:rPr dirty="0"/>
              <a:t> off-chain y hashes on-chain.</a:t>
            </a:r>
          </a:p>
          <a:p>
            <a:pPr lvl="1">
              <a:spcAft>
                <a:spcPts val="400"/>
              </a:spcAft>
              <a:defRPr sz="1700">
                <a:solidFill>
                  <a:srgbClr val="666666"/>
                </a:solidFill>
                <a:latin typeface="Calibri"/>
              </a:defRPr>
            </a:pPr>
            <a:r>
              <a:rPr dirty="0"/>
              <a:t>    </a:t>
            </a:r>
            <a:r>
              <a:rPr dirty="0" err="1"/>
              <a:t>Condiciones</a:t>
            </a:r>
            <a:r>
              <a:rPr dirty="0"/>
              <a:t>: </a:t>
            </a:r>
            <a:r>
              <a:rPr dirty="0" err="1"/>
              <a:t>adopcion</a:t>
            </a:r>
            <a:r>
              <a:rPr dirty="0"/>
              <a:t> </a:t>
            </a:r>
            <a:r>
              <a:rPr dirty="0" err="1"/>
              <a:t>obligatoria</a:t>
            </a:r>
            <a:r>
              <a:rPr dirty="0"/>
              <a:t> </a:t>
            </a:r>
            <a:r>
              <a:rPr dirty="0" err="1"/>
              <a:t>por</a:t>
            </a:r>
            <a:r>
              <a:rPr dirty="0"/>
              <a:t> </a:t>
            </a:r>
            <a:r>
              <a:rPr dirty="0" err="1"/>
              <a:t>el</a:t>
            </a:r>
            <a:r>
              <a:rPr dirty="0"/>
              <a:t> </a:t>
            </a:r>
            <a:r>
              <a:rPr dirty="0" err="1"/>
              <a:t>sistema</a:t>
            </a:r>
            <a:r>
              <a:rPr dirty="0"/>
              <a:t> </a:t>
            </a:r>
            <a:r>
              <a:rPr dirty="0" err="1"/>
              <a:t>nacional</a:t>
            </a:r>
            <a:r>
              <a:rPr dirty="0"/>
              <a:t> de </a:t>
            </a:r>
            <a:r>
              <a:rPr dirty="0" err="1"/>
              <a:t>salud</a:t>
            </a:r>
            <a:r>
              <a:rPr dirty="0"/>
              <a:t>,</a:t>
            </a:r>
          </a:p>
          <a:p>
            <a:pPr lvl="1">
              <a:spcAft>
                <a:spcPts val="400"/>
              </a:spcAft>
              <a:defRPr sz="1700">
                <a:solidFill>
                  <a:srgbClr val="666666"/>
                </a:solidFill>
                <a:latin typeface="Calibri"/>
              </a:defRPr>
            </a:pPr>
            <a:r>
              <a:rPr dirty="0"/>
              <a:t>      UX </a:t>
            </a:r>
            <a:r>
              <a:rPr dirty="0" err="1"/>
              <a:t>transparente</a:t>
            </a:r>
            <a:r>
              <a:rPr dirty="0"/>
              <a:t> para medicos, </a:t>
            </a:r>
            <a:r>
              <a:rPr dirty="0" err="1"/>
              <a:t>cumplimiento</a:t>
            </a:r>
            <a:r>
              <a:rPr dirty="0"/>
              <a:t> GDPR </a:t>
            </a:r>
            <a:r>
              <a:rPr dirty="0" err="1"/>
              <a:t>estricto</a:t>
            </a:r>
            <a:r>
              <a:rPr dirty="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Respuestas a la actividad (2/2)</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146348"/>
            <a:ext cx="10515600" cy="5734903"/>
          </a:xfrm>
          <a:prstGeom prst="rect">
            <a:avLst/>
          </a:prstGeom>
          <a:noFill/>
        </p:spPr>
        <p:txBody>
          <a:bodyPr wrap="square">
            <a:spAutoFit/>
          </a:bodyPr>
          <a:lstStyle/>
          <a:p>
            <a:pPr>
              <a:spcAft>
                <a:spcPts val="800"/>
              </a:spcAft>
              <a:defRPr sz="2000">
                <a:solidFill>
                  <a:srgbClr val="333333"/>
                </a:solidFill>
                <a:latin typeface="Calibri"/>
              </a:defRPr>
            </a:pPr>
            <a:r>
              <a:rPr dirty="0" err="1"/>
              <a:t>Voatz</a:t>
            </a:r>
            <a:r>
              <a:rPr dirty="0"/>
              <a:t> (</a:t>
            </a:r>
            <a:r>
              <a:rPr dirty="0" err="1"/>
              <a:t>votacion</a:t>
            </a:r>
            <a:r>
              <a:rPr dirty="0"/>
              <a:t> electronica):</a:t>
            </a:r>
          </a:p>
          <a:p>
            <a:pPr lvl="1">
              <a:spcAft>
                <a:spcPts val="400"/>
              </a:spcAft>
              <a:defRPr sz="1700">
                <a:solidFill>
                  <a:srgbClr val="666666"/>
                </a:solidFill>
                <a:latin typeface="Calibri"/>
              </a:defRPr>
            </a:pPr>
            <a:r>
              <a:rPr sz="1600" dirty="0"/>
              <a:t>    ¿</a:t>
            </a:r>
            <a:r>
              <a:rPr sz="1600" dirty="0" err="1"/>
              <a:t>Problema</a:t>
            </a:r>
            <a:r>
              <a:rPr sz="1600" dirty="0"/>
              <a:t> real? Si — </a:t>
            </a:r>
            <a:r>
              <a:rPr sz="1600" dirty="0" err="1"/>
              <a:t>accesibilidad</a:t>
            </a:r>
            <a:r>
              <a:rPr sz="1600" dirty="0"/>
              <a:t> del </a:t>
            </a:r>
            <a:r>
              <a:rPr sz="1600" dirty="0" err="1"/>
              <a:t>voto</a:t>
            </a:r>
            <a:r>
              <a:rPr sz="1600" dirty="0"/>
              <a:t>, </a:t>
            </a:r>
            <a:r>
              <a:rPr sz="1600" dirty="0" err="1"/>
              <a:t>especialmente</a:t>
            </a:r>
            <a:r>
              <a:rPr sz="1600" dirty="0"/>
              <a:t> </a:t>
            </a:r>
            <a:r>
              <a:rPr sz="1600" dirty="0" err="1"/>
              <a:t>remoto</a:t>
            </a:r>
            <a:r>
              <a:rPr sz="1600" dirty="0"/>
              <a:t>/</a:t>
            </a:r>
            <a:r>
              <a:rPr sz="1600" dirty="0" err="1"/>
              <a:t>discapacidad</a:t>
            </a:r>
            <a:r>
              <a:rPr sz="1600" dirty="0"/>
              <a:t>.</a:t>
            </a:r>
          </a:p>
          <a:p>
            <a:pPr lvl="1">
              <a:spcAft>
                <a:spcPts val="400"/>
              </a:spcAft>
              <a:defRPr sz="1700">
                <a:solidFill>
                  <a:srgbClr val="666666"/>
                </a:solidFill>
                <a:latin typeface="Calibri"/>
              </a:defRPr>
            </a:pPr>
            <a:r>
              <a:rPr sz="1600" dirty="0"/>
              <a:t>    Barrera: REGULACION + UX + GENESIS (</a:t>
            </a:r>
            <a:r>
              <a:rPr sz="1600" dirty="0" err="1"/>
              <a:t>verificacion</a:t>
            </a:r>
            <a:r>
              <a:rPr sz="1600" dirty="0"/>
              <a:t> de </a:t>
            </a:r>
            <a:r>
              <a:rPr sz="1600" dirty="0" err="1"/>
              <a:t>identidad</a:t>
            </a:r>
            <a:r>
              <a:rPr sz="1600" dirty="0"/>
              <a:t> del </a:t>
            </a:r>
            <a:r>
              <a:rPr sz="1600" dirty="0" err="1"/>
              <a:t>votante</a:t>
            </a:r>
            <a:r>
              <a:rPr sz="1600" dirty="0"/>
              <a:t>).</a:t>
            </a:r>
          </a:p>
          <a:p>
            <a:pPr lvl="1">
              <a:spcAft>
                <a:spcPts val="400"/>
              </a:spcAft>
              <a:defRPr sz="1700">
                <a:solidFill>
                  <a:srgbClr val="666666"/>
                </a:solidFill>
                <a:latin typeface="Calibri"/>
              </a:defRPr>
            </a:pPr>
            <a:r>
              <a:rPr sz="1600" dirty="0"/>
              <a:t>    ¿</a:t>
            </a:r>
            <a:r>
              <a:rPr sz="1600" dirty="0" err="1"/>
              <a:t>Funcionaria</a:t>
            </a:r>
            <a:r>
              <a:rPr sz="1600" dirty="0"/>
              <a:t> </a:t>
            </a:r>
            <a:r>
              <a:rPr sz="1600" dirty="0" err="1"/>
              <a:t>en</a:t>
            </a:r>
            <a:r>
              <a:rPr sz="1600" dirty="0"/>
              <a:t> Fabric? NO </a:t>
            </a:r>
            <a:r>
              <a:rPr sz="1600" dirty="0" err="1"/>
              <a:t>resuelve</a:t>
            </a:r>
            <a:r>
              <a:rPr sz="1600" dirty="0"/>
              <a:t> </a:t>
            </a:r>
            <a:r>
              <a:rPr sz="1600" dirty="0" err="1"/>
              <a:t>el</a:t>
            </a:r>
            <a:r>
              <a:rPr sz="1600" dirty="0"/>
              <a:t> </a:t>
            </a:r>
            <a:r>
              <a:rPr sz="1600" dirty="0" err="1"/>
              <a:t>problema</a:t>
            </a:r>
            <a:r>
              <a:rPr sz="1600" dirty="0"/>
              <a:t> fundamental — la </a:t>
            </a:r>
            <a:r>
              <a:rPr sz="1600" dirty="0" err="1"/>
              <a:t>identidad</a:t>
            </a:r>
            <a:r>
              <a:rPr sz="1600" dirty="0"/>
              <a:t>.</a:t>
            </a:r>
          </a:p>
          <a:p>
            <a:pPr lvl="1">
              <a:spcAft>
                <a:spcPts val="400"/>
              </a:spcAft>
              <a:defRPr sz="1700">
                <a:solidFill>
                  <a:srgbClr val="666666"/>
                </a:solidFill>
                <a:latin typeface="Calibri"/>
              </a:defRPr>
            </a:pPr>
            <a:r>
              <a:rPr sz="1600" dirty="0"/>
              <a:t>    </a:t>
            </a:r>
            <a:r>
              <a:rPr sz="1600" dirty="0" err="1"/>
              <a:t>Condiciones</a:t>
            </a:r>
            <a:r>
              <a:rPr sz="1600" dirty="0"/>
              <a:t>: </a:t>
            </a:r>
            <a:r>
              <a:rPr sz="1600" dirty="0" err="1"/>
              <a:t>voto</a:t>
            </a:r>
            <a:r>
              <a:rPr sz="1600" dirty="0"/>
              <a:t> </a:t>
            </a:r>
            <a:r>
              <a:rPr sz="1600" dirty="0" err="1"/>
              <a:t>verificable</a:t>
            </a:r>
            <a:r>
              <a:rPr sz="1600" dirty="0"/>
              <a:t> </a:t>
            </a:r>
            <a:r>
              <a:rPr sz="1600" dirty="0" err="1"/>
              <a:t>criptograficamente</a:t>
            </a:r>
            <a:r>
              <a:rPr sz="1600" dirty="0"/>
              <a:t> + supervision </a:t>
            </a:r>
            <a:r>
              <a:rPr sz="1600" dirty="0" err="1"/>
              <a:t>oficial</a:t>
            </a:r>
            <a:r>
              <a:rPr sz="1600" dirty="0"/>
              <a:t>.</a:t>
            </a:r>
          </a:p>
          <a:p>
            <a:pPr lvl="1">
              <a:spcAft>
                <a:spcPts val="400"/>
              </a:spcAft>
              <a:defRPr sz="1700">
                <a:solidFill>
                  <a:srgbClr val="666666"/>
                </a:solidFill>
                <a:latin typeface="Calibri"/>
              </a:defRPr>
            </a:pPr>
            <a:r>
              <a:rPr sz="1600" dirty="0"/>
              <a:t>    Blockchain </a:t>
            </a:r>
            <a:r>
              <a:rPr sz="1600" dirty="0" err="1"/>
              <a:t>aqui</a:t>
            </a:r>
            <a:r>
              <a:rPr sz="1600" dirty="0"/>
              <a:t> es la </a:t>
            </a:r>
            <a:r>
              <a:rPr sz="1600" dirty="0" err="1"/>
              <a:t>parte</a:t>
            </a:r>
            <a:r>
              <a:rPr sz="1600" dirty="0"/>
              <a:t> FACIL; </a:t>
            </a:r>
            <a:r>
              <a:rPr sz="1600" dirty="0" err="1"/>
              <a:t>el</a:t>
            </a:r>
            <a:r>
              <a:rPr sz="1600" dirty="0"/>
              <a:t> </a:t>
            </a:r>
            <a:r>
              <a:rPr sz="1600" dirty="0" err="1"/>
              <a:t>problema</a:t>
            </a:r>
            <a:r>
              <a:rPr sz="1600" dirty="0"/>
              <a:t> es politico, legal y social.</a:t>
            </a:r>
          </a:p>
          <a:p>
            <a:pPr>
              <a:spcAft>
                <a:spcPts val="800"/>
              </a:spcAft>
              <a:defRPr sz="2000">
                <a:solidFill>
                  <a:srgbClr val="333333"/>
                </a:solidFill>
                <a:latin typeface="Calibri"/>
              </a:defRPr>
            </a:pPr>
            <a:r>
              <a:rPr dirty="0"/>
              <a:t>De Beers Tracr (diamantes):</a:t>
            </a:r>
          </a:p>
          <a:p>
            <a:pPr lvl="1">
              <a:spcAft>
                <a:spcPts val="400"/>
              </a:spcAft>
              <a:defRPr sz="1700">
                <a:solidFill>
                  <a:srgbClr val="666666"/>
                </a:solidFill>
                <a:latin typeface="Calibri"/>
              </a:defRPr>
            </a:pPr>
            <a:r>
              <a:rPr sz="1600" dirty="0"/>
              <a:t>    ¿</a:t>
            </a:r>
            <a:r>
              <a:rPr sz="1600" dirty="0" err="1"/>
              <a:t>Problema</a:t>
            </a:r>
            <a:r>
              <a:rPr sz="1600" dirty="0"/>
              <a:t> real? Si — </a:t>
            </a:r>
            <a:r>
              <a:rPr sz="1600" dirty="0" err="1"/>
              <a:t>trazabilidad</a:t>
            </a:r>
            <a:r>
              <a:rPr sz="1600" dirty="0"/>
              <a:t> de diamantes no de </a:t>
            </a:r>
            <a:r>
              <a:rPr sz="1600" dirty="0" err="1"/>
              <a:t>conflicto</a:t>
            </a:r>
            <a:r>
              <a:rPr sz="1600" dirty="0"/>
              <a:t>.</a:t>
            </a:r>
          </a:p>
          <a:p>
            <a:pPr lvl="1">
              <a:spcAft>
                <a:spcPts val="400"/>
              </a:spcAft>
              <a:defRPr sz="1700">
                <a:solidFill>
                  <a:srgbClr val="666666"/>
                </a:solidFill>
                <a:latin typeface="Calibri"/>
              </a:defRPr>
            </a:pPr>
            <a:r>
              <a:rPr sz="1600" dirty="0"/>
              <a:t>    Barrera: GOBERNANZA (</a:t>
            </a:r>
            <a:r>
              <a:rPr sz="1600" dirty="0" err="1"/>
              <a:t>fundador</a:t>
            </a:r>
            <a:r>
              <a:rPr sz="1600" dirty="0"/>
              <a:t> </a:t>
            </a:r>
            <a:r>
              <a:rPr sz="1600" dirty="0" err="1"/>
              <a:t>dominante</a:t>
            </a:r>
            <a:r>
              <a:rPr sz="1600" dirty="0"/>
              <a:t>) + GENESIS (</a:t>
            </a:r>
            <a:r>
              <a:rPr sz="1600" dirty="0" err="1"/>
              <a:t>datos</a:t>
            </a:r>
            <a:r>
              <a:rPr sz="1600" dirty="0"/>
              <a:t> de mina).</a:t>
            </a:r>
          </a:p>
          <a:p>
            <a:pPr lvl="1">
              <a:spcAft>
                <a:spcPts val="400"/>
              </a:spcAft>
              <a:defRPr sz="1700">
                <a:solidFill>
                  <a:srgbClr val="666666"/>
                </a:solidFill>
                <a:latin typeface="Calibri"/>
              </a:defRPr>
            </a:pPr>
            <a:r>
              <a:rPr sz="1600" dirty="0"/>
              <a:t>    ¿</a:t>
            </a:r>
            <a:r>
              <a:rPr sz="1600" dirty="0" err="1"/>
              <a:t>Funcionaria</a:t>
            </a:r>
            <a:r>
              <a:rPr sz="1600" dirty="0"/>
              <a:t> </a:t>
            </a:r>
            <a:r>
              <a:rPr sz="1600" dirty="0" err="1"/>
              <a:t>en</a:t>
            </a:r>
            <a:r>
              <a:rPr sz="1600" dirty="0"/>
              <a:t> Fabric? Si, </a:t>
            </a:r>
            <a:r>
              <a:rPr sz="1600" dirty="0" err="1"/>
              <a:t>si</a:t>
            </a:r>
            <a:r>
              <a:rPr sz="1600" dirty="0"/>
              <a:t> lo funda </a:t>
            </a:r>
            <a:r>
              <a:rPr sz="1600" dirty="0" err="1"/>
              <a:t>una</a:t>
            </a:r>
            <a:r>
              <a:rPr sz="1600" dirty="0"/>
              <a:t> </a:t>
            </a:r>
            <a:r>
              <a:rPr sz="1600" dirty="0" err="1"/>
              <a:t>organizacion</a:t>
            </a:r>
            <a:r>
              <a:rPr sz="1600" dirty="0"/>
              <a:t> </a:t>
            </a:r>
            <a:r>
              <a:rPr sz="1600" dirty="0" err="1"/>
              <a:t>neutra</a:t>
            </a:r>
            <a:r>
              <a:rPr sz="1600" dirty="0"/>
              <a:t> (GIA, WFDB).</a:t>
            </a:r>
          </a:p>
          <a:p>
            <a:pPr lvl="1">
              <a:spcAft>
                <a:spcPts val="400"/>
              </a:spcAft>
              <a:defRPr sz="1700">
                <a:solidFill>
                  <a:srgbClr val="666666"/>
                </a:solidFill>
                <a:latin typeface="Calibri"/>
              </a:defRPr>
            </a:pPr>
            <a:r>
              <a:rPr sz="1600" dirty="0"/>
              <a:t>    </a:t>
            </a:r>
            <a:r>
              <a:rPr sz="1600" dirty="0" err="1"/>
              <a:t>Condiciones</a:t>
            </a:r>
            <a:r>
              <a:rPr sz="1600" dirty="0"/>
              <a:t>: </a:t>
            </a:r>
            <a:r>
              <a:rPr sz="1600" dirty="0" err="1"/>
              <a:t>incluir</a:t>
            </a:r>
            <a:r>
              <a:rPr sz="1600" dirty="0"/>
              <a:t> </a:t>
            </a:r>
            <a:r>
              <a:rPr sz="1600" dirty="0" err="1"/>
              <a:t>mineros</a:t>
            </a:r>
            <a:r>
              <a:rPr sz="1600" dirty="0"/>
              <a:t> </a:t>
            </a:r>
            <a:r>
              <a:rPr sz="1600" dirty="0" err="1"/>
              <a:t>artesanales</a:t>
            </a:r>
            <a:r>
              <a:rPr sz="1600" dirty="0"/>
              <a:t>, usar </a:t>
            </a:r>
            <a:r>
              <a:rPr sz="1600" dirty="0" err="1"/>
              <a:t>sensores</a:t>
            </a:r>
            <a:r>
              <a:rPr sz="1600" dirty="0"/>
              <a:t> IoT para </a:t>
            </a:r>
            <a:r>
              <a:rPr sz="1600" dirty="0" err="1"/>
              <a:t>autenticar</a:t>
            </a:r>
            <a:r>
              <a:rPr sz="1600" dirty="0"/>
              <a:t> </a:t>
            </a:r>
            <a:r>
              <a:rPr sz="1600" dirty="0" err="1"/>
              <a:t>origen</a:t>
            </a:r>
            <a:r>
              <a:rPr sz="1600" dirty="0"/>
              <a:t>,</a:t>
            </a:r>
          </a:p>
          <a:p>
            <a:pPr lvl="1">
              <a:spcAft>
                <a:spcPts val="400"/>
              </a:spcAft>
              <a:defRPr sz="1700">
                <a:solidFill>
                  <a:srgbClr val="666666"/>
                </a:solidFill>
                <a:latin typeface="Calibri"/>
              </a:defRPr>
            </a:pPr>
            <a:r>
              <a:rPr sz="1600" dirty="0"/>
              <a:t>      </a:t>
            </a:r>
            <a:r>
              <a:rPr sz="1600" dirty="0" err="1"/>
              <a:t>consumidor</a:t>
            </a:r>
            <a:r>
              <a:rPr sz="1600" dirty="0"/>
              <a:t> final </a:t>
            </a:r>
            <a:r>
              <a:rPr sz="1600" dirty="0" err="1"/>
              <a:t>puede</a:t>
            </a:r>
            <a:r>
              <a:rPr sz="1600" dirty="0"/>
              <a:t> </a:t>
            </a:r>
            <a:r>
              <a:rPr sz="1600" dirty="0" err="1"/>
              <a:t>verificar</a:t>
            </a:r>
            <a:r>
              <a:rPr sz="1600" dirty="0"/>
              <a:t> </a:t>
            </a:r>
            <a:r>
              <a:rPr sz="1600" dirty="0" err="1"/>
              <a:t>por</a:t>
            </a:r>
            <a:r>
              <a:rPr sz="1600" dirty="0"/>
              <a:t> QR sin </a:t>
            </a:r>
            <a:r>
              <a:rPr sz="1600" dirty="0" err="1"/>
              <a:t>entender</a:t>
            </a:r>
            <a:r>
              <a:rPr sz="1600" dirty="0"/>
              <a:t> blockchain.</a:t>
            </a:r>
          </a:p>
          <a:p>
            <a:pPr>
              <a:spcAft>
                <a:spcPts val="800"/>
              </a:spcAft>
              <a:defRPr sz="2000">
                <a:solidFill>
                  <a:srgbClr val="333333"/>
                </a:solidFill>
                <a:latin typeface="Calibri"/>
              </a:defRPr>
            </a:pPr>
            <a:r>
              <a:rPr dirty="0"/>
              <a:t>Registro de </a:t>
            </a:r>
            <a:r>
              <a:rPr dirty="0" err="1"/>
              <a:t>propiedad</a:t>
            </a:r>
            <a:r>
              <a:rPr dirty="0"/>
              <a:t> Honduras:</a:t>
            </a:r>
          </a:p>
          <a:p>
            <a:pPr lvl="1">
              <a:spcAft>
                <a:spcPts val="400"/>
              </a:spcAft>
              <a:defRPr sz="1700">
                <a:solidFill>
                  <a:srgbClr val="666666"/>
                </a:solidFill>
                <a:latin typeface="Calibri"/>
              </a:defRPr>
            </a:pPr>
            <a:r>
              <a:rPr sz="1600" dirty="0"/>
              <a:t>    ¿</a:t>
            </a:r>
            <a:r>
              <a:rPr sz="1600" dirty="0" err="1"/>
              <a:t>Problema</a:t>
            </a:r>
            <a:r>
              <a:rPr sz="1600" dirty="0"/>
              <a:t> real? Si — </a:t>
            </a:r>
            <a:r>
              <a:rPr sz="1600" dirty="0" err="1"/>
              <a:t>corrupcion</a:t>
            </a:r>
            <a:r>
              <a:rPr sz="1600" dirty="0"/>
              <a:t> </a:t>
            </a:r>
            <a:r>
              <a:rPr sz="1600" dirty="0" err="1"/>
              <a:t>masiva</a:t>
            </a:r>
            <a:r>
              <a:rPr sz="1600" dirty="0"/>
              <a:t> </a:t>
            </a:r>
            <a:r>
              <a:rPr sz="1600" dirty="0" err="1"/>
              <a:t>en</a:t>
            </a:r>
            <a:r>
              <a:rPr sz="1600" dirty="0"/>
              <a:t> </a:t>
            </a:r>
            <a:r>
              <a:rPr sz="1600" dirty="0" err="1"/>
              <a:t>registros</a:t>
            </a:r>
            <a:r>
              <a:rPr sz="1600" dirty="0"/>
              <a:t>.</a:t>
            </a:r>
          </a:p>
          <a:p>
            <a:pPr lvl="1">
              <a:spcAft>
                <a:spcPts val="400"/>
              </a:spcAft>
              <a:defRPr sz="1700">
                <a:solidFill>
                  <a:srgbClr val="666666"/>
                </a:solidFill>
                <a:latin typeface="Calibri"/>
              </a:defRPr>
            </a:pPr>
            <a:r>
              <a:rPr sz="1600" dirty="0"/>
              <a:t>    Barrera: INSTITUCIONAL (</a:t>
            </a:r>
            <a:r>
              <a:rPr sz="1600" dirty="0" err="1"/>
              <a:t>los</a:t>
            </a:r>
            <a:r>
              <a:rPr sz="1600" dirty="0"/>
              <a:t> </a:t>
            </a:r>
            <a:r>
              <a:rPr sz="1600" dirty="0" err="1"/>
              <a:t>que</a:t>
            </a:r>
            <a:r>
              <a:rPr sz="1600" dirty="0"/>
              <a:t> </a:t>
            </a:r>
            <a:r>
              <a:rPr sz="1600" dirty="0" err="1"/>
              <a:t>pierden</a:t>
            </a:r>
            <a:r>
              <a:rPr sz="1600" dirty="0"/>
              <a:t> con </a:t>
            </a:r>
            <a:r>
              <a:rPr sz="1600" dirty="0" err="1"/>
              <a:t>transparencia</a:t>
            </a:r>
            <a:r>
              <a:rPr sz="1600" dirty="0"/>
              <a:t> </a:t>
            </a:r>
            <a:r>
              <a:rPr sz="1600" dirty="0" err="1"/>
              <a:t>bloquean</a:t>
            </a:r>
            <a:r>
              <a:rPr sz="1600" dirty="0"/>
              <a:t>).</a:t>
            </a:r>
          </a:p>
          <a:p>
            <a:pPr lvl="1">
              <a:spcAft>
                <a:spcPts val="400"/>
              </a:spcAft>
              <a:defRPr sz="1700">
                <a:solidFill>
                  <a:srgbClr val="666666"/>
                </a:solidFill>
                <a:latin typeface="Calibri"/>
              </a:defRPr>
            </a:pPr>
            <a:r>
              <a:rPr sz="1600" dirty="0"/>
              <a:t>    ¿</a:t>
            </a:r>
            <a:r>
              <a:rPr sz="1600" dirty="0" err="1"/>
              <a:t>Funcionaria</a:t>
            </a:r>
            <a:r>
              <a:rPr sz="1600" dirty="0"/>
              <a:t> </a:t>
            </a:r>
            <a:r>
              <a:rPr sz="1600" dirty="0" err="1"/>
              <a:t>en</a:t>
            </a:r>
            <a:r>
              <a:rPr sz="1600" dirty="0"/>
              <a:t> Fabric? La </a:t>
            </a:r>
            <a:r>
              <a:rPr sz="1600" dirty="0" err="1"/>
              <a:t>tecnologia</a:t>
            </a:r>
            <a:r>
              <a:rPr sz="1600" dirty="0"/>
              <a:t> </a:t>
            </a:r>
            <a:r>
              <a:rPr sz="1600" dirty="0" err="1"/>
              <a:t>si</a:t>
            </a:r>
            <a:r>
              <a:rPr sz="1600" dirty="0"/>
              <a:t>. El </a:t>
            </a:r>
            <a:r>
              <a:rPr sz="1600" dirty="0" err="1"/>
              <a:t>problema</a:t>
            </a:r>
            <a:r>
              <a:rPr sz="1600" dirty="0"/>
              <a:t> no es </a:t>
            </a:r>
            <a:r>
              <a:rPr sz="1600" dirty="0" err="1"/>
              <a:t>tecnico</a:t>
            </a:r>
            <a:r>
              <a:rPr sz="1600" dirty="0"/>
              <a:t>.</a:t>
            </a:r>
          </a:p>
          <a:p>
            <a:pPr lvl="1">
              <a:spcAft>
                <a:spcPts val="400"/>
              </a:spcAft>
              <a:defRPr sz="1700">
                <a:solidFill>
                  <a:srgbClr val="666666"/>
                </a:solidFill>
                <a:latin typeface="Calibri"/>
              </a:defRPr>
            </a:pPr>
            <a:r>
              <a:rPr sz="1600" dirty="0"/>
              <a:t>    </a:t>
            </a:r>
            <a:r>
              <a:rPr sz="1600" dirty="0" err="1"/>
              <a:t>Condiciones</a:t>
            </a:r>
            <a:r>
              <a:rPr sz="1600" dirty="0"/>
              <a:t>: </a:t>
            </a:r>
            <a:r>
              <a:rPr sz="1600" dirty="0" err="1"/>
              <a:t>voluntad</a:t>
            </a:r>
            <a:r>
              <a:rPr sz="1600" dirty="0"/>
              <a:t> </a:t>
            </a:r>
            <a:r>
              <a:rPr sz="1600" dirty="0" err="1"/>
              <a:t>politica</a:t>
            </a:r>
            <a:r>
              <a:rPr sz="1600" dirty="0"/>
              <a:t> real, </a:t>
            </a:r>
            <a:r>
              <a:rPr sz="1600" dirty="0" err="1"/>
              <a:t>reforma</a:t>
            </a:r>
            <a:r>
              <a:rPr sz="1600" dirty="0"/>
              <a:t> del </a:t>
            </a:r>
            <a:r>
              <a:rPr sz="1600" dirty="0" err="1"/>
              <a:t>marco</a:t>
            </a:r>
            <a:r>
              <a:rPr sz="1600" dirty="0"/>
              <a:t> legal,</a:t>
            </a:r>
          </a:p>
          <a:p>
            <a:pPr lvl="1">
              <a:spcAft>
                <a:spcPts val="400"/>
              </a:spcAft>
              <a:defRPr sz="1700">
                <a:solidFill>
                  <a:srgbClr val="666666"/>
                </a:solidFill>
                <a:latin typeface="Calibri"/>
              </a:defRPr>
            </a:pPr>
            <a:r>
              <a:rPr sz="1600" dirty="0"/>
              <a:t>      </a:t>
            </a:r>
            <a:r>
              <a:rPr sz="1600" dirty="0" err="1"/>
              <a:t>infraestructura</a:t>
            </a:r>
            <a:r>
              <a:rPr sz="1600" dirty="0"/>
              <a:t> digital minima, </a:t>
            </a:r>
            <a:r>
              <a:rPr sz="1600" dirty="0" err="1"/>
              <a:t>adopcion</a:t>
            </a:r>
            <a:r>
              <a:rPr sz="1600" dirty="0"/>
              <a:t> </a:t>
            </a:r>
            <a:r>
              <a:rPr sz="1600" dirty="0" err="1"/>
              <a:t>desde</a:t>
            </a:r>
            <a:r>
              <a:rPr sz="1600" dirty="0"/>
              <a:t> lo municipal (bottom-up).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74320"/>
            <a:ext cx="1645920" cy="45720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645920" cy="457200"/>
          </a:xfrm>
          <a:prstGeom prst="rect">
            <a:avLst/>
          </a:prstGeom>
          <a:noFill/>
        </p:spPr>
        <p:txBody>
          <a:bodyPr wrap="square"/>
          <a:lstStyle/>
          <a:p>
            <a:pPr algn="ctr">
              <a:defRPr sz="1800" b="1">
                <a:solidFill>
                  <a:srgbClr val="FFFFFF"/>
                </a:solidFill>
                <a:latin typeface="Calibri"/>
              </a:defRPr>
            </a:pPr>
            <a:r>
              <a:t>DEBATE</a:t>
            </a:r>
          </a:p>
        </p:txBody>
      </p:sp>
      <p:sp>
        <p:nvSpPr>
          <p:cNvPr id="5" name="TextBox 4"/>
          <p:cNvSpPr txBox="1"/>
          <p:nvPr/>
        </p:nvSpPr>
        <p:spPr>
          <a:xfrm>
            <a:off x="2377440" y="274320"/>
            <a:ext cx="9144000" cy="731520"/>
          </a:xfrm>
          <a:prstGeom prst="rect">
            <a:avLst/>
          </a:prstGeom>
          <a:noFill/>
        </p:spPr>
        <p:txBody>
          <a:bodyPr wrap="square"/>
          <a:lstStyle/>
          <a:p>
            <a:pPr algn="l">
              <a:defRPr sz="3000" b="1">
                <a:solidFill>
                  <a:srgbClr val="333333"/>
                </a:solidFill>
                <a:latin typeface="Calibri"/>
              </a:defRPr>
            </a:pPr>
            <a:r>
              <a:t>¿Blockchain o base de datos?</a:t>
            </a:r>
          </a:p>
        </p:txBody>
      </p:sp>
      <p:sp>
        <p:nvSpPr>
          <p:cNvPr id="6" name="Rectangle 5"/>
          <p:cNvSpPr/>
          <p:nvPr/>
        </p:nvSpPr>
        <p:spPr>
          <a:xfrm>
            <a:off x="457200" y="1051560"/>
            <a:ext cx="10972800" cy="2743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371600"/>
            <a:ext cx="10515600" cy="5029200"/>
          </a:xfrm>
          <a:prstGeom prst="rect">
            <a:avLst/>
          </a:prstGeom>
          <a:noFill/>
        </p:spPr>
        <p:txBody>
          <a:bodyPr wrap="square">
            <a:spAutoFit/>
          </a:bodyPr>
          <a:lstStyle/>
          <a:p>
            <a:pPr>
              <a:spcAft>
                <a:spcPts val="1600"/>
              </a:spcAft>
              <a:defRPr sz="2200">
                <a:solidFill>
                  <a:srgbClr val="333333"/>
                </a:solidFill>
                <a:latin typeface="Calibri"/>
              </a:defRPr>
            </a:pPr>
            <a:r>
              <a:t>Para cada caso, decidir en grupo si blockchain tiene sentido o no. Justificar:</a:t>
            </a:r>
          </a:p>
          <a:p>
            <a:pPr>
              <a:spcAft>
                <a:spcPts val="1600"/>
              </a:spcAft>
              <a:defRPr sz="2200">
                <a:solidFill>
                  <a:srgbClr val="333333"/>
                </a:solidFill>
                <a:latin typeface="Calibri"/>
              </a:defRPr>
            </a:pPr>
            <a:endParaRPr/>
          </a:p>
          <a:p>
            <a:pPr>
              <a:spcAft>
                <a:spcPts val="1600"/>
              </a:spcAft>
              <a:defRPr sz="2200">
                <a:solidFill>
                  <a:srgbClr val="333333"/>
                </a:solidFill>
                <a:latin typeface="Calibri"/>
              </a:defRPr>
            </a:pPr>
            <a:r>
              <a:t>1. Un hospital quiere registrar historiales medicos de sus pacientes</a:t>
            </a:r>
          </a:p>
          <a:p>
            <a:pPr>
              <a:spcAft>
                <a:spcPts val="1600"/>
              </a:spcAft>
              <a:defRPr sz="2200">
                <a:solidFill>
                  <a:srgbClr val="333333"/>
                </a:solidFill>
                <a:latin typeface="Calibri"/>
              </a:defRPr>
            </a:pPr>
            <a:r>
              <a:t>2. Tres hospitales quieren compartir historiales de pacientes compartidos</a:t>
            </a:r>
          </a:p>
          <a:p>
            <a:pPr>
              <a:spcAft>
                <a:spcPts val="1600"/>
              </a:spcAft>
              <a:defRPr sz="2200">
                <a:solidFill>
                  <a:srgbClr val="333333"/>
                </a:solidFill>
                <a:latin typeface="Calibri"/>
              </a:defRPr>
            </a:pPr>
            <a:r>
              <a:t>3. Un banco quiere un registro inmutable de sus transacciones internas</a:t>
            </a:r>
          </a:p>
          <a:p>
            <a:pPr>
              <a:spcAft>
                <a:spcPts val="1600"/>
              </a:spcAft>
              <a:defRPr sz="2200">
                <a:solidFill>
                  <a:srgbClr val="333333"/>
                </a:solidFill>
                <a:latin typeface="Calibri"/>
              </a:defRPr>
            </a:pPr>
            <a:r>
              <a:t>4. Diez bancos quieren un sistema de liquidacion interbancaria sin intermediario</a:t>
            </a:r>
          </a:p>
          <a:p>
            <a:pPr>
              <a:spcAft>
                <a:spcPts val="1600"/>
              </a:spcAft>
              <a:defRPr sz="2200">
                <a:solidFill>
                  <a:srgbClr val="333333"/>
                </a:solidFill>
                <a:latin typeface="Calibri"/>
              </a:defRPr>
            </a:pPr>
            <a:r>
              <a:t>5. Una empresa quiere rastrear sus envios internos entre almacenes</a:t>
            </a:r>
          </a:p>
          <a:p>
            <a:pPr>
              <a:spcAft>
                <a:spcPts val="1600"/>
              </a:spcAft>
              <a:defRPr sz="2200">
                <a:solidFill>
                  <a:srgbClr val="333333"/>
                </a:solidFill>
                <a:latin typeface="Calibri"/>
              </a:defRPr>
            </a:pPr>
            <a:r>
              <a:t>6. Un consorcio de 50 productores quiere certificar el origen de sus productos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Respuestas al debate: ¿blockchain o BD?</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280160"/>
            <a:ext cx="10515600" cy="5029200"/>
          </a:xfrm>
          <a:prstGeom prst="rect">
            <a:avLst/>
          </a:prstGeom>
          <a:noFill/>
        </p:spPr>
        <p:txBody>
          <a:bodyPr wrap="square">
            <a:spAutoFit/>
          </a:bodyPr>
          <a:lstStyle/>
          <a:p>
            <a:pPr>
              <a:spcAft>
                <a:spcPts val="800"/>
              </a:spcAft>
              <a:defRPr sz="2000">
                <a:solidFill>
                  <a:srgbClr val="333333"/>
                </a:solidFill>
                <a:latin typeface="Calibri"/>
              </a:defRPr>
            </a:pPr>
            <a:r>
              <a:t>1. Hospital registra historiales de sus pacientes:</a:t>
            </a:r>
          </a:p>
          <a:p>
            <a:pPr lvl="1">
              <a:spcAft>
                <a:spcPts val="400"/>
              </a:spcAft>
              <a:defRPr sz="1700">
                <a:solidFill>
                  <a:srgbClr val="666666"/>
                </a:solidFill>
                <a:latin typeface="Calibri"/>
              </a:defRPr>
            </a:pPr>
            <a:r>
              <a:t>    BD tradicional. Un solo actor, sin necesidad de compartir. Blockchain seria over-engineering.</a:t>
            </a:r>
          </a:p>
          <a:p>
            <a:pPr>
              <a:spcAft>
                <a:spcPts val="800"/>
              </a:spcAft>
              <a:defRPr sz="2000">
                <a:solidFill>
                  <a:srgbClr val="333333"/>
                </a:solidFill>
                <a:latin typeface="Calibri"/>
              </a:defRPr>
            </a:pPr>
            <a:r>
              <a:t>2. Tres hospitales comparten historiales de pacientes compartidos:</a:t>
            </a:r>
          </a:p>
          <a:p>
            <a:pPr lvl="1">
              <a:spcAft>
                <a:spcPts val="400"/>
              </a:spcAft>
              <a:defRPr sz="1700">
                <a:solidFill>
                  <a:srgbClr val="666666"/>
                </a:solidFill>
                <a:latin typeface="Calibri"/>
              </a:defRPr>
            </a:pPr>
            <a:r>
              <a:t>    Blockchain. Multiples orgs, datos compartidos, trazabilidad necesaria.</a:t>
            </a:r>
          </a:p>
          <a:p>
            <a:pPr lvl="1">
              <a:spcAft>
                <a:spcPts val="400"/>
              </a:spcAft>
              <a:defRPr sz="1700">
                <a:solidFill>
                  <a:srgbClr val="666666"/>
                </a:solidFill>
                <a:latin typeface="Calibri"/>
              </a:defRPr>
            </a:pPr>
            <a:r>
              <a:t>    Requiere diseño con Private Data para proteger datos personales (GDPR).</a:t>
            </a:r>
          </a:p>
          <a:p>
            <a:pPr>
              <a:spcAft>
                <a:spcPts val="800"/>
              </a:spcAft>
              <a:defRPr sz="2000">
                <a:solidFill>
                  <a:srgbClr val="333333"/>
                </a:solidFill>
                <a:latin typeface="Calibri"/>
              </a:defRPr>
            </a:pPr>
            <a:r>
              <a:t>3. Banco registra sus transacciones internas:</a:t>
            </a:r>
          </a:p>
          <a:p>
            <a:pPr lvl="1">
              <a:spcAft>
                <a:spcPts val="400"/>
              </a:spcAft>
              <a:defRPr sz="1700">
                <a:solidFill>
                  <a:srgbClr val="666666"/>
                </a:solidFill>
                <a:latin typeface="Calibri"/>
              </a:defRPr>
            </a:pPr>
            <a:r>
              <a:t>    BD tradicional. Un solo actor; si necesita auditoria, append-only DB o WORM storage.</a:t>
            </a:r>
          </a:p>
          <a:p>
            <a:pPr>
              <a:spcAft>
                <a:spcPts val="800"/>
              </a:spcAft>
              <a:defRPr sz="2000">
                <a:solidFill>
                  <a:srgbClr val="333333"/>
                </a:solidFill>
                <a:latin typeface="Calibri"/>
              </a:defRPr>
            </a:pPr>
            <a:r>
              <a:t>4. Diez bancos: liquidacion interbancaria sin intermediario:</a:t>
            </a:r>
          </a:p>
          <a:p>
            <a:pPr lvl="1">
              <a:spcAft>
                <a:spcPts val="400"/>
              </a:spcAft>
              <a:defRPr sz="1700">
                <a:solidFill>
                  <a:srgbClr val="666666"/>
                </a:solidFill>
                <a:latin typeface="Calibri"/>
              </a:defRPr>
            </a:pPr>
            <a:r>
              <a:t>    Blockchain. Caso arquetipico (ver HKMA eTradeConnect). Evita intermediario y detecta fraude.</a:t>
            </a:r>
          </a:p>
          <a:p>
            <a:pPr>
              <a:spcAft>
                <a:spcPts val="800"/>
              </a:spcAft>
              <a:defRPr sz="2000">
                <a:solidFill>
                  <a:srgbClr val="333333"/>
                </a:solidFill>
                <a:latin typeface="Calibri"/>
              </a:defRPr>
            </a:pPr>
            <a:r>
              <a:t>5. Empresa rastrea envios internos entre almacenes:</a:t>
            </a:r>
          </a:p>
          <a:p>
            <a:pPr lvl="1">
              <a:spcAft>
                <a:spcPts val="400"/>
              </a:spcAft>
              <a:defRPr sz="1700">
                <a:solidFill>
                  <a:srgbClr val="666666"/>
                </a:solidFill>
                <a:latin typeface="Calibri"/>
              </a:defRPr>
            </a:pPr>
            <a:r>
              <a:t>    BD tradicional o ERP. Un solo actor — no hay problema de confianza.</a:t>
            </a:r>
          </a:p>
          <a:p>
            <a:pPr>
              <a:spcAft>
                <a:spcPts val="800"/>
              </a:spcAft>
              <a:defRPr sz="2000">
                <a:solidFill>
                  <a:srgbClr val="333333"/>
                </a:solidFill>
                <a:latin typeface="Calibri"/>
              </a:defRPr>
            </a:pPr>
            <a:r>
              <a:t>6. Consorcio de 50 productores certifica origen:</a:t>
            </a:r>
          </a:p>
          <a:p>
            <a:pPr lvl="1">
              <a:spcAft>
                <a:spcPts val="400"/>
              </a:spcAft>
              <a:defRPr sz="1700">
                <a:solidFill>
                  <a:srgbClr val="666666"/>
                </a:solidFill>
                <a:latin typeface="Calibri"/>
              </a:defRPr>
            </a:pPr>
            <a:r>
              <a:t>    Blockchain. Multiples orgs, desconfianza posible, certificacion verificable.</a:t>
            </a:r>
          </a:p>
          <a:p>
            <a:pPr lvl="1">
              <a:spcAft>
                <a:spcPts val="400"/>
              </a:spcAft>
              <a:defRPr sz="1700">
                <a:solidFill>
                  <a:srgbClr val="666666"/>
                </a:solidFill>
                <a:latin typeface="Calibri"/>
              </a:defRPr>
            </a:pPr>
            <a:r>
              <a:t>    Ver caso Walmart Food Trust.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600" b="1">
                <a:solidFill>
                  <a:srgbClr val="FFFFFF"/>
                </a:solidFill>
                <a:latin typeface="Calibri"/>
              </a:defRPr>
            </a:pPr>
            <a:r>
              <a:t>Repaso del dia</a:t>
            </a:r>
          </a:p>
        </p:txBody>
      </p:sp>
      <p:sp>
        <p:nvSpPr>
          <p:cNvPr id="4" name="Rectangle 3"/>
          <p:cNvSpPr/>
          <p:nvPr/>
        </p:nvSpPr>
        <p:spPr>
          <a:xfrm>
            <a:off x="457200" y="1051560"/>
            <a:ext cx="10972800" cy="27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371600"/>
            <a:ext cx="10515600" cy="5029200"/>
          </a:xfrm>
          <a:prstGeom prst="rect">
            <a:avLst/>
          </a:prstGeom>
          <a:noFill/>
        </p:spPr>
        <p:txBody>
          <a:bodyPr wrap="square">
            <a:spAutoFit/>
          </a:bodyPr>
          <a:lstStyle/>
          <a:p>
            <a:pPr>
              <a:spcAft>
                <a:spcPts val="1000"/>
              </a:spcAft>
              <a:defRPr sz="2000">
                <a:solidFill>
                  <a:srgbClr val="FFFFFF"/>
                </a:solidFill>
                <a:latin typeface="Calibri"/>
              </a:defRPr>
            </a:pPr>
            <a:r>
              <a:rPr dirty="0"/>
              <a:t>1. </a:t>
            </a:r>
            <a:r>
              <a:rPr dirty="0" err="1"/>
              <a:t>Nombra</a:t>
            </a:r>
            <a:r>
              <a:rPr dirty="0"/>
              <a:t> 3 </a:t>
            </a:r>
            <a:r>
              <a:rPr dirty="0" err="1"/>
              <a:t>proyectos</a:t>
            </a:r>
            <a:r>
              <a:rPr dirty="0"/>
              <a:t> blockchain enterprise </a:t>
            </a:r>
            <a:r>
              <a:rPr dirty="0" err="1"/>
              <a:t>que</a:t>
            </a:r>
            <a:r>
              <a:rPr dirty="0"/>
              <a:t> </a:t>
            </a:r>
            <a:r>
              <a:rPr dirty="0" err="1"/>
              <a:t>funcionan</a:t>
            </a:r>
            <a:r>
              <a:rPr dirty="0"/>
              <a:t> </a:t>
            </a:r>
            <a:r>
              <a:rPr dirty="0" err="1"/>
              <a:t>en</a:t>
            </a:r>
            <a:r>
              <a:rPr dirty="0"/>
              <a:t> </a:t>
            </a:r>
            <a:r>
              <a:rPr dirty="0" err="1"/>
              <a:t>produccion</a:t>
            </a:r>
            <a:endParaRPr dirty="0"/>
          </a:p>
          <a:p>
            <a:pPr>
              <a:spcAft>
                <a:spcPts val="1000"/>
              </a:spcAft>
              <a:defRPr sz="2000">
                <a:solidFill>
                  <a:srgbClr val="FFFFFF"/>
                </a:solidFill>
                <a:latin typeface="Calibri"/>
              </a:defRPr>
            </a:pPr>
            <a:r>
              <a:rPr dirty="0"/>
              <a:t>2. </a:t>
            </a:r>
            <a:r>
              <a:rPr dirty="0" err="1"/>
              <a:t>Nombra</a:t>
            </a:r>
            <a:r>
              <a:rPr dirty="0"/>
              <a:t> 2 </a:t>
            </a:r>
            <a:r>
              <a:rPr dirty="0" err="1"/>
              <a:t>que</a:t>
            </a:r>
            <a:r>
              <a:rPr dirty="0"/>
              <a:t> </a:t>
            </a:r>
            <a:r>
              <a:rPr dirty="0" err="1"/>
              <a:t>fracasaron</a:t>
            </a:r>
            <a:r>
              <a:rPr dirty="0"/>
              <a:t> y la razon principal de </a:t>
            </a:r>
            <a:r>
              <a:rPr dirty="0" err="1"/>
              <a:t>cada</a:t>
            </a:r>
            <a:r>
              <a:rPr dirty="0"/>
              <a:t> uno</a:t>
            </a:r>
          </a:p>
          <a:p>
            <a:pPr>
              <a:spcAft>
                <a:spcPts val="1000"/>
              </a:spcAft>
              <a:defRPr sz="2000">
                <a:solidFill>
                  <a:srgbClr val="FFFFFF"/>
                </a:solidFill>
                <a:latin typeface="Calibri"/>
              </a:defRPr>
            </a:pPr>
            <a:r>
              <a:rPr dirty="0"/>
              <a:t>3. ¿</a:t>
            </a:r>
            <a:r>
              <a:rPr dirty="0" err="1"/>
              <a:t>Cuales</a:t>
            </a:r>
            <a:r>
              <a:rPr dirty="0"/>
              <a:t> son las 5 </a:t>
            </a:r>
            <a:r>
              <a:rPr dirty="0" err="1"/>
              <a:t>preguntas</a:t>
            </a:r>
            <a:r>
              <a:rPr dirty="0"/>
              <a:t> del arbol de decision para saber </a:t>
            </a:r>
            <a:r>
              <a:rPr dirty="0" err="1"/>
              <a:t>si</a:t>
            </a:r>
            <a:r>
              <a:rPr dirty="0"/>
              <a:t> </a:t>
            </a:r>
            <a:r>
              <a:rPr dirty="0" err="1"/>
              <a:t>necesitas</a:t>
            </a:r>
            <a:r>
              <a:rPr dirty="0"/>
              <a:t> blockchain?</a:t>
            </a:r>
          </a:p>
          <a:p>
            <a:pPr>
              <a:spcAft>
                <a:spcPts val="1000"/>
              </a:spcAft>
              <a:defRPr sz="2000">
                <a:solidFill>
                  <a:srgbClr val="FFFFFF"/>
                </a:solidFill>
                <a:latin typeface="Calibri"/>
              </a:defRPr>
            </a:pPr>
            <a:r>
              <a:rPr dirty="0"/>
              <a:t>4. ¿</a:t>
            </a:r>
            <a:r>
              <a:rPr dirty="0" err="1"/>
              <a:t>Que</a:t>
            </a:r>
            <a:r>
              <a:rPr dirty="0"/>
              <a:t> </a:t>
            </a:r>
            <a:r>
              <a:rPr dirty="0" err="1"/>
              <a:t>significa</a:t>
            </a:r>
            <a:r>
              <a:rPr dirty="0"/>
              <a:t> </a:t>
            </a:r>
            <a:r>
              <a:rPr dirty="0" err="1"/>
              <a:t>el</a:t>
            </a:r>
            <a:r>
              <a:rPr dirty="0"/>
              <a:t> '</a:t>
            </a:r>
            <a:r>
              <a:rPr dirty="0" err="1"/>
              <a:t>problema</a:t>
            </a:r>
            <a:r>
              <a:rPr dirty="0"/>
              <a:t> del </a:t>
            </a:r>
            <a:r>
              <a:rPr dirty="0" err="1"/>
              <a:t>fundador</a:t>
            </a:r>
            <a:r>
              <a:rPr dirty="0"/>
              <a:t> </a:t>
            </a:r>
            <a:r>
              <a:rPr dirty="0" err="1"/>
              <a:t>dominante</a:t>
            </a:r>
            <a:r>
              <a:rPr dirty="0"/>
              <a:t>'?</a:t>
            </a:r>
          </a:p>
          <a:p>
            <a:pPr>
              <a:spcAft>
                <a:spcPts val="1000"/>
              </a:spcAft>
              <a:defRPr sz="2000">
                <a:solidFill>
                  <a:srgbClr val="FFFFFF"/>
                </a:solidFill>
                <a:latin typeface="Calibri"/>
              </a:defRPr>
            </a:pPr>
            <a:r>
              <a:rPr dirty="0"/>
              <a:t>5. ¿Por </a:t>
            </a:r>
            <a:r>
              <a:rPr dirty="0" err="1"/>
              <a:t>que</a:t>
            </a:r>
            <a:r>
              <a:rPr dirty="0"/>
              <a:t> </a:t>
            </a:r>
            <a:r>
              <a:rPr dirty="0" err="1"/>
              <a:t>el</a:t>
            </a:r>
            <a:r>
              <a:rPr dirty="0"/>
              <a:t> </a:t>
            </a:r>
            <a:r>
              <a:rPr dirty="0" err="1"/>
              <a:t>respaldo</a:t>
            </a:r>
            <a:r>
              <a:rPr dirty="0"/>
              <a:t> del </a:t>
            </a:r>
            <a:r>
              <a:rPr dirty="0" err="1"/>
              <a:t>regulador</a:t>
            </a:r>
            <a:r>
              <a:rPr dirty="0"/>
              <a:t> es un factor clave de </a:t>
            </a:r>
            <a:r>
              <a:rPr dirty="0" err="1"/>
              <a:t>exito</a:t>
            </a:r>
            <a:r>
              <a:rPr dirty="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Respuestas al repaso</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124712"/>
            <a:ext cx="10515600" cy="4431983"/>
          </a:xfrm>
          <a:prstGeom prst="rect">
            <a:avLst/>
          </a:prstGeom>
          <a:noFill/>
        </p:spPr>
        <p:txBody>
          <a:bodyPr wrap="square">
            <a:spAutoFit/>
          </a:bodyPr>
          <a:lstStyle/>
          <a:p>
            <a:pPr>
              <a:spcAft>
                <a:spcPts val="800"/>
              </a:spcAft>
              <a:defRPr sz="2000">
                <a:solidFill>
                  <a:srgbClr val="333333"/>
                </a:solidFill>
                <a:latin typeface="Calibri"/>
              </a:defRPr>
            </a:pPr>
            <a:r>
              <a:rPr sz="2400" dirty="0"/>
              <a:t>1. Tres </a:t>
            </a:r>
            <a:r>
              <a:rPr sz="2400" dirty="0" err="1"/>
              <a:t>proyectos</a:t>
            </a:r>
            <a:r>
              <a:rPr sz="2400" dirty="0"/>
              <a:t> </a:t>
            </a:r>
            <a:r>
              <a:rPr sz="2400" dirty="0" err="1"/>
              <a:t>en</a:t>
            </a:r>
            <a:r>
              <a:rPr sz="2400" dirty="0"/>
              <a:t> </a:t>
            </a:r>
            <a:r>
              <a:rPr sz="2400" dirty="0" err="1"/>
              <a:t>produccion</a:t>
            </a:r>
            <a:r>
              <a:rPr sz="2400" dirty="0"/>
              <a:t>:</a:t>
            </a:r>
          </a:p>
          <a:p>
            <a:pPr lvl="1">
              <a:spcAft>
                <a:spcPts val="400"/>
              </a:spcAft>
              <a:defRPr sz="1700">
                <a:solidFill>
                  <a:srgbClr val="666666"/>
                </a:solidFill>
                <a:latin typeface="Calibri"/>
              </a:defRPr>
            </a:pPr>
            <a:r>
              <a:rPr sz="1600" dirty="0"/>
              <a:t>    Walmart Food Trust (</a:t>
            </a:r>
            <a:r>
              <a:rPr sz="1600" dirty="0" err="1"/>
              <a:t>trazabilidad</a:t>
            </a:r>
            <a:r>
              <a:rPr sz="1600" dirty="0"/>
              <a:t> alimentaria).</a:t>
            </a:r>
          </a:p>
          <a:p>
            <a:pPr lvl="1">
              <a:spcAft>
                <a:spcPts val="400"/>
              </a:spcAft>
              <a:defRPr sz="1700">
                <a:solidFill>
                  <a:srgbClr val="666666"/>
                </a:solidFill>
                <a:latin typeface="Calibri"/>
              </a:defRPr>
            </a:pPr>
            <a:r>
              <a:rPr sz="1600" dirty="0"/>
              <a:t>    HKMA </a:t>
            </a:r>
            <a:r>
              <a:rPr sz="1600" dirty="0" err="1"/>
              <a:t>eTradeConnect</a:t>
            </a:r>
            <a:r>
              <a:rPr sz="1600" dirty="0"/>
              <a:t> (trade finance </a:t>
            </a:r>
            <a:r>
              <a:rPr sz="1600" dirty="0" err="1"/>
              <a:t>bancos</a:t>
            </a:r>
            <a:r>
              <a:rPr sz="1600" dirty="0"/>
              <a:t> Hong Kong).</a:t>
            </a:r>
          </a:p>
          <a:p>
            <a:pPr lvl="1">
              <a:spcAft>
                <a:spcPts val="400"/>
              </a:spcAft>
              <a:defRPr sz="1700">
                <a:solidFill>
                  <a:srgbClr val="666666"/>
                </a:solidFill>
                <a:latin typeface="Calibri"/>
              </a:defRPr>
            </a:pPr>
            <a:r>
              <a:rPr sz="1600" dirty="0"/>
              <a:t>    ANZ + </a:t>
            </a:r>
            <a:r>
              <a:rPr sz="1600" dirty="0" err="1"/>
              <a:t>Scentre</a:t>
            </a:r>
            <a:r>
              <a:rPr sz="1600" dirty="0"/>
              <a:t> Group (</a:t>
            </a:r>
            <a:r>
              <a:rPr sz="1600" dirty="0" err="1"/>
              <a:t>tokenizacion</a:t>
            </a:r>
            <a:r>
              <a:rPr sz="1600" dirty="0"/>
              <a:t> de </a:t>
            </a:r>
            <a:r>
              <a:rPr sz="1600" dirty="0" err="1"/>
              <a:t>alquileres</a:t>
            </a:r>
            <a:r>
              <a:rPr sz="1600" dirty="0"/>
              <a:t> </a:t>
            </a:r>
            <a:r>
              <a:rPr sz="1600" dirty="0" err="1"/>
              <a:t>comerciales</a:t>
            </a:r>
            <a:r>
              <a:rPr sz="1600" dirty="0"/>
              <a:t>).</a:t>
            </a:r>
          </a:p>
          <a:p>
            <a:pPr>
              <a:spcAft>
                <a:spcPts val="800"/>
              </a:spcAft>
              <a:defRPr sz="2000">
                <a:solidFill>
                  <a:srgbClr val="333333"/>
                </a:solidFill>
                <a:latin typeface="Calibri"/>
              </a:defRPr>
            </a:pPr>
            <a:r>
              <a:rPr sz="2400" dirty="0"/>
              <a:t>2. Dos </a:t>
            </a:r>
            <a:r>
              <a:rPr sz="2400" dirty="0" err="1"/>
              <a:t>fracasos</a:t>
            </a:r>
            <a:r>
              <a:rPr sz="2400" dirty="0"/>
              <a:t> y </a:t>
            </a:r>
            <a:r>
              <a:rPr sz="2400" dirty="0" err="1"/>
              <a:t>su</a:t>
            </a:r>
            <a:r>
              <a:rPr sz="2400" dirty="0"/>
              <a:t> razon:</a:t>
            </a:r>
          </a:p>
          <a:p>
            <a:pPr lvl="1">
              <a:spcAft>
                <a:spcPts val="400"/>
              </a:spcAft>
              <a:defRPr sz="1700">
                <a:solidFill>
                  <a:srgbClr val="666666"/>
                </a:solidFill>
                <a:latin typeface="Calibri"/>
              </a:defRPr>
            </a:pPr>
            <a:r>
              <a:rPr sz="1600" dirty="0"/>
              <a:t>    </a:t>
            </a:r>
            <a:r>
              <a:rPr sz="1600" dirty="0" err="1"/>
              <a:t>TradeLens</a:t>
            </a:r>
            <a:r>
              <a:rPr sz="1600" dirty="0"/>
              <a:t> (</a:t>
            </a:r>
            <a:r>
              <a:rPr sz="1600" dirty="0" err="1"/>
              <a:t>Maersk+IBM</a:t>
            </a:r>
            <a:r>
              <a:rPr sz="1600" dirty="0"/>
              <a:t>) — </a:t>
            </a:r>
            <a:r>
              <a:rPr sz="1600" dirty="0" err="1"/>
              <a:t>gobernanza</a:t>
            </a:r>
            <a:r>
              <a:rPr sz="1600" dirty="0"/>
              <a:t>: </a:t>
            </a:r>
            <a:r>
              <a:rPr sz="1600" dirty="0" err="1"/>
              <a:t>fundador</a:t>
            </a:r>
            <a:r>
              <a:rPr sz="1600" dirty="0"/>
              <a:t> </a:t>
            </a:r>
            <a:r>
              <a:rPr sz="1600" dirty="0" err="1"/>
              <a:t>dominante</a:t>
            </a:r>
            <a:r>
              <a:rPr sz="1600" dirty="0"/>
              <a:t> </a:t>
            </a:r>
            <a:r>
              <a:rPr sz="1600" dirty="0" err="1"/>
              <a:t>ahuyento</a:t>
            </a:r>
            <a:r>
              <a:rPr sz="1600" dirty="0"/>
              <a:t> </a:t>
            </a:r>
            <a:r>
              <a:rPr sz="1600" dirty="0" err="1"/>
              <a:t>competidores</a:t>
            </a:r>
            <a:r>
              <a:rPr sz="1600" dirty="0"/>
              <a:t>.</a:t>
            </a:r>
          </a:p>
          <a:p>
            <a:pPr lvl="1">
              <a:spcAft>
                <a:spcPts val="400"/>
              </a:spcAft>
              <a:defRPr sz="1700">
                <a:solidFill>
                  <a:srgbClr val="666666"/>
                </a:solidFill>
                <a:latin typeface="Calibri"/>
              </a:defRPr>
            </a:pPr>
            <a:r>
              <a:rPr sz="1600" dirty="0"/>
              <a:t>    B3i (</a:t>
            </a:r>
            <a:r>
              <a:rPr sz="1600" dirty="0" err="1"/>
              <a:t>reaseguros</a:t>
            </a:r>
            <a:r>
              <a:rPr sz="1600" dirty="0"/>
              <a:t>) — </a:t>
            </a:r>
            <a:r>
              <a:rPr sz="1600" dirty="0" err="1"/>
              <a:t>modelo</a:t>
            </a:r>
            <a:r>
              <a:rPr sz="1600" dirty="0"/>
              <a:t> de </a:t>
            </a:r>
            <a:r>
              <a:rPr sz="1600" dirty="0" err="1"/>
              <a:t>negocio</a:t>
            </a:r>
            <a:r>
              <a:rPr sz="1600" dirty="0"/>
              <a:t>: sin </a:t>
            </a:r>
            <a:r>
              <a:rPr sz="1600" dirty="0" err="1"/>
              <a:t>ingresos</a:t>
            </a:r>
            <a:r>
              <a:rPr sz="1600" dirty="0"/>
              <a:t>, capital se </a:t>
            </a:r>
            <a:r>
              <a:rPr sz="1600" dirty="0" err="1"/>
              <a:t>agoto</a:t>
            </a:r>
            <a:r>
              <a:rPr sz="1600" dirty="0"/>
              <a:t>.</a:t>
            </a:r>
          </a:p>
          <a:p>
            <a:pPr>
              <a:spcAft>
                <a:spcPts val="800"/>
              </a:spcAft>
              <a:defRPr sz="2000">
                <a:solidFill>
                  <a:srgbClr val="333333"/>
                </a:solidFill>
                <a:latin typeface="Calibri"/>
              </a:defRPr>
            </a:pPr>
            <a:r>
              <a:rPr sz="2400" dirty="0"/>
              <a:t>3. Arbol de decision (5 </a:t>
            </a:r>
            <a:r>
              <a:rPr sz="2400" dirty="0" err="1"/>
              <a:t>preguntas</a:t>
            </a:r>
            <a:r>
              <a:rPr sz="2400" dirty="0"/>
              <a:t>):</a:t>
            </a:r>
          </a:p>
          <a:p>
            <a:pPr lvl="1">
              <a:spcAft>
                <a:spcPts val="400"/>
              </a:spcAft>
              <a:defRPr sz="1700">
                <a:solidFill>
                  <a:srgbClr val="666666"/>
                </a:solidFill>
                <a:latin typeface="Calibri"/>
              </a:defRPr>
            </a:pPr>
            <a:r>
              <a:rPr sz="1600" dirty="0"/>
              <a:t>    ¿Multiples partes sin confianza </a:t>
            </a:r>
            <a:r>
              <a:rPr sz="1600" dirty="0" err="1"/>
              <a:t>mutua</a:t>
            </a:r>
            <a:r>
              <a:rPr sz="1600" dirty="0"/>
              <a:t>?</a:t>
            </a:r>
          </a:p>
          <a:p>
            <a:pPr lvl="1">
              <a:spcAft>
                <a:spcPts val="400"/>
              </a:spcAft>
              <a:defRPr sz="1700">
                <a:solidFill>
                  <a:srgbClr val="666666"/>
                </a:solidFill>
                <a:latin typeface="Calibri"/>
              </a:defRPr>
            </a:pPr>
            <a:r>
              <a:rPr sz="1600" dirty="0"/>
              <a:t>    ¿</a:t>
            </a:r>
            <a:r>
              <a:rPr sz="1600" dirty="0" err="1"/>
              <a:t>Necesitan</a:t>
            </a:r>
            <a:r>
              <a:rPr sz="1600" dirty="0"/>
              <a:t> </a:t>
            </a:r>
            <a:r>
              <a:rPr sz="1600" dirty="0" err="1"/>
              <a:t>compartir</a:t>
            </a:r>
            <a:r>
              <a:rPr sz="1600" dirty="0"/>
              <a:t> </a:t>
            </a:r>
            <a:r>
              <a:rPr sz="1600" dirty="0" err="1"/>
              <a:t>datos</a:t>
            </a:r>
            <a:r>
              <a:rPr sz="1600" dirty="0"/>
              <a:t>?</a:t>
            </a:r>
          </a:p>
          <a:p>
            <a:pPr lvl="1">
              <a:spcAft>
                <a:spcPts val="400"/>
              </a:spcAft>
              <a:defRPr sz="1700">
                <a:solidFill>
                  <a:srgbClr val="666666"/>
                </a:solidFill>
                <a:latin typeface="Calibri"/>
              </a:defRPr>
            </a:pPr>
            <a:r>
              <a:rPr sz="1600" dirty="0"/>
              <a:t>    ¿</a:t>
            </a:r>
            <a:r>
              <a:rPr sz="1600" dirty="0" err="1"/>
              <a:t>Inmutabilidad</a:t>
            </a:r>
            <a:r>
              <a:rPr sz="1600" dirty="0"/>
              <a:t> del </a:t>
            </a:r>
            <a:r>
              <a:rPr sz="1600" dirty="0" err="1"/>
              <a:t>registro</a:t>
            </a:r>
            <a:r>
              <a:rPr sz="1600" dirty="0"/>
              <a:t> es </a:t>
            </a:r>
            <a:r>
              <a:rPr sz="1600" dirty="0" err="1"/>
              <a:t>critica</a:t>
            </a:r>
            <a:r>
              <a:rPr sz="1600" dirty="0"/>
              <a:t>?</a:t>
            </a:r>
          </a:p>
          <a:p>
            <a:pPr lvl="1">
              <a:spcAft>
                <a:spcPts val="400"/>
              </a:spcAft>
              <a:defRPr sz="1700">
                <a:solidFill>
                  <a:srgbClr val="666666"/>
                </a:solidFill>
                <a:latin typeface="Calibri"/>
              </a:defRPr>
            </a:pPr>
            <a:r>
              <a:rPr sz="1600" dirty="0"/>
              <a:t>    ¿Reglas </a:t>
            </a:r>
            <a:r>
              <a:rPr sz="1600" dirty="0" err="1"/>
              <a:t>deben</a:t>
            </a:r>
            <a:r>
              <a:rPr sz="1600" dirty="0"/>
              <a:t> ser </a:t>
            </a:r>
            <a:r>
              <a:rPr sz="1600" dirty="0" err="1"/>
              <a:t>verificables</a:t>
            </a:r>
            <a:r>
              <a:rPr sz="1600" dirty="0"/>
              <a:t> </a:t>
            </a:r>
            <a:r>
              <a:rPr sz="1600" dirty="0" err="1"/>
              <a:t>por</a:t>
            </a:r>
            <a:r>
              <a:rPr sz="1600" dirty="0"/>
              <a:t> </a:t>
            </a:r>
            <a:r>
              <a:rPr sz="1600" dirty="0" err="1"/>
              <a:t>todos</a:t>
            </a:r>
            <a:r>
              <a:rPr sz="1600" dirty="0"/>
              <a:t>?</a:t>
            </a:r>
          </a:p>
          <a:p>
            <a:pPr lvl="1">
              <a:spcAft>
                <a:spcPts val="400"/>
              </a:spcAft>
              <a:defRPr sz="1700">
                <a:solidFill>
                  <a:srgbClr val="666666"/>
                </a:solidFill>
                <a:latin typeface="Calibri"/>
              </a:defRPr>
            </a:pPr>
            <a:r>
              <a:rPr sz="1600" dirty="0"/>
              <a:t>    ¿</a:t>
            </a:r>
            <a:r>
              <a:rPr sz="1600" dirty="0" err="1"/>
              <a:t>Ningun</a:t>
            </a:r>
            <a:r>
              <a:rPr sz="1600" dirty="0"/>
              <a:t> actor </a:t>
            </a:r>
            <a:r>
              <a:rPr sz="1600" dirty="0" err="1"/>
              <a:t>puede</a:t>
            </a:r>
            <a:r>
              <a:rPr sz="1600" dirty="0"/>
              <a:t> ser </a:t>
            </a:r>
            <a:r>
              <a:rPr sz="1600" dirty="0" err="1"/>
              <a:t>el</a:t>
            </a:r>
            <a:r>
              <a:rPr sz="1600" dirty="0"/>
              <a:t> '</a:t>
            </a:r>
            <a:r>
              <a:rPr sz="1600" dirty="0" err="1"/>
              <a:t>dueno</a:t>
            </a:r>
            <a:r>
              <a:rPr sz="1600" dirty="0"/>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6A155-7B0C-7B42-956E-E68C7BE2FB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1C2DB3A-6C41-EF64-67BE-5C43E0000414}"/>
              </a:ext>
            </a:extLst>
          </p:cNvPr>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A95252F-3125-8D66-BE6E-644DD5794F18}"/>
              </a:ext>
            </a:extLst>
          </p:cNvPr>
          <p:cNvSpPr txBox="1"/>
          <p:nvPr/>
        </p:nvSpPr>
        <p:spPr>
          <a:xfrm>
            <a:off x="457200" y="274320"/>
            <a:ext cx="10972800" cy="731520"/>
          </a:xfrm>
          <a:prstGeom prst="rect">
            <a:avLst/>
          </a:prstGeom>
          <a:noFill/>
        </p:spPr>
        <p:txBody>
          <a:bodyPr wrap="square"/>
          <a:lstStyle/>
          <a:p>
            <a:pPr algn="l">
              <a:defRPr sz="3200" b="1">
                <a:solidFill>
                  <a:srgbClr val="22627E"/>
                </a:solidFill>
                <a:latin typeface="Calibri"/>
              </a:defRPr>
            </a:pPr>
            <a:r>
              <a:t>Respuestas al repaso</a:t>
            </a:r>
          </a:p>
        </p:txBody>
      </p:sp>
      <p:sp>
        <p:nvSpPr>
          <p:cNvPr id="4" name="Rectangle 3">
            <a:extLst>
              <a:ext uri="{FF2B5EF4-FFF2-40B4-BE49-F238E27FC236}">
                <a16:creationId xmlns:a16="http://schemas.microsoft.com/office/drawing/2014/main" id="{852B9E22-7800-BF5C-2A7F-413041C5B86B}"/>
              </a:ext>
            </a:extLst>
          </p:cNvPr>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EADB09D-5104-FFAE-90E6-6C64F823F7F8}"/>
              </a:ext>
            </a:extLst>
          </p:cNvPr>
          <p:cNvSpPr txBox="1"/>
          <p:nvPr/>
        </p:nvSpPr>
        <p:spPr>
          <a:xfrm>
            <a:off x="640080" y="1124712"/>
            <a:ext cx="10515600" cy="2769989"/>
          </a:xfrm>
          <a:prstGeom prst="rect">
            <a:avLst/>
          </a:prstGeom>
          <a:noFill/>
        </p:spPr>
        <p:txBody>
          <a:bodyPr wrap="square">
            <a:spAutoFit/>
          </a:bodyPr>
          <a:lstStyle/>
          <a:p>
            <a:pPr>
              <a:spcAft>
                <a:spcPts val="800"/>
              </a:spcAft>
              <a:defRPr sz="2000">
                <a:solidFill>
                  <a:srgbClr val="333333"/>
                </a:solidFill>
                <a:latin typeface="Calibri"/>
              </a:defRPr>
            </a:pPr>
            <a:r>
              <a:rPr sz="2400" dirty="0"/>
              <a:t>1. </a:t>
            </a:r>
            <a:r>
              <a:rPr lang="es-ES" sz="2400" dirty="0"/>
              <a:t>¿Que significa el 'problema del fundador dominante'?</a:t>
            </a:r>
            <a:r>
              <a:rPr sz="2400" dirty="0"/>
              <a:t>:</a:t>
            </a:r>
          </a:p>
          <a:p>
            <a:pPr lvl="1">
              <a:spcAft>
                <a:spcPts val="400"/>
              </a:spcAft>
              <a:defRPr sz="1700">
                <a:solidFill>
                  <a:srgbClr val="666666"/>
                </a:solidFill>
                <a:latin typeface="Calibri"/>
              </a:defRPr>
            </a:pPr>
            <a:r>
              <a:rPr sz="1600" dirty="0"/>
              <a:t>  </a:t>
            </a:r>
            <a:r>
              <a:rPr lang="es-ES" sz="1600" dirty="0"/>
              <a:t>Es la situación en la que una empresa lanza una red </a:t>
            </a:r>
            <a:r>
              <a:rPr lang="es-ES" sz="1600" dirty="0" err="1"/>
              <a:t>blockchain</a:t>
            </a:r>
            <a:r>
              <a:rPr lang="es-ES" sz="1600" dirty="0"/>
              <a:t> e invita a sus competidores a unirse, pero controla la</a:t>
            </a:r>
          </a:p>
          <a:p>
            <a:pPr lvl="1">
              <a:spcAft>
                <a:spcPts val="400"/>
              </a:spcAft>
              <a:defRPr sz="1700">
                <a:solidFill>
                  <a:srgbClr val="666666"/>
                </a:solidFill>
                <a:latin typeface="Calibri"/>
              </a:defRPr>
            </a:pPr>
            <a:r>
              <a:rPr lang="es-ES" sz="1600" dirty="0"/>
              <a:t>  plataforma. Resultado: los competidores desconfían y no participan, la red nunca alcanza masa crítica y fracasa aunque</a:t>
            </a:r>
          </a:p>
          <a:p>
            <a:pPr lvl="1">
              <a:spcAft>
                <a:spcPts val="400"/>
              </a:spcAft>
              <a:defRPr sz="1700">
                <a:solidFill>
                  <a:srgbClr val="666666"/>
                </a:solidFill>
                <a:latin typeface="Calibri"/>
              </a:defRPr>
            </a:pPr>
            <a:r>
              <a:rPr lang="es-ES" sz="1600" dirty="0"/>
              <a:t>   la tecnología funcione perfectamente.</a:t>
            </a:r>
          </a:p>
          <a:p>
            <a:pPr lvl="1">
              <a:spcAft>
                <a:spcPts val="400"/>
              </a:spcAft>
              <a:defRPr sz="1700">
                <a:solidFill>
                  <a:srgbClr val="666666"/>
                </a:solidFill>
                <a:latin typeface="Calibri"/>
              </a:defRPr>
            </a:pPr>
            <a:endParaRPr sz="1600" dirty="0"/>
          </a:p>
          <a:p>
            <a:pPr>
              <a:spcAft>
                <a:spcPts val="800"/>
              </a:spcAft>
              <a:defRPr sz="2000">
                <a:solidFill>
                  <a:srgbClr val="333333"/>
                </a:solidFill>
                <a:latin typeface="Calibri"/>
              </a:defRPr>
            </a:pPr>
            <a:r>
              <a:rPr sz="2400" dirty="0"/>
              <a:t>3. </a:t>
            </a:r>
            <a:r>
              <a:rPr lang="es-ES" sz="2400" dirty="0"/>
              <a:t>¿Por que el respaldo del regulador es un factor clave de </a:t>
            </a:r>
            <a:r>
              <a:rPr lang="es-ES" sz="2400" dirty="0" err="1"/>
              <a:t>exito</a:t>
            </a:r>
            <a:r>
              <a:rPr lang="es-ES" sz="2400" dirty="0"/>
              <a:t>?</a:t>
            </a:r>
            <a:r>
              <a:rPr sz="2400" dirty="0"/>
              <a:t>:</a:t>
            </a:r>
          </a:p>
          <a:p>
            <a:pPr lvl="1">
              <a:spcAft>
                <a:spcPts val="400"/>
              </a:spcAft>
              <a:defRPr sz="1700">
                <a:solidFill>
                  <a:srgbClr val="666666"/>
                </a:solidFill>
                <a:latin typeface="Calibri"/>
              </a:defRPr>
            </a:pPr>
            <a:r>
              <a:rPr sz="1600" dirty="0"/>
              <a:t>   </a:t>
            </a:r>
            <a:r>
              <a:rPr lang="es-ES" sz="1600" dirty="0" err="1"/>
              <a:t>Blockchain</a:t>
            </a:r>
            <a:r>
              <a:rPr lang="es-ES" sz="1600" dirty="0"/>
              <a:t> en entornos empresariales no compite con la ley: la necesita. El respaldo del regulador transforma un</a:t>
            </a:r>
          </a:p>
          <a:p>
            <a:pPr lvl="1">
              <a:spcAft>
                <a:spcPts val="400"/>
              </a:spcAft>
              <a:defRPr sz="1700">
                <a:solidFill>
                  <a:srgbClr val="666666"/>
                </a:solidFill>
                <a:latin typeface="Calibri"/>
              </a:defRPr>
            </a:pPr>
            <a:r>
              <a:rPr lang="es-ES" sz="1600" dirty="0"/>
              <a:t>  proyecto viable técnicamente en un proyecto viable realmente.</a:t>
            </a:r>
            <a:endParaRPr sz="1600" dirty="0"/>
          </a:p>
        </p:txBody>
      </p:sp>
    </p:spTree>
    <p:extLst>
      <p:ext uri="{BB962C8B-B14F-4D97-AF65-F5344CB8AC3E}">
        <p14:creationId xmlns:p14="http://schemas.microsoft.com/office/powerpoint/2010/main" val="14325651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0" y="6720840"/>
            <a:ext cx="12188952" cy="13716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57200" y="365760"/>
            <a:ext cx="10972800" cy="45720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1600" b="1">
                <a:solidFill>
                  <a:srgbClr val="22627E"/>
                </a:solidFill>
                <a:latin typeface="Calibri"/>
              </a:defRPr>
            </a:pPr>
            <a:r>
              <a:rPr kumimoji="0" sz="1600" b="1" i="0" u="none" strike="noStrike" kern="1200" cap="none" spc="0" normalizeH="0" baseline="0" noProof="0">
                <a:ln>
                  <a:noFill/>
                </a:ln>
                <a:solidFill>
                  <a:srgbClr val="22627E"/>
                </a:solidFill>
                <a:effectLst/>
                <a:uLnTx/>
                <a:uFillTx/>
                <a:latin typeface="Calibri"/>
                <a:ea typeface="+mn-ea"/>
                <a:cs typeface="+mn-cs"/>
              </a:rPr>
              <a:t>Modulo 3: Vision Empresarial</a:t>
            </a:r>
          </a:p>
        </p:txBody>
      </p:sp>
      <p:sp>
        <p:nvSpPr>
          <p:cNvPr id="5" name="TextBox 4"/>
          <p:cNvSpPr txBox="1"/>
          <p:nvPr/>
        </p:nvSpPr>
        <p:spPr>
          <a:xfrm>
            <a:off x="457200" y="1828800"/>
            <a:ext cx="10972800" cy="228600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5400" b="1">
                <a:solidFill>
                  <a:srgbClr val="22627E"/>
                </a:solidFill>
                <a:latin typeface="Calibri"/>
              </a:defRPr>
            </a:pPr>
            <a:r>
              <a:rPr kumimoji="0" sz="5400" b="1" i="0" u="none" strike="noStrike" kern="1200" cap="none" spc="0" normalizeH="0" baseline="0" noProof="0">
                <a:ln>
                  <a:noFill/>
                </a:ln>
                <a:solidFill>
                  <a:srgbClr val="22627E"/>
                </a:solidFill>
                <a:effectLst/>
                <a:uLnTx/>
                <a:uFillTx/>
                <a:latin typeface="Calibri"/>
                <a:ea typeface="+mn-ea"/>
                <a:cs typeface="+mn-cs"/>
              </a:rPr>
              <a:t>Identificar Oportunidades</a:t>
            </a:r>
            <a:br>
              <a:rPr kumimoji="0" sz="5400" b="1" i="0" u="none" strike="noStrike" kern="1200" cap="none" spc="0" normalizeH="0" baseline="0" noProof="0">
                <a:ln>
                  <a:noFill/>
                </a:ln>
                <a:solidFill>
                  <a:srgbClr val="22627E"/>
                </a:solidFill>
                <a:effectLst/>
                <a:uLnTx/>
                <a:uFillTx/>
                <a:latin typeface="Calibri"/>
                <a:ea typeface="+mn-ea"/>
                <a:cs typeface="+mn-cs"/>
              </a:rPr>
            </a:br>
            <a:r>
              <a:rPr kumimoji="0" sz="5400" b="1" i="0" u="none" strike="noStrike" kern="1200" cap="none" spc="0" normalizeH="0" baseline="0" noProof="0">
                <a:ln>
                  <a:noFill/>
                </a:ln>
                <a:solidFill>
                  <a:srgbClr val="22627E"/>
                </a:solidFill>
                <a:effectLst/>
                <a:uLnTx/>
                <a:uFillTx/>
                <a:latin typeface="Calibri"/>
                <a:ea typeface="+mn-ea"/>
                <a:cs typeface="+mn-cs"/>
              </a:rPr>
              <a:t>de Negocio</a:t>
            </a:r>
          </a:p>
        </p:txBody>
      </p:sp>
      <p:sp>
        <p:nvSpPr>
          <p:cNvPr id="6" name="TextBox 5"/>
          <p:cNvSpPr txBox="1"/>
          <p:nvPr/>
        </p:nvSpPr>
        <p:spPr>
          <a:xfrm>
            <a:off x="457200" y="4114800"/>
            <a:ext cx="10972800" cy="137160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b="0">
                <a:solidFill>
                  <a:srgbClr val="333333"/>
                </a:solidFill>
                <a:latin typeface="Calibri"/>
              </a:defRPr>
            </a:pPr>
            <a:r>
              <a:rPr kumimoji="0" sz="2400" b="0" i="0" u="none" strike="noStrike" kern="1200" cap="none" spc="0" normalizeH="0" baseline="0" noProof="0">
                <a:ln>
                  <a:noFill/>
                </a:ln>
                <a:solidFill>
                  <a:srgbClr val="333333"/>
                </a:solidFill>
                <a:effectLst/>
                <a:uLnTx/>
                <a:uFillTx/>
                <a:latin typeface="Calibri"/>
                <a:ea typeface="+mn-ea"/>
                <a:cs typeface="+mn-cs"/>
              </a:rPr>
              <a:t>Dia 2 - Cuando tiene sentido blockchain y como venderlo</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¿Cuando tiene sentido blockchain enterprise?</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Multiples organizaciones que necesitan compartir datos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Desconfianza mutua: ninguna quiere que otra controle la base de datos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Necesidad de trazabilidad inmutable (regulacion, auditoria, compliance)</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Reglas de negocio que deben ser verificables por todos los participantes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Transacciones entre partes que hoy requieren intermediarios costosos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Si se cumplen TODAS estas condiciones, blockchain aporta valor.</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Si falta alguna, probablemente hay una solucion mas sencilla.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¿Cuando NO tiene sentido?</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Un solo actor gestiona todos los datos (usa una base de datos)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Los datos no se comparten entre organizaciones (usa APIs)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El rendimiento es critico y necesitas miles de TPS con baja latencia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Los datos necesitan ser editables o borrables (GDPR, derecho al olvido)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No hay problema de confianza entre las partes (usa un SaaS compartido)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El coste de montar y mantener la red no compensa el beneficio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Blockchain NO es la solucion a todo. Saber cuando NO usarlo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es tan importante como saber cuando si.</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Oportunidades por sector</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Finanzas: liquidacion, trade finance, tokenizacion de activos, KYC compartido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Supply chain: trazabilidad, certificacion de origen, cold chain</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Salud: historiales compartidos, trazabilidad de farmacos, ensayos clinicos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Administracion publica: registro de propiedad, licitaciones, subvenciones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Energia: certificados de origen renovable, mercados P2P de energia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Seguros: reaseguros automatizados, gestion de siniestros multi-aseguradora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Educacion: titulos verificables, credenciales profesionales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Como presentar un proyecto blockchain al comite de direccion</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NO empieces por la tecnologia. Empieza por el problema de negocio: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1. ¿Cual es el problema? (coste, tiempo, fraude, desconfianza)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2. ¿Cuanto nos cuesta hoy? (euros, dias, riesgo)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3. ¿Por que las soluciones actuales no funcionan? (intermediarios, silos)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4. ¿Que propones? (consorcio + ledger compartido — sin decir 'blockchain' aun)</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5. ¿Con quien lo hariamos? (socios del consorcio)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6. ¿Cuanto cuesta y cuanto ahorra? (ROI, payback)</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7. ¿Que riesgos tiene? (y como los mitigamos)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Consejo: la palabra 'blockchain' genera ruido. Usa 'registro distribuido compartido'.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ROI y metricas: ¿como mides el exito?</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Metricas de eficiencia: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Tiempo de proceso: ¿cuanto se redujo? (ej: KYC de 2 semanas a 2 minutos)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Errores: ¿cuantos errores manuales se eliminaron?</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Intermediarios: ¿cuantos pasos/actores se eliminaron?</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Metricas de confianza: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Disputas: ¿cuantas disputas comerciales se evitaron?</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Auditoria: ¿cuanto tarda una auditoria ahora vs antes?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Fraude: ¿cuantos casos de fraude se detectaron/evitaron?</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Metricas de coste:</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Coste de infraestructura: ¿cuanto cuesta mantener la red?</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Coste de intermediarios eliminados: ¿cuanto ahorramos?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Payback: ¿en cuanto tiempo se recupera la inversion?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0D9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457200" y="274320"/>
            <a:ext cx="2286000" cy="457200"/>
          </a:xfrm>
          <a:prstGeom prst="rect">
            <a:avLst/>
          </a:prstGeom>
          <a:solidFill>
            <a:srgbClr val="0D9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57200" y="274320"/>
            <a:ext cx="2286000" cy="457200"/>
          </a:xfrm>
          <a:prstGeom prst="rect">
            <a:avLst/>
          </a:prstGeom>
          <a:noFill/>
        </p:spPr>
        <p:txBody>
          <a:bodyPr wrap="square"/>
          <a:lstStyle/>
          <a:p>
            <a:pPr marL="0" marR="0" lvl="0" indent="0" algn="ctr" defTabSz="457200" rtl="0" eaLnBrk="1" fontAlgn="auto" latinLnBrk="0" hangingPunct="1">
              <a:lnSpc>
                <a:spcPct val="100000"/>
              </a:lnSpc>
              <a:spcBef>
                <a:spcPts val="0"/>
              </a:spcBef>
              <a:spcAft>
                <a:spcPts val="0"/>
              </a:spcAft>
              <a:buClrTx/>
              <a:buSzTx/>
              <a:buFontTx/>
              <a:buNone/>
              <a:tabLst/>
              <a:defRPr sz="1800" b="1">
                <a:solidFill>
                  <a:srgbClr val="FFFFFF"/>
                </a:solidFill>
                <a:latin typeface="Calibri"/>
              </a:defRPr>
            </a:pPr>
            <a:r>
              <a:rPr kumimoji="0" sz="1800" b="1" i="0" u="none" strike="noStrike" kern="1200" cap="none" spc="0" normalizeH="0" baseline="0" noProof="0">
                <a:ln>
                  <a:noFill/>
                </a:ln>
                <a:solidFill>
                  <a:srgbClr val="FFFFFF"/>
                </a:solidFill>
                <a:effectLst/>
                <a:uLnTx/>
                <a:uFillTx/>
                <a:latin typeface="Calibri"/>
                <a:ea typeface="+mn-ea"/>
                <a:cs typeface="+mn-cs"/>
              </a:rPr>
              <a:t>ACTIVIDAD</a:t>
            </a:r>
          </a:p>
        </p:txBody>
      </p:sp>
      <p:sp>
        <p:nvSpPr>
          <p:cNvPr id="5" name="TextBox 4"/>
          <p:cNvSpPr txBox="1"/>
          <p:nvPr/>
        </p:nvSpPr>
        <p:spPr>
          <a:xfrm>
            <a:off x="3017520" y="274320"/>
            <a:ext cx="8686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000" b="1">
                <a:solidFill>
                  <a:srgbClr val="333333"/>
                </a:solidFill>
                <a:latin typeface="Calibri"/>
              </a:defRPr>
            </a:pPr>
            <a:r>
              <a:rPr kumimoji="0" sz="3000" b="1" i="0" u="none" strike="noStrike" kern="1200" cap="none" spc="0" normalizeH="0" baseline="0" noProof="0">
                <a:ln>
                  <a:noFill/>
                </a:ln>
                <a:solidFill>
                  <a:srgbClr val="333333"/>
                </a:solidFill>
                <a:effectLst/>
                <a:uLnTx/>
                <a:uFillTx/>
                <a:latin typeface="Calibri"/>
                <a:ea typeface="+mn-ea"/>
                <a:cs typeface="+mn-cs"/>
              </a:rPr>
              <a:t>Elevator pitch: tu proyecto blockchain</a:t>
            </a:r>
          </a:p>
        </p:txBody>
      </p:sp>
      <p:sp>
        <p:nvSpPr>
          <p:cNvPr id="6" name="Rectangle 5"/>
          <p:cNvSpPr/>
          <p:nvPr/>
        </p:nvSpPr>
        <p:spPr>
          <a:xfrm>
            <a:off x="457200" y="1051560"/>
            <a:ext cx="10972800" cy="27432"/>
          </a:xfrm>
          <a:prstGeom prst="rect">
            <a:avLst/>
          </a:prstGeom>
          <a:solidFill>
            <a:srgbClr val="0D9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640080" y="137160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Cada alumno (o pareja) prepara un elevator pitch de 2 minutos:</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1. Elegir un problema real de su empresa o sector</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2. Verificar con el arbol de decision que blockchain tiene sentido</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3. Preparar el pitch con esta estructura:</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 El problema (30 seg)</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 Por que las soluciones actuales no sirven (30 seg)</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 La propuesta con blockchain (30 seg)</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 Los socios del consorcio y el beneficio esperado (30 seg)</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Presentar al resto de la clase. Feedback constructivo.</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Tiempo de preparacion: 20 minutos.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457200" y="274320"/>
            <a:ext cx="3200400"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57200" y="274320"/>
            <a:ext cx="3200400" cy="457200"/>
          </a:xfrm>
          <a:prstGeom prst="rect">
            <a:avLst/>
          </a:prstGeom>
          <a:noFill/>
        </p:spPr>
        <p:txBody>
          <a:bodyPr wrap="square"/>
          <a:lstStyle/>
          <a:p>
            <a:pPr marL="0" marR="0" lvl="0" indent="0" algn="ctr" defTabSz="457200" rtl="0" eaLnBrk="1" fontAlgn="auto" latinLnBrk="0" hangingPunct="1">
              <a:lnSpc>
                <a:spcPct val="100000"/>
              </a:lnSpc>
              <a:spcBef>
                <a:spcPts val="0"/>
              </a:spcBef>
              <a:spcAft>
                <a:spcPts val="0"/>
              </a:spcAft>
              <a:buClrTx/>
              <a:buSzTx/>
              <a:buFontTx/>
              <a:buNone/>
              <a:tabLst/>
              <a:defRPr sz="1800" b="1">
                <a:solidFill>
                  <a:srgbClr val="FFFFFF"/>
                </a:solidFill>
                <a:latin typeface="Calibri"/>
              </a:defRPr>
            </a:pPr>
            <a:r>
              <a:rPr kumimoji="0" sz="1800" b="1" i="0" u="none" strike="noStrike" kern="1200" cap="none" spc="0" normalizeH="0" baseline="0" noProof="0">
                <a:ln>
                  <a:noFill/>
                </a:ln>
                <a:solidFill>
                  <a:srgbClr val="FFFFFF"/>
                </a:solidFill>
                <a:effectLst/>
                <a:uLnTx/>
                <a:uFillTx/>
                <a:latin typeface="Calibri"/>
                <a:ea typeface="+mn-ea"/>
                <a:cs typeface="+mn-cs"/>
              </a:rPr>
              <a:t>CULTURA GENERAL</a:t>
            </a:r>
          </a:p>
        </p:txBody>
      </p:sp>
      <p:sp>
        <p:nvSpPr>
          <p:cNvPr id="5" name="TextBox 4"/>
          <p:cNvSpPr txBox="1"/>
          <p:nvPr/>
        </p:nvSpPr>
        <p:spPr>
          <a:xfrm>
            <a:off x="3931920" y="228600"/>
            <a:ext cx="77724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333333"/>
                </a:solidFill>
                <a:latin typeface="Calibri"/>
              </a:defRPr>
            </a:pPr>
            <a:r>
              <a:rPr kumimoji="0" sz="2800" b="1" i="0" u="none" strike="noStrike" kern="1200" cap="none" spc="0" normalizeH="0" baseline="0" noProof="0">
                <a:ln>
                  <a:noFill/>
                </a:ln>
                <a:solidFill>
                  <a:srgbClr val="333333"/>
                </a:solidFill>
                <a:effectLst/>
                <a:uLnTx/>
                <a:uFillTx/>
                <a:latin typeface="Calibri"/>
                <a:ea typeface="+mn-ea"/>
                <a:cs typeface="+mn-cs"/>
              </a:rPr>
              <a:t>Gartner y el Hype Cycle</a:t>
            </a:r>
          </a:p>
        </p:txBody>
      </p:sp>
      <p:sp>
        <p:nvSpPr>
          <p:cNvPr id="6" name="Rectangle 5"/>
          <p:cNvSpPr/>
          <p:nvPr/>
        </p:nvSpPr>
        <p:spPr>
          <a:xfrm>
            <a:off x="457200" y="1051560"/>
            <a:ext cx="10972800" cy="274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640080" y="1371600"/>
            <a:ext cx="10515600" cy="476027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Gartner publica </a:t>
            </a:r>
            <a:r>
              <a:rPr kumimoji="0" sz="2000" b="0" i="0" u="none" strike="noStrike" kern="1200" cap="none" spc="0" normalizeH="0" baseline="0" noProof="0" dirty="0" err="1">
                <a:ln>
                  <a:noFill/>
                </a:ln>
                <a:solidFill>
                  <a:srgbClr val="333333"/>
                </a:solidFill>
                <a:effectLst/>
                <a:uLnTx/>
                <a:uFillTx/>
                <a:latin typeface="Calibri"/>
                <a:ea typeface="+mn-ea"/>
                <a:cs typeface="+mn-cs"/>
              </a:rPr>
              <a:t>cada</a:t>
            </a:r>
            <a:r>
              <a:rPr kumimoji="0" sz="2000" b="0" i="0" u="none" strike="noStrike" kern="1200" cap="none" spc="0" normalizeH="0" baseline="0" noProof="0" dirty="0">
                <a:ln>
                  <a:noFill/>
                </a:ln>
                <a:solidFill>
                  <a:srgbClr val="333333"/>
                </a:solidFill>
                <a:effectLst/>
                <a:uLnTx/>
                <a:uFillTx/>
                <a:latin typeface="Calibri"/>
                <a:ea typeface="+mn-ea"/>
                <a:cs typeface="+mn-cs"/>
              </a:rPr>
              <a:t> a</a:t>
            </a:r>
            <a:r>
              <a:rPr kumimoji="0" lang="es-ES" sz="2000" b="0" i="0" u="none" strike="noStrike" kern="1200" cap="none" spc="0" normalizeH="0" baseline="0" noProof="0" dirty="0">
                <a:ln>
                  <a:noFill/>
                </a:ln>
                <a:solidFill>
                  <a:srgbClr val="333333"/>
                </a:solidFill>
                <a:effectLst/>
                <a:uLnTx/>
                <a:uFillTx/>
                <a:latin typeface="Calibri"/>
                <a:ea typeface="+mn-ea"/>
                <a:cs typeface="+mn-cs"/>
              </a:rPr>
              <a:t>ñ</a:t>
            </a:r>
            <a:r>
              <a:rPr kumimoji="0" sz="2000" b="0" i="0" u="none" strike="noStrike" kern="1200" cap="none" spc="0" normalizeH="0" baseline="0" noProof="0" dirty="0">
                <a:ln>
                  <a:noFill/>
                </a:ln>
                <a:solidFill>
                  <a:srgbClr val="333333"/>
                </a:solidFill>
                <a:effectLst/>
                <a:uLnTx/>
                <a:uFillTx/>
                <a:latin typeface="Calibri"/>
                <a:ea typeface="+mn-ea"/>
                <a:cs typeface="+mn-cs"/>
              </a:rPr>
              <a:t>o </a:t>
            </a:r>
            <a:r>
              <a:rPr kumimoji="0" sz="2000" b="0" i="0" u="none" strike="noStrike" kern="1200" cap="none" spc="0" normalizeH="0" baseline="0" noProof="0" dirty="0" err="1">
                <a:ln>
                  <a:noFill/>
                </a:ln>
                <a:solidFill>
                  <a:srgbClr val="333333"/>
                </a:solidFill>
                <a:effectLst/>
                <a:uLnTx/>
                <a:uFillTx/>
                <a:latin typeface="Calibri"/>
                <a:ea typeface="+mn-ea"/>
                <a:cs typeface="+mn-cs"/>
              </a:rPr>
              <a:t>su</a:t>
            </a:r>
            <a:r>
              <a:rPr kumimoji="0" sz="2000" b="0" i="0" u="none" strike="noStrike" kern="1200" cap="none" spc="0" normalizeH="0" baseline="0" noProof="0" dirty="0">
                <a:ln>
                  <a:noFill/>
                </a:ln>
                <a:solidFill>
                  <a:srgbClr val="333333"/>
                </a:solidFill>
                <a:effectLst/>
                <a:uLnTx/>
                <a:uFillTx/>
                <a:latin typeface="Calibri"/>
                <a:ea typeface="+mn-ea"/>
                <a:cs typeface="+mn-cs"/>
              </a:rPr>
              <a:t> Hype Cycle for Blockchain and Web3.</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En 2017, blockchain </a:t>
            </a:r>
            <a:r>
              <a:rPr kumimoji="0" sz="2000" b="0" i="0" u="none" strike="noStrike" kern="1200" cap="none" spc="0" normalizeH="0" baseline="0" noProof="0" dirty="0" err="1">
                <a:ln>
                  <a:noFill/>
                </a:ln>
                <a:solidFill>
                  <a:srgbClr val="333333"/>
                </a:solidFill>
                <a:effectLst/>
                <a:uLnTx/>
                <a:uFillTx/>
                <a:latin typeface="Calibri"/>
                <a:ea typeface="+mn-ea"/>
                <a:cs typeface="+mn-cs"/>
              </a:rPr>
              <a:t>estaba</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en</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el</a:t>
            </a:r>
            <a:r>
              <a:rPr kumimoji="0" sz="2000" b="0" i="0" u="none" strike="noStrike" kern="1200" cap="none" spc="0" normalizeH="0" baseline="0" noProof="0" dirty="0">
                <a:ln>
                  <a:noFill/>
                </a:ln>
                <a:solidFill>
                  <a:srgbClr val="333333"/>
                </a:solidFill>
                <a:effectLst/>
                <a:uLnTx/>
                <a:uFillTx/>
                <a:latin typeface="Calibri"/>
                <a:ea typeface="+mn-ea"/>
                <a:cs typeface="+mn-cs"/>
              </a:rPr>
              <a:t> 'Pico de </a:t>
            </a:r>
            <a:r>
              <a:rPr kumimoji="0" sz="2000" b="0" i="0" u="none" strike="noStrike" kern="1200" cap="none" spc="0" normalizeH="0" baseline="0" noProof="0" dirty="0" err="1">
                <a:ln>
                  <a:noFill/>
                </a:ln>
                <a:solidFill>
                  <a:srgbClr val="333333"/>
                </a:solidFill>
                <a:effectLst/>
                <a:uLnTx/>
                <a:uFillTx/>
                <a:latin typeface="Calibri"/>
                <a:ea typeface="+mn-ea"/>
                <a:cs typeface="+mn-cs"/>
              </a:rPr>
              <a:t>Expectativas</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Infladas</a:t>
            </a:r>
            <a:r>
              <a:rPr kumimoji="0" sz="2000" b="0" i="0" u="none" strike="noStrike" kern="1200" cap="none" spc="0" normalizeH="0" baseline="0" noProof="0" dirty="0">
                <a:ln>
                  <a:noFill/>
                </a:ln>
                <a:solidFill>
                  <a:srgbClr val="333333"/>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En 2023, blockchain enterprise </a:t>
            </a:r>
            <a:r>
              <a:rPr kumimoji="0" sz="2000" b="0" i="0" u="none" strike="noStrike" kern="1200" cap="none" spc="0" normalizeH="0" baseline="0" noProof="0" dirty="0" err="1">
                <a:ln>
                  <a:noFill/>
                </a:ln>
                <a:solidFill>
                  <a:srgbClr val="333333"/>
                </a:solidFill>
                <a:effectLst/>
                <a:uLnTx/>
                <a:uFillTx/>
                <a:latin typeface="Calibri"/>
                <a:ea typeface="+mn-ea"/>
                <a:cs typeface="+mn-cs"/>
              </a:rPr>
              <a:t>habia</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caido</a:t>
            </a:r>
            <a:r>
              <a:rPr kumimoji="0" sz="2000" b="0" i="0" u="none" strike="noStrike" kern="1200" cap="none" spc="0" normalizeH="0" baseline="0" noProof="0" dirty="0">
                <a:ln>
                  <a:noFill/>
                </a:ln>
                <a:solidFill>
                  <a:srgbClr val="333333"/>
                </a:solidFill>
                <a:effectLst/>
                <a:uLnTx/>
                <a:uFillTx/>
                <a:latin typeface="Calibri"/>
                <a:ea typeface="+mn-ea"/>
                <a:cs typeface="+mn-cs"/>
              </a:rPr>
              <a:t> al 'Valle de la </a:t>
            </a:r>
            <a:r>
              <a:rPr kumimoji="0" sz="2000" b="0" i="0" u="none" strike="noStrike" kern="1200" cap="none" spc="0" normalizeH="0" baseline="0" noProof="0" dirty="0" err="1">
                <a:ln>
                  <a:noFill/>
                </a:ln>
                <a:solidFill>
                  <a:srgbClr val="333333"/>
                </a:solidFill>
                <a:effectLst/>
                <a:uLnTx/>
                <a:uFillTx/>
                <a:latin typeface="Calibri"/>
                <a:ea typeface="+mn-ea"/>
                <a:cs typeface="+mn-cs"/>
              </a:rPr>
              <a:t>Desilusion</a:t>
            </a:r>
            <a:r>
              <a:rPr kumimoji="0" sz="2000" b="0" i="0" u="none" strike="noStrike" kern="1200" cap="none" spc="0" normalizeH="0" baseline="0" noProof="0" dirty="0">
                <a:ln>
                  <a:noFill/>
                </a:ln>
                <a:solidFill>
                  <a:srgbClr val="333333"/>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En 2025, </a:t>
            </a:r>
            <a:r>
              <a:rPr kumimoji="0" sz="2000" b="0" i="0" u="none" strike="noStrike" kern="1200" cap="none" spc="0" normalizeH="0" baseline="0" noProof="0" dirty="0" err="1">
                <a:ln>
                  <a:noFill/>
                </a:ln>
                <a:solidFill>
                  <a:srgbClr val="333333"/>
                </a:solidFill>
                <a:effectLst/>
                <a:uLnTx/>
                <a:uFillTx/>
                <a:latin typeface="Calibri"/>
                <a:ea typeface="+mn-ea"/>
                <a:cs typeface="+mn-cs"/>
              </a:rPr>
              <a:t>empieza</a:t>
            </a:r>
            <a:r>
              <a:rPr kumimoji="0" sz="2000" b="0" i="0" u="none" strike="noStrike" kern="1200" cap="none" spc="0" normalizeH="0" baseline="0" noProof="0" dirty="0">
                <a:ln>
                  <a:noFill/>
                </a:ln>
                <a:solidFill>
                  <a:srgbClr val="333333"/>
                </a:solidFill>
                <a:effectLst/>
                <a:uLnTx/>
                <a:uFillTx/>
                <a:latin typeface="Calibri"/>
                <a:ea typeface="+mn-ea"/>
                <a:cs typeface="+mn-cs"/>
              </a:rPr>
              <a:t> a </a:t>
            </a:r>
            <a:r>
              <a:rPr kumimoji="0" sz="2000" b="0" i="0" u="none" strike="noStrike" kern="1200" cap="none" spc="0" normalizeH="0" baseline="0" noProof="0" dirty="0" err="1">
                <a:ln>
                  <a:noFill/>
                </a:ln>
                <a:solidFill>
                  <a:srgbClr val="333333"/>
                </a:solidFill>
                <a:effectLst/>
                <a:uLnTx/>
                <a:uFillTx/>
                <a:latin typeface="Calibri"/>
                <a:ea typeface="+mn-ea"/>
                <a:cs typeface="+mn-cs"/>
              </a:rPr>
              <a:t>subir</a:t>
            </a:r>
            <a:r>
              <a:rPr kumimoji="0" sz="2000" b="0" i="0" u="none" strike="noStrike" kern="1200" cap="none" spc="0" normalizeH="0" baseline="0" noProof="0" dirty="0">
                <a:ln>
                  <a:noFill/>
                </a:ln>
                <a:solidFill>
                  <a:srgbClr val="333333"/>
                </a:solidFill>
                <a:effectLst/>
                <a:uLnTx/>
                <a:uFillTx/>
                <a:latin typeface="Calibri"/>
                <a:ea typeface="+mn-ea"/>
                <a:cs typeface="+mn-cs"/>
              </a:rPr>
              <a:t> la '</a:t>
            </a:r>
            <a:r>
              <a:rPr kumimoji="0" sz="2000" b="0" i="0" u="none" strike="noStrike" kern="1200" cap="none" spc="0" normalizeH="0" baseline="0" noProof="0" dirty="0" err="1">
                <a:ln>
                  <a:noFill/>
                </a:ln>
                <a:solidFill>
                  <a:srgbClr val="333333"/>
                </a:solidFill>
                <a:effectLst/>
                <a:uLnTx/>
                <a:uFillTx/>
                <a:latin typeface="Calibri"/>
                <a:ea typeface="+mn-ea"/>
                <a:cs typeface="+mn-cs"/>
              </a:rPr>
              <a:t>Pendiente</a:t>
            </a:r>
            <a:r>
              <a:rPr kumimoji="0" sz="2000" b="0" i="0" u="none" strike="noStrike" kern="1200" cap="none" spc="0" normalizeH="0" baseline="0" noProof="0" dirty="0">
                <a:ln>
                  <a:noFill/>
                </a:ln>
                <a:solidFill>
                  <a:srgbClr val="333333"/>
                </a:solidFill>
                <a:effectLst/>
                <a:uLnTx/>
                <a:uFillTx/>
                <a:latin typeface="Calibri"/>
                <a:ea typeface="+mn-ea"/>
                <a:cs typeface="+mn-cs"/>
              </a:rPr>
              <a:t> de la </a:t>
            </a:r>
            <a:r>
              <a:rPr kumimoji="0" sz="2000" b="0" i="0" u="none" strike="noStrike" kern="1200" cap="none" spc="0" normalizeH="0" baseline="0" noProof="0" dirty="0" err="1">
                <a:ln>
                  <a:noFill/>
                </a:ln>
                <a:solidFill>
                  <a:srgbClr val="333333"/>
                </a:solidFill>
                <a:effectLst/>
                <a:uLnTx/>
                <a:uFillTx/>
                <a:latin typeface="Calibri"/>
                <a:ea typeface="+mn-ea"/>
                <a:cs typeface="+mn-cs"/>
              </a:rPr>
              <a:t>Iluminacion</a:t>
            </a:r>
            <a:r>
              <a:rPr kumimoji="0" sz="2000" b="0" i="0" u="none" strike="noStrike" kern="1200" cap="none" spc="0" normalizeH="0" baseline="0" noProof="0" dirty="0">
                <a:ln>
                  <a:noFill/>
                </a:ln>
                <a:solidFill>
                  <a:srgbClr val="333333"/>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endParaRPr kumimoji="0" sz="2000" b="0" i="0" u="none" strike="noStrike" kern="1200" cap="none" spc="0" normalizeH="0" baseline="0" noProof="0" dirty="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Esto es normal: TODAS las </a:t>
            </a:r>
            <a:r>
              <a:rPr kumimoji="0" sz="2000" b="0" i="0" u="none" strike="noStrike" kern="1200" cap="none" spc="0" normalizeH="0" baseline="0" noProof="0" dirty="0" err="1">
                <a:ln>
                  <a:noFill/>
                </a:ln>
                <a:solidFill>
                  <a:srgbClr val="333333"/>
                </a:solidFill>
                <a:effectLst/>
                <a:uLnTx/>
                <a:uFillTx/>
                <a:latin typeface="Calibri"/>
                <a:ea typeface="+mn-ea"/>
                <a:cs typeface="+mn-cs"/>
              </a:rPr>
              <a:t>tecnologias</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pasan</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por</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este</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ciclo</a:t>
            </a:r>
            <a:r>
              <a:rPr kumimoji="0" sz="2000" b="0" i="0" u="none" strike="noStrike" kern="1200" cap="none" spc="0" normalizeH="0" baseline="0" noProof="0" dirty="0">
                <a:ln>
                  <a:noFill/>
                </a:ln>
                <a:solidFill>
                  <a:srgbClr val="333333"/>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Internet </a:t>
            </a:r>
            <a:r>
              <a:rPr kumimoji="0" sz="2000" b="0" i="0" u="none" strike="noStrike" kern="1200" cap="none" spc="0" normalizeH="0" baseline="0" noProof="0" dirty="0" err="1">
                <a:ln>
                  <a:noFill/>
                </a:ln>
                <a:solidFill>
                  <a:srgbClr val="333333"/>
                </a:solidFill>
                <a:effectLst/>
                <a:uLnTx/>
                <a:uFillTx/>
                <a:latin typeface="Calibri"/>
                <a:ea typeface="+mn-ea"/>
                <a:cs typeface="+mn-cs"/>
              </a:rPr>
              <a:t>en</a:t>
            </a:r>
            <a:r>
              <a:rPr kumimoji="0" sz="2000" b="0" i="0" u="none" strike="noStrike" kern="1200" cap="none" spc="0" normalizeH="0" baseline="0" noProof="0" dirty="0">
                <a:ln>
                  <a:noFill/>
                </a:ln>
                <a:solidFill>
                  <a:srgbClr val="333333"/>
                </a:solidFill>
                <a:effectLst/>
                <a:uLnTx/>
                <a:uFillTx/>
                <a:latin typeface="Calibri"/>
                <a:ea typeface="+mn-ea"/>
                <a:cs typeface="+mn-cs"/>
              </a:rPr>
              <a:t> 2001, cloud </a:t>
            </a:r>
            <a:r>
              <a:rPr kumimoji="0" sz="2000" b="0" i="0" u="none" strike="noStrike" kern="1200" cap="none" spc="0" normalizeH="0" baseline="0" noProof="0" dirty="0" err="1">
                <a:ln>
                  <a:noFill/>
                </a:ln>
                <a:solidFill>
                  <a:srgbClr val="333333"/>
                </a:solidFill>
                <a:effectLst/>
                <a:uLnTx/>
                <a:uFillTx/>
                <a:latin typeface="Calibri"/>
                <a:ea typeface="+mn-ea"/>
                <a:cs typeface="+mn-cs"/>
              </a:rPr>
              <a:t>en</a:t>
            </a:r>
            <a:r>
              <a:rPr kumimoji="0" sz="2000" b="0" i="0" u="none" strike="noStrike" kern="1200" cap="none" spc="0" normalizeH="0" baseline="0" noProof="0" dirty="0">
                <a:ln>
                  <a:noFill/>
                </a:ln>
                <a:solidFill>
                  <a:srgbClr val="333333"/>
                </a:solidFill>
                <a:effectLst/>
                <a:uLnTx/>
                <a:uFillTx/>
                <a:latin typeface="Calibri"/>
                <a:ea typeface="+mn-ea"/>
                <a:cs typeface="+mn-cs"/>
              </a:rPr>
              <a:t> 2010, IA </a:t>
            </a:r>
            <a:r>
              <a:rPr kumimoji="0" sz="2000" b="0" i="0" u="none" strike="noStrike" kern="1200" cap="none" spc="0" normalizeH="0" baseline="0" noProof="0" dirty="0" err="1">
                <a:ln>
                  <a:noFill/>
                </a:ln>
                <a:solidFill>
                  <a:srgbClr val="333333"/>
                </a:solidFill>
                <a:effectLst/>
                <a:uLnTx/>
                <a:uFillTx/>
                <a:latin typeface="Calibri"/>
                <a:ea typeface="+mn-ea"/>
                <a:cs typeface="+mn-cs"/>
              </a:rPr>
              <a:t>en</a:t>
            </a:r>
            <a:r>
              <a:rPr kumimoji="0" sz="2000" b="0" i="0" u="none" strike="noStrike" kern="1200" cap="none" spc="0" normalizeH="0" baseline="0" noProof="0" dirty="0">
                <a:ln>
                  <a:noFill/>
                </a:ln>
                <a:solidFill>
                  <a:srgbClr val="333333"/>
                </a:solidFill>
                <a:effectLst/>
                <a:uLnTx/>
                <a:uFillTx/>
                <a:latin typeface="Calibri"/>
                <a:ea typeface="+mn-ea"/>
                <a:cs typeface="+mn-cs"/>
              </a:rPr>
              <a:t> 2024... y blockchain </a:t>
            </a:r>
            <a:r>
              <a:rPr kumimoji="0" sz="2000" b="0" i="0" u="none" strike="noStrike" kern="1200" cap="none" spc="0" normalizeH="0" baseline="0" noProof="0" dirty="0" err="1">
                <a:ln>
                  <a:noFill/>
                </a:ln>
                <a:solidFill>
                  <a:srgbClr val="333333"/>
                </a:solidFill>
                <a:effectLst/>
                <a:uLnTx/>
                <a:uFillTx/>
                <a:latin typeface="Calibri"/>
                <a:ea typeface="+mn-ea"/>
                <a:cs typeface="+mn-cs"/>
              </a:rPr>
              <a:t>ahora</a:t>
            </a:r>
            <a:r>
              <a:rPr kumimoji="0" sz="2000" b="0" i="0" u="none" strike="noStrike" kern="1200" cap="none" spc="0" normalizeH="0" baseline="0" noProof="0" dirty="0">
                <a:ln>
                  <a:noFill/>
                </a:ln>
                <a:solidFill>
                  <a:srgbClr val="333333"/>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endParaRPr kumimoji="0" sz="2000" b="0" i="0" u="none" strike="noStrike" kern="1200" cap="none" spc="0" normalizeH="0" baseline="0" noProof="0" dirty="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La </a:t>
            </a:r>
            <a:r>
              <a:rPr kumimoji="0" sz="2000" b="0" i="0" u="none" strike="noStrike" kern="1200" cap="none" spc="0" normalizeH="0" baseline="0" noProof="0" dirty="0" err="1">
                <a:ln>
                  <a:noFill/>
                </a:ln>
                <a:solidFill>
                  <a:srgbClr val="333333"/>
                </a:solidFill>
                <a:effectLst/>
                <a:uLnTx/>
                <a:uFillTx/>
                <a:latin typeface="Calibri"/>
                <a:ea typeface="+mn-ea"/>
                <a:cs typeface="+mn-cs"/>
              </a:rPr>
              <a:t>pregunta</a:t>
            </a:r>
            <a:r>
              <a:rPr kumimoji="0" sz="2000" b="0" i="0" u="none" strike="noStrike" kern="1200" cap="none" spc="0" normalizeH="0" baseline="0" noProof="0" dirty="0">
                <a:ln>
                  <a:noFill/>
                </a:ln>
                <a:solidFill>
                  <a:srgbClr val="333333"/>
                </a:solidFill>
                <a:effectLst/>
                <a:uLnTx/>
                <a:uFillTx/>
                <a:latin typeface="Calibri"/>
                <a:ea typeface="+mn-ea"/>
                <a:cs typeface="+mn-cs"/>
              </a:rPr>
              <a:t> no es '¿blockchain </a:t>
            </a:r>
            <a:r>
              <a:rPr kumimoji="0" sz="2000" b="0" i="0" u="none" strike="noStrike" kern="1200" cap="none" spc="0" normalizeH="0" baseline="0" noProof="0" dirty="0" err="1">
                <a:ln>
                  <a:noFill/>
                </a:ln>
                <a:solidFill>
                  <a:srgbClr val="333333"/>
                </a:solidFill>
                <a:effectLst/>
                <a:uLnTx/>
                <a:uFillTx/>
                <a:latin typeface="Calibri"/>
                <a:ea typeface="+mn-ea"/>
                <a:cs typeface="+mn-cs"/>
              </a:rPr>
              <a:t>esta</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muerto</a:t>
            </a:r>
            <a:r>
              <a:rPr kumimoji="0" sz="2000" b="0" i="0" u="none" strike="noStrike" kern="1200" cap="none" spc="0" normalizeH="0" baseline="0" noProof="0" dirty="0">
                <a:ln>
                  <a:noFill/>
                </a:ln>
                <a:solidFill>
                  <a:srgbClr val="333333"/>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La </a:t>
            </a:r>
            <a:r>
              <a:rPr kumimoji="0" sz="2000" b="0" i="0" u="none" strike="noStrike" kern="1200" cap="none" spc="0" normalizeH="0" baseline="0" noProof="0" dirty="0" err="1">
                <a:ln>
                  <a:noFill/>
                </a:ln>
                <a:solidFill>
                  <a:srgbClr val="333333"/>
                </a:solidFill>
                <a:effectLst/>
                <a:uLnTx/>
                <a:uFillTx/>
                <a:latin typeface="Calibri"/>
                <a:ea typeface="+mn-ea"/>
                <a:cs typeface="+mn-cs"/>
              </a:rPr>
              <a:t>pregunta</a:t>
            </a:r>
            <a:r>
              <a:rPr kumimoji="0" sz="2000" b="0" i="0" u="none" strike="noStrike" kern="1200" cap="none" spc="0" normalizeH="0" baseline="0" noProof="0" dirty="0">
                <a:ln>
                  <a:noFill/>
                </a:ln>
                <a:solidFill>
                  <a:srgbClr val="333333"/>
                </a:solidFill>
                <a:effectLst/>
                <a:uLnTx/>
                <a:uFillTx/>
                <a:latin typeface="Calibri"/>
                <a:ea typeface="+mn-ea"/>
                <a:cs typeface="+mn-cs"/>
              </a:rPr>
              <a:t> es '¿para </a:t>
            </a:r>
            <a:r>
              <a:rPr kumimoji="0" sz="2000" b="0" i="0" u="none" strike="noStrike" kern="1200" cap="none" spc="0" normalizeH="0" baseline="0" noProof="0" dirty="0" err="1">
                <a:ln>
                  <a:noFill/>
                </a:ln>
                <a:solidFill>
                  <a:srgbClr val="333333"/>
                </a:solidFill>
                <a:effectLst/>
                <a:uLnTx/>
                <a:uFillTx/>
                <a:latin typeface="Calibri"/>
                <a:ea typeface="+mn-ea"/>
                <a:cs typeface="+mn-cs"/>
              </a:rPr>
              <a:t>que</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casos</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concretos</a:t>
            </a:r>
            <a:r>
              <a:rPr kumimoji="0" sz="2000" b="0" i="0" u="none" strike="noStrike" kern="1200" cap="none" spc="0" normalizeH="0" baseline="0" noProof="0" dirty="0">
                <a:ln>
                  <a:noFill/>
                </a:ln>
                <a:solidFill>
                  <a:srgbClr val="333333"/>
                </a:solidFill>
                <a:effectLst/>
                <a:uLnTx/>
                <a:uFillTx/>
                <a:latin typeface="Calibri"/>
                <a:ea typeface="+mn-ea"/>
                <a:cs typeface="+mn-cs"/>
              </a:rPr>
              <a:t> es util?'</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Eso es </a:t>
            </a:r>
            <a:r>
              <a:rPr kumimoji="0" sz="2000" b="0" i="0" u="none" strike="noStrike" kern="1200" cap="none" spc="0" normalizeH="0" baseline="0" noProof="0" dirty="0" err="1">
                <a:ln>
                  <a:noFill/>
                </a:ln>
                <a:solidFill>
                  <a:srgbClr val="333333"/>
                </a:solidFill>
                <a:effectLst/>
                <a:uLnTx/>
                <a:uFillTx/>
                <a:latin typeface="Calibri"/>
                <a:ea typeface="+mn-ea"/>
                <a:cs typeface="+mn-cs"/>
              </a:rPr>
              <a:t>exactamente</a:t>
            </a:r>
            <a:r>
              <a:rPr kumimoji="0" sz="2000" b="0" i="0" u="none" strike="noStrike" kern="1200" cap="none" spc="0" normalizeH="0" baseline="0" noProof="0" dirty="0">
                <a:ln>
                  <a:noFill/>
                </a:ln>
                <a:solidFill>
                  <a:srgbClr val="333333"/>
                </a:solidFill>
                <a:effectLst/>
                <a:uLnTx/>
                <a:uFillTx/>
                <a:latin typeface="Calibri"/>
                <a:ea typeface="+mn-ea"/>
                <a:cs typeface="+mn-cs"/>
              </a:rPr>
              <a:t> lo </a:t>
            </a:r>
            <a:r>
              <a:rPr kumimoji="0" sz="2000" b="0" i="0" u="none" strike="noStrike" kern="1200" cap="none" spc="0" normalizeH="0" baseline="0" noProof="0" dirty="0" err="1">
                <a:ln>
                  <a:noFill/>
                </a:ln>
                <a:solidFill>
                  <a:srgbClr val="333333"/>
                </a:solidFill>
                <a:effectLst/>
                <a:uLnTx/>
                <a:uFillTx/>
                <a:latin typeface="Calibri"/>
                <a:ea typeface="+mn-ea"/>
                <a:cs typeface="+mn-cs"/>
              </a:rPr>
              <a:t>que</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estamos</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aprendiendo</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en</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este</a:t>
            </a:r>
            <a:r>
              <a:rPr kumimoji="0" sz="2000" b="0" i="0" u="none" strike="noStrike" kern="1200" cap="none" spc="0" normalizeH="0" baseline="0" noProof="0" dirty="0">
                <a:ln>
                  <a:noFill/>
                </a:ln>
                <a:solidFill>
                  <a:srgbClr val="333333"/>
                </a:solidFill>
                <a:effectLst/>
                <a:uLnTx/>
                <a:uFillTx/>
                <a:latin typeface="Calibri"/>
                <a:ea typeface="+mn-ea"/>
                <a:cs typeface="+mn-cs"/>
              </a:rPr>
              <a:t> modulo.</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600" b="1">
                <a:solidFill>
                  <a:srgbClr val="FFFFFF"/>
                </a:solidFill>
                <a:latin typeface="Calibri"/>
              </a:defRPr>
            </a:pPr>
            <a:r>
              <a:rPr kumimoji="0" sz="3600" b="1" i="0" u="none" strike="noStrike" kern="1200" cap="none" spc="0" normalizeH="0" baseline="0" noProof="0">
                <a:ln>
                  <a:noFill/>
                </a:ln>
                <a:solidFill>
                  <a:srgbClr val="FFFFFF"/>
                </a:solidFill>
                <a:effectLst/>
                <a:uLnTx/>
                <a:uFillTx/>
                <a:latin typeface="Calibri"/>
                <a:ea typeface="+mn-ea"/>
                <a:cs typeface="+mn-cs"/>
              </a:rPr>
              <a:t>Repaso del dia</a:t>
            </a:r>
          </a:p>
        </p:txBody>
      </p:sp>
      <p:sp>
        <p:nvSpPr>
          <p:cNvPr id="4" name="Rectangle 3"/>
          <p:cNvSpPr/>
          <p:nvPr/>
        </p:nvSpPr>
        <p:spPr>
          <a:xfrm>
            <a:off x="457200" y="1051560"/>
            <a:ext cx="10972800" cy="27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37160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1. ¿Cuando tiene sentido blockchain enterprise? Da 3 condiciones</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2. ¿Cuando NO tiene sentido? Da 3 razones</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3. ¿Como presentarias un proyecto blockchain a un comite de direccion?</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4. ¿Que metricas usarias para medir el exito?</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5. ¿Por que es mejor no empezar con la palabra 'blockchain'?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Respuestas al repaso (1/2)</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1. Cuando tiene sentido blockchain enterprise (3 condiciones):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Hay multiples organizaciones que necesitan compartir datos.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Existe desconfianza mutua (ninguna quiere que otra controle la BD).</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La inmutabilidad/auditabilidad es critica (regulacion, compliance).</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2. Cuando NO tiene sentido (3 razones):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Un solo actor gestiona todos los datos -&gt; BD tradicional.</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Los datos no se comparten entre orgs -&gt; APIs entre sistemas.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No hay problema de confianza -&gt; SaaS compartido con permisos.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(Tambien: si el rendimiento es critico &gt;10k TPS).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3. Como presentarlo a un comite de direccion:</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Empezar por EL PROBLEMA de negocio, no por la tecnologia.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Cuantificar el coste actual (euros, tiempo, fraude).</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Por que las soluciones actuales no funcionan.</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Propuesta: 'registro distribuido compartido' (evita la palabra 'blockchain').</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Socios potenciales, ROI estimado, riesgos y mitigaciones.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Respuestas al repaso (2/2)</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4. Metricas para medir el exito: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Eficiencia: tiempo de proceso reducido (dias/semanas -&gt; segundos/horas).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Errores: reduccion de errores manuales y disputas.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Fraude: casos detectados/evitados antes de su impacto.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Costes: intermediarios eliminados, auditorias mas baratas.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Payback: tiempo para recuperar la inversion inicial.</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5. ¿Por que no empezar con la palabra 'blockchain'?</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'Blockchain' genera ruido: se asocia con cripto, especulacion, scams.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Los directivos no tecnicos pueden cerrarse antes de entender el problema.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Mejor: 'registro distribuido', 'ledger compartido', 'plataforma colaborativa'.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Presenta la SOLUCION a su problema, no la tecnologia.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Despues de aprobacion, explicar que la tecnologia base es blockchain/Fabric.</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0" y="6720840"/>
            <a:ext cx="12188952" cy="13716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57200" y="365760"/>
            <a:ext cx="10972800" cy="45720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1600" b="1">
                <a:solidFill>
                  <a:srgbClr val="22627E"/>
                </a:solidFill>
                <a:latin typeface="Calibri"/>
              </a:defRPr>
            </a:pPr>
            <a:r>
              <a:rPr kumimoji="0" sz="1600" b="1" i="0" u="none" strike="noStrike" kern="1200" cap="none" spc="0" normalizeH="0" baseline="0" noProof="0">
                <a:ln>
                  <a:noFill/>
                </a:ln>
                <a:solidFill>
                  <a:srgbClr val="22627E"/>
                </a:solidFill>
                <a:effectLst/>
                <a:uLnTx/>
                <a:uFillTx/>
                <a:latin typeface="Calibri"/>
                <a:ea typeface="+mn-ea"/>
                <a:cs typeface="+mn-cs"/>
              </a:rPr>
              <a:t>Modulo 3: Vision Empresarial</a:t>
            </a:r>
          </a:p>
        </p:txBody>
      </p:sp>
      <p:sp>
        <p:nvSpPr>
          <p:cNvPr id="5" name="TextBox 4"/>
          <p:cNvSpPr txBox="1"/>
          <p:nvPr/>
        </p:nvSpPr>
        <p:spPr>
          <a:xfrm>
            <a:off x="457200" y="1828800"/>
            <a:ext cx="10972800" cy="228600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5400" b="1">
                <a:solidFill>
                  <a:srgbClr val="22627E"/>
                </a:solidFill>
                <a:latin typeface="Calibri"/>
              </a:defRPr>
            </a:pPr>
            <a:r>
              <a:rPr kumimoji="0" sz="5400" b="1" i="0" u="none" strike="noStrike" kern="1200" cap="none" spc="0" normalizeH="0" baseline="0" noProof="0">
                <a:ln>
                  <a:noFill/>
                </a:ln>
                <a:solidFill>
                  <a:srgbClr val="22627E"/>
                </a:solidFill>
                <a:effectLst/>
                <a:uLnTx/>
                <a:uFillTx/>
                <a:latin typeface="Calibri"/>
                <a:ea typeface="+mn-ea"/>
                <a:cs typeface="+mn-cs"/>
              </a:rPr>
              <a:t>Gobernanza y Toma</a:t>
            </a:r>
            <a:br>
              <a:rPr kumimoji="0" sz="5400" b="1" i="0" u="none" strike="noStrike" kern="1200" cap="none" spc="0" normalizeH="0" baseline="0" noProof="0">
                <a:ln>
                  <a:noFill/>
                </a:ln>
                <a:solidFill>
                  <a:srgbClr val="22627E"/>
                </a:solidFill>
                <a:effectLst/>
                <a:uLnTx/>
                <a:uFillTx/>
                <a:latin typeface="Calibri"/>
                <a:ea typeface="+mn-ea"/>
                <a:cs typeface="+mn-cs"/>
              </a:rPr>
            </a:br>
            <a:r>
              <a:rPr kumimoji="0" sz="5400" b="1" i="0" u="none" strike="noStrike" kern="1200" cap="none" spc="0" normalizeH="0" baseline="0" noProof="0">
                <a:ln>
                  <a:noFill/>
                </a:ln>
                <a:solidFill>
                  <a:srgbClr val="22627E"/>
                </a:solidFill>
                <a:effectLst/>
                <a:uLnTx/>
                <a:uFillTx/>
                <a:latin typeface="Calibri"/>
                <a:ea typeface="+mn-ea"/>
                <a:cs typeface="+mn-cs"/>
              </a:rPr>
              <a:t>de Decisiones</a:t>
            </a:r>
          </a:p>
        </p:txBody>
      </p:sp>
      <p:sp>
        <p:nvSpPr>
          <p:cNvPr id="6" name="TextBox 5"/>
          <p:cNvSpPr txBox="1"/>
          <p:nvPr/>
        </p:nvSpPr>
        <p:spPr>
          <a:xfrm>
            <a:off x="457200" y="4114800"/>
            <a:ext cx="10972800" cy="137160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b="0">
                <a:solidFill>
                  <a:srgbClr val="333333"/>
                </a:solidFill>
                <a:latin typeface="Calibri"/>
              </a:defRPr>
            </a:pPr>
            <a:r>
              <a:rPr kumimoji="0" sz="2400" b="0" i="0" u="none" strike="noStrike" kern="1200" cap="none" spc="0" normalizeH="0" baseline="0" noProof="0">
                <a:ln>
                  <a:noFill/>
                </a:ln>
                <a:solidFill>
                  <a:srgbClr val="333333"/>
                </a:solidFill>
                <a:effectLst/>
                <a:uLnTx/>
                <a:uFillTx/>
                <a:latin typeface="Calibri"/>
                <a:ea typeface="+mn-ea"/>
                <a:cs typeface="+mn-cs"/>
              </a:rPr>
              <a:t>Dia 3 - Quien manda en un consorcio blockchain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¿Que es la gobernanza de un consorcio?</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El conjunto de reglas que definen como se toman las decisiones en la red</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No es un tema tecnico: es un tema politico, legal y de negocio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Si la gobernanza no esta clara desde el dia 1, el proyecto fracasara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Preguntas que debe responder:</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¿Quien puede unirse a la red? ¿Y quien puede ser expulsado?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¿Quien aprueba cambios en los chaincodes?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¿Quien paga la infraestructura (orderers, CAs)?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¿Como se resuelven los conflictos?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¿Que pasa con los datos si una org abandona?</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Modelos de gobernanza</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Fundador dominante: una empresa crea la red y pone las reglas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Ejemplo: Walmart Food Trust. Walmart decide, los proveedores acatan</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Pro: rapido de arrancar. Contra: los demas desconfian</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Democratico: todas las orgs tienen el mismo voto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Ejemplo: Alastria. Cada miembro un voto en la asamblea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Pro: equitativo. Contra: lento, dificil llegar a acuerdos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Federado: un comite tecnico/ejecutivo toma las decisiones operativas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Ejemplo: EBSI. La EBP decide la estrategia, los estados operan</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Pro: agil. Contra: el comite puede desconectarse de los miembros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Gobernanza en Fabric: las politicas como herramienta</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Fabric codifica la gobernanza directamente en la configuracion del canal:</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Politicas de canal: quien puede leer, escribir, administrar</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MAJORITY Admins: la mayoria de orgs deben aprobar cambios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ALL Admins: unanimidad requerida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Politicas de endorsement: quien valida cada transaccion</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AND(Org1, Org2): ambas deben aprobar</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OR(Org1, Org2): basta con una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Lifecycle: aprobar chaincodes requiere mayoria de orgs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Las politicas de Fabric son gobernanza ejecutable: no son un documento, son codigo.</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¿Quien paga que?</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Cada organizacion paga SU infraestructura: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Sus peers, su Fabric CA, su almacenamiento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La infraestructura compartida es el debate:</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Orderer: ¿quien lo opera? ¿se reparte el coste?</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Desarrollo de chaincodes: ¿quien lo paga? ¿quien lo mantiene?</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Soporte y operaciones: ¿hay un equipo central o cada org se apana?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Modelos comunes: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Cuota fija: todos pagan lo mismo (simple, pero ¿justo?)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Por uso: paga mas quien mas transacciones hace</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Por tamano: las orgs grandes pagan mas que las pequenas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Sponsor: una org grande subvenciona al resto (al principio)</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Onboarding y offboarding de organizaciones</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Incorporar una nueva org (onboarding):</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Evaluacion: ¿cumple los requisitos del consorcio?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Aprobacion: las orgs existentes votan (MAJORITY o ALL)</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Tecnico: generar identidades, anadir al canal (doc 06)</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Legal: firmar el acuerdo de consorcio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Operativo: instalar chaincodes, sincronizar ledger</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Expulsar o que se vaya una org (offboarding):</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¿Que pasa con sus datos en el ledger? (son inmutables, no se pueden borrar)</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¿Que pasa con sus certificados? (revocar via CRL)</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¿Puede llevarse una copia de los datos? (depende del acuerdo)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¿Como se redistribuyen sus responsabilidades?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Esto DEBE estar definido ANTES de que pase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Caso Alastria: gobernanza de un consorcio real</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Alastria es una asociacion sin animo de lucro con +500 miembros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Estructura de gobierno: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Asamblea General: todos los miembros votan (1 miembro = 1 voto)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Junta Directiva: 15 miembros elegidos, toma decisiones ejecutivas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Grupos de trabajo: identidad, tokenizacion, regulacion, etc.</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Decisiones tecnicas: Comite Tecnico (rotativo entre miembros activos)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Cuotas anuales segun tamano de la empresa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Leccion: el modelo funciona pero es lento. 500 miembros = 500 opiniones.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457200" y="274320"/>
            <a:ext cx="1645920" cy="45720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57200" y="274320"/>
            <a:ext cx="1645920" cy="457200"/>
          </a:xfrm>
          <a:prstGeom prst="rect">
            <a:avLst/>
          </a:prstGeom>
          <a:noFill/>
        </p:spPr>
        <p:txBody>
          <a:bodyPr wrap="square"/>
          <a:lstStyle/>
          <a:p>
            <a:pPr marL="0" marR="0" lvl="0" indent="0" algn="ctr" defTabSz="457200" rtl="0" eaLnBrk="1" fontAlgn="auto" latinLnBrk="0" hangingPunct="1">
              <a:lnSpc>
                <a:spcPct val="100000"/>
              </a:lnSpc>
              <a:spcBef>
                <a:spcPts val="0"/>
              </a:spcBef>
              <a:spcAft>
                <a:spcPts val="0"/>
              </a:spcAft>
              <a:buClrTx/>
              <a:buSzTx/>
              <a:buFontTx/>
              <a:buNone/>
              <a:tabLst/>
              <a:defRPr sz="1800" b="1">
                <a:solidFill>
                  <a:srgbClr val="FFFFFF"/>
                </a:solidFill>
                <a:latin typeface="Calibri"/>
              </a:defRPr>
            </a:pPr>
            <a:r>
              <a:rPr kumimoji="0" sz="1800" b="1" i="0" u="none" strike="noStrike" kern="1200" cap="none" spc="0" normalizeH="0" baseline="0" noProof="0">
                <a:ln>
                  <a:noFill/>
                </a:ln>
                <a:solidFill>
                  <a:srgbClr val="FFFFFF"/>
                </a:solidFill>
                <a:effectLst/>
                <a:uLnTx/>
                <a:uFillTx/>
                <a:latin typeface="Calibri"/>
                <a:ea typeface="+mn-ea"/>
                <a:cs typeface="+mn-cs"/>
              </a:rPr>
              <a:t>DEBATE</a:t>
            </a:r>
          </a:p>
        </p:txBody>
      </p:sp>
      <p:sp>
        <p:nvSpPr>
          <p:cNvPr id="5" name="TextBox 4"/>
          <p:cNvSpPr txBox="1"/>
          <p:nvPr/>
        </p:nvSpPr>
        <p:spPr>
          <a:xfrm>
            <a:off x="2377440" y="274320"/>
            <a:ext cx="91440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000" b="1">
                <a:solidFill>
                  <a:srgbClr val="333333"/>
                </a:solidFill>
                <a:latin typeface="Calibri"/>
              </a:defRPr>
            </a:pPr>
            <a:r>
              <a:rPr kumimoji="0" sz="3000" b="1" i="0" u="none" strike="noStrike" kern="1200" cap="none" spc="0" normalizeH="0" baseline="0" noProof="0">
                <a:ln>
                  <a:noFill/>
                </a:ln>
                <a:solidFill>
                  <a:srgbClr val="333333"/>
                </a:solidFill>
                <a:effectLst/>
                <a:uLnTx/>
                <a:uFillTx/>
                <a:latin typeface="Calibri"/>
                <a:ea typeface="+mn-ea"/>
                <a:cs typeface="+mn-cs"/>
              </a:rPr>
              <a:t>Disenar la gobernanza de un consorcio</a:t>
            </a:r>
          </a:p>
        </p:txBody>
      </p:sp>
      <p:sp>
        <p:nvSpPr>
          <p:cNvPr id="6" name="Rectangle 5"/>
          <p:cNvSpPr/>
          <p:nvPr/>
        </p:nvSpPr>
        <p:spPr>
          <a:xfrm>
            <a:off x="457200" y="1051560"/>
            <a:ext cx="10972800" cy="2743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640080" y="137160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Escenario: 5 bancos quieren crear una plataforma de KYC compartido en Fabric.</a:t>
            </a:r>
          </a:p>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endParaRPr kumimoji="0" sz="22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Decidir en grupo:</a:t>
            </a:r>
          </a:p>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1. ¿Que modelo de gobernanza elegis? (fundador, democratico, federado)</a:t>
            </a:r>
          </a:p>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2. ¿Que politica de endorsement usariais? (AND, OR, MAJORITY)</a:t>
            </a:r>
          </a:p>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3. ¿Quien opera los orderers?</a:t>
            </a:r>
          </a:p>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4. ¿Como se incorpora un nuevo banco?</a:t>
            </a:r>
          </a:p>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5. ¿Que pasa si un banco quiere salir? ¿Y con los datos KYC de sus clientes?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600" b="1">
                <a:solidFill>
                  <a:srgbClr val="FFFFFF"/>
                </a:solidFill>
                <a:latin typeface="Calibri"/>
              </a:defRPr>
            </a:pPr>
            <a:r>
              <a:rPr kumimoji="0" sz="3600" b="1" i="0" u="none" strike="noStrike" kern="1200" cap="none" spc="0" normalizeH="0" baseline="0" noProof="0">
                <a:ln>
                  <a:noFill/>
                </a:ln>
                <a:solidFill>
                  <a:srgbClr val="FFFFFF"/>
                </a:solidFill>
                <a:effectLst/>
                <a:uLnTx/>
                <a:uFillTx/>
                <a:latin typeface="Calibri"/>
                <a:ea typeface="+mn-ea"/>
                <a:cs typeface="+mn-cs"/>
              </a:rPr>
              <a:t>Repaso del dia</a:t>
            </a:r>
          </a:p>
        </p:txBody>
      </p:sp>
      <p:sp>
        <p:nvSpPr>
          <p:cNvPr id="4" name="Rectangle 3"/>
          <p:cNvSpPr/>
          <p:nvPr/>
        </p:nvSpPr>
        <p:spPr>
          <a:xfrm>
            <a:off x="457200" y="1051560"/>
            <a:ext cx="10972800" cy="27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37160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1. ¿Que es la gobernanza de un consorcio y por que es critica?</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2. Nombra los 3 modelos de gobernanza y un ejemplo de cada uno</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3. ¿Como codifica Fabric la gobernanza? (politicas)</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4. ¿Quien deberia pagar los orderers?</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5. ¿Que hay que definir ANTES de que una org abandone el consorcio?</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0DF4C-6600-94C1-F17D-4ABBB12112D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8F3F762-3B2C-24CE-CBD7-D92BE3C5B448}"/>
              </a:ext>
            </a:extLst>
          </p:cNvPr>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B1AF2038-8444-91B3-5D73-DD019909E67E}"/>
              </a:ext>
            </a:extLst>
          </p:cNvPr>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Respuestas al debate: gobernanza consorcio KYC</a:t>
            </a:r>
          </a:p>
        </p:txBody>
      </p:sp>
      <p:sp>
        <p:nvSpPr>
          <p:cNvPr id="4" name="Rectangle 3">
            <a:extLst>
              <a:ext uri="{FF2B5EF4-FFF2-40B4-BE49-F238E27FC236}">
                <a16:creationId xmlns:a16="http://schemas.microsoft.com/office/drawing/2014/main" id="{1A20898B-7859-C38A-ED92-8286103E29EB}"/>
              </a:ext>
            </a:extLst>
          </p:cNvPr>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7E567B94-98B8-9119-A4A6-7610C50E64C6}"/>
              </a:ext>
            </a:extLst>
          </p:cNvPr>
          <p:cNvSpPr txBox="1"/>
          <p:nvPr/>
        </p:nvSpPr>
        <p:spPr>
          <a:xfrm>
            <a:off x="640080" y="1280160"/>
            <a:ext cx="10515600" cy="408829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1. Modelo de </a:t>
            </a:r>
            <a:r>
              <a:rPr kumimoji="0" sz="2000" b="0" i="0" u="none" strike="noStrike" kern="1200" cap="none" spc="0" normalizeH="0" baseline="0" noProof="0" dirty="0" err="1">
                <a:ln>
                  <a:noFill/>
                </a:ln>
                <a:solidFill>
                  <a:srgbClr val="333333"/>
                </a:solidFill>
                <a:effectLst/>
                <a:uLnTx/>
                <a:uFillTx/>
                <a:latin typeface="Calibri"/>
                <a:ea typeface="+mn-ea"/>
                <a:cs typeface="+mn-cs"/>
              </a:rPr>
              <a:t>gobernanza</a:t>
            </a:r>
            <a:r>
              <a:rPr kumimoji="0" sz="2000" b="0" i="0" u="none" strike="noStrike" kern="1200" cap="none" spc="0" normalizeH="0" baseline="0" noProof="0" dirty="0">
                <a:ln>
                  <a:noFill/>
                </a:ln>
                <a:solidFill>
                  <a:srgbClr val="333333"/>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Federado</a:t>
            </a:r>
            <a:r>
              <a:rPr kumimoji="0" sz="1700" b="0" i="0" u="none" strike="noStrike" kern="1200" cap="none" spc="0" normalizeH="0" baseline="0" noProof="0" dirty="0">
                <a:ln>
                  <a:noFill/>
                </a:ln>
                <a:solidFill>
                  <a:srgbClr val="666666"/>
                </a:solidFill>
                <a:effectLst/>
                <a:uLnTx/>
                <a:uFillTx/>
                <a:latin typeface="Calibri"/>
                <a:ea typeface="+mn-ea"/>
                <a:cs typeface="+mn-cs"/>
              </a:rPr>
              <a:t> con </a:t>
            </a:r>
            <a:r>
              <a:rPr kumimoji="0" sz="1700" b="0" i="0" u="none" strike="noStrike" kern="1200" cap="none" spc="0" normalizeH="0" baseline="0" noProof="0" dirty="0" err="1">
                <a:ln>
                  <a:noFill/>
                </a:ln>
                <a:solidFill>
                  <a:srgbClr val="666666"/>
                </a:solidFill>
                <a:effectLst/>
                <a:uLnTx/>
                <a:uFillTx/>
                <a:latin typeface="Calibri"/>
                <a:ea typeface="+mn-ea"/>
                <a:cs typeface="+mn-cs"/>
              </a:rPr>
              <a:t>comite</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rotativo</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evita</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que</a:t>
            </a:r>
            <a:r>
              <a:rPr kumimoji="0" sz="1700" b="0" i="0" u="none" strike="noStrike" kern="1200" cap="none" spc="0" normalizeH="0" baseline="0" noProof="0" dirty="0">
                <a:ln>
                  <a:noFill/>
                </a:ln>
                <a:solidFill>
                  <a:srgbClr val="666666"/>
                </a:solidFill>
                <a:effectLst/>
                <a:uLnTx/>
                <a:uFillTx/>
                <a:latin typeface="Calibri"/>
                <a:ea typeface="+mn-ea"/>
                <a:cs typeface="+mn-cs"/>
              </a:rPr>
              <a:t> un banco domine.</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Alternativa: </a:t>
            </a:r>
            <a:r>
              <a:rPr kumimoji="0" sz="1700" b="0" i="0" u="none" strike="noStrike" kern="1200" cap="none" spc="0" normalizeH="0" baseline="0" noProof="0" dirty="0" err="1">
                <a:ln>
                  <a:noFill/>
                </a:ln>
                <a:solidFill>
                  <a:srgbClr val="666666"/>
                </a:solidFill>
                <a:effectLst/>
                <a:uLnTx/>
                <a:uFillTx/>
                <a:latin typeface="Calibri"/>
                <a:ea typeface="+mn-ea"/>
                <a:cs typeface="+mn-cs"/>
              </a:rPr>
              <a:t>democratico</a:t>
            </a:r>
            <a:r>
              <a:rPr kumimoji="0" sz="1700" b="0" i="0" u="none" strike="noStrike" kern="1200" cap="none" spc="0" normalizeH="0" baseline="0" noProof="0" dirty="0">
                <a:ln>
                  <a:noFill/>
                </a:ln>
                <a:solidFill>
                  <a:srgbClr val="666666"/>
                </a:solidFill>
                <a:effectLst/>
                <a:uLnTx/>
                <a:uFillTx/>
                <a:latin typeface="Calibri"/>
                <a:ea typeface="+mn-ea"/>
                <a:cs typeface="+mn-cs"/>
              </a:rPr>
              <a:t> (1 banco = 1 </a:t>
            </a:r>
            <a:r>
              <a:rPr kumimoji="0" sz="1700" b="0" i="0" u="none" strike="noStrike" kern="1200" cap="none" spc="0" normalizeH="0" baseline="0" noProof="0" dirty="0" err="1">
                <a:ln>
                  <a:noFill/>
                </a:ln>
                <a:solidFill>
                  <a:srgbClr val="666666"/>
                </a:solidFill>
                <a:effectLst/>
                <a:uLnTx/>
                <a:uFillTx/>
                <a:latin typeface="Calibri"/>
                <a:ea typeface="+mn-ea"/>
                <a:cs typeface="+mn-cs"/>
              </a:rPr>
              <a:t>voto</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si</a:t>
            </a:r>
            <a:r>
              <a:rPr kumimoji="0" sz="1700" b="0" i="0" u="none" strike="noStrike" kern="1200" cap="none" spc="0" normalizeH="0" baseline="0" noProof="0" dirty="0">
                <a:ln>
                  <a:noFill/>
                </a:ln>
                <a:solidFill>
                  <a:srgbClr val="666666"/>
                </a:solidFill>
                <a:effectLst/>
                <a:uLnTx/>
                <a:uFillTx/>
                <a:latin typeface="Calibri"/>
                <a:ea typeface="+mn-ea"/>
                <a:cs typeface="+mn-cs"/>
              </a:rPr>
              <a:t> son comparables </a:t>
            </a:r>
            <a:r>
              <a:rPr kumimoji="0" sz="1700" b="0" i="0" u="none" strike="noStrike" kern="1200" cap="none" spc="0" normalizeH="0" baseline="0" noProof="0" dirty="0" err="1">
                <a:ln>
                  <a:noFill/>
                </a:ln>
                <a:solidFill>
                  <a:srgbClr val="666666"/>
                </a:solidFill>
                <a:effectLst/>
                <a:uLnTx/>
                <a:uFillTx/>
                <a:latin typeface="Calibri"/>
                <a:ea typeface="+mn-ea"/>
                <a:cs typeface="+mn-cs"/>
              </a:rPr>
              <a:t>en</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tamano</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Fundador</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dominante</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evitar</a:t>
            </a:r>
            <a:r>
              <a:rPr kumimoji="0" sz="1700" b="0" i="0" u="none" strike="noStrike" kern="1200" cap="none" spc="0" normalizeH="0" baseline="0" noProof="0" dirty="0">
                <a:ln>
                  <a:noFill/>
                </a:ln>
                <a:solidFill>
                  <a:srgbClr val="666666"/>
                </a:solidFill>
                <a:effectLst/>
                <a:uLnTx/>
                <a:uFillTx/>
                <a:latin typeface="Calibri"/>
                <a:ea typeface="+mn-ea"/>
                <a:cs typeface="+mn-cs"/>
              </a:rPr>
              <a:t> — </a:t>
            </a:r>
            <a:r>
              <a:rPr kumimoji="0" sz="1700" b="0" i="0" u="none" strike="noStrike" kern="1200" cap="none" spc="0" normalizeH="0" baseline="0" noProof="0" dirty="0" err="1">
                <a:ln>
                  <a:noFill/>
                </a:ln>
                <a:solidFill>
                  <a:srgbClr val="666666"/>
                </a:solidFill>
                <a:effectLst/>
                <a:uLnTx/>
                <a:uFillTx/>
                <a:latin typeface="Calibri"/>
                <a:ea typeface="+mn-ea"/>
                <a:cs typeface="+mn-cs"/>
              </a:rPr>
              <a:t>replicaria</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el</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problema</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TradeLens</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2. </a:t>
            </a:r>
            <a:r>
              <a:rPr kumimoji="0" sz="2000" b="0" i="0" u="none" strike="noStrike" kern="1200" cap="none" spc="0" normalizeH="0" baseline="0" noProof="0" dirty="0" err="1">
                <a:ln>
                  <a:noFill/>
                </a:ln>
                <a:solidFill>
                  <a:srgbClr val="333333"/>
                </a:solidFill>
                <a:effectLst/>
                <a:uLnTx/>
                <a:uFillTx/>
                <a:latin typeface="Calibri"/>
                <a:ea typeface="+mn-ea"/>
                <a:cs typeface="+mn-cs"/>
              </a:rPr>
              <a:t>Politica</a:t>
            </a:r>
            <a:r>
              <a:rPr kumimoji="0" sz="2000" b="0" i="0" u="none" strike="noStrike" kern="1200" cap="none" spc="0" normalizeH="0" baseline="0" noProof="0" dirty="0">
                <a:ln>
                  <a:noFill/>
                </a:ln>
                <a:solidFill>
                  <a:srgbClr val="333333"/>
                </a:solidFill>
                <a:effectLst/>
                <a:uLnTx/>
                <a:uFillTx/>
                <a:latin typeface="Calibri"/>
                <a:ea typeface="+mn-ea"/>
                <a:cs typeface="+mn-cs"/>
              </a:rPr>
              <a:t> de endorsement: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Lectura KYC: OR(</a:t>
            </a:r>
            <a:r>
              <a:rPr kumimoji="0" sz="1700" b="0" i="0" u="none" strike="noStrike" kern="1200" cap="none" spc="0" normalizeH="0" baseline="0" noProof="0" dirty="0" err="1">
                <a:ln>
                  <a:noFill/>
                </a:ln>
                <a:solidFill>
                  <a:srgbClr val="666666"/>
                </a:solidFill>
                <a:effectLst/>
                <a:uLnTx/>
                <a:uFillTx/>
                <a:latin typeface="Calibri"/>
                <a:ea typeface="+mn-ea"/>
                <a:cs typeface="+mn-cs"/>
              </a:rPr>
              <a:t>banco_titular</a:t>
            </a:r>
            <a:r>
              <a:rPr kumimoji="0" sz="1700" b="0" i="0" u="none" strike="noStrike" kern="1200" cap="none" spc="0" normalizeH="0" baseline="0" noProof="0" dirty="0">
                <a:ln>
                  <a:noFill/>
                </a:ln>
                <a:solidFill>
                  <a:srgbClr val="666666"/>
                </a:solidFill>
                <a:effectLst/>
                <a:uLnTx/>
                <a:uFillTx/>
                <a:latin typeface="Calibri"/>
                <a:ea typeface="+mn-ea"/>
                <a:cs typeface="+mn-cs"/>
              </a:rPr>
              <a:t>) — </a:t>
            </a:r>
            <a:r>
              <a:rPr kumimoji="0" sz="1700" b="0" i="0" u="none" strike="noStrike" kern="1200" cap="none" spc="0" normalizeH="0" baseline="0" noProof="0" dirty="0" err="1">
                <a:ln>
                  <a:noFill/>
                </a:ln>
                <a:solidFill>
                  <a:srgbClr val="666666"/>
                </a:solidFill>
                <a:effectLst/>
                <a:uLnTx/>
                <a:uFillTx/>
                <a:latin typeface="Calibri"/>
                <a:ea typeface="+mn-ea"/>
                <a:cs typeface="+mn-cs"/>
              </a:rPr>
              <a:t>el</a:t>
            </a:r>
            <a:r>
              <a:rPr kumimoji="0" sz="1700" b="0" i="0" u="none" strike="noStrike" kern="1200" cap="none" spc="0" normalizeH="0" baseline="0" noProof="0" dirty="0">
                <a:ln>
                  <a:noFill/>
                </a:ln>
                <a:solidFill>
                  <a:srgbClr val="666666"/>
                </a:solidFill>
                <a:effectLst/>
                <a:uLnTx/>
                <a:uFillTx/>
                <a:latin typeface="Calibri"/>
                <a:ea typeface="+mn-ea"/>
                <a:cs typeface="+mn-cs"/>
              </a:rPr>
              <a:t> banco del </a:t>
            </a:r>
            <a:r>
              <a:rPr kumimoji="0" sz="1700" b="0" i="0" u="none" strike="noStrike" kern="1200" cap="none" spc="0" normalizeH="0" baseline="0" noProof="0" dirty="0" err="1">
                <a:ln>
                  <a:noFill/>
                </a:ln>
                <a:solidFill>
                  <a:srgbClr val="666666"/>
                </a:solidFill>
                <a:effectLst/>
                <a:uLnTx/>
                <a:uFillTx/>
                <a:latin typeface="Calibri"/>
                <a:ea typeface="+mn-ea"/>
                <a:cs typeface="+mn-cs"/>
              </a:rPr>
              <a:t>cliente</a:t>
            </a:r>
            <a:r>
              <a:rPr kumimoji="0" sz="1700" b="0" i="0" u="none" strike="noStrike" kern="1200" cap="none" spc="0" normalizeH="0" baseline="0" noProof="0" dirty="0">
                <a:ln>
                  <a:noFill/>
                </a:ln>
                <a:solidFill>
                  <a:srgbClr val="666666"/>
                </a:solidFill>
                <a:effectLst/>
                <a:uLnTx/>
                <a:uFillTx/>
                <a:latin typeface="Calibri"/>
                <a:ea typeface="+mn-ea"/>
                <a:cs typeface="+mn-cs"/>
              </a:rPr>
              <a:t> basta.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Actualizar</a:t>
            </a:r>
            <a:r>
              <a:rPr kumimoji="0" sz="1700" b="0" i="0" u="none" strike="noStrike" kern="1200" cap="none" spc="0" normalizeH="0" baseline="0" noProof="0" dirty="0">
                <a:ln>
                  <a:noFill/>
                </a:ln>
                <a:solidFill>
                  <a:srgbClr val="666666"/>
                </a:solidFill>
                <a:effectLst/>
                <a:uLnTx/>
                <a:uFillTx/>
                <a:latin typeface="Calibri"/>
                <a:ea typeface="+mn-ea"/>
                <a:cs typeface="+mn-cs"/>
              </a:rPr>
              <a:t> KYC: AND(</a:t>
            </a:r>
            <a:r>
              <a:rPr kumimoji="0" sz="1700" b="0" i="0" u="none" strike="noStrike" kern="1200" cap="none" spc="0" normalizeH="0" baseline="0" noProof="0" dirty="0" err="1">
                <a:ln>
                  <a:noFill/>
                </a:ln>
                <a:solidFill>
                  <a:srgbClr val="666666"/>
                </a:solidFill>
                <a:effectLst/>
                <a:uLnTx/>
                <a:uFillTx/>
                <a:latin typeface="Calibri"/>
                <a:ea typeface="+mn-ea"/>
                <a:cs typeface="+mn-cs"/>
              </a:rPr>
              <a:t>banco_titular</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banco_validador</a:t>
            </a:r>
            <a:r>
              <a:rPr kumimoji="0" sz="1700" b="0" i="0" u="none" strike="noStrike" kern="1200" cap="none" spc="0" normalizeH="0" baseline="0" noProof="0" dirty="0">
                <a:ln>
                  <a:noFill/>
                </a:ln>
                <a:solidFill>
                  <a:srgbClr val="666666"/>
                </a:solidFill>
                <a:effectLst/>
                <a:uLnTx/>
                <a:uFillTx/>
                <a:latin typeface="Calibri"/>
                <a:ea typeface="+mn-ea"/>
                <a:cs typeface="+mn-cs"/>
              </a:rPr>
              <a:t>) — doble </a:t>
            </a:r>
            <a:r>
              <a:rPr kumimoji="0" sz="1700" b="0" i="0" u="none" strike="noStrike" kern="1200" cap="none" spc="0" normalizeH="0" baseline="0" noProof="0" dirty="0" err="1">
                <a:ln>
                  <a:noFill/>
                </a:ln>
                <a:solidFill>
                  <a:srgbClr val="666666"/>
                </a:solidFill>
                <a:effectLst/>
                <a:uLnTx/>
                <a:uFillTx/>
                <a:latin typeface="Calibri"/>
                <a:ea typeface="+mn-ea"/>
                <a:cs typeface="+mn-cs"/>
              </a:rPr>
              <a:t>verificacion</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Cambios</a:t>
            </a:r>
            <a:r>
              <a:rPr kumimoji="0" sz="1700" b="0" i="0" u="none" strike="noStrike" kern="1200" cap="none" spc="0" normalizeH="0" baseline="0" noProof="0" dirty="0">
                <a:ln>
                  <a:noFill/>
                </a:ln>
                <a:solidFill>
                  <a:srgbClr val="666666"/>
                </a:solidFill>
                <a:effectLst/>
                <a:uLnTx/>
                <a:uFillTx/>
                <a:latin typeface="Calibri"/>
                <a:ea typeface="+mn-ea"/>
                <a:cs typeface="+mn-cs"/>
              </a:rPr>
              <a:t> de </a:t>
            </a:r>
            <a:r>
              <a:rPr kumimoji="0" sz="1700" b="0" i="0" u="none" strike="noStrike" kern="1200" cap="none" spc="0" normalizeH="0" baseline="0" noProof="0" dirty="0" err="1">
                <a:ln>
                  <a:noFill/>
                </a:ln>
                <a:solidFill>
                  <a:srgbClr val="666666"/>
                </a:solidFill>
                <a:effectLst/>
                <a:uLnTx/>
                <a:uFillTx/>
                <a:latin typeface="Calibri"/>
                <a:ea typeface="+mn-ea"/>
                <a:cs typeface="+mn-cs"/>
              </a:rPr>
              <a:t>politica</a:t>
            </a:r>
            <a:r>
              <a:rPr kumimoji="0" sz="1700" b="0" i="0" u="none" strike="noStrike" kern="1200" cap="none" spc="0" normalizeH="0" baseline="0" noProof="0" dirty="0">
                <a:ln>
                  <a:noFill/>
                </a:ln>
                <a:solidFill>
                  <a:srgbClr val="666666"/>
                </a:solidFill>
                <a:effectLst/>
                <a:uLnTx/>
                <a:uFillTx/>
                <a:latin typeface="Calibri"/>
                <a:ea typeface="+mn-ea"/>
                <a:cs typeface="+mn-cs"/>
              </a:rPr>
              <a:t> del canal: MAJORITY de </a:t>
            </a:r>
            <a:r>
              <a:rPr kumimoji="0" sz="1700" b="0" i="0" u="none" strike="noStrike" kern="1200" cap="none" spc="0" normalizeH="0" baseline="0" noProof="0" dirty="0" err="1">
                <a:ln>
                  <a:noFill/>
                </a:ln>
                <a:solidFill>
                  <a:srgbClr val="666666"/>
                </a:solidFill>
                <a:effectLst/>
                <a:uLnTx/>
                <a:uFillTx/>
                <a:latin typeface="Calibri"/>
                <a:ea typeface="+mn-ea"/>
                <a:cs typeface="+mn-cs"/>
              </a:rPr>
              <a:t>los</a:t>
            </a:r>
            <a:r>
              <a:rPr kumimoji="0" sz="1700" b="0" i="0" u="none" strike="noStrike" kern="1200" cap="none" spc="0" normalizeH="0" baseline="0" noProof="0" dirty="0">
                <a:ln>
                  <a:noFill/>
                </a:ln>
                <a:solidFill>
                  <a:srgbClr val="666666"/>
                </a:solidFill>
                <a:effectLst/>
                <a:uLnTx/>
                <a:uFillTx/>
                <a:latin typeface="Calibri"/>
                <a:ea typeface="+mn-ea"/>
                <a:cs typeface="+mn-cs"/>
              </a:rPr>
              <a:t> 5 </a:t>
            </a:r>
            <a:r>
              <a:rPr kumimoji="0" sz="1700" b="0" i="0" u="none" strike="noStrike" kern="1200" cap="none" spc="0" normalizeH="0" baseline="0" noProof="0" dirty="0" err="1">
                <a:ln>
                  <a:noFill/>
                </a:ln>
                <a:solidFill>
                  <a:srgbClr val="666666"/>
                </a:solidFill>
                <a:effectLst/>
                <a:uLnTx/>
                <a:uFillTx/>
                <a:latin typeface="Calibri"/>
                <a:ea typeface="+mn-ea"/>
                <a:cs typeface="+mn-cs"/>
              </a:rPr>
              <a:t>bancos</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3. ¿Quien opera </a:t>
            </a:r>
            <a:r>
              <a:rPr kumimoji="0" sz="2000" b="0" i="0" u="none" strike="noStrike" kern="1200" cap="none" spc="0" normalizeH="0" baseline="0" noProof="0" dirty="0" err="1">
                <a:ln>
                  <a:noFill/>
                </a:ln>
                <a:solidFill>
                  <a:srgbClr val="333333"/>
                </a:solidFill>
                <a:effectLst/>
                <a:uLnTx/>
                <a:uFillTx/>
                <a:latin typeface="Calibri"/>
                <a:ea typeface="+mn-ea"/>
                <a:cs typeface="+mn-cs"/>
              </a:rPr>
              <a:t>los</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orderers</a:t>
            </a:r>
            <a:r>
              <a:rPr kumimoji="0" sz="2000" b="0" i="0" u="none" strike="noStrike" kern="1200" cap="none" spc="0" normalizeH="0" baseline="0" noProof="0" dirty="0">
                <a:ln>
                  <a:noFill/>
                </a:ln>
                <a:solidFill>
                  <a:srgbClr val="333333"/>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Distribuidos</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cada</a:t>
            </a:r>
            <a:r>
              <a:rPr kumimoji="0" sz="1700" b="0" i="0" u="none" strike="noStrike" kern="1200" cap="none" spc="0" normalizeH="0" baseline="0" noProof="0" dirty="0">
                <a:ln>
                  <a:noFill/>
                </a:ln>
                <a:solidFill>
                  <a:srgbClr val="666666"/>
                </a:solidFill>
                <a:effectLst/>
                <a:uLnTx/>
                <a:uFillTx/>
                <a:latin typeface="Calibri"/>
                <a:ea typeface="+mn-ea"/>
                <a:cs typeface="+mn-cs"/>
              </a:rPr>
              <a:t> banco opera un </a:t>
            </a:r>
            <a:r>
              <a:rPr kumimoji="0" sz="1700" b="0" i="0" u="none" strike="noStrike" kern="1200" cap="none" spc="0" normalizeH="0" baseline="0" noProof="0" dirty="0" err="1">
                <a:ln>
                  <a:noFill/>
                </a:ln>
                <a:solidFill>
                  <a:srgbClr val="666666"/>
                </a:solidFill>
                <a:effectLst/>
                <a:uLnTx/>
                <a:uFillTx/>
                <a:latin typeface="Calibri"/>
                <a:ea typeface="+mn-ea"/>
                <a:cs typeface="+mn-cs"/>
              </a:rPr>
              <a:t>nodo</a:t>
            </a:r>
            <a:r>
              <a:rPr kumimoji="0" sz="1700" b="0" i="0" u="none" strike="noStrike" kern="1200" cap="none" spc="0" normalizeH="0" baseline="0" noProof="0" dirty="0">
                <a:ln>
                  <a:noFill/>
                </a:ln>
                <a:solidFill>
                  <a:srgbClr val="666666"/>
                </a:solidFill>
                <a:effectLst/>
                <a:uLnTx/>
                <a:uFillTx/>
                <a:latin typeface="Calibri"/>
                <a:ea typeface="+mn-ea"/>
                <a:cs typeface="+mn-cs"/>
              </a:rPr>
              <a:t> Raft (5 </a:t>
            </a:r>
            <a:r>
              <a:rPr kumimoji="0" sz="1700" b="0" i="0" u="none" strike="noStrike" kern="1200" cap="none" spc="0" normalizeH="0" baseline="0" noProof="0" dirty="0" err="1">
                <a:ln>
                  <a:noFill/>
                </a:ln>
                <a:solidFill>
                  <a:srgbClr val="666666"/>
                </a:solidFill>
                <a:effectLst/>
                <a:uLnTx/>
                <a:uFillTx/>
                <a:latin typeface="Calibri"/>
                <a:ea typeface="+mn-ea"/>
                <a:cs typeface="+mn-cs"/>
              </a:rPr>
              <a:t>nodos</a:t>
            </a:r>
            <a:r>
              <a:rPr kumimoji="0" sz="1700" b="0" i="0" u="none" strike="noStrike" kern="1200" cap="none" spc="0" normalizeH="0" baseline="0" noProof="0" dirty="0">
                <a:ln>
                  <a:noFill/>
                </a:ln>
                <a:solidFill>
                  <a:srgbClr val="666666"/>
                </a:solidFill>
                <a:effectLst/>
                <a:uLnTx/>
                <a:uFillTx/>
                <a:latin typeface="Calibri"/>
                <a:ea typeface="+mn-ea"/>
                <a:cs typeface="+mn-cs"/>
              </a:rPr>
              <a:t> total).</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Ningun</a:t>
            </a:r>
            <a:r>
              <a:rPr kumimoji="0" sz="1700" b="0" i="0" u="none" strike="noStrike" kern="1200" cap="none" spc="0" normalizeH="0" baseline="0" noProof="0" dirty="0">
                <a:ln>
                  <a:noFill/>
                </a:ln>
                <a:solidFill>
                  <a:srgbClr val="666666"/>
                </a:solidFill>
                <a:effectLst/>
                <a:uLnTx/>
                <a:uFillTx/>
                <a:latin typeface="Calibri"/>
                <a:ea typeface="+mn-ea"/>
                <a:cs typeface="+mn-cs"/>
              </a:rPr>
              <a:t> banco </a:t>
            </a:r>
            <a:r>
              <a:rPr kumimoji="0" sz="1700" b="0" i="0" u="none" strike="noStrike" kern="1200" cap="none" spc="0" normalizeH="0" baseline="0" noProof="0" dirty="0" err="1">
                <a:ln>
                  <a:noFill/>
                </a:ln>
                <a:solidFill>
                  <a:srgbClr val="666666"/>
                </a:solidFill>
                <a:effectLst/>
                <a:uLnTx/>
                <a:uFillTx/>
                <a:latin typeface="Calibri"/>
                <a:ea typeface="+mn-ea"/>
                <a:cs typeface="+mn-cs"/>
              </a:rPr>
              <a:t>controla</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el</a:t>
            </a:r>
            <a:r>
              <a:rPr kumimoji="0" sz="1700" b="0" i="0" u="none" strike="noStrike" kern="1200" cap="none" spc="0" normalizeH="0" baseline="0" noProof="0" dirty="0">
                <a:ln>
                  <a:noFill/>
                </a:ln>
                <a:solidFill>
                  <a:srgbClr val="666666"/>
                </a:solidFill>
                <a:effectLst/>
                <a:uLnTx/>
                <a:uFillTx/>
                <a:latin typeface="Calibri"/>
                <a:ea typeface="+mn-ea"/>
                <a:cs typeface="+mn-cs"/>
              </a:rPr>
              <a:t> ordering solo.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Alta </a:t>
            </a:r>
            <a:r>
              <a:rPr kumimoji="0" sz="1700" b="0" i="0" u="none" strike="noStrike" kern="1200" cap="none" spc="0" normalizeH="0" baseline="0" noProof="0" dirty="0" err="1">
                <a:ln>
                  <a:noFill/>
                </a:ln>
                <a:solidFill>
                  <a:srgbClr val="666666"/>
                </a:solidFill>
                <a:effectLst/>
                <a:uLnTx/>
                <a:uFillTx/>
                <a:latin typeface="Calibri"/>
                <a:ea typeface="+mn-ea"/>
                <a:cs typeface="+mn-cs"/>
              </a:rPr>
              <a:t>disponibilidad</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tolera</a:t>
            </a:r>
            <a:r>
              <a:rPr kumimoji="0" sz="1700" b="0" i="0" u="none" strike="noStrike" kern="1200" cap="none" spc="0" normalizeH="0" baseline="0" noProof="0" dirty="0">
                <a:ln>
                  <a:noFill/>
                </a:ln>
                <a:solidFill>
                  <a:srgbClr val="666666"/>
                </a:solidFill>
                <a:effectLst/>
                <a:uLnTx/>
                <a:uFillTx/>
                <a:latin typeface="Calibri"/>
                <a:ea typeface="+mn-ea"/>
                <a:cs typeface="+mn-cs"/>
              </a:rPr>
              <a:t> 2 </a:t>
            </a:r>
            <a:r>
              <a:rPr kumimoji="0" sz="1700" b="0" i="0" u="none" strike="noStrike" kern="1200" cap="none" spc="0" normalizeH="0" baseline="0" noProof="0" dirty="0" err="1">
                <a:ln>
                  <a:noFill/>
                </a:ln>
                <a:solidFill>
                  <a:srgbClr val="666666"/>
                </a:solidFill>
                <a:effectLst/>
                <a:uLnTx/>
                <a:uFillTx/>
                <a:latin typeface="Calibri"/>
                <a:ea typeface="+mn-ea"/>
                <a:cs typeface="+mn-cs"/>
              </a:rPr>
              <a:t>fallos</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simultaneos</a:t>
            </a:r>
            <a:r>
              <a:rPr kumimoji="0" sz="1700" b="0" i="0" u="none" strike="noStrike" kern="1200" cap="none" spc="0" normalizeH="0" baseline="0" noProof="0" dirty="0">
                <a:ln>
                  <a:noFill/>
                </a:ln>
                <a:solidFill>
                  <a:srgbClr val="666666"/>
                </a:solidFill>
                <a:effectLst/>
                <a:uLnTx/>
                <a:uFillTx/>
                <a:latin typeface="Calibri"/>
                <a:ea typeface="+mn-ea"/>
                <a:cs typeface="+mn-cs"/>
              </a:rPr>
              <a:t>.</a:t>
            </a:r>
          </a:p>
        </p:txBody>
      </p:sp>
    </p:spTree>
    <p:extLst>
      <p:ext uri="{BB962C8B-B14F-4D97-AF65-F5344CB8AC3E}">
        <p14:creationId xmlns:p14="http://schemas.microsoft.com/office/powerpoint/2010/main" val="37720501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Respuestas al debate: gobernanza consorcio KYC</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336502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lang="es-ES" sz="2000" b="0" i="0" u="none" strike="noStrike" kern="1200" cap="none" spc="0" normalizeH="0" baseline="0" noProof="0" dirty="0">
                <a:ln>
                  <a:noFill/>
                </a:ln>
                <a:solidFill>
                  <a:srgbClr val="333333"/>
                </a:solidFill>
                <a:effectLst/>
                <a:uLnTx/>
                <a:uFillTx/>
                <a:latin typeface="Calibri"/>
                <a:ea typeface="+mn-ea"/>
                <a:cs typeface="+mn-cs"/>
              </a:rPr>
              <a:t>4. Como incorporar un nuevo banco: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Evaluacion</a:t>
            </a:r>
            <a:r>
              <a:rPr kumimoji="0" lang="es-ES" sz="1700" b="0" i="0" u="none" strike="noStrike" kern="1200" cap="none" spc="0" normalizeH="0" baseline="0" noProof="0" dirty="0">
                <a:ln>
                  <a:noFill/>
                </a:ln>
                <a:solidFill>
                  <a:srgbClr val="666666"/>
                </a:solidFill>
                <a:effectLst/>
                <a:uLnTx/>
                <a:uFillTx/>
                <a:latin typeface="Calibri"/>
                <a:ea typeface="+mn-ea"/>
                <a:cs typeface="+mn-cs"/>
              </a:rPr>
              <a:t> por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comite</a:t>
            </a:r>
            <a:r>
              <a:rPr kumimoji="0" lang="es-ES" sz="1700" b="0" i="0" u="none" strike="noStrike" kern="1200" cap="none" spc="0" normalizeH="0" baseline="0" noProof="0" dirty="0">
                <a:ln>
                  <a:noFill/>
                </a:ln>
                <a:solidFill>
                  <a:srgbClr val="666666"/>
                </a:solidFill>
                <a:effectLst/>
                <a:uLnTx/>
                <a:uFillTx/>
                <a:latin typeface="Calibri"/>
                <a:ea typeface="+mn-ea"/>
                <a:cs typeface="+mn-cs"/>
              </a:rPr>
              <a:t> (sistemas,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regulacion</a:t>
            </a:r>
            <a:r>
              <a:rPr kumimoji="0" lang="es-ES" sz="1700" b="0" i="0" u="none" strike="noStrike" kern="1200" cap="none" spc="0" normalizeH="0" baseline="0" noProof="0" dirty="0">
                <a:ln>
                  <a:noFill/>
                </a:ln>
                <a:solidFill>
                  <a:srgbClr val="666666"/>
                </a:solidFill>
                <a:effectLst/>
                <a:uLnTx/>
                <a:uFillTx/>
                <a:latin typeface="Calibri"/>
                <a:ea typeface="+mn-ea"/>
                <a:cs typeface="+mn-cs"/>
              </a:rPr>
              <a:t>, solvencia).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Aprobacion</a:t>
            </a:r>
            <a:r>
              <a:rPr kumimoji="0" lang="es-ES" sz="1700" b="0" i="0" u="none" strike="noStrike" kern="1200" cap="none" spc="0" normalizeH="0" baseline="0" noProof="0" dirty="0">
                <a:ln>
                  <a:noFill/>
                </a:ln>
                <a:solidFill>
                  <a:srgbClr val="666666"/>
                </a:solidFill>
                <a:effectLst/>
                <a:uLnTx/>
                <a:uFillTx/>
                <a:latin typeface="Calibri"/>
                <a:ea typeface="+mn-ea"/>
                <a:cs typeface="+mn-cs"/>
              </a:rPr>
              <a:t> formal: MAJORITY de los 5 bancos existentes.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Onboarding</a:t>
            </a:r>
            <a:r>
              <a:rPr kumimoji="0" lang="es-ES" sz="1700" b="0" i="0" u="none" strike="noStrike" kern="1200" cap="none" spc="0" normalizeH="0" baseline="0" noProof="0" dirty="0">
                <a:ln>
                  <a:noFill/>
                </a:ln>
                <a:solidFill>
                  <a:srgbClr val="666666"/>
                </a:solidFill>
                <a:effectLst/>
                <a:uLnTx/>
                <a:uFillTx/>
                <a:latin typeface="Calibri"/>
                <a:ea typeface="+mn-ea"/>
                <a:cs typeface="+mn-cs"/>
              </a:rPr>
              <a:t>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tecnico</a:t>
            </a:r>
            <a:r>
              <a:rPr kumimoji="0" lang="es-ES" sz="1700" b="0" i="0" u="none" strike="noStrike" kern="1200" cap="none" spc="0" normalizeH="0" baseline="0" noProof="0" dirty="0">
                <a:ln>
                  <a:noFill/>
                </a:ln>
                <a:solidFill>
                  <a:srgbClr val="666666"/>
                </a:solidFill>
                <a:effectLst/>
                <a:uLnTx/>
                <a:uFillTx/>
                <a:latin typeface="Calibri"/>
                <a:ea typeface="+mn-ea"/>
                <a:cs typeface="+mn-cs"/>
              </a:rPr>
              <a:t>: emitir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certs</a:t>
            </a:r>
            <a:r>
              <a:rPr kumimoji="0" lang="es-ES" sz="1700" b="0" i="0" u="none" strike="noStrike" kern="1200" cap="none" spc="0" normalizeH="0" baseline="0" noProof="0" dirty="0">
                <a:ln>
                  <a:noFill/>
                </a:ln>
                <a:solidFill>
                  <a:srgbClr val="666666"/>
                </a:solidFill>
                <a:effectLst/>
                <a:uLnTx/>
                <a:uFillTx/>
                <a:latin typeface="Calibri"/>
                <a:ea typeface="+mn-ea"/>
                <a:cs typeface="+mn-cs"/>
              </a:rPr>
              <a:t>, unir al canal, instalar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chaincode</a:t>
            </a:r>
            <a:r>
              <a:rPr kumimoji="0" lang="es-ES"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Cuota escalada: paga proporcional a su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tamano</a:t>
            </a:r>
            <a:r>
              <a:rPr kumimoji="0" lang="es-ES" sz="1700" b="0" i="0" u="none" strike="noStrike" kern="1200" cap="none" spc="0" normalizeH="0" baseline="0" noProof="0" dirty="0">
                <a:ln>
                  <a:noFill/>
                </a:ln>
                <a:solidFill>
                  <a:srgbClr val="666666"/>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lang="es-ES" sz="2000" b="0" i="0" u="none" strike="noStrike" kern="1200" cap="none" spc="0" normalizeH="0" baseline="0" noProof="0" dirty="0">
                <a:ln>
                  <a:noFill/>
                </a:ln>
                <a:solidFill>
                  <a:srgbClr val="333333"/>
                </a:solidFill>
                <a:effectLst/>
                <a:uLnTx/>
                <a:uFillTx/>
                <a:latin typeface="Calibri"/>
                <a:ea typeface="+mn-ea"/>
                <a:cs typeface="+mn-cs"/>
              </a:rPr>
              <a:t>5. Que pasa si un banco quiere salir:</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Datos KYC ya registrados: inmutables, no se pueden borrar.</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Su certificado se revoca (CRL) — no puede leer ni escribir.</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Los clientes del banco migran a otro banco del consorcio o salen del sistema.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Responsabilidad legal por datos antiguos queda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segun</a:t>
            </a:r>
            <a:r>
              <a:rPr kumimoji="0" lang="es-ES" sz="1700" b="0" i="0" u="none" strike="noStrike" kern="1200" cap="none" spc="0" normalizeH="0" baseline="0" noProof="0" dirty="0">
                <a:ln>
                  <a:noFill/>
                </a:ln>
                <a:solidFill>
                  <a:srgbClr val="666666"/>
                </a:solidFill>
                <a:effectLst/>
                <a:uLnTx/>
                <a:uFillTx/>
                <a:latin typeface="Calibri"/>
                <a:ea typeface="+mn-ea"/>
                <a:cs typeface="+mn-cs"/>
              </a:rPr>
              <a:t> el acuerdo del consorcio.</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Respuestas al repaso</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440120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1. </a:t>
            </a:r>
            <a:r>
              <a:rPr kumimoji="0" sz="2000" b="0" i="0" u="none" strike="noStrike" kern="1200" cap="none" spc="0" normalizeH="0" baseline="0" noProof="0" dirty="0" err="1">
                <a:ln>
                  <a:noFill/>
                </a:ln>
                <a:solidFill>
                  <a:srgbClr val="333333"/>
                </a:solidFill>
                <a:effectLst/>
                <a:uLnTx/>
                <a:uFillTx/>
                <a:latin typeface="Calibri"/>
                <a:ea typeface="+mn-ea"/>
                <a:cs typeface="+mn-cs"/>
              </a:rPr>
              <a:t>Gobernanza</a:t>
            </a:r>
            <a:r>
              <a:rPr kumimoji="0" sz="2000" b="0" i="0" u="none" strike="noStrike" kern="1200" cap="none" spc="0" normalizeH="0" baseline="0" noProof="0" dirty="0">
                <a:ln>
                  <a:noFill/>
                </a:ln>
                <a:solidFill>
                  <a:srgbClr val="333333"/>
                </a:solidFill>
                <a:effectLst/>
                <a:uLnTx/>
                <a:uFillTx/>
                <a:latin typeface="Calibri"/>
                <a:ea typeface="+mn-ea"/>
                <a:cs typeface="+mn-cs"/>
              </a:rPr>
              <a:t> y </a:t>
            </a:r>
            <a:r>
              <a:rPr kumimoji="0" sz="2000" b="0" i="0" u="none" strike="noStrike" kern="1200" cap="none" spc="0" normalizeH="0" baseline="0" noProof="0" dirty="0" err="1">
                <a:ln>
                  <a:noFill/>
                </a:ln>
                <a:solidFill>
                  <a:srgbClr val="333333"/>
                </a:solidFill>
                <a:effectLst/>
                <a:uLnTx/>
                <a:uFillTx/>
                <a:latin typeface="Calibri"/>
                <a:ea typeface="+mn-ea"/>
                <a:cs typeface="+mn-cs"/>
              </a:rPr>
              <a:t>por</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que</a:t>
            </a:r>
            <a:r>
              <a:rPr kumimoji="0" sz="2000" b="0" i="0" u="none" strike="noStrike" kern="1200" cap="none" spc="0" normalizeH="0" baseline="0" noProof="0" dirty="0">
                <a:ln>
                  <a:noFill/>
                </a:ln>
                <a:solidFill>
                  <a:srgbClr val="333333"/>
                </a:solidFill>
                <a:effectLst/>
                <a:uLnTx/>
                <a:uFillTx/>
                <a:latin typeface="Calibri"/>
                <a:ea typeface="+mn-ea"/>
                <a:cs typeface="+mn-cs"/>
              </a:rPr>
              <a:t> es </a:t>
            </a:r>
            <a:r>
              <a:rPr kumimoji="0" sz="2000" b="0" i="0" u="none" strike="noStrike" kern="1200" cap="none" spc="0" normalizeH="0" baseline="0" noProof="0" dirty="0" err="1">
                <a:ln>
                  <a:noFill/>
                </a:ln>
                <a:solidFill>
                  <a:srgbClr val="333333"/>
                </a:solidFill>
                <a:effectLst/>
                <a:uLnTx/>
                <a:uFillTx/>
                <a:latin typeface="Calibri"/>
                <a:ea typeface="+mn-ea"/>
                <a:cs typeface="+mn-cs"/>
              </a:rPr>
              <a:t>critica</a:t>
            </a:r>
            <a:r>
              <a:rPr kumimoji="0" sz="2000" b="0" i="0" u="none" strike="noStrike" kern="1200" cap="none" spc="0" normalizeH="0" baseline="0" noProof="0" dirty="0">
                <a:ln>
                  <a:noFill/>
                </a:ln>
                <a:solidFill>
                  <a:srgbClr val="333333"/>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Conjunto de </a:t>
            </a:r>
            <a:r>
              <a:rPr kumimoji="0" sz="1700" b="0" i="0" u="none" strike="noStrike" kern="1200" cap="none" spc="0" normalizeH="0" baseline="0" noProof="0" dirty="0" err="1">
                <a:ln>
                  <a:noFill/>
                </a:ln>
                <a:solidFill>
                  <a:srgbClr val="666666"/>
                </a:solidFill>
                <a:effectLst/>
                <a:uLnTx/>
                <a:uFillTx/>
                <a:latin typeface="Calibri"/>
                <a:ea typeface="+mn-ea"/>
                <a:cs typeface="+mn-cs"/>
              </a:rPr>
              <a:t>reglas</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que</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definen</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como</a:t>
            </a:r>
            <a:r>
              <a:rPr kumimoji="0" sz="1700" b="0" i="0" u="none" strike="noStrike" kern="1200" cap="none" spc="0" normalizeH="0" baseline="0" noProof="0" dirty="0">
                <a:ln>
                  <a:noFill/>
                </a:ln>
                <a:solidFill>
                  <a:srgbClr val="666666"/>
                </a:solidFill>
                <a:effectLst/>
                <a:uLnTx/>
                <a:uFillTx/>
                <a:latin typeface="Calibri"/>
                <a:ea typeface="+mn-ea"/>
                <a:cs typeface="+mn-cs"/>
              </a:rPr>
              <a:t> se toman </a:t>
            </a:r>
            <a:r>
              <a:rPr kumimoji="0" sz="1700" b="0" i="0" u="none" strike="noStrike" kern="1200" cap="none" spc="0" normalizeH="0" baseline="0" noProof="0" dirty="0" err="1">
                <a:ln>
                  <a:noFill/>
                </a:ln>
                <a:solidFill>
                  <a:srgbClr val="666666"/>
                </a:solidFill>
                <a:effectLst/>
                <a:uLnTx/>
                <a:uFillTx/>
                <a:latin typeface="Calibri"/>
                <a:ea typeface="+mn-ea"/>
                <a:cs typeface="+mn-cs"/>
              </a:rPr>
              <a:t>decisiones</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en</a:t>
            </a:r>
            <a:r>
              <a:rPr kumimoji="0" sz="1700" b="0" i="0" u="none" strike="noStrike" kern="1200" cap="none" spc="0" normalizeH="0" baseline="0" noProof="0" dirty="0">
                <a:ln>
                  <a:noFill/>
                </a:ln>
                <a:solidFill>
                  <a:srgbClr val="666666"/>
                </a:solidFill>
                <a:effectLst/>
                <a:uLnTx/>
                <a:uFillTx/>
                <a:latin typeface="Calibri"/>
                <a:ea typeface="+mn-ea"/>
                <a:cs typeface="+mn-cs"/>
              </a:rPr>
              <a:t> la red.</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Sin </a:t>
            </a:r>
            <a:r>
              <a:rPr kumimoji="0" sz="1700" b="0" i="0" u="none" strike="noStrike" kern="1200" cap="none" spc="0" normalizeH="0" baseline="0" noProof="0" dirty="0" err="1">
                <a:ln>
                  <a:noFill/>
                </a:ln>
                <a:solidFill>
                  <a:srgbClr val="666666"/>
                </a:solidFill>
                <a:effectLst/>
                <a:uLnTx/>
                <a:uFillTx/>
                <a:latin typeface="Calibri"/>
                <a:ea typeface="+mn-ea"/>
                <a:cs typeface="+mn-cs"/>
              </a:rPr>
              <a:t>ella</a:t>
            </a:r>
            <a:r>
              <a:rPr kumimoji="0" sz="1700" b="0" i="0" u="none" strike="noStrike" kern="1200" cap="none" spc="0" normalizeH="0" baseline="0" noProof="0" dirty="0">
                <a:ln>
                  <a:noFill/>
                </a:ln>
                <a:solidFill>
                  <a:srgbClr val="666666"/>
                </a:solidFill>
                <a:effectLst/>
                <a:uLnTx/>
                <a:uFillTx/>
                <a:latin typeface="Calibri"/>
                <a:ea typeface="+mn-ea"/>
                <a:cs typeface="+mn-cs"/>
              </a:rPr>
              <a:t>, no hay </a:t>
            </a:r>
            <a:r>
              <a:rPr kumimoji="0" sz="1700" b="0" i="0" u="none" strike="noStrike" kern="1200" cap="none" spc="0" normalizeH="0" baseline="0" noProof="0" dirty="0" err="1">
                <a:ln>
                  <a:noFill/>
                </a:ln>
                <a:solidFill>
                  <a:srgbClr val="666666"/>
                </a:solidFill>
                <a:effectLst/>
                <a:uLnTx/>
                <a:uFillTx/>
                <a:latin typeface="Calibri"/>
                <a:ea typeface="+mn-ea"/>
                <a:cs typeface="+mn-cs"/>
              </a:rPr>
              <a:t>consenso</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sobre</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cambios</a:t>
            </a:r>
            <a:r>
              <a:rPr kumimoji="0" sz="1700" b="0" i="0" u="none" strike="noStrike" kern="1200" cap="none" spc="0" normalizeH="0" baseline="0" noProof="0" dirty="0">
                <a:ln>
                  <a:noFill/>
                </a:ln>
                <a:solidFill>
                  <a:srgbClr val="666666"/>
                </a:solidFill>
                <a:effectLst/>
                <a:uLnTx/>
                <a:uFillTx/>
                <a:latin typeface="Calibri"/>
                <a:ea typeface="+mn-ea"/>
                <a:cs typeface="+mn-cs"/>
              </a:rPr>
              <a:t> y </a:t>
            </a:r>
            <a:r>
              <a:rPr kumimoji="0" sz="1700" b="0" i="0" u="none" strike="noStrike" kern="1200" cap="none" spc="0" normalizeH="0" baseline="0" noProof="0" dirty="0" err="1">
                <a:ln>
                  <a:noFill/>
                </a:ln>
                <a:solidFill>
                  <a:srgbClr val="666666"/>
                </a:solidFill>
                <a:effectLst/>
                <a:uLnTx/>
                <a:uFillTx/>
                <a:latin typeface="Calibri"/>
                <a:ea typeface="+mn-ea"/>
                <a:cs typeface="+mn-cs"/>
              </a:rPr>
              <a:t>el</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consorcio</a:t>
            </a:r>
            <a:r>
              <a:rPr kumimoji="0" sz="1700" b="0" i="0" u="none" strike="noStrike" kern="1200" cap="none" spc="0" normalizeH="0" baseline="0" noProof="0" dirty="0">
                <a:ln>
                  <a:noFill/>
                </a:ln>
                <a:solidFill>
                  <a:srgbClr val="666666"/>
                </a:solidFill>
                <a:effectLst/>
                <a:uLnTx/>
                <a:uFillTx/>
                <a:latin typeface="Calibri"/>
                <a:ea typeface="+mn-ea"/>
                <a:cs typeface="+mn-cs"/>
              </a:rPr>
              <a:t> se </a:t>
            </a:r>
            <a:r>
              <a:rPr kumimoji="0" sz="1700" b="0" i="0" u="none" strike="noStrike" kern="1200" cap="none" spc="0" normalizeH="0" baseline="0" noProof="0" dirty="0" err="1">
                <a:ln>
                  <a:noFill/>
                </a:ln>
                <a:solidFill>
                  <a:srgbClr val="666666"/>
                </a:solidFill>
                <a:effectLst/>
                <a:uLnTx/>
                <a:uFillTx/>
                <a:latin typeface="Calibri"/>
                <a:ea typeface="+mn-ea"/>
                <a:cs typeface="+mn-cs"/>
              </a:rPr>
              <a:t>paraliza</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Proyectos</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como</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TradeLens</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cerraron</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por</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falla</a:t>
            </a:r>
            <a:r>
              <a:rPr kumimoji="0" sz="1700" b="0" i="0" u="none" strike="noStrike" kern="1200" cap="none" spc="0" normalizeH="0" baseline="0" noProof="0" dirty="0">
                <a:ln>
                  <a:noFill/>
                </a:ln>
                <a:solidFill>
                  <a:srgbClr val="666666"/>
                </a:solidFill>
                <a:effectLst/>
                <a:uLnTx/>
                <a:uFillTx/>
                <a:latin typeface="Calibri"/>
                <a:ea typeface="+mn-ea"/>
                <a:cs typeface="+mn-cs"/>
              </a:rPr>
              <a:t> de </a:t>
            </a:r>
            <a:r>
              <a:rPr kumimoji="0" sz="1700" b="0" i="0" u="none" strike="noStrike" kern="1200" cap="none" spc="0" normalizeH="0" baseline="0" noProof="0" dirty="0" err="1">
                <a:ln>
                  <a:noFill/>
                </a:ln>
                <a:solidFill>
                  <a:srgbClr val="666666"/>
                </a:solidFill>
                <a:effectLst/>
                <a:uLnTx/>
                <a:uFillTx/>
                <a:latin typeface="Calibri"/>
                <a:ea typeface="+mn-ea"/>
                <a:cs typeface="+mn-cs"/>
              </a:rPr>
              <a:t>gobernanza</a:t>
            </a:r>
            <a:r>
              <a:rPr kumimoji="0" sz="1700" b="0" i="0" u="none" strike="noStrike" kern="1200" cap="none" spc="0" normalizeH="0" baseline="0" noProof="0" dirty="0">
                <a:ln>
                  <a:noFill/>
                </a:ln>
                <a:solidFill>
                  <a:srgbClr val="666666"/>
                </a:solidFill>
                <a:effectLst/>
                <a:uLnTx/>
                <a:uFillTx/>
                <a:latin typeface="Calibri"/>
                <a:ea typeface="+mn-ea"/>
                <a:cs typeface="+mn-cs"/>
              </a:rPr>
              <a:t>, no </a:t>
            </a:r>
            <a:r>
              <a:rPr kumimoji="0" sz="1700" b="0" i="0" u="none" strike="noStrike" kern="1200" cap="none" spc="0" normalizeH="0" baseline="0" noProof="0" dirty="0" err="1">
                <a:ln>
                  <a:noFill/>
                </a:ln>
                <a:solidFill>
                  <a:srgbClr val="666666"/>
                </a:solidFill>
                <a:effectLst/>
                <a:uLnTx/>
                <a:uFillTx/>
                <a:latin typeface="Calibri"/>
                <a:ea typeface="+mn-ea"/>
                <a:cs typeface="+mn-cs"/>
              </a:rPr>
              <a:t>tecnologia</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2. Tres </a:t>
            </a:r>
            <a:r>
              <a:rPr kumimoji="0" sz="2000" b="0" i="0" u="none" strike="noStrike" kern="1200" cap="none" spc="0" normalizeH="0" baseline="0" noProof="0" dirty="0" err="1">
                <a:ln>
                  <a:noFill/>
                </a:ln>
                <a:solidFill>
                  <a:srgbClr val="333333"/>
                </a:solidFill>
                <a:effectLst/>
                <a:uLnTx/>
                <a:uFillTx/>
                <a:latin typeface="Calibri"/>
                <a:ea typeface="+mn-ea"/>
                <a:cs typeface="+mn-cs"/>
              </a:rPr>
              <a:t>modelos</a:t>
            </a:r>
            <a:r>
              <a:rPr kumimoji="0" sz="2000" b="0" i="0" u="none" strike="noStrike" kern="1200" cap="none" spc="0" normalizeH="0" baseline="0" noProof="0" dirty="0">
                <a:ln>
                  <a:noFill/>
                </a:ln>
                <a:solidFill>
                  <a:srgbClr val="333333"/>
                </a:solidFill>
                <a:effectLst/>
                <a:uLnTx/>
                <a:uFillTx/>
                <a:latin typeface="Calibri"/>
                <a:ea typeface="+mn-ea"/>
                <a:cs typeface="+mn-cs"/>
              </a:rPr>
              <a:t> de </a:t>
            </a:r>
            <a:r>
              <a:rPr kumimoji="0" sz="2000" b="0" i="0" u="none" strike="noStrike" kern="1200" cap="none" spc="0" normalizeH="0" baseline="0" noProof="0" dirty="0" err="1">
                <a:ln>
                  <a:noFill/>
                </a:ln>
                <a:solidFill>
                  <a:srgbClr val="333333"/>
                </a:solidFill>
                <a:effectLst/>
                <a:uLnTx/>
                <a:uFillTx/>
                <a:latin typeface="Calibri"/>
                <a:ea typeface="+mn-ea"/>
                <a:cs typeface="+mn-cs"/>
              </a:rPr>
              <a:t>gobernanza</a:t>
            </a:r>
            <a:r>
              <a:rPr kumimoji="0" sz="2000" b="0" i="0" u="none" strike="noStrike" kern="1200" cap="none" spc="0" normalizeH="0" baseline="0" noProof="0" dirty="0">
                <a:ln>
                  <a:noFill/>
                </a:ln>
                <a:solidFill>
                  <a:srgbClr val="333333"/>
                </a:solidFill>
                <a:effectLst/>
                <a:uLnTx/>
                <a:uFillTx/>
                <a:latin typeface="Calibri"/>
                <a:ea typeface="+mn-ea"/>
                <a:cs typeface="+mn-cs"/>
              </a:rPr>
              <a:t> + </a:t>
            </a:r>
            <a:r>
              <a:rPr kumimoji="0" sz="2000" b="0" i="0" u="none" strike="noStrike" kern="1200" cap="none" spc="0" normalizeH="0" baseline="0" noProof="0" dirty="0" err="1">
                <a:ln>
                  <a:noFill/>
                </a:ln>
                <a:solidFill>
                  <a:srgbClr val="333333"/>
                </a:solidFill>
                <a:effectLst/>
                <a:uLnTx/>
                <a:uFillTx/>
                <a:latin typeface="Calibri"/>
                <a:ea typeface="+mn-ea"/>
                <a:cs typeface="+mn-cs"/>
              </a:rPr>
              <a:t>ejemplo</a:t>
            </a:r>
            <a:r>
              <a:rPr kumimoji="0" sz="2000" b="0" i="0" u="none" strike="noStrike" kern="1200" cap="none" spc="0" normalizeH="0" baseline="0" noProof="0" dirty="0">
                <a:ln>
                  <a:noFill/>
                </a:ln>
                <a:solidFill>
                  <a:srgbClr val="333333"/>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Fundador</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dominante</a:t>
            </a:r>
            <a:r>
              <a:rPr kumimoji="0" sz="1700" b="0" i="0" u="none" strike="noStrike" kern="1200" cap="none" spc="0" normalizeH="0" baseline="0" noProof="0" dirty="0">
                <a:ln>
                  <a:noFill/>
                </a:ln>
                <a:solidFill>
                  <a:srgbClr val="666666"/>
                </a:solidFill>
                <a:effectLst/>
                <a:uLnTx/>
                <a:uFillTx/>
                <a:latin typeface="Calibri"/>
                <a:ea typeface="+mn-ea"/>
                <a:cs typeface="+mn-cs"/>
              </a:rPr>
              <a:t>: Walmart Food Trust (Walmart </a:t>
            </a:r>
            <a:r>
              <a:rPr kumimoji="0" sz="1700" b="0" i="0" u="none" strike="noStrike" kern="1200" cap="none" spc="0" normalizeH="0" baseline="0" noProof="0" dirty="0" err="1">
                <a:ln>
                  <a:noFill/>
                </a:ln>
                <a:solidFill>
                  <a:srgbClr val="666666"/>
                </a:solidFill>
                <a:effectLst/>
                <a:uLnTx/>
                <a:uFillTx/>
                <a:latin typeface="Calibri"/>
                <a:ea typeface="+mn-ea"/>
                <a:cs typeface="+mn-cs"/>
              </a:rPr>
              <a:t>impone</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Democratico: </a:t>
            </a:r>
            <a:r>
              <a:rPr kumimoji="0" sz="1700" b="0" i="0" u="none" strike="noStrike" kern="1200" cap="none" spc="0" normalizeH="0" baseline="0" noProof="0" dirty="0" err="1">
                <a:ln>
                  <a:noFill/>
                </a:ln>
                <a:solidFill>
                  <a:srgbClr val="666666"/>
                </a:solidFill>
                <a:effectLst/>
                <a:uLnTx/>
                <a:uFillTx/>
                <a:latin typeface="Calibri"/>
                <a:ea typeface="+mn-ea"/>
                <a:cs typeface="+mn-cs"/>
              </a:rPr>
              <a:t>Alastria</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cada</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miembro</a:t>
            </a:r>
            <a:r>
              <a:rPr kumimoji="0" sz="1700" b="0" i="0" u="none" strike="noStrike" kern="1200" cap="none" spc="0" normalizeH="0" baseline="0" noProof="0" dirty="0">
                <a:ln>
                  <a:noFill/>
                </a:ln>
                <a:solidFill>
                  <a:srgbClr val="666666"/>
                </a:solidFill>
                <a:effectLst/>
                <a:uLnTx/>
                <a:uFillTx/>
                <a:latin typeface="Calibri"/>
                <a:ea typeface="+mn-ea"/>
                <a:cs typeface="+mn-cs"/>
              </a:rPr>
              <a:t> un </a:t>
            </a:r>
            <a:r>
              <a:rPr kumimoji="0" sz="1700" b="0" i="0" u="none" strike="noStrike" kern="1200" cap="none" spc="0" normalizeH="0" baseline="0" noProof="0" dirty="0" err="1">
                <a:ln>
                  <a:noFill/>
                </a:ln>
                <a:solidFill>
                  <a:srgbClr val="666666"/>
                </a:solidFill>
                <a:effectLst/>
                <a:uLnTx/>
                <a:uFillTx/>
                <a:latin typeface="Calibri"/>
                <a:ea typeface="+mn-ea"/>
                <a:cs typeface="+mn-cs"/>
              </a:rPr>
              <a:t>voto</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en</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asamblea</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Federado</a:t>
            </a:r>
            <a:r>
              <a:rPr kumimoji="0" sz="1700" b="0" i="0" u="none" strike="noStrike" kern="1200" cap="none" spc="0" normalizeH="0" baseline="0" noProof="0" dirty="0">
                <a:ln>
                  <a:noFill/>
                </a:ln>
                <a:solidFill>
                  <a:srgbClr val="666666"/>
                </a:solidFill>
                <a:effectLst/>
                <a:uLnTx/>
                <a:uFillTx/>
                <a:latin typeface="Calibri"/>
                <a:ea typeface="+mn-ea"/>
                <a:cs typeface="+mn-cs"/>
              </a:rPr>
              <a:t>: EBSI (</a:t>
            </a:r>
            <a:r>
              <a:rPr kumimoji="0" sz="1700" b="0" i="0" u="none" strike="noStrike" kern="1200" cap="none" spc="0" normalizeH="0" baseline="0" noProof="0" dirty="0" err="1">
                <a:ln>
                  <a:noFill/>
                </a:ln>
                <a:solidFill>
                  <a:srgbClr val="666666"/>
                </a:solidFill>
                <a:effectLst/>
                <a:uLnTx/>
                <a:uFillTx/>
                <a:latin typeface="Calibri"/>
                <a:ea typeface="+mn-ea"/>
                <a:cs typeface="+mn-cs"/>
              </a:rPr>
              <a:t>comite</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ejecutivo</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rotativo</a:t>
            </a:r>
            <a:r>
              <a:rPr kumimoji="0" sz="1700" b="0" i="0" u="none" strike="noStrike" kern="1200" cap="none" spc="0" normalizeH="0" baseline="0" noProof="0" dirty="0">
                <a:ln>
                  <a:noFill/>
                </a:ln>
                <a:solidFill>
                  <a:srgbClr val="666666"/>
                </a:solidFill>
                <a:effectLst/>
                <a:uLnTx/>
                <a:uFillTx/>
                <a:latin typeface="Calibri"/>
                <a:ea typeface="+mn-ea"/>
                <a:cs typeface="+mn-cs"/>
              </a:rPr>
              <a:t> entre </a:t>
            </a:r>
            <a:r>
              <a:rPr kumimoji="0" sz="1700" b="0" i="0" u="none" strike="noStrike" kern="1200" cap="none" spc="0" normalizeH="0" baseline="0" noProof="0" dirty="0" err="1">
                <a:ln>
                  <a:noFill/>
                </a:ln>
                <a:solidFill>
                  <a:srgbClr val="666666"/>
                </a:solidFill>
                <a:effectLst/>
                <a:uLnTx/>
                <a:uFillTx/>
                <a:latin typeface="Calibri"/>
                <a:ea typeface="+mn-ea"/>
                <a:cs typeface="+mn-cs"/>
              </a:rPr>
              <a:t>miembros</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3. ¿Como </a:t>
            </a:r>
            <a:r>
              <a:rPr kumimoji="0" sz="2000" b="0" i="0" u="none" strike="noStrike" kern="1200" cap="none" spc="0" normalizeH="0" baseline="0" noProof="0" dirty="0" err="1">
                <a:ln>
                  <a:noFill/>
                </a:ln>
                <a:solidFill>
                  <a:srgbClr val="333333"/>
                </a:solidFill>
                <a:effectLst/>
                <a:uLnTx/>
                <a:uFillTx/>
                <a:latin typeface="Calibri"/>
                <a:ea typeface="+mn-ea"/>
                <a:cs typeface="+mn-cs"/>
              </a:rPr>
              <a:t>codifica</a:t>
            </a:r>
            <a:r>
              <a:rPr kumimoji="0" sz="2000" b="0" i="0" u="none" strike="noStrike" kern="1200" cap="none" spc="0" normalizeH="0" baseline="0" noProof="0" dirty="0">
                <a:ln>
                  <a:noFill/>
                </a:ln>
                <a:solidFill>
                  <a:srgbClr val="333333"/>
                </a:solidFill>
                <a:effectLst/>
                <a:uLnTx/>
                <a:uFillTx/>
                <a:latin typeface="Calibri"/>
                <a:ea typeface="+mn-ea"/>
                <a:cs typeface="+mn-cs"/>
              </a:rPr>
              <a:t> Fabric la </a:t>
            </a:r>
            <a:r>
              <a:rPr kumimoji="0" sz="2000" b="0" i="0" u="none" strike="noStrike" kern="1200" cap="none" spc="0" normalizeH="0" baseline="0" noProof="0" dirty="0" err="1">
                <a:ln>
                  <a:noFill/>
                </a:ln>
                <a:solidFill>
                  <a:srgbClr val="333333"/>
                </a:solidFill>
                <a:effectLst/>
                <a:uLnTx/>
                <a:uFillTx/>
                <a:latin typeface="Calibri"/>
                <a:ea typeface="+mn-ea"/>
                <a:cs typeface="+mn-cs"/>
              </a:rPr>
              <a:t>gobernanza</a:t>
            </a:r>
            <a:r>
              <a:rPr kumimoji="0" sz="2000" b="0" i="0" u="none" strike="noStrike" kern="1200" cap="none" spc="0" normalizeH="0" baseline="0" noProof="0" dirty="0">
                <a:ln>
                  <a:noFill/>
                </a:ln>
                <a:solidFill>
                  <a:srgbClr val="333333"/>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Politicas</a:t>
            </a:r>
            <a:r>
              <a:rPr kumimoji="0" sz="1700" b="0" i="0" u="none" strike="noStrike" kern="1200" cap="none" spc="0" normalizeH="0" baseline="0" noProof="0" dirty="0">
                <a:ln>
                  <a:noFill/>
                </a:ln>
                <a:solidFill>
                  <a:srgbClr val="666666"/>
                </a:solidFill>
                <a:effectLst/>
                <a:uLnTx/>
                <a:uFillTx/>
                <a:latin typeface="Calibri"/>
                <a:ea typeface="+mn-ea"/>
                <a:cs typeface="+mn-cs"/>
              </a:rPr>
              <a:t> de canal (MAJORITY Admins, </a:t>
            </a:r>
            <a:r>
              <a:rPr kumimoji="0" sz="1700" b="0" i="0" u="none" strike="noStrike" kern="1200" cap="none" spc="0" normalizeH="0" baseline="0" noProof="0" dirty="0" err="1">
                <a:ln>
                  <a:noFill/>
                </a:ln>
                <a:solidFill>
                  <a:srgbClr val="666666"/>
                </a:solidFill>
                <a:effectLst/>
                <a:uLnTx/>
                <a:uFillTx/>
                <a:latin typeface="Calibri"/>
                <a:ea typeface="+mn-ea"/>
                <a:cs typeface="+mn-cs"/>
              </a:rPr>
              <a:t>etc</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Politicas</a:t>
            </a:r>
            <a:r>
              <a:rPr kumimoji="0" sz="1700" b="0" i="0" u="none" strike="noStrike" kern="1200" cap="none" spc="0" normalizeH="0" baseline="0" noProof="0" dirty="0">
                <a:ln>
                  <a:noFill/>
                </a:ln>
                <a:solidFill>
                  <a:srgbClr val="666666"/>
                </a:solidFill>
                <a:effectLst/>
                <a:uLnTx/>
                <a:uFillTx/>
                <a:latin typeface="Calibri"/>
                <a:ea typeface="+mn-ea"/>
                <a:cs typeface="+mn-cs"/>
              </a:rPr>
              <a:t> de endorsement </a:t>
            </a:r>
            <a:r>
              <a:rPr kumimoji="0" sz="1700" b="0" i="0" u="none" strike="noStrike" kern="1200" cap="none" spc="0" normalizeH="0" baseline="0" noProof="0" dirty="0" err="1">
                <a:ln>
                  <a:noFill/>
                </a:ln>
                <a:solidFill>
                  <a:srgbClr val="666666"/>
                </a:solidFill>
                <a:effectLst/>
                <a:uLnTx/>
                <a:uFillTx/>
                <a:latin typeface="Calibri"/>
                <a:ea typeface="+mn-ea"/>
                <a:cs typeface="+mn-cs"/>
              </a:rPr>
              <a:t>por</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chaincode</a:t>
            </a:r>
            <a:r>
              <a:rPr kumimoji="0" sz="1700" b="0" i="0" u="none" strike="noStrike" kern="1200" cap="none" spc="0" normalizeH="0" baseline="0" noProof="0" dirty="0">
                <a:ln>
                  <a:noFill/>
                </a:ln>
                <a:solidFill>
                  <a:srgbClr val="666666"/>
                </a:solidFill>
                <a:effectLst/>
                <a:uLnTx/>
                <a:uFillTx/>
                <a:latin typeface="Calibri"/>
                <a:ea typeface="+mn-ea"/>
                <a:cs typeface="+mn-cs"/>
              </a:rPr>
              <a:t> o state-based </a:t>
            </a:r>
            <a:r>
              <a:rPr kumimoji="0" sz="1700" b="0" i="0" u="none" strike="noStrike" kern="1200" cap="none" spc="0" normalizeH="0" baseline="0" noProof="0" dirty="0" err="1">
                <a:ln>
                  <a:noFill/>
                </a:ln>
                <a:solidFill>
                  <a:srgbClr val="666666"/>
                </a:solidFill>
                <a:effectLst/>
                <a:uLnTx/>
                <a:uFillTx/>
                <a:latin typeface="Calibri"/>
                <a:ea typeface="+mn-ea"/>
                <a:cs typeface="+mn-cs"/>
              </a:rPr>
              <a:t>por</a:t>
            </a:r>
            <a:r>
              <a:rPr kumimoji="0" sz="1700" b="0" i="0" u="none" strike="noStrike" kern="1200" cap="none" spc="0" normalizeH="0" baseline="0" noProof="0" dirty="0">
                <a:ln>
                  <a:noFill/>
                </a:ln>
                <a:solidFill>
                  <a:srgbClr val="666666"/>
                </a:solidFill>
                <a:effectLst/>
                <a:uLnTx/>
                <a:uFillTx/>
                <a:latin typeface="Calibri"/>
                <a:ea typeface="+mn-ea"/>
                <a:cs typeface="+mn-cs"/>
              </a:rPr>
              <a:t> key.</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Lifecycle: </a:t>
            </a:r>
            <a:r>
              <a:rPr kumimoji="0" sz="1700" b="0" i="0" u="none" strike="noStrike" kern="1200" cap="none" spc="0" normalizeH="0" baseline="0" noProof="0" dirty="0" err="1">
                <a:ln>
                  <a:noFill/>
                </a:ln>
                <a:solidFill>
                  <a:srgbClr val="666666"/>
                </a:solidFill>
                <a:effectLst/>
                <a:uLnTx/>
                <a:uFillTx/>
                <a:latin typeface="Calibri"/>
                <a:ea typeface="+mn-ea"/>
                <a:cs typeface="+mn-cs"/>
              </a:rPr>
              <a:t>approveformyorg</a:t>
            </a:r>
            <a:r>
              <a:rPr kumimoji="0" sz="1700" b="0" i="0" u="none" strike="noStrike" kern="1200" cap="none" spc="0" normalizeH="0" baseline="0" noProof="0" dirty="0">
                <a:ln>
                  <a:noFill/>
                </a:ln>
                <a:solidFill>
                  <a:srgbClr val="666666"/>
                </a:solidFill>
                <a:effectLst/>
                <a:uLnTx/>
                <a:uFillTx/>
                <a:latin typeface="Calibri"/>
                <a:ea typeface="+mn-ea"/>
                <a:cs typeface="+mn-cs"/>
              </a:rPr>
              <a:t> + commit </a:t>
            </a:r>
            <a:r>
              <a:rPr kumimoji="0" sz="1700" b="0" i="0" u="none" strike="noStrike" kern="1200" cap="none" spc="0" normalizeH="0" baseline="0" noProof="0" dirty="0" err="1">
                <a:ln>
                  <a:noFill/>
                </a:ln>
                <a:solidFill>
                  <a:srgbClr val="666666"/>
                </a:solidFill>
                <a:effectLst/>
                <a:uLnTx/>
                <a:uFillTx/>
                <a:latin typeface="Calibri"/>
                <a:ea typeface="+mn-ea"/>
                <a:cs typeface="+mn-cs"/>
              </a:rPr>
              <a:t>requieren</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consenso</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Configuracion</a:t>
            </a:r>
            <a:r>
              <a:rPr kumimoji="0" sz="1700" b="0" i="0" u="none" strike="noStrike" kern="1200" cap="none" spc="0" normalizeH="0" baseline="0" noProof="0" dirty="0">
                <a:ln>
                  <a:noFill/>
                </a:ln>
                <a:solidFill>
                  <a:srgbClr val="666666"/>
                </a:solidFill>
                <a:effectLst/>
                <a:uLnTx/>
                <a:uFillTx/>
                <a:latin typeface="Calibri"/>
                <a:ea typeface="+mn-ea"/>
                <a:cs typeface="+mn-cs"/>
              </a:rPr>
              <a:t> del canal: </a:t>
            </a:r>
            <a:r>
              <a:rPr kumimoji="0" sz="1700" b="0" i="0" u="none" strike="noStrike" kern="1200" cap="none" spc="0" normalizeH="0" baseline="0" noProof="0" dirty="0" err="1">
                <a:ln>
                  <a:noFill/>
                </a:ln>
                <a:solidFill>
                  <a:srgbClr val="666666"/>
                </a:solidFill>
                <a:effectLst/>
                <a:uLnTx/>
                <a:uFillTx/>
                <a:latin typeface="Calibri"/>
                <a:ea typeface="+mn-ea"/>
                <a:cs typeface="+mn-cs"/>
              </a:rPr>
              <a:t>cambios</a:t>
            </a:r>
            <a:r>
              <a:rPr kumimoji="0" sz="1700" b="0" i="0" u="none" strike="noStrike" kern="1200" cap="none" spc="0" normalizeH="0" baseline="0" noProof="0" dirty="0">
                <a:ln>
                  <a:noFill/>
                </a:ln>
                <a:solidFill>
                  <a:srgbClr val="666666"/>
                </a:solidFill>
                <a:effectLst/>
                <a:uLnTx/>
                <a:uFillTx/>
                <a:latin typeface="Calibri"/>
                <a:ea typeface="+mn-ea"/>
                <a:cs typeface="+mn-cs"/>
              </a:rPr>
              <a:t> via </a:t>
            </a:r>
            <a:r>
              <a:rPr kumimoji="0" sz="1700" b="0" i="0" u="none" strike="noStrike" kern="1200" cap="none" spc="0" normalizeH="0" baseline="0" noProof="0" dirty="0" err="1">
                <a:ln>
                  <a:noFill/>
                </a:ln>
                <a:solidFill>
                  <a:srgbClr val="666666"/>
                </a:solidFill>
                <a:effectLst/>
                <a:uLnTx/>
                <a:uFillTx/>
                <a:latin typeface="Calibri"/>
                <a:ea typeface="+mn-ea"/>
                <a:cs typeface="+mn-cs"/>
              </a:rPr>
              <a:t>propuesta</a:t>
            </a:r>
            <a:r>
              <a:rPr kumimoji="0" sz="1700" b="0" i="0" u="none" strike="noStrike" kern="1200" cap="none" spc="0" normalizeH="0" baseline="0" noProof="0" dirty="0">
                <a:ln>
                  <a:noFill/>
                </a:ln>
                <a:solidFill>
                  <a:srgbClr val="666666"/>
                </a:solidFill>
                <a:effectLst/>
                <a:uLnTx/>
                <a:uFillTx/>
                <a:latin typeface="Calibri"/>
                <a:ea typeface="+mn-ea"/>
                <a:cs typeface="+mn-cs"/>
              </a:rPr>
              <a:t> + </a:t>
            </a:r>
            <a:r>
              <a:rPr kumimoji="0" sz="1700" b="0" i="0" u="none" strike="noStrike" kern="1200" cap="none" spc="0" normalizeH="0" baseline="0" noProof="0" dirty="0" err="1">
                <a:ln>
                  <a:noFill/>
                </a:ln>
                <a:solidFill>
                  <a:srgbClr val="666666"/>
                </a:solidFill>
                <a:effectLst/>
                <a:uLnTx/>
                <a:uFillTx/>
                <a:latin typeface="Calibri"/>
                <a:ea typeface="+mn-ea"/>
                <a:cs typeface="+mn-cs"/>
              </a:rPr>
              <a:t>firmas</a:t>
            </a:r>
            <a:r>
              <a:rPr kumimoji="0" sz="1700" b="0" i="0" u="none" strike="noStrike" kern="1200" cap="none" spc="0" normalizeH="0" baseline="0" noProof="0" dirty="0">
                <a:ln>
                  <a:noFill/>
                </a:ln>
                <a:solidFill>
                  <a:srgbClr val="666666"/>
                </a:solidFill>
                <a:effectLst/>
                <a:uLnTx/>
                <a:uFillTx/>
                <a:latin typeface="Calibri"/>
                <a:ea typeface="+mn-ea"/>
                <a:cs typeface="+mn-cs"/>
              </a:rPr>
              <a:t> + update.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D3883-EFD0-EBD4-00D3-9CE64083122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2E06754-A856-4AF0-8AA9-89E78DEED6A6}"/>
              </a:ext>
            </a:extLst>
          </p:cNvPr>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FE982A04-AA24-9B4D-E8C1-62ADCFFBE901}"/>
              </a:ext>
            </a:extLst>
          </p:cNvPr>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Respuestas al repaso</a:t>
            </a:r>
          </a:p>
        </p:txBody>
      </p:sp>
      <p:sp>
        <p:nvSpPr>
          <p:cNvPr id="4" name="Rectangle 3">
            <a:extLst>
              <a:ext uri="{FF2B5EF4-FFF2-40B4-BE49-F238E27FC236}">
                <a16:creationId xmlns:a16="http://schemas.microsoft.com/office/drawing/2014/main" id="{03CF7974-55AF-FA1F-803E-1B33BD94967F}"/>
              </a:ext>
            </a:extLst>
          </p:cNvPr>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4FD4DEB7-5693-78BC-2914-62280E15D52C}"/>
              </a:ext>
            </a:extLst>
          </p:cNvPr>
          <p:cNvSpPr txBox="1"/>
          <p:nvPr/>
        </p:nvSpPr>
        <p:spPr>
          <a:xfrm>
            <a:off x="640080" y="1280160"/>
            <a:ext cx="10515600" cy="336502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lang="es-ES" sz="2000" b="0" i="0" u="none" strike="noStrike" kern="1200" cap="none" spc="0" normalizeH="0" baseline="0" noProof="0" dirty="0">
                <a:ln>
                  <a:noFill/>
                </a:ln>
                <a:solidFill>
                  <a:srgbClr val="333333"/>
                </a:solidFill>
                <a:effectLst/>
                <a:uLnTx/>
                <a:uFillTx/>
                <a:latin typeface="Calibri"/>
                <a:ea typeface="+mn-ea"/>
                <a:cs typeface="+mn-cs"/>
              </a:rPr>
              <a:t>4. ¿Quien </a:t>
            </a:r>
            <a:r>
              <a:rPr kumimoji="0" lang="es-ES" sz="2000" b="0" i="0" u="none" strike="noStrike" kern="1200" cap="none" spc="0" normalizeH="0" baseline="0" noProof="0" dirty="0" err="1">
                <a:ln>
                  <a:noFill/>
                </a:ln>
                <a:solidFill>
                  <a:srgbClr val="333333"/>
                </a:solidFill>
                <a:effectLst/>
                <a:uLnTx/>
                <a:uFillTx/>
                <a:latin typeface="Calibri"/>
                <a:ea typeface="+mn-ea"/>
                <a:cs typeface="+mn-cs"/>
              </a:rPr>
              <a:t>deberia</a:t>
            </a:r>
            <a:r>
              <a:rPr kumimoji="0" lang="es-ES" sz="2000" b="0" i="0" u="none" strike="noStrike" kern="1200" cap="none" spc="0" normalizeH="0" baseline="0" noProof="0" dirty="0">
                <a:ln>
                  <a:noFill/>
                </a:ln>
                <a:solidFill>
                  <a:srgbClr val="333333"/>
                </a:solidFill>
                <a:effectLst/>
                <a:uLnTx/>
                <a:uFillTx/>
                <a:latin typeface="Calibri"/>
                <a:ea typeface="+mn-ea"/>
                <a:cs typeface="+mn-cs"/>
              </a:rPr>
              <a:t> pagar los </a:t>
            </a:r>
            <a:r>
              <a:rPr kumimoji="0" lang="es-ES" sz="2000" b="0" i="0" u="none" strike="noStrike" kern="1200" cap="none" spc="0" normalizeH="0" baseline="0" noProof="0" dirty="0" err="1">
                <a:ln>
                  <a:noFill/>
                </a:ln>
                <a:solidFill>
                  <a:srgbClr val="333333"/>
                </a:solidFill>
                <a:effectLst/>
                <a:uLnTx/>
                <a:uFillTx/>
                <a:latin typeface="Calibri"/>
                <a:ea typeface="+mn-ea"/>
                <a:cs typeface="+mn-cs"/>
              </a:rPr>
              <a:t>orderers</a:t>
            </a:r>
            <a:r>
              <a:rPr kumimoji="0" lang="es-ES" sz="2000" b="0" i="0" u="none" strike="noStrike" kern="1200" cap="none" spc="0" normalizeH="0" baseline="0" noProof="0" dirty="0">
                <a:ln>
                  <a:noFill/>
                </a:ln>
                <a:solidFill>
                  <a:srgbClr val="333333"/>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Depende del modelo: cuota fija por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org</a:t>
            </a:r>
            <a:r>
              <a:rPr kumimoji="0" lang="es-ES" sz="1700" b="0" i="0" u="none" strike="noStrike" kern="1200" cap="none" spc="0" normalizeH="0" baseline="0" noProof="0" dirty="0">
                <a:ln>
                  <a:noFill/>
                </a:ln>
                <a:solidFill>
                  <a:srgbClr val="666666"/>
                </a:solidFill>
                <a:effectLst/>
                <a:uLnTx/>
                <a:uFillTx/>
                <a:latin typeface="Calibri"/>
                <a:ea typeface="+mn-ea"/>
                <a:cs typeface="+mn-cs"/>
              </a:rPr>
              <a:t> o proporcional al uso.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Modelo sponsor: una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org</a:t>
            </a:r>
            <a:r>
              <a:rPr kumimoji="0" lang="es-ES" sz="1700" b="0" i="0" u="none" strike="noStrike" kern="1200" cap="none" spc="0" normalizeH="0" baseline="0" noProof="0" dirty="0">
                <a:ln>
                  <a:noFill/>
                </a:ln>
                <a:solidFill>
                  <a:srgbClr val="666666"/>
                </a:solidFill>
                <a:effectLst/>
                <a:uLnTx/>
                <a:uFillTx/>
                <a:latin typeface="Calibri"/>
                <a:ea typeface="+mn-ea"/>
                <a:cs typeface="+mn-cs"/>
              </a:rPr>
              <a:t> paga todo al principio (no recomendado a largo plazo).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Producci­on</a:t>
            </a:r>
            <a:r>
              <a:rPr kumimoji="0" lang="es-ES" sz="1700" b="0" i="0" u="none" strike="noStrike" kern="1200" cap="none" spc="0" normalizeH="0" baseline="0" noProof="0" dirty="0">
                <a:ln>
                  <a:noFill/>
                </a:ln>
                <a:solidFill>
                  <a:srgbClr val="666666"/>
                </a:solidFill>
                <a:effectLst/>
                <a:uLnTx/>
                <a:uFillTx/>
                <a:latin typeface="Calibri"/>
                <a:ea typeface="+mn-ea"/>
                <a:cs typeface="+mn-cs"/>
              </a:rPr>
              <a:t>: cada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org</a:t>
            </a:r>
            <a:r>
              <a:rPr kumimoji="0" lang="es-ES" sz="1700" b="0" i="0" u="none" strike="noStrike" kern="1200" cap="none" spc="0" normalizeH="0" baseline="0" noProof="0" dirty="0">
                <a:ln>
                  <a:noFill/>
                </a:ln>
                <a:solidFill>
                  <a:srgbClr val="666666"/>
                </a:solidFill>
                <a:effectLst/>
                <a:uLnTx/>
                <a:uFillTx/>
                <a:latin typeface="Calibri"/>
                <a:ea typeface="+mn-ea"/>
                <a:cs typeface="+mn-cs"/>
              </a:rPr>
              <a:t> opera su propio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orderer</a:t>
            </a:r>
            <a:r>
              <a:rPr kumimoji="0" lang="es-ES" sz="1700" b="0" i="0" u="none" strike="noStrike" kern="1200" cap="none" spc="0" normalizeH="0" baseline="0" noProof="0" dirty="0">
                <a:ln>
                  <a:noFill/>
                </a:ln>
                <a:solidFill>
                  <a:srgbClr val="666666"/>
                </a:solidFill>
                <a:effectLst/>
                <a:uLnTx/>
                <a:uFillTx/>
                <a:latin typeface="Calibri"/>
                <a:ea typeface="+mn-ea"/>
                <a:cs typeface="+mn-cs"/>
              </a:rPr>
              <a:t>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Raft</a:t>
            </a:r>
            <a:r>
              <a:rPr kumimoji="0" lang="es-ES" sz="1700" b="0" i="0" u="none" strike="noStrike" kern="1200" cap="none" spc="0" normalizeH="0" baseline="0" noProof="0" dirty="0">
                <a:ln>
                  <a:noFill/>
                </a:ln>
                <a:solidFill>
                  <a:srgbClr val="666666"/>
                </a:solidFill>
                <a:effectLst/>
                <a:uLnTx/>
                <a:uFillTx/>
                <a:latin typeface="Calibri"/>
                <a:ea typeface="+mn-ea"/>
                <a:cs typeface="+mn-cs"/>
              </a:rPr>
              <a:t> distribuido).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lang="es-ES" sz="2000" b="0" i="0" u="none" strike="noStrike" kern="1200" cap="none" spc="0" normalizeH="0" baseline="0" noProof="0" dirty="0">
                <a:ln>
                  <a:noFill/>
                </a:ln>
                <a:solidFill>
                  <a:srgbClr val="333333"/>
                </a:solidFill>
                <a:effectLst/>
                <a:uLnTx/>
                <a:uFillTx/>
                <a:latin typeface="Calibri"/>
                <a:ea typeface="+mn-ea"/>
                <a:cs typeface="+mn-cs"/>
              </a:rPr>
              <a:t>5. ¿Que definir ANTES de que una </a:t>
            </a:r>
            <a:r>
              <a:rPr kumimoji="0" lang="es-ES" sz="2000" b="0" i="0" u="none" strike="noStrike" kern="1200" cap="none" spc="0" normalizeH="0" baseline="0" noProof="0" dirty="0" err="1">
                <a:ln>
                  <a:noFill/>
                </a:ln>
                <a:solidFill>
                  <a:srgbClr val="333333"/>
                </a:solidFill>
                <a:effectLst/>
                <a:uLnTx/>
                <a:uFillTx/>
                <a:latin typeface="Calibri"/>
                <a:ea typeface="+mn-ea"/>
                <a:cs typeface="+mn-cs"/>
              </a:rPr>
              <a:t>org</a:t>
            </a:r>
            <a:r>
              <a:rPr kumimoji="0" lang="es-ES" sz="2000" b="0" i="0" u="none" strike="noStrike" kern="1200" cap="none" spc="0" normalizeH="0" baseline="0" noProof="0" dirty="0">
                <a:ln>
                  <a:noFill/>
                </a:ln>
                <a:solidFill>
                  <a:srgbClr val="333333"/>
                </a:solidFill>
                <a:effectLst/>
                <a:uLnTx/>
                <a:uFillTx/>
                <a:latin typeface="Calibri"/>
                <a:ea typeface="+mn-ea"/>
                <a:cs typeface="+mn-cs"/>
              </a:rPr>
              <a:t> abandone?</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Como se revocan sus certificados y se actualiza la CRL.</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Que pasa con los datos en el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ledger</a:t>
            </a:r>
            <a:r>
              <a:rPr kumimoji="0" lang="es-ES" sz="1700" b="0" i="0" u="none" strike="noStrike" kern="1200" cap="none" spc="0" normalizeH="0" baseline="0" noProof="0" dirty="0">
                <a:ln>
                  <a:noFill/>
                </a:ln>
                <a:solidFill>
                  <a:srgbClr val="666666"/>
                </a:solidFill>
                <a:effectLst/>
                <a:uLnTx/>
                <a:uFillTx/>
                <a:latin typeface="Calibri"/>
                <a:ea typeface="+mn-ea"/>
                <a:cs typeface="+mn-cs"/>
              </a:rPr>
              <a:t> (inmutables, no se borran).</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Quien asume sus responsabilidades operativas.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Clausula de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resolucion</a:t>
            </a:r>
            <a:r>
              <a:rPr kumimoji="0" lang="es-ES" sz="1700" b="0" i="0" u="none" strike="noStrike" kern="1200" cap="none" spc="0" normalizeH="0" baseline="0" noProof="0" dirty="0">
                <a:ln>
                  <a:noFill/>
                </a:ln>
                <a:solidFill>
                  <a:srgbClr val="666666"/>
                </a:solidFill>
                <a:effectLst/>
                <a:uLnTx/>
                <a:uFillTx/>
                <a:latin typeface="Calibri"/>
                <a:ea typeface="+mn-ea"/>
                <a:cs typeface="+mn-cs"/>
              </a:rPr>
              <a:t> de disputas y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sucesion</a:t>
            </a:r>
            <a:r>
              <a:rPr kumimoji="0" lang="es-ES"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a:ln>
                  <a:noFill/>
                </a:ln>
                <a:solidFill>
                  <a:srgbClr val="666666"/>
                </a:solidFill>
                <a:effectLst/>
                <a:uLnTx/>
                <a:uFillTx/>
                <a:latin typeface="Calibri"/>
                <a:ea typeface="+mn-ea"/>
                <a:cs typeface="+mn-cs"/>
              </a:rPr>
              <a:t>    Todo esto DEBE estar en el acuerdo del consorcio ANTES de empezar.</a:t>
            </a:r>
            <a:endParaRPr kumimoji="0" lang="es-ES" sz="1700" b="0" i="0" u="none" strike="noStrike" kern="1200" cap="none" spc="0" normalizeH="0" baseline="0" noProof="0" dirty="0">
              <a:ln>
                <a:noFill/>
              </a:ln>
              <a:solidFill>
                <a:srgbClr val="666666"/>
              </a:solidFill>
              <a:effectLst/>
              <a:uLnTx/>
              <a:uFillTx/>
              <a:latin typeface="Calibri"/>
              <a:ea typeface="+mn-ea"/>
              <a:cs typeface="+mn-cs"/>
            </a:endParaRPr>
          </a:p>
        </p:txBody>
      </p:sp>
    </p:spTree>
    <p:extLst>
      <p:ext uri="{BB962C8B-B14F-4D97-AF65-F5344CB8AC3E}">
        <p14:creationId xmlns:p14="http://schemas.microsoft.com/office/powerpoint/2010/main" val="21826786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0" y="6720840"/>
            <a:ext cx="12188952" cy="13716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57200" y="365760"/>
            <a:ext cx="10972800" cy="45720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1600" b="1">
                <a:solidFill>
                  <a:srgbClr val="22627E"/>
                </a:solidFill>
                <a:latin typeface="Calibri"/>
              </a:defRPr>
            </a:pPr>
            <a:r>
              <a:rPr kumimoji="0" sz="1600" b="1" i="0" u="none" strike="noStrike" kern="1200" cap="none" spc="0" normalizeH="0" baseline="0" noProof="0">
                <a:ln>
                  <a:noFill/>
                </a:ln>
                <a:solidFill>
                  <a:srgbClr val="22627E"/>
                </a:solidFill>
                <a:effectLst/>
                <a:uLnTx/>
                <a:uFillTx/>
                <a:latin typeface="Calibri"/>
                <a:ea typeface="+mn-ea"/>
                <a:cs typeface="+mn-cs"/>
              </a:rPr>
              <a:t>Modulo 3: Vision Empresarial</a:t>
            </a:r>
          </a:p>
        </p:txBody>
      </p:sp>
      <p:sp>
        <p:nvSpPr>
          <p:cNvPr id="5" name="TextBox 4"/>
          <p:cNvSpPr txBox="1"/>
          <p:nvPr/>
        </p:nvSpPr>
        <p:spPr>
          <a:xfrm>
            <a:off x="457200" y="1828800"/>
            <a:ext cx="10972800" cy="228600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5400" b="1">
                <a:solidFill>
                  <a:srgbClr val="22627E"/>
                </a:solidFill>
                <a:latin typeface="Calibri"/>
              </a:defRPr>
            </a:pPr>
            <a:r>
              <a:rPr kumimoji="0" sz="5400" b="1" i="0" u="none" strike="noStrike" kern="1200" cap="none" spc="0" normalizeH="0" baseline="0" noProof="0">
                <a:ln>
                  <a:noFill/>
                </a:ln>
                <a:solidFill>
                  <a:srgbClr val="22627E"/>
                </a:solidFill>
                <a:effectLst/>
                <a:uLnTx/>
                <a:uFillTx/>
                <a:latin typeface="Calibri"/>
                <a:ea typeface="+mn-ea"/>
                <a:cs typeface="+mn-cs"/>
              </a:rPr>
              <a:t>Marco Legal y</a:t>
            </a:r>
            <a:br>
              <a:rPr kumimoji="0" sz="5400" b="1" i="0" u="none" strike="noStrike" kern="1200" cap="none" spc="0" normalizeH="0" baseline="0" noProof="0">
                <a:ln>
                  <a:noFill/>
                </a:ln>
                <a:solidFill>
                  <a:srgbClr val="22627E"/>
                </a:solidFill>
                <a:effectLst/>
                <a:uLnTx/>
                <a:uFillTx/>
                <a:latin typeface="Calibri"/>
                <a:ea typeface="+mn-ea"/>
                <a:cs typeface="+mn-cs"/>
              </a:rPr>
            </a:br>
            <a:r>
              <a:rPr kumimoji="0" sz="5400" b="1" i="0" u="none" strike="noStrike" kern="1200" cap="none" spc="0" normalizeH="0" baseline="0" noProof="0">
                <a:ln>
                  <a:noFill/>
                </a:ln>
                <a:solidFill>
                  <a:srgbClr val="22627E"/>
                </a:solidFill>
                <a:effectLst/>
                <a:uLnTx/>
                <a:uFillTx/>
                <a:latin typeface="Calibri"/>
                <a:ea typeface="+mn-ea"/>
                <a:cs typeface="+mn-cs"/>
              </a:rPr>
              <a:t>Regulatorio</a:t>
            </a:r>
          </a:p>
        </p:txBody>
      </p:sp>
      <p:sp>
        <p:nvSpPr>
          <p:cNvPr id="6" name="TextBox 5"/>
          <p:cNvSpPr txBox="1"/>
          <p:nvPr/>
        </p:nvSpPr>
        <p:spPr>
          <a:xfrm>
            <a:off x="457200" y="4114800"/>
            <a:ext cx="10972800" cy="137160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b="0">
                <a:solidFill>
                  <a:srgbClr val="333333"/>
                </a:solidFill>
                <a:latin typeface="Calibri"/>
              </a:defRPr>
            </a:pPr>
            <a:r>
              <a:rPr kumimoji="0" sz="2400" b="0" i="0" u="none" strike="noStrike" kern="1200" cap="none" spc="0" normalizeH="0" baseline="0" noProof="0">
                <a:ln>
                  <a:noFill/>
                </a:ln>
                <a:solidFill>
                  <a:srgbClr val="333333"/>
                </a:solidFill>
                <a:effectLst/>
                <a:uLnTx/>
                <a:uFillTx/>
                <a:latin typeface="Calibri"/>
                <a:ea typeface="+mn-ea"/>
                <a:cs typeface="+mn-cs"/>
              </a:rPr>
              <a:t>Dia 4 - GDPR, MiCA, smart contracts y responsabilidad legal</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Blockchain y GDPR: la tension fundamental</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GDPR (Reglamento General de Proteccion de Datos) establece:</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Derecho al olvido: el ciudadano puede pedir que borren sus datos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Minimizacion: solo guardar los datos estrictamente necesarios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Limitacion de almacenamiento: no conservar datos mas de lo necesario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Blockchain establece: los datos son inmutables y permanentes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¿Es incompatible? No del todo, pero hay que disenar con cuidado: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NUNCA guardar datos personales directamente en el ledger</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Guardar un hash o referencia: los datos reales off-chain (BD normal)</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Private Data Collections: los datos se pueden purgar (blockToLive)</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Si se borra el dato off-chain, el hash on-chain es inutil (pseudonimizacion)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Smart contracts: ¿son contratos legales?</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Respuesta corta: NO, al menos no automaticamente</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Un smart contract es codigo, no un contrato juridico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Para que tenga valor legal necesita: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Consentimiento de las partes (firma digital)</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Objeto licito (lo que hace el contrato es legal)</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Identificacion de las partes (no anonimas)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Jurisdiccion y ley aplicable definidas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Mecanismo de resolucion de disputas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Jurisprudencia actual: muy limitada, varia por pais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Enfoque practico: el smart contract EJECUTA las clausulas de un contrato legal separado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El contrato legal dice QUE se hace. El smart contract COMO se ejecuta.</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MiCA: regulacion europea de criptoactivos</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Markets in Crypto-Assets Regulation (MiCA) — en vigor desde diciembre 2024</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Aplica a: tokens de utilidad, stablecoins, criptoactivos en general</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NO aplica directamente a: blockchain enterprise/permissioned sin tokens publicos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Pero es relevante si tu proyecto Fabric incluye tokens que salen al mercado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Puntos clave de MiCA: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Emisores de stablecoins: necesitan autorizacion y reservas auditadas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Exchanges y custodios: necesitan licencia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Whitepaper obligatorio: describir el token, riesgos, derechos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Proteccion al inversor: informacion clara, derecho de retirada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Supervisores: ESMA y autoridades nacionales (CNMV en Espana)</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Tokenizacion de activos: regulacion actual</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Si tokenizas un activo real (bono, accion, inmueble) en Fabric:</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El token puede ser un 'valor negociable' segun MiFID II</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Necesitas autorizacion de la CNMV (Espana) o equivalente europeo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Aplican las mismas reglas que a los valores tradicionales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Security Token Offerings (STOs): tokenizar + vender al publico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Mas regulado que una ICO, pero legal y con marco claro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Ejemplo: Bit2Me STX (autorizado por CNMV bajo regimen sandbox)</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Tokenizacion interna (entre orgs de un consorcio): menos regulacion</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Si los tokens no salen de la red permissioned, MiCA no aplica directamente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Responsabilidad legal: si el chaincode tiene un bug</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¿Quien responde si un chaincode transfiere fondos incorrectamente?</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Escenarios: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1. Bug del desarrollador: ¿responsabilidad del desarrollador o de la org que lo aprobo?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2. Todas las orgs aprobaron el chaincode (lifecycle): ¿responsabilidad compartida?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3. Una org detecto el bug pero no lo reporto: ¿negligencia?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En la practica: el acuerdo del consorcio debe definir</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¿Quien audita los chaincodes antes de aprobarlos?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¿Hay seguro de responsabilidad?</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¿Que mecanismo de compensacion existe?</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¿Que jurisdiccion y ley aplican?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457200" y="274320"/>
            <a:ext cx="1645920" cy="45720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57200" y="274320"/>
            <a:ext cx="1645920" cy="457200"/>
          </a:xfrm>
          <a:prstGeom prst="rect">
            <a:avLst/>
          </a:prstGeom>
          <a:noFill/>
        </p:spPr>
        <p:txBody>
          <a:bodyPr wrap="square"/>
          <a:lstStyle/>
          <a:p>
            <a:pPr marL="0" marR="0" lvl="0" indent="0" algn="ctr" defTabSz="457200" rtl="0" eaLnBrk="1" fontAlgn="auto" latinLnBrk="0" hangingPunct="1">
              <a:lnSpc>
                <a:spcPct val="100000"/>
              </a:lnSpc>
              <a:spcBef>
                <a:spcPts val="0"/>
              </a:spcBef>
              <a:spcAft>
                <a:spcPts val="0"/>
              </a:spcAft>
              <a:buClrTx/>
              <a:buSzTx/>
              <a:buFontTx/>
              <a:buNone/>
              <a:tabLst/>
              <a:defRPr sz="1800" b="1">
                <a:solidFill>
                  <a:srgbClr val="FFFFFF"/>
                </a:solidFill>
                <a:latin typeface="Calibri"/>
              </a:defRPr>
            </a:pPr>
            <a:r>
              <a:rPr kumimoji="0" sz="1800" b="1" i="0" u="none" strike="noStrike" kern="1200" cap="none" spc="0" normalizeH="0" baseline="0" noProof="0">
                <a:ln>
                  <a:noFill/>
                </a:ln>
                <a:solidFill>
                  <a:srgbClr val="FFFFFF"/>
                </a:solidFill>
                <a:effectLst/>
                <a:uLnTx/>
                <a:uFillTx/>
                <a:latin typeface="Calibri"/>
                <a:ea typeface="+mn-ea"/>
                <a:cs typeface="+mn-cs"/>
              </a:rPr>
              <a:t>DEBATE</a:t>
            </a:r>
          </a:p>
        </p:txBody>
      </p:sp>
      <p:sp>
        <p:nvSpPr>
          <p:cNvPr id="5" name="TextBox 4"/>
          <p:cNvSpPr txBox="1"/>
          <p:nvPr/>
        </p:nvSpPr>
        <p:spPr>
          <a:xfrm>
            <a:off x="2377440" y="274320"/>
            <a:ext cx="91440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000" b="1">
                <a:solidFill>
                  <a:srgbClr val="333333"/>
                </a:solidFill>
                <a:latin typeface="Calibri"/>
              </a:defRPr>
            </a:pPr>
            <a:r>
              <a:rPr kumimoji="0" sz="3000" b="1" i="0" u="none" strike="noStrike" kern="1200" cap="none" spc="0" normalizeH="0" baseline="0" noProof="0">
                <a:ln>
                  <a:noFill/>
                </a:ln>
                <a:solidFill>
                  <a:srgbClr val="333333"/>
                </a:solidFill>
                <a:effectLst/>
                <a:uLnTx/>
                <a:uFillTx/>
                <a:latin typeface="Calibri"/>
                <a:ea typeface="+mn-ea"/>
                <a:cs typeface="+mn-cs"/>
              </a:rPr>
              <a:t>Marco legal y blockchain</a:t>
            </a:r>
          </a:p>
        </p:txBody>
      </p:sp>
      <p:sp>
        <p:nvSpPr>
          <p:cNvPr id="6" name="Rectangle 5"/>
          <p:cNvSpPr/>
          <p:nvPr/>
        </p:nvSpPr>
        <p:spPr>
          <a:xfrm>
            <a:off x="457200" y="1051560"/>
            <a:ext cx="10972800" cy="2743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640080" y="137160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1. ¿Donde guardarias los datos personales de clientes en un proyecto Fabric? ¿On-chain o off-chain?</a:t>
            </a:r>
          </a:p>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2. Si un smart contract ejecuta una clausula incorrectamente, ¿quien es responsable?</a:t>
            </a:r>
          </a:p>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3. ¿Deberia el regulador tener acceso de solo lectura a todos los canales de Fabric?</a:t>
            </a:r>
          </a:p>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4. Un consorcio de bancos tokeniza bonos en Fabric. ¿Que regulacion aplica?</a:t>
            </a:r>
          </a:p>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5. ¿Es MiCA un freno o un acelerador para blockchain enterprise en Europa?</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457200" y="274320"/>
            <a:ext cx="3200400"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57200" y="274320"/>
            <a:ext cx="3200400" cy="457200"/>
          </a:xfrm>
          <a:prstGeom prst="rect">
            <a:avLst/>
          </a:prstGeom>
          <a:noFill/>
        </p:spPr>
        <p:txBody>
          <a:bodyPr wrap="square"/>
          <a:lstStyle/>
          <a:p>
            <a:pPr marL="0" marR="0" lvl="0" indent="0" algn="ctr" defTabSz="457200" rtl="0" eaLnBrk="1" fontAlgn="auto" latinLnBrk="0" hangingPunct="1">
              <a:lnSpc>
                <a:spcPct val="100000"/>
              </a:lnSpc>
              <a:spcBef>
                <a:spcPts val="0"/>
              </a:spcBef>
              <a:spcAft>
                <a:spcPts val="0"/>
              </a:spcAft>
              <a:buClrTx/>
              <a:buSzTx/>
              <a:buFontTx/>
              <a:buNone/>
              <a:tabLst/>
              <a:defRPr sz="1800" b="1">
                <a:solidFill>
                  <a:srgbClr val="FFFFFF"/>
                </a:solidFill>
                <a:latin typeface="Calibri"/>
              </a:defRPr>
            </a:pPr>
            <a:r>
              <a:rPr kumimoji="0" sz="1800" b="1" i="0" u="none" strike="noStrike" kern="1200" cap="none" spc="0" normalizeH="0" baseline="0" noProof="0">
                <a:ln>
                  <a:noFill/>
                </a:ln>
                <a:solidFill>
                  <a:srgbClr val="FFFFFF"/>
                </a:solidFill>
                <a:effectLst/>
                <a:uLnTx/>
                <a:uFillTx/>
                <a:latin typeface="Calibri"/>
                <a:ea typeface="+mn-ea"/>
                <a:cs typeface="+mn-cs"/>
              </a:rPr>
              <a:t>CULTURA GENERAL</a:t>
            </a:r>
          </a:p>
        </p:txBody>
      </p:sp>
      <p:sp>
        <p:nvSpPr>
          <p:cNvPr id="5" name="TextBox 4"/>
          <p:cNvSpPr txBox="1"/>
          <p:nvPr/>
        </p:nvSpPr>
        <p:spPr>
          <a:xfrm>
            <a:off x="3931920" y="228600"/>
            <a:ext cx="77724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333333"/>
                </a:solidFill>
                <a:latin typeface="Calibri"/>
              </a:defRPr>
            </a:pPr>
            <a:r>
              <a:rPr kumimoji="0" sz="2800" b="1" i="0" u="none" strike="noStrike" kern="1200" cap="none" spc="0" normalizeH="0" baseline="0" noProof="0">
                <a:ln>
                  <a:noFill/>
                </a:ln>
                <a:solidFill>
                  <a:srgbClr val="333333"/>
                </a:solidFill>
                <a:effectLst/>
                <a:uLnTx/>
                <a:uFillTx/>
                <a:latin typeface="Calibri"/>
                <a:ea typeface="+mn-ea"/>
                <a:cs typeface="+mn-cs"/>
              </a:rPr>
              <a:t>El caso DAO y la ley</a:t>
            </a:r>
          </a:p>
        </p:txBody>
      </p:sp>
      <p:sp>
        <p:nvSpPr>
          <p:cNvPr id="6" name="Rectangle 5"/>
          <p:cNvSpPr/>
          <p:nvPr/>
        </p:nvSpPr>
        <p:spPr>
          <a:xfrm>
            <a:off x="457200" y="1051560"/>
            <a:ext cx="10972800" cy="274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640080" y="137160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En 2016, el hack de The DAO robo 60 millones de dolares en ETH.</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La comunidad Ethereum hizo un hard fork para revertir el robo.</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Preguntas legales sin respuesta clara (aun hoy):</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¿Fue un robo si el atacante 'solo' ejecuto el codigo tal como estaba escrito?</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¿El hard fork fue una confiscacion de activos?</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¿Quien tenia jurisdiccion? ¿Suiza (donde estaba The DAO)? ¿Internet?</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En 2023, la SEC demando a los creadores de The DAO por vender valores no registrados.</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7 anos despues, la ley sigue poniendose al dia con la tecnologia.</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600" b="1">
                <a:solidFill>
                  <a:srgbClr val="FFFFFF"/>
                </a:solidFill>
                <a:latin typeface="Calibri"/>
              </a:defRPr>
            </a:pPr>
            <a:r>
              <a:rPr kumimoji="0" sz="3600" b="1" i="0" u="none" strike="noStrike" kern="1200" cap="none" spc="0" normalizeH="0" baseline="0" noProof="0">
                <a:ln>
                  <a:noFill/>
                </a:ln>
                <a:solidFill>
                  <a:srgbClr val="FFFFFF"/>
                </a:solidFill>
                <a:effectLst/>
                <a:uLnTx/>
                <a:uFillTx/>
                <a:latin typeface="Calibri"/>
                <a:ea typeface="+mn-ea"/>
                <a:cs typeface="+mn-cs"/>
              </a:rPr>
              <a:t>Repaso del dia</a:t>
            </a:r>
          </a:p>
        </p:txBody>
      </p:sp>
      <p:sp>
        <p:nvSpPr>
          <p:cNvPr id="4" name="Rectangle 3"/>
          <p:cNvSpPr/>
          <p:nvPr/>
        </p:nvSpPr>
        <p:spPr>
          <a:xfrm>
            <a:off x="457200" y="1051560"/>
            <a:ext cx="10972800" cy="27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37160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1. ¿Como se reconcilia GDPR con la inmutabilidad de blockchain?</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2. ¿Un smart contract es un contrato legal? ¿Que le falta?</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3. ¿Que es MiCA y a quien aplica?</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4. ¿Que regulacion aplica si tokenizas un bono en Fabric?</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5. Si un chaincode tiene un bug, ¿quien responde?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Respuestas al repaso (1/2)</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560567" y="1051560"/>
            <a:ext cx="10515600" cy="573490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1. GDPR vs </a:t>
            </a:r>
            <a:r>
              <a:rPr kumimoji="0" sz="2000" b="0" i="0" u="none" strike="noStrike" kern="1200" cap="none" spc="0" normalizeH="0" baseline="0" noProof="0" dirty="0" err="1">
                <a:ln>
                  <a:noFill/>
                </a:ln>
                <a:solidFill>
                  <a:srgbClr val="333333"/>
                </a:solidFill>
                <a:effectLst/>
                <a:uLnTx/>
                <a:uFillTx/>
                <a:latin typeface="Calibri"/>
                <a:ea typeface="+mn-ea"/>
                <a:cs typeface="+mn-cs"/>
              </a:rPr>
              <a:t>inmutabilidad</a:t>
            </a:r>
            <a:r>
              <a:rPr kumimoji="0" sz="2000" b="0" i="0" u="none" strike="noStrike" kern="1200" cap="none" spc="0" normalizeH="0" baseline="0" noProof="0" dirty="0">
                <a:ln>
                  <a:noFill/>
                </a:ln>
                <a:solidFill>
                  <a:srgbClr val="333333"/>
                </a:solidFill>
                <a:effectLst/>
                <a:uLnTx/>
                <a:uFillTx/>
                <a:latin typeface="Calibri"/>
                <a:ea typeface="+mn-ea"/>
                <a:cs typeface="+mn-cs"/>
              </a:rPr>
              <a:t> de blockchain:</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No son incompatibles, </a:t>
            </a:r>
            <a:r>
              <a:rPr kumimoji="0" sz="1600" b="0" i="0" u="none" strike="noStrike" kern="1200" cap="none" spc="0" normalizeH="0" baseline="0" noProof="0" dirty="0" err="1">
                <a:ln>
                  <a:noFill/>
                </a:ln>
                <a:solidFill>
                  <a:srgbClr val="666666"/>
                </a:solidFill>
                <a:effectLst/>
                <a:uLnTx/>
                <a:uFillTx/>
                <a:latin typeface="Calibri"/>
                <a:ea typeface="+mn-ea"/>
                <a:cs typeface="+mn-cs"/>
              </a:rPr>
              <a:t>pero</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requieren</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diseño</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cuidadoso</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NUNCA </a:t>
            </a:r>
            <a:r>
              <a:rPr kumimoji="0" sz="1600" b="0" i="0" u="none" strike="noStrike" kern="1200" cap="none" spc="0" normalizeH="0" baseline="0" noProof="0" dirty="0" err="1">
                <a:ln>
                  <a:noFill/>
                </a:ln>
                <a:solidFill>
                  <a:srgbClr val="666666"/>
                </a:solidFill>
                <a:effectLst/>
                <a:uLnTx/>
                <a:uFillTx/>
                <a:latin typeface="Calibri"/>
                <a:ea typeface="+mn-ea"/>
                <a:cs typeface="+mn-cs"/>
              </a:rPr>
              <a:t>guardar</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datos</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personales</a:t>
            </a:r>
            <a:r>
              <a:rPr kumimoji="0" sz="1600" b="0" i="0" u="none" strike="noStrike" kern="1200" cap="none" spc="0" normalizeH="0" baseline="0" noProof="0" dirty="0">
                <a:ln>
                  <a:noFill/>
                </a:ln>
                <a:solidFill>
                  <a:srgbClr val="666666"/>
                </a:solidFill>
                <a:effectLst/>
                <a:uLnTx/>
                <a:uFillTx/>
                <a:latin typeface="Calibri"/>
                <a:ea typeface="+mn-ea"/>
                <a:cs typeface="+mn-cs"/>
              </a:rPr>
              <a:t> on-chain — solo hash o </a:t>
            </a:r>
            <a:r>
              <a:rPr kumimoji="0" sz="1600" b="0" i="0" u="none" strike="noStrike" kern="1200" cap="none" spc="0" normalizeH="0" baseline="0" noProof="0" dirty="0" err="1">
                <a:ln>
                  <a:noFill/>
                </a:ln>
                <a:solidFill>
                  <a:srgbClr val="666666"/>
                </a:solidFill>
                <a:effectLst/>
                <a:uLnTx/>
                <a:uFillTx/>
                <a:latin typeface="Calibri"/>
                <a:ea typeface="+mn-ea"/>
                <a:cs typeface="+mn-cs"/>
              </a:rPr>
              <a:t>referencia</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Datos reales off-chain (BD </a:t>
            </a:r>
            <a:r>
              <a:rPr kumimoji="0" sz="1600" b="0" i="0" u="none" strike="noStrike" kern="1200" cap="none" spc="0" normalizeH="0" baseline="0" noProof="0" dirty="0" err="1">
                <a:ln>
                  <a:noFill/>
                </a:ln>
                <a:solidFill>
                  <a:srgbClr val="666666"/>
                </a:solidFill>
                <a:effectLst/>
                <a:uLnTx/>
                <a:uFillTx/>
                <a:latin typeface="Calibri"/>
                <a:ea typeface="+mn-ea"/>
                <a:cs typeface="+mn-cs"/>
              </a:rPr>
              <a:t>tradicional</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borrables</a:t>
            </a:r>
            <a:r>
              <a:rPr kumimoji="0" sz="1600" b="0" i="0" u="none" strike="noStrike" kern="1200" cap="none" spc="0" normalizeH="0" baseline="0" noProof="0" dirty="0">
                <a:ln>
                  <a:noFill/>
                </a:ln>
                <a:solidFill>
                  <a:srgbClr val="666666"/>
                </a:solidFill>
                <a:effectLst/>
                <a:uLnTx/>
                <a:uFillTx/>
                <a:latin typeface="Calibri"/>
                <a:ea typeface="+mn-ea"/>
                <a:cs typeface="+mn-cs"/>
              </a:rPr>
              <a:t> para </a:t>
            </a:r>
            <a:r>
              <a:rPr kumimoji="0" sz="1600" b="0" i="0" u="none" strike="noStrike" kern="1200" cap="none" spc="0" normalizeH="0" baseline="0" noProof="0" dirty="0" err="1">
                <a:ln>
                  <a:noFill/>
                </a:ln>
                <a:solidFill>
                  <a:srgbClr val="666666"/>
                </a:solidFill>
                <a:effectLst/>
                <a:uLnTx/>
                <a:uFillTx/>
                <a:latin typeface="Calibri"/>
                <a:ea typeface="+mn-ea"/>
                <a:cs typeface="+mn-cs"/>
              </a:rPr>
              <a:t>cumplir</a:t>
            </a:r>
            <a:r>
              <a:rPr kumimoji="0" sz="1600" b="0" i="0" u="none" strike="noStrike" kern="1200" cap="none" spc="0" normalizeH="0" baseline="0" noProof="0" dirty="0">
                <a:ln>
                  <a:noFill/>
                </a:ln>
                <a:solidFill>
                  <a:srgbClr val="666666"/>
                </a:solidFill>
                <a:effectLst/>
                <a:uLnTx/>
                <a:uFillTx/>
                <a:latin typeface="Calibri"/>
                <a:ea typeface="+mn-ea"/>
                <a:cs typeface="+mn-cs"/>
              </a:rPr>
              <a:t> derecho al </a:t>
            </a:r>
            <a:r>
              <a:rPr kumimoji="0" sz="1600" b="0" i="0" u="none" strike="noStrike" kern="1200" cap="none" spc="0" normalizeH="0" baseline="0" noProof="0" dirty="0" err="1">
                <a:ln>
                  <a:noFill/>
                </a:ln>
                <a:solidFill>
                  <a:srgbClr val="666666"/>
                </a:solidFill>
                <a:effectLst/>
                <a:uLnTx/>
                <a:uFillTx/>
                <a:latin typeface="Calibri"/>
                <a:ea typeface="+mn-ea"/>
                <a:cs typeface="+mn-cs"/>
              </a:rPr>
              <a:t>olvido</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Private Data Collections con </a:t>
            </a:r>
            <a:r>
              <a:rPr kumimoji="0" sz="1600" b="0" i="0" u="none" strike="noStrike" kern="1200" cap="none" spc="0" normalizeH="0" baseline="0" noProof="0" dirty="0" err="1">
                <a:ln>
                  <a:noFill/>
                </a:ln>
                <a:solidFill>
                  <a:srgbClr val="666666"/>
                </a:solidFill>
                <a:effectLst/>
                <a:uLnTx/>
                <a:uFillTx/>
                <a:latin typeface="Calibri"/>
                <a:ea typeface="+mn-ea"/>
                <a:cs typeface="+mn-cs"/>
              </a:rPr>
              <a:t>blockToLive</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permiten</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caducar</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datos</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400" b="0" i="0" u="none" strike="noStrike" kern="1200" cap="none" spc="0" normalizeH="0" baseline="0" noProof="0" dirty="0">
                <a:ln>
                  <a:noFill/>
                </a:ln>
                <a:solidFill>
                  <a:srgbClr val="666666"/>
                </a:solidFill>
                <a:effectLst/>
                <a:uLnTx/>
                <a:uFillTx/>
                <a:latin typeface="Calibri"/>
                <a:ea typeface="+mn-ea"/>
                <a:cs typeface="+mn-cs"/>
              </a:rPr>
              <a:t>Al</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borrar</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dato</a:t>
            </a:r>
            <a:r>
              <a:rPr kumimoji="0" sz="1600" b="0" i="0" u="none" strike="noStrike" kern="1200" cap="none" spc="0" normalizeH="0" baseline="0" noProof="0" dirty="0">
                <a:ln>
                  <a:noFill/>
                </a:ln>
                <a:solidFill>
                  <a:srgbClr val="666666"/>
                </a:solidFill>
                <a:effectLst/>
                <a:uLnTx/>
                <a:uFillTx/>
                <a:latin typeface="Calibri"/>
                <a:ea typeface="+mn-ea"/>
                <a:cs typeface="+mn-cs"/>
              </a:rPr>
              <a:t> off-chain, </a:t>
            </a:r>
            <a:r>
              <a:rPr kumimoji="0" sz="1600" b="0" i="0" u="none" strike="noStrike" kern="1200" cap="none" spc="0" normalizeH="0" baseline="0" noProof="0" dirty="0" err="1">
                <a:ln>
                  <a:noFill/>
                </a:ln>
                <a:solidFill>
                  <a:srgbClr val="666666"/>
                </a:solidFill>
                <a:effectLst/>
                <a:uLnTx/>
                <a:uFillTx/>
                <a:latin typeface="Calibri"/>
                <a:ea typeface="+mn-ea"/>
                <a:cs typeface="+mn-cs"/>
              </a:rPr>
              <a:t>el</a:t>
            </a:r>
            <a:r>
              <a:rPr kumimoji="0" sz="1600" b="0" i="0" u="none" strike="noStrike" kern="1200" cap="none" spc="0" normalizeH="0" baseline="0" noProof="0" dirty="0">
                <a:ln>
                  <a:noFill/>
                </a:ln>
                <a:solidFill>
                  <a:srgbClr val="666666"/>
                </a:solidFill>
                <a:effectLst/>
                <a:uLnTx/>
                <a:uFillTx/>
                <a:latin typeface="Calibri"/>
                <a:ea typeface="+mn-ea"/>
                <a:cs typeface="+mn-cs"/>
              </a:rPr>
              <a:t> hash on-chain </a:t>
            </a:r>
            <a:r>
              <a:rPr kumimoji="0" sz="1600" b="0" i="0" u="none" strike="noStrike" kern="1200" cap="none" spc="0" normalizeH="0" baseline="0" noProof="0" dirty="0" err="1">
                <a:ln>
                  <a:noFill/>
                </a:ln>
                <a:solidFill>
                  <a:srgbClr val="666666"/>
                </a:solidFill>
                <a:effectLst/>
                <a:uLnTx/>
                <a:uFillTx/>
                <a:latin typeface="Calibri"/>
                <a:ea typeface="+mn-ea"/>
                <a:cs typeface="+mn-cs"/>
              </a:rPr>
              <a:t>queda</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huerfano</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pseudonimizacion</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2. ¿Smart contract es un </a:t>
            </a:r>
            <a:r>
              <a:rPr kumimoji="0" sz="2000" b="0" i="0" u="none" strike="noStrike" kern="1200" cap="none" spc="0" normalizeH="0" baseline="0" noProof="0" dirty="0" err="1">
                <a:ln>
                  <a:noFill/>
                </a:ln>
                <a:solidFill>
                  <a:srgbClr val="333333"/>
                </a:solidFill>
                <a:effectLst/>
                <a:uLnTx/>
                <a:uFillTx/>
                <a:latin typeface="Calibri"/>
                <a:ea typeface="+mn-ea"/>
                <a:cs typeface="+mn-cs"/>
              </a:rPr>
              <a:t>contrato</a:t>
            </a:r>
            <a:r>
              <a:rPr kumimoji="0" sz="2000" b="0" i="0" u="none" strike="noStrike" kern="1200" cap="none" spc="0" normalizeH="0" baseline="0" noProof="0" dirty="0">
                <a:ln>
                  <a:noFill/>
                </a:ln>
                <a:solidFill>
                  <a:srgbClr val="333333"/>
                </a:solidFill>
                <a:effectLst/>
                <a:uLnTx/>
                <a:uFillTx/>
                <a:latin typeface="Calibri"/>
                <a:ea typeface="+mn-ea"/>
                <a:cs typeface="+mn-cs"/>
              </a:rPr>
              <a:t> legal? ¿</a:t>
            </a:r>
            <a:r>
              <a:rPr kumimoji="0" sz="2000" b="0" i="0" u="none" strike="noStrike" kern="1200" cap="none" spc="0" normalizeH="0" baseline="0" noProof="0" dirty="0" err="1">
                <a:ln>
                  <a:noFill/>
                </a:ln>
                <a:solidFill>
                  <a:srgbClr val="333333"/>
                </a:solidFill>
                <a:effectLst/>
                <a:uLnTx/>
                <a:uFillTx/>
                <a:latin typeface="Calibri"/>
                <a:ea typeface="+mn-ea"/>
                <a:cs typeface="+mn-cs"/>
              </a:rPr>
              <a:t>Que</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falta</a:t>
            </a:r>
            <a:r>
              <a:rPr kumimoji="0" sz="2000" b="0" i="0" u="none" strike="noStrike" kern="1200" cap="none" spc="0" normalizeH="0" baseline="0" noProof="0" dirty="0">
                <a:ln>
                  <a:noFill/>
                </a:ln>
                <a:solidFill>
                  <a:srgbClr val="333333"/>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NO, al </a:t>
            </a:r>
            <a:r>
              <a:rPr kumimoji="0" sz="1600" b="0" i="0" u="none" strike="noStrike" kern="1200" cap="none" spc="0" normalizeH="0" baseline="0" noProof="0" dirty="0" err="1">
                <a:ln>
                  <a:noFill/>
                </a:ln>
                <a:solidFill>
                  <a:srgbClr val="666666"/>
                </a:solidFill>
                <a:effectLst/>
                <a:uLnTx/>
                <a:uFillTx/>
                <a:latin typeface="Calibri"/>
                <a:ea typeface="+mn-ea"/>
                <a:cs typeface="+mn-cs"/>
              </a:rPr>
              <a:t>menos</a:t>
            </a:r>
            <a:r>
              <a:rPr kumimoji="0" sz="1600" b="0" i="0" u="none" strike="noStrike" kern="1200" cap="none" spc="0" normalizeH="0" baseline="0" noProof="0" dirty="0">
                <a:ln>
                  <a:noFill/>
                </a:ln>
                <a:solidFill>
                  <a:srgbClr val="666666"/>
                </a:solidFill>
                <a:effectLst/>
                <a:uLnTx/>
                <a:uFillTx/>
                <a:latin typeface="Calibri"/>
                <a:ea typeface="+mn-ea"/>
                <a:cs typeface="+mn-cs"/>
              </a:rPr>
              <a:t> no </a:t>
            </a:r>
            <a:r>
              <a:rPr kumimoji="0" sz="1600" b="0" i="0" u="none" strike="noStrike" kern="1200" cap="none" spc="0" normalizeH="0" baseline="0" noProof="0" dirty="0" err="1">
                <a:ln>
                  <a:noFill/>
                </a:ln>
                <a:solidFill>
                  <a:srgbClr val="666666"/>
                </a:solidFill>
                <a:effectLst/>
                <a:uLnTx/>
                <a:uFillTx/>
                <a:latin typeface="Calibri"/>
                <a:ea typeface="+mn-ea"/>
                <a:cs typeface="+mn-cs"/>
              </a:rPr>
              <a:t>automaticamente</a:t>
            </a:r>
            <a:r>
              <a:rPr kumimoji="0" sz="1600" b="0" i="0" u="none" strike="noStrike" kern="1200" cap="none" spc="0" normalizeH="0" baseline="0" noProof="0" dirty="0">
                <a:ln>
                  <a:noFill/>
                </a:ln>
                <a:solidFill>
                  <a:srgbClr val="666666"/>
                </a:solidFill>
                <a:effectLst/>
                <a:uLnTx/>
                <a:uFillTx/>
                <a:latin typeface="Calibri"/>
                <a:ea typeface="+mn-ea"/>
                <a:cs typeface="+mn-cs"/>
              </a:rPr>
              <a:t>. Un smart contract es </a:t>
            </a:r>
            <a:r>
              <a:rPr kumimoji="0" sz="1600" b="0" i="0" u="none" strike="noStrike" kern="1200" cap="none" spc="0" normalizeH="0" baseline="0" noProof="0" dirty="0" err="1">
                <a:ln>
                  <a:noFill/>
                </a:ln>
                <a:solidFill>
                  <a:srgbClr val="666666"/>
                </a:solidFill>
                <a:effectLst/>
                <a:uLnTx/>
                <a:uFillTx/>
                <a:latin typeface="Calibri"/>
                <a:ea typeface="+mn-ea"/>
                <a:cs typeface="+mn-cs"/>
              </a:rPr>
              <a:t>codigo</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Para </a:t>
            </a:r>
            <a:r>
              <a:rPr kumimoji="0" sz="1600" b="0" i="0" u="none" strike="noStrike" kern="1200" cap="none" spc="0" normalizeH="0" baseline="0" noProof="0" dirty="0" err="1">
                <a:ln>
                  <a:noFill/>
                </a:ln>
                <a:solidFill>
                  <a:srgbClr val="666666"/>
                </a:solidFill>
                <a:effectLst/>
                <a:uLnTx/>
                <a:uFillTx/>
                <a:latin typeface="Calibri"/>
                <a:ea typeface="+mn-ea"/>
                <a:cs typeface="+mn-cs"/>
              </a:rPr>
              <a:t>tener</a:t>
            </a:r>
            <a:r>
              <a:rPr kumimoji="0" sz="1600" b="0" i="0" u="none" strike="noStrike" kern="1200" cap="none" spc="0" normalizeH="0" baseline="0" noProof="0" dirty="0">
                <a:ln>
                  <a:noFill/>
                </a:ln>
                <a:solidFill>
                  <a:srgbClr val="666666"/>
                </a:solidFill>
                <a:effectLst/>
                <a:uLnTx/>
                <a:uFillTx/>
                <a:latin typeface="Calibri"/>
                <a:ea typeface="+mn-ea"/>
                <a:cs typeface="+mn-cs"/>
              </a:rPr>
              <a:t> valor legal </a:t>
            </a:r>
            <a:r>
              <a:rPr kumimoji="0" sz="1600" b="0" i="0" u="none" strike="noStrike" kern="1200" cap="none" spc="0" normalizeH="0" baseline="0" noProof="0" dirty="0" err="1">
                <a:ln>
                  <a:noFill/>
                </a:ln>
                <a:solidFill>
                  <a:srgbClr val="666666"/>
                </a:solidFill>
                <a:effectLst/>
                <a:uLnTx/>
                <a:uFillTx/>
                <a:latin typeface="Calibri"/>
                <a:ea typeface="+mn-ea"/>
                <a:cs typeface="+mn-cs"/>
              </a:rPr>
              <a:t>necesita</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consentimiento</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explicito</a:t>
            </a:r>
            <a:r>
              <a:rPr kumimoji="0" sz="1600" b="0" i="0" u="none" strike="noStrike" kern="1200" cap="none" spc="0" normalizeH="0" baseline="0" noProof="0" dirty="0">
                <a:ln>
                  <a:noFill/>
                </a:ln>
                <a:solidFill>
                  <a:srgbClr val="666666"/>
                </a:solidFill>
                <a:effectLst/>
                <a:uLnTx/>
                <a:uFillTx/>
                <a:latin typeface="Calibri"/>
                <a:ea typeface="+mn-ea"/>
                <a:cs typeface="+mn-cs"/>
              </a:rPr>
              <a:t> de las partes,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identificacion</a:t>
            </a:r>
            <a:r>
              <a:rPr kumimoji="0" sz="1600" b="0" i="0" u="none" strike="noStrike" kern="1200" cap="none" spc="0" normalizeH="0" baseline="0" noProof="0" dirty="0">
                <a:ln>
                  <a:noFill/>
                </a:ln>
                <a:solidFill>
                  <a:srgbClr val="666666"/>
                </a:solidFill>
                <a:effectLst/>
                <a:uLnTx/>
                <a:uFillTx/>
                <a:latin typeface="Calibri"/>
                <a:ea typeface="+mn-ea"/>
                <a:cs typeface="+mn-cs"/>
              </a:rPr>
              <a:t> (no </a:t>
            </a:r>
            <a:r>
              <a:rPr kumimoji="0" sz="1600" b="0" i="0" u="none" strike="noStrike" kern="1200" cap="none" spc="0" normalizeH="0" baseline="0" noProof="0" dirty="0" err="1">
                <a:ln>
                  <a:noFill/>
                </a:ln>
                <a:solidFill>
                  <a:srgbClr val="666666"/>
                </a:solidFill>
                <a:effectLst/>
                <a:uLnTx/>
                <a:uFillTx/>
                <a:latin typeface="Calibri"/>
                <a:ea typeface="+mn-ea"/>
                <a:cs typeface="+mn-cs"/>
              </a:rPr>
              <a:t>pseudonima</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objeto</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licito</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jurisdiccion</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clara</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mecanismo</a:t>
            </a:r>
            <a:r>
              <a:rPr kumimoji="0" sz="1600" b="0" i="0" u="none" strike="noStrike" kern="1200" cap="none" spc="0" normalizeH="0" baseline="0" noProof="0" dirty="0">
                <a:ln>
                  <a:noFill/>
                </a:ln>
                <a:solidFill>
                  <a:srgbClr val="666666"/>
                </a:solidFill>
                <a:effectLst/>
                <a:uLnTx/>
                <a:uFillTx/>
                <a:latin typeface="Calibri"/>
                <a:ea typeface="+mn-ea"/>
                <a:cs typeface="+mn-cs"/>
              </a:rPr>
              <a:t> de </a:t>
            </a:r>
            <a:r>
              <a:rPr kumimoji="0" sz="1600" b="0" i="0" u="none" strike="noStrike" kern="1200" cap="none" spc="0" normalizeH="0" baseline="0" noProof="0" dirty="0" err="1">
                <a:ln>
                  <a:noFill/>
                </a:ln>
                <a:solidFill>
                  <a:srgbClr val="666666"/>
                </a:solidFill>
                <a:effectLst/>
                <a:uLnTx/>
                <a:uFillTx/>
                <a:latin typeface="Calibri"/>
                <a:ea typeface="+mn-ea"/>
                <a:cs typeface="+mn-cs"/>
              </a:rPr>
              <a:t>resolucion</a:t>
            </a:r>
            <a:r>
              <a:rPr kumimoji="0" sz="1600" b="0" i="0" u="none" strike="noStrike" kern="1200" cap="none" spc="0" normalizeH="0" baseline="0" noProof="0" dirty="0">
                <a:ln>
                  <a:noFill/>
                </a:ln>
                <a:solidFill>
                  <a:srgbClr val="666666"/>
                </a:solidFill>
                <a:effectLst/>
                <a:uLnTx/>
                <a:uFillTx/>
                <a:latin typeface="Calibri"/>
                <a:ea typeface="+mn-ea"/>
                <a:cs typeface="+mn-cs"/>
              </a:rPr>
              <a:t> de </a:t>
            </a:r>
            <a:r>
              <a:rPr kumimoji="0" sz="1600" b="0" i="0" u="none" strike="noStrike" kern="1200" cap="none" spc="0" normalizeH="0" baseline="0" noProof="0" dirty="0" err="1">
                <a:ln>
                  <a:noFill/>
                </a:ln>
                <a:solidFill>
                  <a:srgbClr val="666666"/>
                </a:solidFill>
                <a:effectLst/>
                <a:uLnTx/>
                <a:uFillTx/>
                <a:latin typeface="Calibri"/>
                <a:ea typeface="+mn-ea"/>
                <a:cs typeface="+mn-cs"/>
              </a:rPr>
              <a:t>disputas</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Enfoque</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practico</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contrato</a:t>
            </a:r>
            <a:r>
              <a:rPr kumimoji="0" sz="1600" b="0" i="0" u="none" strike="noStrike" kern="1200" cap="none" spc="0" normalizeH="0" baseline="0" noProof="0" dirty="0">
                <a:ln>
                  <a:noFill/>
                </a:ln>
                <a:solidFill>
                  <a:srgbClr val="666666"/>
                </a:solidFill>
                <a:effectLst/>
                <a:uLnTx/>
                <a:uFillTx/>
                <a:latin typeface="Calibri"/>
                <a:ea typeface="+mn-ea"/>
                <a:cs typeface="+mn-cs"/>
              </a:rPr>
              <a:t> legal </a:t>
            </a:r>
            <a:r>
              <a:rPr kumimoji="0" sz="1600" b="0" i="0" u="none" strike="noStrike" kern="1200" cap="none" spc="0" normalizeH="0" baseline="0" noProof="0" dirty="0" err="1">
                <a:ln>
                  <a:noFill/>
                </a:ln>
                <a:solidFill>
                  <a:srgbClr val="666666"/>
                </a:solidFill>
                <a:effectLst/>
                <a:uLnTx/>
                <a:uFillTx/>
                <a:latin typeface="Calibri"/>
                <a:ea typeface="+mn-ea"/>
                <a:cs typeface="+mn-cs"/>
              </a:rPr>
              <a:t>tradicional</a:t>
            </a:r>
            <a:r>
              <a:rPr kumimoji="0" sz="1600" b="0" i="0" u="none" strike="noStrike" kern="1200" cap="none" spc="0" normalizeH="0" baseline="0" noProof="0" dirty="0">
                <a:ln>
                  <a:noFill/>
                </a:ln>
                <a:solidFill>
                  <a:srgbClr val="666666"/>
                </a:solidFill>
                <a:effectLst/>
                <a:uLnTx/>
                <a:uFillTx/>
                <a:latin typeface="Calibri"/>
                <a:ea typeface="+mn-ea"/>
                <a:cs typeface="+mn-cs"/>
              </a:rPr>
              <a:t> + smart contract </a:t>
            </a:r>
            <a:r>
              <a:rPr kumimoji="0" sz="1600" b="0" i="0" u="none" strike="noStrike" kern="1200" cap="none" spc="0" normalizeH="0" baseline="0" noProof="0" dirty="0" err="1">
                <a:ln>
                  <a:noFill/>
                </a:ln>
                <a:solidFill>
                  <a:srgbClr val="666666"/>
                </a:solidFill>
                <a:effectLst/>
                <a:uLnTx/>
                <a:uFillTx/>
                <a:latin typeface="Calibri"/>
                <a:ea typeface="+mn-ea"/>
                <a:cs typeface="+mn-cs"/>
              </a:rPr>
              <a:t>que</a:t>
            </a:r>
            <a:r>
              <a:rPr kumimoji="0" sz="1600" b="0" i="0" u="none" strike="noStrike" kern="1200" cap="none" spc="0" normalizeH="0" baseline="0" noProof="0" dirty="0">
                <a:ln>
                  <a:noFill/>
                </a:ln>
                <a:solidFill>
                  <a:srgbClr val="666666"/>
                </a:solidFill>
                <a:effectLst/>
                <a:uLnTx/>
                <a:uFillTx/>
                <a:latin typeface="Calibri"/>
                <a:ea typeface="+mn-ea"/>
                <a:cs typeface="+mn-cs"/>
              </a:rPr>
              <a:t> lo </a:t>
            </a:r>
            <a:r>
              <a:rPr kumimoji="0" sz="1600" b="0" i="0" u="none" strike="noStrike" kern="1200" cap="none" spc="0" normalizeH="0" baseline="0" noProof="0" dirty="0" err="1">
                <a:ln>
                  <a:noFill/>
                </a:ln>
                <a:solidFill>
                  <a:srgbClr val="666666"/>
                </a:solidFill>
                <a:effectLst/>
                <a:uLnTx/>
                <a:uFillTx/>
                <a:latin typeface="Calibri"/>
                <a:ea typeface="+mn-ea"/>
                <a:cs typeface="+mn-cs"/>
              </a:rPr>
              <a:t>ejecuta</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3. ¿</a:t>
            </a:r>
            <a:r>
              <a:rPr kumimoji="0" sz="2000" b="0" i="0" u="none" strike="noStrike" kern="1200" cap="none" spc="0" normalizeH="0" baseline="0" noProof="0" dirty="0" err="1">
                <a:ln>
                  <a:noFill/>
                </a:ln>
                <a:solidFill>
                  <a:srgbClr val="333333"/>
                </a:solidFill>
                <a:effectLst/>
                <a:uLnTx/>
                <a:uFillTx/>
                <a:latin typeface="Calibri"/>
                <a:ea typeface="+mn-ea"/>
                <a:cs typeface="+mn-cs"/>
              </a:rPr>
              <a:t>Que</a:t>
            </a:r>
            <a:r>
              <a:rPr kumimoji="0" sz="2000" b="0" i="0" u="none" strike="noStrike" kern="1200" cap="none" spc="0" normalizeH="0" baseline="0" noProof="0" dirty="0">
                <a:ln>
                  <a:noFill/>
                </a:ln>
                <a:solidFill>
                  <a:srgbClr val="333333"/>
                </a:solidFill>
                <a:effectLst/>
                <a:uLnTx/>
                <a:uFillTx/>
                <a:latin typeface="Calibri"/>
                <a:ea typeface="+mn-ea"/>
                <a:cs typeface="+mn-cs"/>
              </a:rPr>
              <a:t> es </a:t>
            </a:r>
            <a:r>
              <a:rPr kumimoji="0" sz="2000" b="0" i="0" u="none" strike="noStrike" kern="1200" cap="none" spc="0" normalizeH="0" baseline="0" noProof="0" dirty="0" err="1">
                <a:ln>
                  <a:noFill/>
                </a:ln>
                <a:solidFill>
                  <a:srgbClr val="333333"/>
                </a:solidFill>
                <a:effectLst/>
                <a:uLnTx/>
                <a:uFillTx/>
                <a:latin typeface="Calibri"/>
                <a:ea typeface="+mn-ea"/>
                <a:cs typeface="+mn-cs"/>
              </a:rPr>
              <a:t>MiCA</a:t>
            </a:r>
            <a:r>
              <a:rPr kumimoji="0" sz="2000" b="0" i="0" u="none" strike="noStrike" kern="1200" cap="none" spc="0" normalizeH="0" baseline="0" noProof="0" dirty="0">
                <a:ln>
                  <a:noFill/>
                </a:ln>
                <a:solidFill>
                  <a:srgbClr val="333333"/>
                </a:solidFill>
                <a:effectLst/>
                <a:uLnTx/>
                <a:uFillTx/>
                <a:latin typeface="Calibri"/>
                <a:ea typeface="+mn-ea"/>
                <a:cs typeface="+mn-cs"/>
              </a:rPr>
              <a:t> y a </a:t>
            </a:r>
            <a:r>
              <a:rPr kumimoji="0" sz="2000" b="0" i="0" u="none" strike="noStrike" kern="1200" cap="none" spc="0" normalizeH="0" baseline="0" noProof="0" dirty="0" err="1">
                <a:ln>
                  <a:noFill/>
                </a:ln>
                <a:solidFill>
                  <a:srgbClr val="333333"/>
                </a:solidFill>
                <a:effectLst/>
                <a:uLnTx/>
                <a:uFillTx/>
                <a:latin typeface="Calibri"/>
                <a:ea typeface="+mn-ea"/>
                <a:cs typeface="+mn-cs"/>
              </a:rPr>
              <a:t>quien</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aplica</a:t>
            </a:r>
            <a:r>
              <a:rPr kumimoji="0" sz="2000" b="0" i="0" u="none" strike="noStrike" kern="1200" cap="none" spc="0" normalizeH="0" baseline="0" noProof="0" dirty="0">
                <a:ln>
                  <a:noFill/>
                </a:ln>
                <a:solidFill>
                  <a:srgbClr val="333333"/>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Markets in Crypto-Assets Regulation (</a:t>
            </a:r>
            <a:r>
              <a:rPr kumimoji="0" sz="1600" b="0" i="0" u="none" strike="noStrike" kern="1200" cap="none" spc="0" normalizeH="0" baseline="0" noProof="0" dirty="0" err="1">
                <a:ln>
                  <a:noFill/>
                </a:ln>
                <a:solidFill>
                  <a:srgbClr val="666666"/>
                </a:solidFill>
                <a:effectLst/>
                <a:uLnTx/>
                <a:uFillTx/>
                <a:latin typeface="Calibri"/>
                <a:ea typeface="+mn-ea"/>
                <a:cs typeface="+mn-cs"/>
              </a:rPr>
              <a:t>diciembre</a:t>
            </a:r>
            <a:r>
              <a:rPr kumimoji="0" sz="1600" b="0" i="0" u="none" strike="noStrike" kern="1200" cap="none" spc="0" normalizeH="0" baseline="0" noProof="0" dirty="0">
                <a:ln>
                  <a:noFill/>
                </a:ln>
                <a:solidFill>
                  <a:srgbClr val="666666"/>
                </a:solidFill>
                <a:effectLst/>
                <a:uLnTx/>
                <a:uFillTx/>
                <a:latin typeface="Calibri"/>
                <a:ea typeface="+mn-ea"/>
                <a:cs typeface="+mn-cs"/>
              </a:rPr>
              <a:t> 2024).</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Aplica</a:t>
            </a:r>
            <a:r>
              <a:rPr kumimoji="0" sz="1600" b="0" i="0" u="none" strike="noStrike" kern="1200" cap="none" spc="0" normalizeH="0" baseline="0" noProof="0" dirty="0">
                <a:ln>
                  <a:noFill/>
                </a:ln>
                <a:solidFill>
                  <a:srgbClr val="666666"/>
                </a:solidFill>
                <a:effectLst/>
                <a:uLnTx/>
                <a:uFillTx/>
                <a:latin typeface="Calibri"/>
                <a:ea typeface="+mn-ea"/>
                <a:cs typeface="+mn-cs"/>
              </a:rPr>
              <a:t> a: tokens de </a:t>
            </a:r>
            <a:r>
              <a:rPr kumimoji="0" sz="1600" b="0" i="0" u="none" strike="noStrike" kern="1200" cap="none" spc="0" normalizeH="0" baseline="0" noProof="0" dirty="0" err="1">
                <a:ln>
                  <a:noFill/>
                </a:ln>
                <a:solidFill>
                  <a:srgbClr val="666666"/>
                </a:solidFill>
                <a:effectLst/>
                <a:uLnTx/>
                <a:uFillTx/>
                <a:latin typeface="Calibri"/>
                <a:ea typeface="+mn-ea"/>
                <a:cs typeface="+mn-cs"/>
              </a:rPr>
              <a:t>utilidad</a:t>
            </a:r>
            <a:r>
              <a:rPr kumimoji="0" sz="1600" b="0" i="0" u="none" strike="noStrike" kern="1200" cap="none" spc="0" normalizeH="0" baseline="0" noProof="0" dirty="0">
                <a:ln>
                  <a:noFill/>
                </a:ln>
                <a:solidFill>
                  <a:srgbClr val="666666"/>
                </a:solidFill>
                <a:effectLst/>
                <a:uLnTx/>
                <a:uFillTx/>
                <a:latin typeface="Calibri"/>
                <a:ea typeface="+mn-ea"/>
                <a:cs typeface="+mn-cs"/>
              </a:rPr>
              <a:t>, stablecoins, </a:t>
            </a:r>
            <a:r>
              <a:rPr kumimoji="0" sz="1600" b="0" i="0" u="none" strike="noStrike" kern="1200" cap="none" spc="0" normalizeH="0" baseline="0" noProof="0" dirty="0" err="1">
                <a:ln>
                  <a:noFill/>
                </a:ln>
                <a:solidFill>
                  <a:srgbClr val="666666"/>
                </a:solidFill>
                <a:effectLst/>
                <a:uLnTx/>
                <a:uFillTx/>
                <a:latin typeface="Calibri"/>
                <a:ea typeface="+mn-ea"/>
                <a:cs typeface="+mn-cs"/>
              </a:rPr>
              <a:t>criptoactivos</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publicos</a:t>
            </a:r>
            <a:r>
              <a:rPr kumimoji="0" sz="1600" b="0" i="0" u="none" strike="noStrike" kern="1200" cap="none" spc="0" normalizeH="0" baseline="0" noProof="0" dirty="0">
                <a:ln>
                  <a:noFill/>
                </a:ln>
                <a:solidFill>
                  <a:srgbClr val="666666"/>
                </a:solidFill>
                <a:effectLst/>
                <a:uLnTx/>
                <a:uFillTx/>
                <a:latin typeface="Calibri"/>
                <a:ea typeface="+mn-ea"/>
                <a:cs typeface="+mn-cs"/>
              </a:rPr>
              <a:t>, exchanges.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NO </a:t>
            </a:r>
            <a:r>
              <a:rPr kumimoji="0" sz="1600" b="0" i="0" u="none" strike="noStrike" kern="1200" cap="none" spc="0" normalizeH="0" baseline="0" noProof="0" dirty="0" err="1">
                <a:ln>
                  <a:noFill/>
                </a:ln>
                <a:solidFill>
                  <a:srgbClr val="666666"/>
                </a:solidFill>
                <a:effectLst/>
                <a:uLnTx/>
                <a:uFillTx/>
                <a:latin typeface="Calibri"/>
                <a:ea typeface="+mn-ea"/>
                <a:cs typeface="+mn-cs"/>
              </a:rPr>
              <a:t>aplica</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directamente</a:t>
            </a:r>
            <a:r>
              <a:rPr kumimoji="0" sz="1600" b="0" i="0" u="none" strike="noStrike" kern="1200" cap="none" spc="0" normalizeH="0" baseline="0" noProof="0" dirty="0">
                <a:ln>
                  <a:noFill/>
                </a:ln>
                <a:solidFill>
                  <a:srgbClr val="666666"/>
                </a:solidFill>
                <a:effectLst/>
                <a:uLnTx/>
                <a:uFillTx/>
                <a:latin typeface="Calibri"/>
                <a:ea typeface="+mn-ea"/>
                <a:cs typeface="+mn-cs"/>
              </a:rPr>
              <a:t> a blockchain enterprise permissioned sin tokens </a:t>
            </a:r>
            <a:r>
              <a:rPr kumimoji="0" sz="1600" b="0" i="0" u="none" strike="noStrike" kern="1200" cap="none" spc="0" normalizeH="0" baseline="0" noProof="0" dirty="0" err="1">
                <a:ln>
                  <a:noFill/>
                </a:ln>
                <a:solidFill>
                  <a:srgbClr val="666666"/>
                </a:solidFill>
                <a:effectLst/>
                <a:uLnTx/>
                <a:uFillTx/>
                <a:latin typeface="Calibri"/>
                <a:ea typeface="+mn-ea"/>
                <a:cs typeface="+mn-cs"/>
              </a:rPr>
              <a:t>publicos</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Relevante</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si</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tu</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proyecto</a:t>
            </a:r>
            <a:r>
              <a:rPr kumimoji="0" sz="1600" b="0" i="0" u="none" strike="noStrike" kern="1200" cap="none" spc="0" normalizeH="0" baseline="0" noProof="0" dirty="0">
                <a:ln>
                  <a:noFill/>
                </a:ln>
                <a:solidFill>
                  <a:srgbClr val="666666"/>
                </a:solidFill>
                <a:effectLst/>
                <a:uLnTx/>
                <a:uFillTx/>
                <a:latin typeface="Calibri"/>
                <a:ea typeface="+mn-ea"/>
                <a:cs typeface="+mn-cs"/>
              </a:rPr>
              <a:t> Fabric </a:t>
            </a:r>
            <a:r>
              <a:rPr kumimoji="0" sz="1600" b="0" i="0" u="none" strike="noStrike" kern="1200" cap="none" spc="0" normalizeH="0" baseline="0" noProof="0" dirty="0" err="1">
                <a:ln>
                  <a:noFill/>
                </a:ln>
                <a:solidFill>
                  <a:srgbClr val="666666"/>
                </a:solidFill>
                <a:effectLst/>
                <a:uLnTx/>
                <a:uFillTx/>
                <a:latin typeface="Calibri"/>
                <a:ea typeface="+mn-ea"/>
                <a:cs typeface="+mn-cs"/>
              </a:rPr>
              <a:t>emite</a:t>
            </a:r>
            <a:r>
              <a:rPr kumimoji="0" sz="1600" b="0" i="0" u="none" strike="noStrike" kern="1200" cap="none" spc="0" normalizeH="0" baseline="0" noProof="0" dirty="0">
                <a:ln>
                  <a:noFill/>
                </a:ln>
                <a:solidFill>
                  <a:srgbClr val="666666"/>
                </a:solidFill>
                <a:effectLst/>
                <a:uLnTx/>
                <a:uFillTx/>
                <a:latin typeface="Calibri"/>
                <a:ea typeface="+mn-ea"/>
                <a:cs typeface="+mn-cs"/>
              </a:rPr>
              <a:t> tokens </a:t>
            </a:r>
            <a:r>
              <a:rPr kumimoji="0" sz="1600" b="0" i="0" u="none" strike="noStrike" kern="1200" cap="none" spc="0" normalizeH="0" baseline="0" noProof="0" dirty="0" err="1">
                <a:ln>
                  <a:noFill/>
                </a:ln>
                <a:solidFill>
                  <a:srgbClr val="666666"/>
                </a:solidFill>
                <a:effectLst/>
                <a:uLnTx/>
                <a:uFillTx/>
                <a:latin typeface="Calibri"/>
                <a:ea typeface="+mn-ea"/>
                <a:cs typeface="+mn-cs"/>
              </a:rPr>
              <a:t>que</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salen</a:t>
            </a:r>
            <a:r>
              <a:rPr kumimoji="0" sz="1600" b="0" i="0" u="none" strike="noStrike" kern="1200" cap="none" spc="0" normalizeH="0" baseline="0" noProof="0" dirty="0">
                <a:ln>
                  <a:noFill/>
                </a:ln>
                <a:solidFill>
                  <a:srgbClr val="666666"/>
                </a:solidFill>
                <a:effectLst/>
                <a:uLnTx/>
                <a:uFillTx/>
                <a:latin typeface="Calibri"/>
                <a:ea typeface="+mn-ea"/>
                <a:cs typeface="+mn-cs"/>
              </a:rPr>
              <a:t> al mercado.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Requisitos</a:t>
            </a:r>
            <a:r>
              <a:rPr kumimoji="0" sz="1600" b="0" i="0" u="none" strike="noStrike" kern="1200" cap="none" spc="0" normalizeH="0" baseline="0" noProof="0" dirty="0">
                <a:ln>
                  <a:noFill/>
                </a:ln>
                <a:solidFill>
                  <a:srgbClr val="666666"/>
                </a:solidFill>
                <a:effectLst/>
                <a:uLnTx/>
                <a:uFillTx/>
                <a:latin typeface="Calibri"/>
                <a:ea typeface="+mn-ea"/>
                <a:cs typeface="+mn-cs"/>
              </a:rPr>
              <a:t>: whitepaper, </a:t>
            </a:r>
            <a:r>
              <a:rPr kumimoji="0" sz="1600" b="0" i="0" u="none" strike="noStrike" kern="1200" cap="none" spc="0" normalizeH="0" baseline="0" noProof="0" dirty="0" err="1">
                <a:ln>
                  <a:noFill/>
                </a:ln>
                <a:solidFill>
                  <a:srgbClr val="666666"/>
                </a:solidFill>
                <a:effectLst/>
                <a:uLnTx/>
                <a:uFillTx/>
                <a:latin typeface="Calibri"/>
                <a:ea typeface="+mn-ea"/>
                <a:cs typeface="+mn-cs"/>
              </a:rPr>
              <a:t>proteccion</a:t>
            </a:r>
            <a:r>
              <a:rPr kumimoji="0" sz="1600" b="0" i="0" u="none" strike="noStrike" kern="1200" cap="none" spc="0" normalizeH="0" baseline="0" noProof="0" dirty="0">
                <a:ln>
                  <a:noFill/>
                </a:ln>
                <a:solidFill>
                  <a:srgbClr val="666666"/>
                </a:solidFill>
                <a:effectLst/>
                <a:uLnTx/>
                <a:uFillTx/>
                <a:latin typeface="Calibri"/>
                <a:ea typeface="+mn-ea"/>
                <a:cs typeface="+mn-cs"/>
              </a:rPr>
              <a:t> al </a:t>
            </a:r>
            <a:r>
              <a:rPr kumimoji="0" sz="1600" b="0" i="0" u="none" strike="noStrike" kern="1200" cap="none" spc="0" normalizeH="0" baseline="0" noProof="0" dirty="0" err="1">
                <a:ln>
                  <a:noFill/>
                </a:ln>
                <a:solidFill>
                  <a:srgbClr val="666666"/>
                </a:solidFill>
                <a:effectLst/>
                <a:uLnTx/>
                <a:uFillTx/>
                <a:latin typeface="Calibri"/>
                <a:ea typeface="+mn-ea"/>
                <a:cs typeface="+mn-cs"/>
              </a:rPr>
              <a:t>inversor</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autorizacion</a:t>
            </a:r>
            <a:r>
              <a:rPr kumimoji="0" sz="1600" b="0" i="0" u="none" strike="noStrike" kern="1200" cap="none" spc="0" normalizeH="0" baseline="0" noProof="0" dirty="0">
                <a:ln>
                  <a:noFill/>
                </a:ln>
                <a:solidFill>
                  <a:srgbClr val="666666"/>
                </a:solidFill>
                <a:effectLst/>
                <a:uLnTx/>
                <a:uFillTx/>
                <a:latin typeface="Calibri"/>
                <a:ea typeface="+mn-ea"/>
                <a:cs typeface="+mn-cs"/>
              </a:rPr>
              <a:t> ESMA/CNMV.</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Respuestas al repaso (2/2)</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4. Regulacion si tokenizas un bono en Fabric:</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Si el token representa un valor negociable -&gt; MiFID II aplica.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Requiere autorizacion de la CNMV (Espana) o equivalente europeo.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Aplican las mismas reglas que a valores tradicionales (folleto, KYC, etc).</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Si es una STO (Security Token Offering): mas regulado que ICO pero con marco.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Tokenizacion interna entre orgs (no ventas publicas): menos regulacion directa.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5. Si un chaincode tiene un bug, ¿quien responde?</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Responsabilidad compartida: todas las orgs que aprobaron el lifecycle.</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Preguntas clave a definir en el acuerdo del consorcio: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 ¿Quien audita los chaincodes antes de aprobarlos?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 ¿Hay seguro de responsabilidad civil?</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 ¿Mecanismo de compensacion?</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 ¿Jurisdiccion y ley aplicables?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En la practica: el desarrollador/proveedor responde contractualmente.</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El consorcio establece limites via SLA y clausulas de indemnizacion.</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3716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0" y="6720840"/>
            <a:ext cx="12188952" cy="13716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57200" y="365760"/>
            <a:ext cx="10972800" cy="45720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1600" b="1">
                <a:solidFill>
                  <a:srgbClr val="22627E"/>
                </a:solidFill>
                <a:latin typeface="Calibri"/>
              </a:defRPr>
            </a:pPr>
            <a:r>
              <a:rPr kumimoji="0" sz="1600" b="1" i="0" u="none" strike="noStrike" kern="1200" cap="none" spc="0" normalizeH="0" baseline="0" noProof="0">
                <a:ln>
                  <a:noFill/>
                </a:ln>
                <a:solidFill>
                  <a:srgbClr val="22627E"/>
                </a:solidFill>
                <a:effectLst/>
                <a:uLnTx/>
                <a:uFillTx/>
                <a:latin typeface="Calibri"/>
                <a:ea typeface="+mn-ea"/>
                <a:cs typeface="+mn-cs"/>
              </a:rPr>
              <a:t>Modulo 3: Vision Empresarial</a:t>
            </a:r>
          </a:p>
        </p:txBody>
      </p:sp>
      <p:sp>
        <p:nvSpPr>
          <p:cNvPr id="5" name="TextBox 4"/>
          <p:cNvSpPr txBox="1"/>
          <p:nvPr/>
        </p:nvSpPr>
        <p:spPr>
          <a:xfrm>
            <a:off x="457200" y="1828800"/>
            <a:ext cx="10972800" cy="228600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5400" b="1">
                <a:solidFill>
                  <a:srgbClr val="22627E"/>
                </a:solidFill>
                <a:latin typeface="Calibri"/>
              </a:defRPr>
            </a:pPr>
            <a:r>
              <a:rPr kumimoji="0" sz="5400" b="1" i="0" u="none" strike="noStrike" kern="1200" cap="none" spc="0" normalizeH="0" baseline="0" noProof="0">
                <a:ln>
                  <a:noFill/>
                </a:ln>
                <a:solidFill>
                  <a:srgbClr val="22627E"/>
                </a:solidFill>
                <a:effectLst/>
                <a:uLnTx/>
                <a:uFillTx/>
                <a:latin typeface="Calibri"/>
                <a:ea typeface="+mn-ea"/>
                <a:cs typeface="+mn-cs"/>
              </a:rPr>
              <a:t>Diseño de Proyectos</a:t>
            </a:r>
            <a:br>
              <a:rPr kumimoji="0" sz="5400" b="1" i="0" u="none" strike="noStrike" kern="1200" cap="none" spc="0" normalizeH="0" baseline="0" noProof="0">
                <a:ln>
                  <a:noFill/>
                </a:ln>
                <a:solidFill>
                  <a:srgbClr val="22627E"/>
                </a:solidFill>
                <a:effectLst/>
                <a:uLnTx/>
                <a:uFillTx/>
                <a:latin typeface="Calibri"/>
                <a:ea typeface="+mn-ea"/>
                <a:cs typeface="+mn-cs"/>
              </a:rPr>
            </a:br>
            <a:r>
              <a:rPr kumimoji="0" sz="5400" b="1" i="0" u="none" strike="noStrike" kern="1200" cap="none" spc="0" normalizeH="0" baseline="0" noProof="0">
                <a:ln>
                  <a:noFill/>
                </a:ln>
                <a:solidFill>
                  <a:srgbClr val="22627E"/>
                </a:solidFill>
                <a:effectLst/>
                <a:uLnTx/>
                <a:uFillTx/>
                <a:latin typeface="Calibri"/>
                <a:ea typeface="+mn-ea"/>
                <a:cs typeface="+mn-cs"/>
              </a:rPr>
              <a:t>Empresariales con Fabric</a:t>
            </a:r>
          </a:p>
        </p:txBody>
      </p:sp>
      <p:sp>
        <p:nvSpPr>
          <p:cNvPr id="6" name="TextBox 5"/>
          <p:cNvSpPr txBox="1"/>
          <p:nvPr/>
        </p:nvSpPr>
        <p:spPr>
          <a:xfrm>
            <a:off x="457200" y="4114800"/>
            <a:ext cx="10972800" cy="137160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2400" b="0">
                <a:solidFill>
                  <a:srgbClr val="333333"/>
                </a:solidFill>
                <a:latin typeface="Calibri"/>
              </a:defRPr>
            </a:pPr>
            <a:r>
              <a:rPr kumimoji="0" sz="2400" b="0" i="0" u="none" strike="noStrike" kern="1200" cap="none" spc="0" normalizeH="0" baseline="0" noProof="0">
                <a:ln>
                  <a:noFill/>
                </a:ln>
                <a:solidFill>
                  <a:srgbClr val="333333"/>
                </a:solidFill>
                <a:effectLst/>
                <a:uLnTx/>
                <a:uFillTx/>
                <a:latin typeface="Calibri"/>
                <a:ea typeface="+mn-ea"/>
                <a:cs typeface="+mn-cs"/>
              </a:rPr>
              <a:t>Dia 5 - De la idea al proyecto: metodologia practica</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Metodologia: de la idea al proyecto</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1. Identificar el problema (dia 2): ¿que duele? ¿a quien? ¿cuanto cuesta?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2. Validar que blockchain aporta (dia 1): arbol de decision</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3. Definir el consorcio: quienes participan, que rol tiene cada uno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4. Disenar la gobernanza (dia 3): politicas, costes, onboarding</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5. Disenar la red Fabric: organizaciones, canales, datos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6. Definir el MVP: empezar pequeno, demostrar valor</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7. Planificar: roadmap, equipo, presupuesto, riesgos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Disenar la red: preguntas clave</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¿Cuantas organizaciones? ¿Cada una tiene su propio peer?</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¿Cuantos canales? ¿Todas las orgs comparten todo o hay datos segregados?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¿Que datos van on-chain y cuales off-chain?</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¿Private Data Collections o canales separados para datos confidenciales?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¿CouchDB (rich queries) o LevelDB (rendimiento)?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¿Cuantos orderers? ¿Quien los opera?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¿cryptogen (piloto) o Fabric CA (produccion)?</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¿On-premise o cloud (AWS, Azure, IBM)?</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Template: topologia de red Fabric</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11" name="Imagen 10">
            <a:extLst>
              <a:ext uri="{FF2B5EF4-FFF2-40B4-BE49-F238E27FC236}">
                <a16:creationId xmlns:a16="http://schemas.microsoft.com/office/drawing/2014/main" id="{6A672EF5-4DDE-A5F4-EFBA-46395DD7B29E}"/>
              </a:ext>
            </a:extLst>
          </p:cNvPr>
          <p:cNvPicPr>
            <a:picLocks noChangeAspect="1"/>
          </p:cNvPicPr>
          <p:nvPr/>
        </p:nvPicPr>
        <p:blipFill>
          <a:blip r:embed="rId2"/>
          <a:stretch>
            <a:fillRect/>
          </a:stretch>
        </p:blipFill>
        <p:spPr>
          <a:xfrm>
            <a:off x="2138638" y="1406382"/>
            <a:ext cx="7609924" cy="498349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Estimar costes de un proyecto Fabric</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Infraestructura: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Servidores/cloud para peers, orderers, CAs, CouchDB</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Estimacion: 500-2000 EUR/mes por organizacion (cloud)</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Mas barato on-premise pero requiere equipo de sistemas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Desarrollo: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Chaincodes: 2-6 meses de desarrollo segun complejidad</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Aplicacion cliente: 1-3 meses adicionales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Integracion con sistemas legacy: el coste mas impredecible</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Operaciones: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Administracion de la red: 0.5-1 persona por org</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Soporte y mantenimiento: 20-30% del coste de desarrollo anual</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a:ln>
                  <a:noFill/>
                </a:ln>
                <a:solidFill>
                  <a:srgbClr val="666666"/>
                </a:solidFill>
                <a:effectLst/>
                <a:uLnTx/>
                <a:uFillTx/>
                <a:latin typeface="Calibri"/>
                <a:ea typeface="+mn-ea"/>
                <a:cs typeface="+mn-cs"/>
              </a:rPr>
              <a:t>    Gobernanza: reuniones, comites, decision-making (tiempo de directivos)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Roadmap tipico de un proyecto Fabric</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Mes 1-2: Descubrimiento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Definir el problema, validar blockchain, identificar socios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Mes 3-4: PoC (Proof of Concept)</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Red minima (2 orgs), chaincode basico, demostrar que funciona</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Mes 5-8: MVP (Minimum Viable Product)</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Red con Fabric CA, chaincode completo, app cliente, tests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Mes 9-12: Piloto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Datos reales, mas organizaciones, integracion con sistemas</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Mes 12+: Produccion</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SLAs, monitorizacion, soporte 24/7, gobernanza formal</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0D9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457200" y="274320"/>
            <a:ext cx="2286000" cy="457200"/>
          </a:xfrm>
          <a:prstGeom prst="rect">
            <a:avLst/>
          </a:prstGeom>
          <a:solidFill>
            <a:srgbClr val="0D9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57200" y="274320"/>
            <a:ext cx="2286000" cy="457200"/>
          </a:xfrm>
          <a:prstGeom prst="rect">
            <a:avLst/>
          </a:prstGeom>
          <a:noFill/>
        </p:spPr>
        <p:txBody>
          <a:bodyPr wrap="square"/>
          <a:lstStyle/>
          <a:p>
            <a:pPr marL="0" marR="0" lvl="0" indent="0" algn="ctr" defTabSz="457200" rtl="0" eaLnBrk="1" fontAlgn="auto" latinLnBrk="0" hangingPunct="1">
              <a:lnSpc>
                <a:spcPct val="100000"/>
              </a:lnSpc>
              <a:spcBef>
                <a:spcPts val="0"/>
              </a:spcBef>
              <a:spcAft>
                <a:spcPts val="0"/>
              </a:spcAft>
              <a:buClrTx/>
              <a:buSzTx/>
              <a:buFontTx/>
              <a:buNone/>
              <a:tabLst/>
              <a:defRPr sz="1800" b="1">
                <a:solidFill>
                  <a:srgbClr val="FFFFFF"/>
                </a:solidFill>
                <a:latin typeface="Calibri"/>
              </a:defRPr>
            </a:pPr>
            <a:r>
              <a:rPr kumimoji="0" sz="1800" b="1" i="0" u="none" strike="noStrike" kern="1200" cap="none" spc="0" normalizeH="0" baseline="0" noProof="0">
                <a:ln>
                  <a:noFill/>
                </a:ln>
                <a:solidFill>
                  <a:srgbClr val="FFFFFF"/>
                </a:solidFill>
                <a:effectLst/>
                <a:uLnTx/>
                <a:uFillTx/>
                <a:latin typeface="Calibri"/>
                <a:ea typeface="+mn-ea"/>
                <a:cs typeface="+mn-cs"/>
              </a:rPr>
              <a:t>PROYECTO</a:t>
            </a:r>
          </a:p>
        </p:txBody>
      </p:sp>
      <p:sp>
        <p:nvSpPr>
          <p:cNvPr id="5" name="TextBox 4"/>
          <p:cNvSpPr txBox="1"/>
          <p:nvPr/>
        </p:nvSpPr>
        <p:spPr>
          <a:xfrm>
            <a:off x="3017520" y="274320"/>
            <a:ext cx="8686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000" b="1">
                <a:solidFill>
                  <a:srgbClr val="333333"/>
                </a:solidFill>
                <a:latin typeface="Calibri"/>
              </a:defRPr>
            </a:pPr>
            <a:r>
              <a:rPr kumimoji="0" sz="3000" b="1" i="0" u="none" strike="noStrike" kern="1200" cap="none" spc="0" normalizeH="0" baseline="0" noProof="0">
                <a:ln>
                  <a:noFill/>
                </a:ln>
                <a:solidFill>
                  <a:srgbClr val="333333"/>
                </a:solidFill>
                <a:effectLst/>
                <a:uLnTx/>
                <a:uFillTx/>
                <a:latin typeface="Calibri"/>
                <a:ea typeface="+mn-ea"/>
                <a:cs typeface="+mn-cs"/>
              </a:rPr>
              <a:t>Disena tu proyecto Fabric</a:t>
            </a:r>
          </a:p>
        </p:txBody>
      </p:sp>
      <p:sp>
        <p:nvSpPr>
          <p:cNvPr id="6" name="Rectangle 5"/>
          <p:cNvSpPr/>
          <p:nvPr/>
        </p:nvSpPr>
        <p:spPr>
          <a:xfrm>
            <a:off x="457200" y="1051560"/>
            <a:ext cx="10972800" cy="27432"/>
          </a:xfrm>
          <a:prstGeom prst="rect">
            <a:avLst/>
          </a:prstGeom>
          <a:solidFill>
            <a:srgbClr val="0D9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640080" y="137160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Cada grupo disena un proyecto completo para un caso de uso de su sector.</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Entregables (en papel o pizarra):</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1. Problema y propuesta de valor (2 frases)</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2. Organizaciones del consorcio (quienes, que rol)</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3. Diagrama de la red: orgs, canales, datos on/off-chain</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4. Modelo de gobernanza: politicas, costes, onboarding</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5. MVP: que incluye la primera version</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6. Roadmap: 4 fases con duraciones estimadas</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  7. 3 riesgos principales y como mitigarlos</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endParaRPr kumimoji="0" sz="2000" b="0" i="0" u="none" strike="noStrike" kern="1200" cap="none" spc="0" normalizeH="0" baseline="0" noProof="0">
              <a:ln>
                <a:noFill/>
              </a:ln>
              <a:solidFill>
                <a:srgbClr val="333333"/>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Tiempo: 40 minutos. Presentar en 10 minutos por grupo.</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333333"/>
                </a:solidFill>
                <a:latin typeface="Calibri"/>
              </a:defRPr>
            </a:pPr>
            <a:r>
              <a:rPr kumimoji="0" sz="2000" b="0" i="0" u="none" strike="noStrike" kern="1200" cap="none" spc="0" normalizeH="0" baseline="0" noProof="0">
                <a:ln>
                  <a:noFill/>
                </a:ln>
                <a:solidFill>
                  <a:srgbClr val="333333"/>
                </a:solidFill>
                <a:effectLst/>
                <a:uLnTx/>
                <a:uFillTx/>
                <a:latin typeface="Calibri"/>
                <a:ea typeface="+mn-ea"/>
                <a:cs typeface="+mn-cs"/>
              </a:rPr>
              <a:t>El resto de la clase hace de 'comite de inversion' y da feedback.</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Rectangle 2"/>
          <p:cNvSpPr/>
          <p:nvPr/>
        </p:nvSpPr>
        <p:spPr>
          <a:xfrm>
            <a:off x="457200" y="274320"/>
            <a:ext cx="1645920" cy="457200"/>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57200" y="274320"/>
            <a:ext cx="1645920" cy="457200"/>
          </a:xfrm>
          <a:prstGeom prst="rect">
            <a:avLst/>
          </a:prstGeom>
          <a:noFill/>
        </p:spPr>
        <p:txBody>
          <a:bodyPr wrap="square"/>
          <a:lstStyle/>
          <a:p>
            <a:pPr marL="0" marR="0" lvl="0" indent="0" algn="ctr" defTabSz="457200" rtl="0" eaLnBrk="1" fontAlgn="auto" latinLnBrk="0" hangingPunct="1">
              <a:lnSpc>
                <a:spcPct val="100000"/>
              </a:lnSpc>
              <a:spcBef>
                <a:spcPts val="0"/>
              </a:spcBef>
              <a:spcAft>
                <a:spcPts val="0"/>
              </a:spcAft>
              <a:buClrTx/>
              <a:buSzTx/>
              <a:buFontTx/>
              <a:buNone/>
              <a:tabLst/>
              <a:defRPr sz="1800" b="1">
                <a:solidFill>
                  <a:srgbClr val="FFFFFF"/>
                </a:solidFill>
                <a:latin typeface="Calibri"/>
              </a:defRPr>
            </a:pPr>
            <a:r>
              <a:rPr kumimoji="0" sz="1800" b="1" i="0" u="none" strike="noStrike" kern="1200" cap="none" spc="0" normalizeH="0" baseline="0" noProof="0">
                <a:ln>
                  <a:noFill/>
                </a:ln>
                <a:solidFill>
                  <a:srgbClr val="FFFFFF"/>
                </a:solidFill>
                <a:effectLst/>
                <a:uLnTx/>
                <a:uFillTx/>
                <a:latin typeface="Calibri"/>
                <a:ea typeface="+mn-ea"/>
                <a:cs typeface="+mn-cs"/>
              </a:rPr>
              <a:t>DEBATE</a:t>
            </a:r>
          </a:p>
        </p:txBody>
      </p:sp>
      <p:sp>
        <p:nvSpPr>
          <p:cNvPr id="5" name="TextBox 4"/>
          <p:cNvSpPr txBox="1"/>
          <p:nvPr/>
        </p:nvSpPr>
        <p:spPr>
          <a:xfrm>
            <a:off x="2377440" y="274320"/>
            <a:ext cx="91440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000" b="1">
                <a:solidFill>
                  <a:srgbClr val="333333"/>
                </a:solidFill>
                <a:latin typeface="Calibri"/>
              </a:defRPr>
            </a:pPr>
            <a:r>
              <a:rPr kumimoji="0" sz="3000" b="1" i="0" u="none" strike="noStrike" kern="1200" cap="none" spc="0" normalizeH="0" baseline="0" noProof="0">
                <a:ln>
                  <a:noFill/>
                </a:ln>
                <a:solidFill>
                  <a:srgbClr val="333333"/>
                </a:solidFill>
                <a:effectLst/>
                <a:uLnTx/>
                <a:uFillTx/>
                <a:latin typeface="Calibri"/>
                <a:ea typeface="+mn-ea"/>
                <a:cs typeface="+mn-cs"/>
              </a:rPr>
              <a:t>Cierre del Modulo 3</a:t>
            </a:r>
          </a:p>
        </p:txBody>
      </p:sp>
      <p:sp>
        <p:nvSpPr>
          <p:cNvPr id="6" name="Rectangle 5"/>
          <p:cNvSpPr/>
          <p:nvPr/>
        </p:nvSpPr>
        <p:spPr>
          <a:xfrm>
            <a:off x="457200" y="1051560"/>
            <a:ext cx="10972800" cy="27432"/>
          </a:xfrm>
          <a:prstGeom prst="rect">
            <a:avLst/>
          </a:prstGeom>
          <a:solidFill>
            <a:srgbClr val="E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640080" y="137160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1. ¿Que ha sido lo mas sorprendente de este modulo?</a:t>
            </a:r>
          </a:p>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2. ¿Habeis cambiado de opinion sobre blockchain enterprise respecto al inicio del curso?</a:t>
            </a:r>
          </a:p>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3. ¿Veis una oportunidad real en vuestro sector? ¿Cual?</a:t>
            </a:r>
          </a:p>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4. ¿Que es mas dificil: la tecnologia, la gobernanza o la regulacion?</a:t>
            </a:r>
          </a:p>
          <a:p>
            <a:pPr marL="0" marR="0" lvl="0" indent="0" algn="l" defTabSz="457200" rtl="0" eaLnBrk="1" fontAlgn="auto" latinLnBrk="0" hangingPunct="1">
              <a:lnSpc>
                <a:spcPct val="100000"/>
              </a:lnSpc>
              <a:spcBef>
                <a:spcPts val="0"/>
              </a:spcBef>
              <a:spcAft>
                <a:spcPts val="1600"/>
              </a:spcAft>
              <a:buClrTx/>
              <a:buSzTx/>
              <a:buFontTx/>
              <a:buNone/>
              <a:tabLst/>
              <a:defRPr sz="2200">
                <a:solidFill>
                  <a:srgbClr val="333333"/>
                </a:solidFill>
                <a:latin typeface="Calibri"/>
              </a:defRPr>
            </a:pPr>
            <a:r>
              <a:rPr kumimoji="0" sz="2200" b="0" i="0" u="none" strike="noStrike" kern="1200" cap="none" spc="0" normalizeH="0" baseline="0" noProof="0">
                <a:ln>
                  <a:noFill/>
                </a:ln>
                <a:solidFill>
                  <a:srgbClr val="333333"/>
                </a:solidFill>
                <a:effectLst/>
                <a:uLnTx/>
                <a:uFillTx/>
                <a:latin typeface="Calibri"/>
                <a:ea typeface="+mn-ea"/>
                <a:cs typeface="+mn-cs"/>
              </a:rPr>
              <a:t>5. Si tuvierais presupuesto ilimitado, ¿que proyecto blockchain montariais?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600" b="1">
                <a:solidFill>
                  <a:srgbClr val="FFFFFF"/>
                </a:solidFill>
                <a:latin typeface="Calibri"/>
              </a:defRPr>
            </a:pPr>
            <a:r>
              <a:rPr kumimoji="0" sz="3600" b="1" i="0" u="none" strike="noStrike" kern="1200" cap="none" spc="0" normalizeH="0" baseline="0" noProof="0">
                <a:ln>
                  <a:noFill/>
                </a:ln>
                <a:solidFill>
                  <a:srgbClr val="FFFFFF"/>
                </a:solidFill>
                <a:effectLst/>
                <a:uLnTx/>
                <a:uFillTx/>
                <a:latin typeface="Calibri"/>
                <a:ea typeface="+mn-ea"/>
                <a:cs typeface="+mn-cs"/>
              </a:rPr>
              <a:t>Repaso del Modulo 3</a:t>
            </a:r>
          </a:p>
        </p:txBody>
      </p:sp>
      <p:sp>
        <p:nvSpPr>
          <p:cNvPr id="4" name="Rectangle 3"/>
          <p:cNvSpPr/>
          <p:nvPr/>
        </p:nvSpPr>
        <p:spPr>
          <a:xfrm>
            <a:off x="457200" y="1051560"/>
            <a:ext cx="10972800" cy="274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371600"/>
            <a:ext cx="10515600" cy="50292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1. Casos de exito y fracaso: patrones comunes</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2. Arbol de decision: ¿blockchain o base de datos?</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3. Como presentar un proyecto blockchain a direccion</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4. Modelos de gobernanza: fundador, democratico, federado</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5. GDPR vs inmutabilidad: como resolverlo</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6. MiCA y regulacion de tokens</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7. Metodologia: de la idea al roadmap</a:t>
            </a:r>
          </a:p>
          <a:p>
            <a:pPr marL="0" marR="0" lvl="0" indent="0" algn="l" defTabSz="457200" rtl="0" eaLnBrk="1" fontAlgn="auto" latinLnBrk="0" hangingPunct="1">
              <a:lnSpc>
                <a:spcPct val="100000"/>
              </a:lnSpc>
              <a:spcBef>
                <a:spcPts val="0"/>
              </a:spcBef>
              <a:spcAft>
                <a:spcPts val="1000"/>
              </a:spcAft>
              <a:buClrTx/>
              <a:buSzTx/>
              <a:buFontTx/>
              <a:buNone/>
              <a:tabLst/>
              <a:defRPr sz="2000">
                <a:solidFill>
                  <a:srgbClr val="FFFFFF"/>
                </a:solidFill>
                <a:latin typeface="Calibri"/>
              </a:defRPr>
            </a:pPr>
            <a:r>
              <a:rPr kumimoji="0" sz="2000" b="0" i="0" u="none" strike="noStrike" kern="1200" cap="none" spc="0" normalizeH="0" baseline="0" noProof="0">
                <a:ln>
                  <a:noFill/>
                </a:ln>
                <a:solidFill>
                  <a:srgbClr val="FFFFFF"/>
                </a:solidFill>
                <a:effectLst/>
                <a:uLnTx/>
                <a:uFillTx/>
                <a:latin typeface="Calibri"/>
                <a:ea typeface="+mn-ea"/>
                <a:cs typeface="+mn-cs"/>
              </a:rPr>
              <a:t>8. Costes tipicos de un proyecto Fabric</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Respuestas al debate de cierre</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280160"/>
            <a:ext cx="10515600" cy="440120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1. Lo mas </a:t>
            </a:r>
            <a:r>
              <a:rPr kumimoji="0" sz="2000" b="0" i="0" u="none" strike="noStrike" kern="1200" cap="none" spc="0" normalizeH="0" baseline="0" noProof="0" dirty="0" err="1">
                <a:ln>
                  <a:noFill/>
                </a:ln>
                <a:solidFill>
                  <a:srgbClr val="333333"/>
                </a:solidFill>
                <a:effectLst/>
                <a:uLnTx/>
                <a:uFillTx/>
                <a:latin typeface="Calibri"/>
                <a:ea typeface="+mn-ea"/>
                <a:cs typeface="+mn-cs"/>
              </a:rPr>
              <a:t>sorprendente</a:t>
            </a:r>
            <a:r>
              <a:rPr kumimoji="0" sz="2000" b="0" i="0" u="none" strike="noStrike" kern="1200" cap="none" spc="0" normalizeH="0" baseline="0" noProof="0" dirty="0">
                <a:ln>
                  <a:noFill/>
                </a:ln>
                <a:solidFill>
                  <a:srgbClr val="333333"/>
                </a:solidFill>
                <a:effectLst/>
                <a:uLnTx/>
                <a:uFillTx/>
                <a:latin typeface="Calibri"/>
                <a:ea typeface="+mn-ea"/>
                <a:cs typeface="+mn-cs"/>
              </a:rPr>
              <a:t> del modulo: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Normalmente</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que</a:t>
            </a:r>
            <a:r>
              <a:rPr kumimoji="0" sz="1700" b="0" i="0" u="none" strike="noStrike" kern="1200" cap="none" spc="0" normalizeH="0" baseline="0" noProof="0" dirty="0">
                <a:ln>
                  <a:noFill/>
                </a:ln>
                <a:solidFill>
                  <a:srgbClr val="666666"/>
                </a:solidFill>
                <a:effectLst/>
                <a:uLnTx/>
                <a:uFillTx/>
                <a:latin typeface="Calibri"/>
                <a:ea typeface="+mn-ea"/>
                <a:cs typeface="+mn-cs"/>
              </a:rPr>
              <a:t> la </a:t>
            </a:r>
            <a:r>
              <a:rPr kumimoji="0" sz="1700" b="0" i="0" u="none" strike="noStrike" kern="1200" cap="none" spc="0" normalizeH="0" baseline="0" noProof="0" dirty="0" err="1">
                <a:ln>
                  <a:noFill/>
                </a:ln>
                <a:solidFill>
                  <a:srgbClr val="666666"/>
                </a:solidFill>
                <a:effectLst/>
                <a:uLnTx/>
                <a:uFillTx/>
                <a:latin typeface="Calibri"/>
                <a:ea typeface="+mn-ea"/>
                <a:cs typeface="+mn-cs"/>
              </a:rPr>
              <a:t>mayoria</a:t>
            </a:r>
            <a:r>
              <a:rPr kumimoji="0" sz="1700" b="0" i="0" u="none" strike="noStrike" kern="1200" cap="none" spc="0" normalizeH="0" baseline="0" noProof="0" dirty="0">
                <a:ln>
                  <a:noFill/>
                </a:ln>
                <a:solidFill>
                  <a:srgbClr val="666666"/>
                </a:solidFill>
                <a:effectLst/>
                <a:uLnTx/>
                <a:uFillTx/>
                <a:latin typeface="Calibri"/>
                <a:ea typeface="+mn-ea"/>
                <a:cs typeface="+mn-cs"/>
              </a:rPr>
              <a:t> de </a:t>
            </a:r>
            <a:r>
              <a:rPr kumimoji="0" sz="1700" b="0" i="0" u="none" strike="noStrike" kern="1200" cap="none" spc="0" normalizeH="0" baseline="0" noProof="0" dirty="0" err="1">
                <a:ln>
                  <a:noFill/>
                </a:ln>
                <a:solidFill>
                  <a:srgbClr val="666666"/>
                </a:solidFill>
                <a:effectLst/>
                <a:uLnTx/>
                <a:uFillTx/>
                <a:latin typeface="Calibri"/>
                <a:ea typeface="+mn-ea"/>
                <a:cs typeface="+mn-cs"/>
              </a:rPr>
              <a:t>fracasos</a:t>
            </a:r>
            <a:r>
              <a:rPr kumimoji="0" sz="1700" b="0" i="0" u="none" strike="noStrike" kern="1200" cap="none" spc="0" normalizeH="0" baseline="0" noProof="0" dirty="0">
                <a:ln>
                  <a:noFill/>
                </a:ln>
                <a:solidFill>
                  <a:srgbClr val="666666"/>
                </a:solidFill>
                <a:effectLst/>
                <a:uLnTx/>
                <a:uFillTx/>
                <a:latin typeface="Calibri"/>
                <a:ea typeface="+mn-ea"/>
                <a:cs typeface="+mn-cs"/>
              </a:rPr>
              <a:t> NO son </a:t>
            </a:r>
            <a:r>
              <a:rPr kumimoji="0" sz="1700" b="0" i="0" u="none" strike="noStrike" kern="1200" cap="none" spc="0" normalizeH="0" baseline="0" noProof="0" dirty="0" err="1">
                <a:ln>
                  <a:noFill/>
                </a:ln>
                <a:solidFill>
                  <a:srgbClr val="666666"/>
                </a:solidFill>
                <a:effectLst/>
                <a:uLnTx/>
                <a:uFillTx/>
                <a:latin typeface="Calibri"/>
                <a:ea typeface="+mn-ea"/>
                <a:cs typeface="+mn-cs"/>
              </a:rPr>
              <a:t>por</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tecnologia</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Son </a:t>
            </a:r>
            <a:r>
              <a:rPr kumimoji="0" sz="1700" b="0" i="0" u="none" strike="noStrike" kern="1200" cap="none" spc="0" normalizeH="0" baseline="0" noProof="0" dirty="0" err="1">
                <a:ln>
                  <a:noFill/>
                </a:ln>
                <a:solidFill>
                  <a:srgbClr val="666666"/>
                </a:solidFill>
                <a:effectLst/>
                <a:uLnTx/>
                <a:uFillTx/>
                <a:latin typeface="Calibri"/>
                <a:ea typeface="+mn-ea"/>
                <a:cs typeface="+mn-cs"/>
              </a:rPr>
              <a:t>por</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gobernanza</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incentivos</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regulacion</a:t>
            </a:r>
            <a:r>
              <a:rPr kumimoji="0" sz="1700" b="0" i="0" u="none" strike="noStrike" kern="1200" cap="none" spc="0" normalizeH="0" baseline="0" noProof="0" dirty="0">
                <a:ln>
                  <a:noFill/>
                </a:ln>
                <a:solidFill>
                  <a:srgbClr val="666666"/>
                </a:solidFill>
                <a:effectLst/>
                <a:uLnTx/>
                <a:uFillTx/>
                <a:latin typeface="Calibri"/>
                <a:ea typeface="+mn-ea"/>
                <a:cs typeface="+mn-cs"/>
              </a:rPr>
              <a:t> o UX.</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La </a:t>
            </a:r>
            <a:r>
              <a:rPr kumimoji="0" sz="1700" b="0" i="0" u="none" strike="noStrike" kern="1200" cap="none" spc="0" normalizeH="0" baseline="0" noProof="0" dirty="0" err="1">
                <a:ln>
                  <a:noFill/>
                </a:ln>
                <a:solidFill>
                  <a:srgbClr val="666666"/>
                </a:solidFill>
                <a:effectLst/>
                <a:uLnTx/>
                <a:uFillTx/>
                <a:latin typeface="Calibri"/>
                <a:ea typeface="+mn-ea"/>
                <a:cs typeface="+mn-cs"/>
              </a:rPr>
              <a:t>tecnologia</a:t>
            </a:r>
            <a:r>
              <a:rPr kumimoji="0" sz="1700" b="0" i="0" u="none" strike="noStrike" kern="1200" cap="none" spc="0" normalizeH="0" baseline="0" noProof="0" dirty="0">
                <a:ln>
                  <a:noFill/>
                </a:ln>
                <a:solidFill>
                  <a:srgbClr val="666666"/>
                </a:solidFill>
                <a:effectLst/>
                <a:uLnTx/>
                <a:uFillTx/>
                <a:latin typeface="Calibri"/>
                <a:ea typeface="+mn-ea"/>
                <a:cs typeface="+mn-cs"/>
              </a:rPr>
              <a:t> Fabric </a:t>
            </a:r>
            <a:r>
              <a:rPr kumimoji="0" sz="1700" b="0" i="0" u="none" strike="noStrike" kern="1200" cap="none" spc="0" normalizeH="0" baseline="0" noProof="0" dirty="0" err="1">
                <a:ln>
                  <a:noFill/>
                </a:ln>
                <a:solidFill>
                  <a:srgbClr val="666666"/>
                </a:solidFill>
                <a:effectLst/>
                <a:uLnTx/>
                <a:uFillTx/>
                <a:latin typeface="Calibri"/>
                <a:ea typeface="+mn-ea"/>
                <a:cs typeface="+mn-cs"/>
              </a:rPr>
              <a:t>funciona</a:t>
            </a:r>
            <a:r>
              <a:rPr kumimoji="0" sz="1700" b="0" i="0" u="none" strike="noStrike" kern="1200" cap="none" spc="0" normalizeH="0" baseline="0" noProof="0" dirty="0">
                <a:ln>
                  <a:noFill/>
                </a:ln>
                <a:solidFill>
                  <a:srgbClr val="666666"/>
                </a:solidFill>
                <a:effectLst/>
                <a:uLnTx/>
                <a:uFillTx/>
                <a:latin typeface="Calibri"/>
                <a:ea typeface="+mn-ea"/>
                <a:cs typeface="+mn-cs"/>
              </a:rPr>
              <a:t> — </a:t>
            </a:r>
            <a:r>
              <a:rPr kumimoji="0" sz="1700" b="0" i="0" u="none" strike="noStrike" kern="1200" cap="none" spc="0" normalizeH="0" baseline="0" noProof="0" dirty="0" err="1">
                <a:ln>
                  <a:noFill/>
                </a:ln>
                <a:solidFill>
                  <a:srgbClr val="666666"/>
                </a:solidFill>
                <a:effectLst/>
                <a:uLnTx/>
                <a:uFillTx/>
                <a:latin typeface="Calibri"/>
                <a:ea typeface="+mn-ea"/>
                <a:cs typeface="+mn-cs"/>
              </a:rPr>
              <a:t>el</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problema</a:t>
            </a:r>
            <a:r>
              <a:rPr kumimoji="0" sz="1700" b="0" i="0" u="none" strike="noStrike" kern="1200" cap="none" spc="0" normalizeH="0" baseline="0" noProof="0" dirty="0">
                <a:ln>
                  <a:noFill/>
                </a:ln>
                <a:solidFill>
                  <a:srgbClr val="666666"/>
                </a:solidFill>
                <a:effectLst/>
                <a:uLnTx/>
                <a:uFillTx/>
                <a:latin typeface="Calibri"/>
                <a:ea typeface="+mn-ea"/>
                <a:cs typeface="+mn-cs"/>
              </a:rPr>
              <a:t> es </a:t>
            </a:r>
            <a:r>
              <a:rPr kumimoji="0" sz="1700" b="0" i="0" u="none" strike="noStrike" kern="1200" cap="none" spc="0" normalizeH="0" baseline="0" noProof="0" dirty="0" err="1">
                <a:ln>
                  <a:noFill/>
                </a:ln>
                <a:solidFill>
                  <a:srgbClr val="666666"/>
                </a:solidFill>
                <a:effectLst/>
                <a:uLnTx/>
                <a:uFillTx/>
                <a:latin typeface="Calibri"/>
                <a:ea typeface="+mn-ea"/>
                <a:cs typeface="+mn-cs"/>
              </a:rPr>
              <a:t>el</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contexto</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2. ¿Han </a:t>
            </a:r>
            <a:r>
              <a:rPr kumimoji="0" sz="2000" b="0" i="0" u="none" strike="noStrike" kern="1200" cap="none" spc="0" normalizeH="0" baseline="0" noProof="0" dirty="0" err="1">
                <a:ln>
                  <a:noFill/>
                </a:ln>
                <a:solidFill>
                  <a:srgbClr val="333333"/>
                </a:solidFill>
                <a:effectLst/>
                <a:uLnTx/>
                <a:uFillTx/>
                <a:latin typeface="Calibri"/>
                <a:ea typeface="+mn-ea"/>
                <a:cs typeface="+mn-cs"/>
              </a:rPr>
              <a:t>cambiado</a:t>
            </a:r>
            <a:r>
              <a:rPr kumimoji="0" sz="2000" b="0" i="0" u="none" strike="noStrike" kern="1200" cap="none" spc="0" normalizeH="0" baseline="0" noProof="0" dirty="0">
                <a:ln>
                  <a:noFill/>
                </a:ln>
                <a:solidFill>
                  <a:srgbClr val="333333"/>
                </a:solidFill>
                <a:effectLst/>
                <a:uLnTx/>
                <a:uFillTx/>
                <a:latin typeface="Calibri"/>
                <a:ea typeface="+mn-ea"/>
                <a:cs typeface="+mn-cs"/>
              </a:rPr>
              <a:t> de opinion </a:t>
            </a:r>
            <a:r>
              <a:rPr kumimoji="0" sz="2000" b="0" i="0" u="none" strike="noStrike" kern="1200" cap="none" spc="0" normalizeH="0" baseline="0" noProof="0" dirty="0" err="1">
                <a:ln>
                  <a:noFill/>
                </a:ln>
                <a:solidFill>
                  <a:srgbClr val="333333"/>
                </a:solidFill>
                <a:effectLst/>
                <a:uLnTx/>
                <a:uFillTx/>
                <a:latin typeface="Calibri"/>
                <a:ea typeface="+mn-ea"/>
                <a:cs typeface="+mn-cs"/>
              </a:rPr>
              <a:t>sobre</a:t>
            </a:r>
            <a:r>
              <a:rPr kumimoji="0" sz="2000" b="0" i="0" u="none" strike="noStrike" kern="1200" cap="none" spc="0" normalizeH="0" baseline="0" noProof="0" dirty="0">
                <a:ln>
                  <a:noFill/>
                </a:ln>
                <a:solidFill>
                  <a:srgbClr val="333333"/>
                </a:solidFill>
                <a:effectLst/>
                <a:uLnTx/>
                <a:uFillTx/>
                <a:latin typeface="Calibri"/>
                <a:ea typeface="+mn-ea"/>
                <a:cs typeface="+mn-cs"/>
              </a:rPr>
              <a:t> blockchain enterprise?</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Depende</a:t>
            </a:r>
            <a:r>
              <a:rPr kumimoji="0" sz="1700" b="0" i="0" u="none" strike="noStrike" kern="1200" cap="none" spc="0" normalizeH="0" baseline="0" noProof="0" dirty="0">
                <a:ln>
                  <a:noFill/>
                </a:ln>
                <a:solidFill>
                  <a:srgbClr val="666666"/>
                </a:solidFill>
                <a:effectLst/>
                <a:uLnTx/>
                <a:uFillTx/>
                <a:latin typeface="Calibri"/>
                <a:ea typeface="+mn-ea"/>
                <a:cs typeface="+mn-cs"/>
              </a:rPr>
              <a:t> del </a:t>
            </a:r>
            <a:r>
              <a:rPr kumimoji="0" sz="1700" b="0" i="0" u="none" strike="noStrike" kern="1200" cap="none" spc="0" normalizeH="0" baseline="0" noProof="0" dirty="0" err="1">
                <a:ln>
                  <a:noFill/>
                </a:ln>
                <a:solidFill>
                  <a:srgbClr val="666666"/>
                </a:solidFill>
                <a:effectLst/>
                <a:uLnTx/>
                <a:uFillTx/>
                <a:latin typeface="Calibri"/>
                <a:ea typeface="+mn-ea"/>
                <a:cs typeface="+mn-cs"/>
              </a:rPr>
              <a:t>alumno</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pero</a:t>
            </a:r>
            <a:r>
              <a:rPr kumimoji="0" sz="1700" b="0" i="0" u="none" strike="noStrike" kern="1200" cap="none" spc="0" normalizeH="0" baseline="0" noProof="0" dirty="0">
                <a:ln>
                  <a:noFill/>
                </a:ln>
                <a:solidFill>
                  <a:srgbClr val="666666"/>
                </a:solidFill>
                <a:effectLst/>
                <a:uLnTx/>
                <a:uFillTx/>
                <a:latin typeface="Calibri"/>
                <a:ea typeface="+mn-ea"/>
                <a:cs typeface="+mn-cs"/>
              </a:rPr>
              <a:t> patron </a:t>
            </a:r>
            <a:r>
              <a:rPr kumimoji="0" sz="1700" b="0" i="0" u="none" strike="noStrike" kern="1200" cap="none" spc="0" normalizeH="0" baseline="0" noProof="0" dirty="0" err="1">
                <a:ln>
                  <a:noFill/>
                </a:ln>
                <a:solidFill>
                  <a:srgbClr val="666666"/>
                </a:solidFill>
                <a:effectLst/>
                <a:uLnTx/>
                <a:uFillTx/>
                <a:latin typeface="Calibri"/>
                <a:ea typeface="+mn-ea"/>
                <a:cs typeface="+mn-cs"/>
              </a:rPr>
              <a:t>comun</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 De '</a:t>
            </a:r>
            <a:r>
              <a:rPr kumimoji="0" sz="1700" b="0" i="0" u="none" strike="noStrike" kern="1200" cap="none" spc="0" normalizeH="0" baseline="0" noProof="0" dirty="0" err="1">
                <a:ln>
                  <a:noFill/>
                </a:ln>
                <a:solidFill>
                  <a:srgbClr val="666666"/>
                </a:solidFill>
                <a:effectLst/>
                <a:uLnTx/>
                <a:uFillTx/>
                <a:latin typeface="Calibri"/>
                <a:ea typeface="+mn-ea"/>
                <a:cs typeface="+mn-cs"/>
              </a:rPr>
              <a:t>revolucionario</a:t>
            </a:r>
            <a:r>
              <a:rPr kumimoji="0" sz="1700" b="0" i="0" u="none" strike="noStrike" kern="1200" cap="none" spc="0" normalizeH="0" baseline="0" noProof="0" dirty="0">
                <a:ln>
                  <a:noFill/>
                </a:ln>
                <a:solidFill>
                  <a:srgbClr val="666666"/>
                </a:solidFill>
                <a:effectLst/>
                <a:uLnTx/>
                <a:uFillTx/>
                <a:latin typeface="Calibri"/>
                <a:ea typeface="+mn-ea"/>
                <a:cs typeface="+mn-cs"/>
              </a:rPr>
              <a:t>' a 'util </a:t>
            </a:r>
            <a:r>
              <a:rPr kumimoji="0" sz="1700" b="0" i="0" u="none" strike="noStrike" kern="1200" cap="none" spc="0" normalizeH="0" baseline="0" noProof="0" dirty="0" err="1">
                <a:ln>
                  <a:noFill/>
                </a:ln>
                <a:solidFill>
                  <a:srgbClr val="666666"/>
                </a:solidFill>
                <a:effectLst/>
                <a:uLnTx/>
                <a:uFillTx/>
                <a:latin typeface="Calibri"/>
                <a:ea typeface="+mn-ea"/>
                <a:cs typeface="+mn-cs"/>
              </a:rPr>
              <a:t>en</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ciertos</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casos</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concretos</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 De '</a:t>
            </a:r>
            <a:r>
              <a:rPr kumimoji="0" sz="1700" b="0" i="0" u="none" strike="noStrike" kern="1200" cap="none" spc="0" normalizeH="0" baseline="0" noProof="0" dirty="0" err="1">
                <a:ln>
                  <a:noFill/>
                </a:ln>
                <a:solidFill>
                  <a:srgbClr val="666666"/>
                </a:solidFill>
                <a:effectLst/>
                <a:uLnTx/>
                <a:uFillTx/>
                <a:latin typeface="Calibri"/>
                <a:ea typeface="+mn-ea"/>
                <a:cs typeface="+mn-cs"/>
              </a:rPr>
              <a:t>solucion</a:t>
            </a:r>
            <a:r>
              <a:rPr kumimoji="0" sz="1700" b="0" i="0" u="none" strike="noStrike" kern="1200" cap="none" spc="0" normalizeH="0" baseline="0" noProof="0" dirty="0">
                <a:ln>
                  <a:noFill/>
                </a:ln>
                <a:solidFill>
                  <a:srgbClr val="666666"/>
                </a:solidFill>
                <a:effectLst/>
                <a:uLnTx/>
                <a:uFillTx/>
                <a:latin typeface="Calibri"/>
                <a:ea typeface="+mn-ea"/>
                <a:cs typeface="+mn-cs"/>
              </a:rPr>
              <a:t> a </a:t>
            </a:r>
            <a:r>
              <a:rPr kumimoji="0" sz="1700" b="0" i="0" u="none" strike="noStrike" kern="1200" cap="none" spc="0" normalizeH="0" baseline="0" noProof="0" dirty="0" err="1">
                <a:ln>
                  <a:noFill/>
                </a:ln>
                <a:solidFill>
                  <a:srgbClr val="666666"/>
                </a:solidFill>
                <a:effectLst/>
                <a:uLnTx/>
                <a:uFillTx/>
                <a:latin typeface="Calibri"/>
                <a:ea typeface="+mn-ea"/>
                <a:cs typeface="+mn-cs"/>
              </a:rPr>
              <a:t>todo</a:t>
            </a:r>
            <a:r>
              <a:rPr kumimoji="0" sz="1700" b="0" i="0" u="none" strike="noStrike" kern="1200" cap="none" spc="0" normalizeH="0" baseline="0" noProof="0" dirty="0">
                <a:ln>
                  <a:noFill/>
                </a:ln>
                <a:solidFill>
                  <a:srgbClr val="666666"/>
                </a:solidFill>
                <a:effectLst/>
                <a:uLnTx/>
                <a:uFillTx/>
                <a:latin typeface="Calibri"/>
                <a:ea typeface="+mn-ea"/>
                <a:cs typeface="+mn-cs"/>
              </a:rPr>
              <a:t>' a '</a:t>
            </a:r>
            <a:r>
              <a:rPr kumimoji="0" sz="1700" b="0" i="0" u="none" strike="noStrike" kern="1200" cap="none" spc="0" normalizeH="0" baseline="0" noProof="0" dirty="0" err="1">
                <a:ln>
                  <a:noFill/>
                </a:ln>
                <a:solidFill>
                  <a:srgbClr val="666666"/>
                </a:solidFill>
                <a:effectLst/>
                <a:uLnTx/>
                <a:uFillTx/>
                <a:latin typeface="Calibri"/>
                <a:ea typeface="+mn-ea"/>
                <a:cs typeface="+mn-cs"/>
              </a:rPr>
              <a:t>herramienta</a:t>
            </a:r>
            <a:r>
              <a:rPr kumimoji="0" sz="1700" b="0" i="0" u="none" strike="noStrike" kern="1200" cap="none" spc="0" normalizeH="0" baseline="0" noProof="0" dirty="0">
                <a:ln>
                  <a:noFill/>
                </a:ln>
                <a:solidFill>
                  <a:srgbClr val="666666"/>
                </a:solidFill>
                <a:effectLst/>
                <a:uLnTx/>
                <a:uFillTx/>
                <a:latin typeface="Calibri"/>
                <a:ea typeface="+mn-ea"/>
                <a:cs typeface="+mn-cs"/>
              </a:rPr>
              <a:t> para </a:t>
            </a:r>
            <a:r>
              <a:rPr kumimoji="0" sz="1700" b="0" i="0" u="none" strike="noStrike" kern="1200" cap="none" spc="0" normalizeH="0" baseline="0" noProof="0" dirty="0" err="1">
                <a:ln>
                  <a:noFill/>
                </a:ln>
                <a:solidFill>
                  <a:srgbClr val="666666"/>
                </a:solidFill>
                <a:effectLst/>
                <a:uLnTx/>
                <a:uFillTx/>
                <a:latin typeface="Calibri"/>
                <a:ea typeface="+mn-ea"/>
                <a:cs typeface="+mn-cs"/>
              </a:rPr>
              <a:t>problemas</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especificos</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 Muchos </a:t>
            </a:r>
            <a:r>
              <a:rPr kumimoji="0" sz="1700" b="0" i="0" u="none" strike="noStrike" kern="1200" cap="none" spc="0" normalizeH="0" baseline="0" noProof="0" dirty="0" err="1">
                <a:ln>
                  <a:noFill/>
                </a:ln>
                <a:solidFill>
                  <a:srgbClr val="666666"/>
                </a:solidFill>
                <a:effectLst/>
                <a:uLnTx/>
                <a:uFillTx/>
                <a:latin typeface="Calibri"/>
                <a:ea typeface="+mn-ea"/>
                <a:cs typeface="+mn-cs"/>
              </a:rPr>
              <a:t>empiezan</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esceptico</a:t>
            </a:r>
            <a:r>
              <a:rPr kumimoji="0" sz="1700" b="0" i="0" u="none" strike="noStrike" kern="1200" cap="none" spc="0" normalizeH="0" baseline="0" noProof="0" dirty="0">
                <a:ln>
                  <a:noFill/>
                </a:ln>
                <a:solidFill>
                  <a:srgbClr val="666666"/>
                </a:solidFill>
                <a:effectLst/>
                <a:uLnTx/>
                <a:uFillTx/>
                <a:latin typeface="Calibri"/>
                <a:ea typeface="+mn-ea"/>
                <a:cs typeface="+mn-cs"/>
              </a:rPr>
              <a:t> con </a:t>
            </a:r>
            <a:r>
              <a:rPr kumimoji="0" sz="1700" b="0" i="0" u="none" strike="noStrike" kern="1200" cap="none" spc="0" normalizeH="0" baseline="0" noProof="0" dirty="0" err="1">
                <a:ln>
                  <a:noFill/>
                </a:ln>
                <a:solidFill>
                  <a:srgbClr val="666666"/>
                </a:solidFill>
                <a:effectLst/>
                <a:uLnTx/>
                <a:uFillTx/>
                <a:latin typeface="Calibri"/>
                <a:ea typeface="+mn-ea"/>
                <a:cs typeface="+mn-cs"/>
              </a:rPr>
              <a:t>cripto</a:t>
            </a:r>
            <a:r>
              <a:rPr kumimoji="0" sz="1700" b="0" i="0" u="none" strike="noStrike" kern="1200" cap="none" spc="0" normalizeH="0" baseline="0" noProof="0" dirty="0">
                <a:ln>
                  <a:noFill/>
                </a:ln>
                <a:solidFill>
                  <a:srgbClr val="666666"/>
                </a:solidFill>
                <a:effectLst/>
                <a:uLnTx/>
                <a:uFillTx/>
                <a:latin typeface="Calibri"/>
                <a:ea typeface="+mn-ea"/>
                <a:cs typeface="+mn-cs"/>
              </a:rPr>
              <a:t> y </a:t>
            </a:r>
            <a:r>
              <a:rPr kumimoji="0" sz="1700" b="0" i="0" u="none" strike="noStrike" kern="1200" cap="none" spc="0" normalizeH="0" baseline="0" noProof="0" dirty="0" err="1">
                <a:ln>
                  <a:noFill/>
                </a:ln>
                <a:solidFill>
                  <a:srgbClr val="666666"/>
                </a:solidFill>
                <a:effectLst/>
                <a:uLnTx/>
                <a:uFillTx/>
                <a:latin typeface="Calibri"/>
                <a:ea typeface="+mn-ea"/>
                <a:cs typeface="+mn-cs"/>
              </a:rPr>
              <a:t>terminan</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valorando</a:t>
            </a:r>
            <a:r>
              <a:rPr kumimoji="0" sz="1700" b="0" i="0" u="none" strike="noStrike" kern="1200" cap="none" spc="0" normalizeH="0" baseline="0" noProof="0" dirty="0">
                <a:ln>
                  <a:noFill/>
                </a:ln>
                <a:solidFill>
                  <a:srgbClr val="666666"/>
                </a:solidFill>
                <a:effectLst/>
                <a:uLnTx/>
                <a:uFillTx/>
                <a:latin typeface="Calibri"/>
                <a:ea typeface="+mn-ea"/>
                <a:cs typeface="+mn-cs"/>
              </a:rPr>
              <a:t> enterprise.</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3. </a:t>
            </a:r>
            <a:r>
              <a:rPr kumimoji="0" sz="2000" b="0" i="0" u="none" strike="noStrike" kern="1200" cap="none" spc="0" normalizeH="0" baseline="0" noProof="0" dirty="0" err="1">
                <a:ln>
                  <a:noFill/>
                </a:ln>
                <a:solidFill>
                  <a:srgbClr val="333333"/>
                </a:solidFill>
                <a:effectLst/>
                <a:uLnTx/>
                <a:uFillTx/>
                <a:latin typeface="Calibri"/>
                <a:ea typeface="+mn-ea"/>
                <a:cs typeface="+mn-cs"/>
              </a:rPr>
              <a:t>Oportunidades</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en</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vuestro</a:t>
            </a:r>
            <a:r>
              <a:rPr kumimoji="0" sz="2000" b="0" i="0" u="none" strike="noStrike" kern="1200" cap="none" spc="0" normalizeH="0" baseline="0" noProof="0" dirty="0">
                <a:ln>
                  <a:noFill/>
                </a:ln>
                <a:solidFill>
                  <a:srgbClr val="333333"/>
                </a:solidFill>
                <a:effectLst/>
                <a:uLnTx/>
                <a:uFillTx/>
                <a:latin typeface="Calibri"/>
                <a:ea typeface="+mn-ea"/>
                <a:cs typeface="+mn-cs"/>
              </a:rPr>
              <a:t> sector:</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Sin </a:t>
            </a:r>
            <a:r>
              <a:rPr kumimoji="0" sz="1700" b="0" i="0" u="none" strike="noStrike" kern="1200" cap="none" spc="0" normalizeH="0" baseline="0" noProof="0" dirty="0" err="1">
                <a:ln>
                  <a:noFill/>
                </a:ln>
                <a:solidFill>
                  <a:srgbClr val="666666"/>
                </a:solidFill>
                <a:effectLst/>
                <a:uLnTx/>
                <a:uFillTx/>
                <a:latin typeface="Calibri"/>
                <a:ea typeface="+mn-ea"/>
                <a:cs typeface="+mn-cs"/>
              </a:rPr>
              <a:t>respuesta</a:t>
            </a:r>
            <a:r>
              <a:rPr kumimoji="0" sz="1700" b="0" i="0" u="none" strike="noStrike" kern="1200" cap="none" spc="0" normalizeH="0" baseline="0" noProof="0" dirty="0">
                <a:ln>
                  <a:noFill/>
                </a:ln>
                <a:solidFill>
                  <a:srgbClr val="666666"/>
                </a:solidFill>
                <a:effectLst/>
                <a:uLnTx/>
                <a:uFillTx/>
                <a:latin typeface="Calibri"/>
                <a:ea typeface="+mn-ea"/>
                <a:cs typeface="+mn-cs"/>
              </a:rPr>
              <a:t> unica — </a:t>
            </a:r>
            <a:r>
              <a:rPr kumimoji="0" sz="1700" b="0" i="0" u="none" strike="noStrike" kern="1200" cap="none" spc="0" normalizeH="0" baseline="0" noProof="0" dirty="0" err="1">
                <a:ln>
                  <a:noFill/>
                </a:ln>
                <a:solidFill>
                  <a:srgbClr val="666666"/>
                </a:solidFill>
                <a:effectLst/>
                <a:uLnTx/>
                <a:uFillTx/>
                <a:latin typeface="Calibri"/>
                <a:ea typeface="+mn-ea"/>
                <a:cs typeface="+mn-cs"/>
              </a:rPr>
              <a:t>depende</a:t>
            </a:r>
            <a:r>
              <a:rPr kumimoji="0" sz="1700" b="0" i="0" u="none" strike="noStrike" kern="1200" cap="none" spc="0" normalizeH="0" baseline="0" noProof="0" dirty="0">
                <a:ln>
                  <a:noFill/>
                </a:ln>
                <a:solidFill>
                  <a:srgbClr val="666666"/>
                </a:solidFill>
                <a:effectLst/>
                <a:uLnTx/>
                <a:uFillTx/>
                <a:latin typeface="Calibri"/>
                <a:ea typeface="+mn-ea"/>
                <a:cs typeface="+mn-cs"/>
              </a:rPr>
              <a:t> del sector de </a:t>
            </a:r>
            <a:r>
              <a:rPr kumimoji="0" sz="1700" b="0" i="0" u="none" strike="noStrike" kern="1200" cap="none" spc="0" normalizeH="0" baseline="0" noProof="0" dirty="0" err="1">
                <a:ln>
                  <a:noFill/>
                </a:ln>
                <a:solidFill>
                  <a:srgbClr val="666666"/>
                </a:solidFill>
                <a:effectLst/>
                <a:uLnTx/>
                <a:uFillTx/>
                <a:latin typeface="Calibri"/>
                <a:ea typeface="+mn-ea"/>
                <a:cs typeface="+mn-cs"/>
              </a:rPr>
              <a:t>cada</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alumno</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Preguntas</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guia</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tenemos</a:t>
            </a:r>
            <a:r>
              <a:rPr kumimoji="0" sz="1700" b="0" i="0" u="none" strike="noStrike" kern="1200" cap="none" spc="0" normalizeH="0" baseline="0" noProof="0" dirty="0">
                <a:ln>
                  <a:noFill/>
                </a:ln>
                <a:solidFill>
                  <a:srgbClr val="666666"/>
                </a:solidFill>
                <a:effectLst/>
                <a:uLnTx/>
                <a:uFillTx/>
                <a:latin typeface="Calibri"/>
                <a:ea typeface="+mn-ea"/>
                <a:cs typeface="+mn-cs"/>
              </a:rPr>
              <a:t> multiples </a:t>
            </a:r>
            <a:r>
              <a:rPr kumimoji="0" sz="1700" b="0" i="0" u="none" strike="noStrike" kern="1200" cap="none" spc="0" normalizeH="0" baseline="0" noProof="0" dirty="0" err="1">
                <a:ln>
                  <a:noFill/>
                </a:ln>
                <a:solidFill>
                  <a:srgbClr val="666666"/>
                </a:solidFill>
                <a:effectLst/>
                <a:uLnTx/>
                <a:uFillTx/>
                <a:latin typeface="Calibri"/>
                <a:ea typeface="+mn-ea"/>
                <a:cs typeface="+mn-cs"/>
              </a:rPr>
              <a:t>actores</a:t>
            </a:r>
            <a:r>
              <a:rPr kumimoji="0" sz="1700" b="0" i="0" u="none" strike="noStrike" kern="1200" cap="none" spc="0" normalizeH="0" baseline="0" noProof="0" dirty="0">
                <a:ln>
                  <a:noFill/>
                </a:ln>
                <a:solidFill>
                  <a:srgbClr val="666666"/>
                </a:solidFill>
                <a:effectLst/>
                <a:uLnTx/>
                <a:uFillTx/>
                <a:latin typeface="Calibri"/>
                <a:ea typeface="+mn-ea"/>
                <a:cs typeface="+mn-cs"/>
              </a:rPr>
              <a:t> con </a:t>
            </a:r>
            <a:r>
              <a:rPr kumimoji="0" sz="1700" b="0" i="0" u="none" strike="noStrike" kern="1200" cap="none" spc="0" normalizeH="0" baseline="0" noProof="0" dirty="0" err="1">
                <a:ln>
                  <a:noFill/>
                </a:ln>
                <a:solidFill>
                  <a:srgbClr val="666666"/>
                </a:solidFill>
                <a:effectLst/>
                <a:uLnTx/>
                <a:uFillTx/>
                <a:latin typeface="Calibri"/>
                <a:ea typeface="+mn-ea"/>
                <a:cs typeface="+mn-cs"/>
              </a:rPr>
              <a:t>desconfianza</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trazabilidad</a:t>
            </a:r>
            <a:r>
              <a:rPr kumimoji="0"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700" b="0" i="0" u="none" strike="noStrike" kern="1200" cap="none" spc="0" normalizeH="0" baseline="0" noProof="0" dirty="0">
                <a:ln>
                  <a:noFill/>
                </a:ln>
                <a:solidFill>
                  <a:srgbClr val="666666"/>
                </a:solidFill>
                <a:effectLst/>
                <a:uLnTx/>
                <a:uFillTx/>
                <a:latin typeface="Calibri"/>
                <a:ea typeface="+mn-ea"/>
                <a:cs typeface="+mn-cs"/>
              </a:rPr>
              <a:t>    Si la </a:t>
            </a:r>
            <a:r>
              <a:rPr kumimoji="0" sz="1700" b="0" i="0" u="none" strike="noStrike" kern="1200" cap="none" spc="0" normalizeH="0" baseline="0" noProof="0" dirty="0" err="1">
                <a:ln>
                  <a:noFill/>
                </a:ln>
                <a:solidFill>
                  <a:srgbClr val="666666"/>
                </a:solidFill>
                <a:effectLst/>
                <a:uLnTx/>
                <a:uFillTx/>
                <a:latin typeface="Calibri"/>
                <a:ea typeface="+mn-ea"/>
                <a:cs typeface="+mn-cs"/>
              </a:rPr>
              <a:t>respuesta</a:t>
            </a:r>
            <a:r>
              <a:rPr kumimoji="0" sz="1700" b="0" i="0" u="none" strike="noStrike" kern="1200" cap="none" spc="0" normalizeH="0" baseline="0" noProof="0" dirty="0">
                <a:ln>
                  <a:noFill/>
                </a:ln>
                <a:solidFill>
                  <a:srgbClr val="666666"/>
                </a:solidFill>
                <a:effectLst/>
                <a:uLnTx/>
                <a:uFillTx/>
                <a:latin typeface="Calibri"/>
                <a:ea typeface="+mn-ea"/>
                <a:cs typeface="+mn-cs"/>
              </a:rPr>
              <a:t> es </a:t>
            </a:r>
            <a:r>
              <a:rPr kumimoji="0" sz="1700" b="0" i="0" u="none" strike="noStrike" kern="1200" cap="none" spc="0" normalizeH="0" baseline="0" noProof="0" dirty="0" err="1">
                <a:ln>
                  <a:noFill/>
                </a:ln>
                <a:solidFill>
                  <a:srgbClr val="666666"/>
                </a:solidFill>
                <a:effectLst/>
                <a:uLnTx/>
                <a:uFillTx/>
                <a:latin typeface="Calibri"/>
                <a:ea typeface="+mn-ea"/>
                <a:cs typeface="+mn-cs"/>
              </a:rPr>
              <a:t>si</a:t>
            </a:r>
            <a:r>
              <a:rPr kumimoji="0" sz="1700" b="0" i="0" u="none" strike="noStrike" kern="1200" cap="none" spc="0" normalizeH="0" baseline="0" noProof="0" dirty="0">
                <a:ln>
                  <a:noFill/>
                </a:ln>
                <a:solidFill>
                  <a:srgbClr val="666666"/>
                </a:solidFill>
                <a:effectLst/>
                <a:uLnTx/>
                <a:uFillTx/>
                <a:latin typeface="Calibri"/>
                <a:ea typeface="+mn-ea"/>
                <a:cs typeface="+mn-cs"/>
              </a:rPr>
              <a:t> a ambas, </a:t>
            </a:r>
            <a:r>
              <a:rPr kumimoji="0" sz="1700" b="0" i="0" u="none" strike="noStrike" kern="1200" cap="none" spc="0" normalizeH="0" baseline="0" noProof="0" dirty="0" err="1">
                <a:ln>
                  <a:noFill/>
                </a:ln>
                <a:solidFill>
                  <a:srgbClr val="666666"/>
                </a:solidFill>
                <a:effectLst/>
                <a:uLnTx/>
                <a:uFillTx/>
                <a:latin typeface="Calibri"/>
                <a:ea typeface="+mn-ea"/>
                <a:cs typeface="+mn-cs"/>
              </a:rPr>
              <a:t>probablemente</a:t>
            </a:r>
            <a:r>
              <a:rPr kumimoji="0" sz="1700" b="0" i="0" u="none" strike="noStrike" kern="1200" cap="none" spc="0" normalizeH="0" baseline="0" noProof="0" dirty="0">
                <a:ln>
                  <a:noFill/>
                </a:ln>
                <a:solidFill>
                  <a:srgbClr val="666666"/>
                </a:solidFill>
                <a:effectLst/>
                <a:uLnTx/>
                <a:uFillTx/>
                <a:latin typeface="Calibri"/>
                <a:ea typeface="+mn-ea"/>
                <a:cs typeface="+mn-cs"/>
              </a:rPr>
              <a:t> </a:t>
            </a:r>
            <a:r>
              <a:rPr kumimoji="0" sz="1700" b="0" i="0" u="none" strike="noStrike" kern="1200" cap="none" spc="0" normalizeH="0" baseline="0" noProof="0" dirty="0" err="1">
                <a:ln>
                  <a:noFill/>
                </a:ln>
                <a:solidFill>
                  <a:srgbClr val="666666"/>
                </a:solidFill>
                <a:effectLst/>
                <a:uLnTx/>
                <a:uFillTx/>
                <a:latin typeface="Calibri"/>
                <a:ea typeface="+mn-ea"/>
                <a:cs typeface="+mn-cs"/>
              </a:rPr>
              <a:t>si</a:t>
            </a:r>
            <a:r>
              <a:rPr kumimoji="0" sz="1700" b="0" i="0" u="none" strike="noStrike" kern="1200" cap="none" spc="0" normalizeH="0" baseline="0" noProof="0" dirty="0">
                <a:ln>
                  <a:noFill/>
                </a:ln>
                <a:solidFill>
                  <a:srgbClr val="666666"/>
                </a:solidFill>
                <a:effectLst/>
                <a:uLnTx/>
                <a:uFillTx/>
                <a:latin typeface="Calibri"/>
                <a:ea typeface="+mn-ea"/>
                <a:cs typeface="+mn-cs"/>
              </a:rPr>
              <a: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88CA2-9CC6-E11F-E7BD-7D6419427D8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56BEC58-AF77-A230-5839-1CA234EF5693}"/>
              </a:ext>
            </a:extLst>
          </p:cNvPr>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38CB174B-8300-8DDA-E847-2AE80BA600F3}"/>
              </a:ext>
            </a:extLst>
          </p:cNvPr>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Respuestas al debate de cierre</a:t>
            </a:r>
          </a:p>
        </p:txBody>
      </p:sp>
      <p:sp>
        <p:nvSpPr>
          <p:cNvPr id="4" name="Rectangle 3">
            <a:extLst>
              <a:ext uri="{FF2B5EF4-FFF2-40B4-BE49-F238E27FC236}">
                <a16:creationId xmlns:a16="http://schemas.microsoft.com/office/drawing/2014/main" id="{B9AD63EE-0586-35D1-688D-3C88C6012E3C}"/>
              </a:ext>
            </a:extLst>
          </p:cNvPr>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54C8A947-4584-A895-21A4-261E282F0144}"/>
              </a:ext>
            </a:extLst>
          </p:cNvPr>
          <p:cNvSpPr txBox="1"/>
          <p:nvPr/>
        </p:nvSpPr>
        <p:spPr>
          <a:xfrm>
            <a:off x="640080" y="1280160"/>
            <a:ext cx="10515600" cy="336502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lang="es-ES" sz="2000" b="0" i="0" u="none" strike="noStrike" kern="1200" cap="none" spc="0" normalizeH="0" baseline="0" noProof="0" dirty="0">
                <a:ln>
                  <a:noFill/>
                </a:ln>
                <a:solidFill>
                  <a:srgbClr val="333333"/>
                </a:solidFill>
                <a:effectLst/>
                <a:uLnTx/>
                <a:uFillTx/>
                <a:latin typeface="Calibri"/>
                <a:ea typeface="+mn-ea"/>
                <a:cs typeface="+mn-cs"/>
              </a:rPr>
              <a:t>4. ¿Que es mas </a:t>
            </a:r>
            <a:r>
              <a:rPr kumimoji="0" lang="es-ES" sz="2000" b="0" i="0" u="none" strike="noStrike" kern="1200" cap="none" spc="0" normalizeH="0" baseline="0" noProof="0" dirty="0" err="1">
                <a:ln>
                  <a:noFill/>
                </a:ln>
                <a:solidFill>
                  <a:srgbClr val="333333"/>
                </a:solidFill>
                <a:effectLst/>
                <a:uLnTx/>
                <a:uFillTx/>
                <a:latin typeface="Calibri"/>
                <a:ea typeface="+mn-ea"/>
                <a:cs typeface="+mn-cs"/>
              </a:rPr>
              <a:t>dificil</a:t>
            </a:r>
            <a:r>
              <a:rPr kumimoji="0" lang="es-ES" sz="2000" b="0" i="0" u="none" strike="noStrike" kern="1200" cap="none" spc="0" normalizeH="0" baseline="0" noProof="0" dirty="0">
                <a:ln>
                  <a:noFill/>
                </a:ln>
                <a:solidFill>
                  <a:srgbClr val="333333"/>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Consenso habitual: GOBERNANZA &gt; REGULACION &gt; TECNOLOGIA.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La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tecnologia</a:t>
            </a:r>
            <a:r>
              <a:rPr kumimoji="0" lang="es-ES" sz="1700" b="0" i="0" u="none" strike="noStrike" kern="1200" cap="none" spc="0" normalizeH="0" baseline="0" noProof="0" dirty="0">
                <a:ln>
                  <a:noFill/>
                </a:ln>
                <a:solidFill>
                  <a:srgbClr val="666666"/>
                </a:solidFill>
                <a:effectLst/>
                <a:uLnTx/>
                <a:uFillTx/>
                <a:latin typeface="Calibri"/>
                <a:ea typeface="+mn-ea"/>
                <a:cs typeface="+mn-cs"/>
              </a:rPr>
              <a:t> esta madura; la gobernanza no siempre se resuelve bien.</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La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regulacion</a:t>
            </a:r>
            <a:r>
              <a:rPr kumimoji="0" lang="es-ES" sz="1700" b="0" i="0" u="none" strike="noStrike" kern="1200" cap="none" spc="0" normalizeH="0" baseline="0" noProof="0" dirty="0">
                <a:ln>
                  <a:noFill/>
                </a:ln>
                <a:solidFill>
                  <a:srgbClr val="666666"/>
                </a:solidFill>
                <a:effectLst/>
                <a:uLnTx/>
                <a:uFillTx/>
                <a:latin typeface="Calibri"/>
                <a:ea typeface="+mn-ea"/>
                <a:cs typeface="+mn-cs"/>
              </a:rPr>
              <a:t> depende de la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jurisdiccion</a:t>
            </a:r>
            <a:r>
              <a:rPr kumimoji="0" lang="es-ES" sz="1700" b="0" i="0" u="none" strike="noStrike" kern="1200" cap="none" spc="0" normalizeH="0" baseline="0" noProof="0" dirty="0">
                <a:ln>
                  <a:noFill/>
                </a:ln>
                <a:solidFill>
                  <a:srgbClr val="666666"/>
                </a:solidFill>
                <a:effectLst/>
                <a:uLnTx/>
                <a:uFillTx/>
                <a:latin typeface="Calibri"/>
                <a:ea typeface="+mn-ea"/>
                <a:cs typeface="+mn-cs"/>
              </a:rPr>
              <a:t> y evoluciona, no es un bloqueo absoluto.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lang="es-ES" sz="2000" b="0" i="0" u="none" strike="noStrike" kern="1200" cap="none" spc="0" normalizeH="0" baseline="0" noProof="0" dirty="0">
                <a:ln>
                  <a:noFill/>
                </a:ln>
                <a:solidFill>
                  <a:srgbClr val="333333"/>
                </a:solidFill>
                <a:effectLst/>
                <a:uLnTx/>
                <a:uFillTx/>
                <a:latin typeface="Calibri"/>
                <a:ea typeface="+mn-ea"/>
                <a:cs typeface="+mn-cs"/>
              </a:rPr>
              <a:t>5. Proyecto con presupuesto ilimitado: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Trazabilidad alimentaria a escala europea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Food</a:t>
            </a:r>
            <a:r>
              <a:rPr kumimoji="0" lang="es-ES" sz="1700" b="0" i="0" u="none" strike="noStrike" kern="1200" cap="none" spc="0" normalizeH="0" baseline="0" noProof="0" dirty="0">
                <a:ln>
                  <a:noFill/>
                </a:ln>
                <a:solidFill>
                  <a:srgbClr val="666666"/>
                </a:solidFill>
                <a:effectLst/>
                <a:uLnTx/>
                <a:uFillTx/>
                <a:latin typeface="Calibri"/>
                <a:ea typeface="+mn-ea"/>
                <a:cs typeface="+mn-cs"/>
              </a:rPr>
              <a:t> Trust pan-europeo).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KYC compartido entre bancos europeos.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Registro de propiedad inmobiliaria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tokenizado</a:t>
            </a:r>
            <a:r>
              <a:rPr kumimoji="0" lang="es-ES"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Creditos</a:t>
            </a:r>
            <a:r>
              <a:rPr kumimoji="0" lang="es-ES" sz="1700" b="0" i="0" u="none" strike="noStrike" kern="1200" cap="none" spc="0" normalizeH="0" baseline="0" noProof="0" dirty="0">
                <a:ln>
                  <a:noFill/>
                </a:ln>
                <a:solidFill>
                  <a:srgbClr val="666666"/>
                </a:solidFill>
                <a:effectLst/>
                <a:uLnTx/>
                <a:uFillTx/>
                <a:latin typeface="Calibri"/>
                <a:ea typeface="+mn-ea"/>
                <a:cs typeface="+mn-cs"/>
              </a:rPr>
              <a:t> de carbono auditables para cumplimiento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climatico</a:t>
            </a:r>
            <a:r>
              <a:rPr kumimoji="0" lang="es-ES" sz="17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700" b="0" i="0" u="none" strike="noStrike" kern="1200" cap="none" spc="0" normalizeH="0" baseline="0" noProof="0" dirty="0">
                <a:ln>
                  <a:noFill/>
                </a:ln>
                <a:solidFill>
                  <a:srgbClr val="666666"/>
                </a:solidFill>
                <a:effectLst/>
                <a:uLnTx/>
                <a:uFillTx/>
                <a:latin typeface="Calibri"/>
                <a:ea typeface="+mn-ea"/>
                <a:cs typeface="+mn-cs"/>
              </a:rPr>
              <a:t>    Interoperabilidad entre redes: </a:t>
            </a:r>
            <a:r>
              <a:rPr kumimoji="0" lang="es-ES" sz="1700" b="0" i="0" u="none" strike="noStrike" kern="1200" cap="none" spc="0" normalizeH="0" baseline="0" noProof="0" dirty="0" err="1">
                <a:ln>
                  <a:noFill/>
                </a:ln>
                <a:solidFill>
                  <a:srgbClr val="666666"/>
                </a:solidFill>
                <a:effectLst/>
                <a:uLnTx/>
                <a:uFillTx/>
                <a:latin typeface="Calibri"/>
                <a:ea typeface="+mn-ea"/>
                <a:cs typeface="+mn-cs"/>
              </a:rPr>
              <a:t>Alastria</a:t>
            </a:r>
            <a:r>
              <a:rPr kumimoji="0" lang="es-ES" sz="1700" b="0" i="0" u="none" strike="noStrike" kern="1200" cap="none" spc="0" normalizeH="0" baseline="0" noProof="0" dirty="0">
                <a:ln>
                  <a:noFill/>
                </a:ln>
                <a:solidFill>
                  <a:srgbClr val="666666"/>
                </a:solidFill>
                <a:effectLst/>
                <a:uLnTx/>
                <a:uFillTx/>
                <a:latin typeface="Calibri"/>
                <a:ea typeface="+mn-ea"/>
                <a:cs typeface="+mn-cs"/>
              </a:rPr>
              <a:t>-EBSI-HKMA interoperables.</a:t>
            </a:r>
          </a:p>
        </p:txBody>
      </p:sp>
    </p:spTree>
    <p:extLst>
      <p:ext uri="{BB962C8B-B14F-4D97-AF65-F5344CB8AC3E}">
        <p14:creationId xmlns:p14="http://schemas.microsoft.com/office/powerpoint/2010/main" val="13328886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Respuestas al repaso del Modulo 3 (1/2)</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584421" y="1124712"/>
            <a:ext cx="10515600" cy="575029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1. Casos de </a:t>
            </a:r>
            <a:r>
              <a:rPr kumimoji="0" sz="2000" b="0" i="0" u="none" strike="noStrike" kern="1200" cap="none" spc="0" normalizeH="0" baseline="0" noProof="0" dirty="0" err="1">
                <a:ln>
                  <a:noFill/>
                </a:ln>
                <a:solidFill>
                  <a:srgbClr val="333333"/>
                </a:solidFill>
                <a:effectLst/>
                <a:uLnTx/>
                <a:uFillTx/>
                <a:latin typeface="Calibri"/>
                <a:ea typeface="+mn-ea"/>
                <a:cs typeface="+mn-cs"/>
              </a:rPr>
              <a:t>exito</a:t>
            </a:r>
            <a:r>
              <a:rPr kumimoji="0" sz="2000" b="0" i="0" u="none" strike="noStrike" kern="1200" cap="none" spc="0" normalizeH="0" baseline="0" noProof="0" dirty="0">
                <a:ln>
                  <a:noFill/>
                </a:ln>
                <a:solidFill>
                  <a:srgbClr val="333333"/>
                </a:solidFill>
                <a:effectLst/>
                <a:uLnTx/>
                <a:uFillTx/>
                <a:latin typeface="Calibri"/>
                <a:ea typeface="+mn-ea"/>
                <a:cs typeface="+mn-cs"/>
              </a:rPr>
              <a:t>/</a:t>
            </a:r>
            <a:r>
              <a:rPr kumimoji="0" sz="2000" b="0" i="0" u="none" strike="noStrike" kern="1200" cap="none" spc="0" normalizeH="0" baseline="0" noProof="0" dirty="0" err="1">
                <a:ln>
                  <a:noFill/>
                </a:ln>
                <a:solidFill>
                  <a:srgbClr val="333333"/>
                </a:solidFill>
                <a:effectLst/>
                <a:uLnTx/>
                <a:uFillTx/>
                <a:latin typeface="Calibri"/>
                <a:ea typeface="+mn-ea"/>
                <a:cs typeface="+mn-cs"/>
              </a:rPr>
              <a:t>fracaso</a:t>
            </a:r>
            <a:r>
              <a:rPr kumimoji="0" sz="2000" b="0" i="0" u="none" strike="noStrike" kern="1200" cap="none" spc="0" normalizeH="0" baseline="0" noProof="0" dirty="0">
                <a:ln>
                  <a:noFill/>
                </a:ln>
                <a:solidFill>
                  <a:srgbClr val="333333"/>
                </a:solidFill>
                <a:effectLst/>
                <a:uLnTx/>
                <a:uFillTx/>
                <a:latin typeface="Calibri"/>
                <a:ea typeface="+mn-ea"/>
                <a:cs typeface="+mn-cs"/>
              </a:rPr>
              <a:t> — </a:t>
            </a:r>
            <a:r>
              <a:rPr kumimoji="0" sz="2000" b="0" i="0" u="none" strike="noStrike" kern="1200" cap="none" spc="0" normalizeH="0" baseline="0" noProof="0" dirty="0" err="1">
                <a:ln>
                  <a:noFill/>
                </a:ln>
                <a:solidFill>
                  <a:srgbClr val="333333"/>
                </a:solidFill>
                <a:effectLst/>
                <a:uLnTx/>
                <a:uFillTx/>
                <a:latin typeface="Calibri"/>
                <a:ea typeface="+mn-ea"/>
                <a:cs typeface="+mn-cs"/>
              </a:rPr>
              <a:t>patrones</a:t>
            </a:r>
            <a:r>
              <a:rPr kumimoji="0" sz="2000" b="0" i="0" u="none" strike="noStrike" kern="1200" cap="none" spc="0" normalizeH="0" baseline="0" noProof="0" dirty="0">
                <a:ln>
                  <a:noFill/>
                </a:ln>
                <a:solidFill>
                  <a:srgbClr val="333333"/>
                </a:solidFill>
                <a:effectLst/>
                <a:uLnTx/>
                <a:uFillTx/>
                <a:latin typeface="Calibri"/>
                <a:ea typeface="+mn-ea"/>
                <a:cs typeface="+mn-cs"/>
              </a:rPr>
              <a:t> </a:t>
            </a:r>
            <a:r>
              <a:rPr kumimoji="0" sz="2000" b="0" i="0" u="none" strike="noStrike" kern="1200" cap="none" spc="0" normalizeH="0" baseline="0" noProof="0" dirty="0" err="1">
                <a:ln>
                  <a:noFill/>
                </a:ln>
                <a:solidFill>
                  <a:srgbClr val="333333"/>
                </a:solidFill>
                <a:effectLst/>
                <a:uLnTx/>
                <a:uFillTx/>
                <a:latin typeface="Calibri"/>
                <a:ea typeface="+mn-ea"/>
                <a:cs typeface="+mn-cs"/>
              </a:rPr>
              <a:t>comunes</a:t>
            </a:r>
            <a:r>
              <a:rPr kumimoji="0" sz="2000" b="0" i="0" u="none" strike="noStrike" kern="1200" cap="none" spc="0" normalizeH="0" baseline="0" noProof="0" dirty="0">
                <a:ln>
                  <a:noFill/>
                </a:ln>
                <a:solidFill>
                  <a:srgbClr val="333333"/>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Los </a:t>
            </a:r>
            <a:r>
              <a:rPr kumimoji="0" sz="1600" b="0" i="0" u="none" strike="noStrike" kern="1200" cap="none" spc="0" normalizeH="0" baseline="0" noProof="0" dirty="0" err="1">
                <a:ln>
                  <a:noFill/>
                </a:ln>
                <a:solidFill>
                  <a:srgbClr val="666666"/>
                </a:solidFill>
                <a:effectLst/>
                <a:uLnTx/>
                <a:uFillTx/>
                <a:latin typeface="Calibri"/>
                <a:ea typeface="+mn-ea"/>
                <a:cs typeface="+mn-cs"/>
              </a:rPr>
              <a:t>que</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funcionan</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consorcio</a:t>
            </a:r>
            <a:r>
              <a:rPr kumimoji="0" sz="1600" b="0" i="0" u="none" strike="noStrike" kern="1200" cap="none" spc="0" normalizeH="0" baseline="0" noProof="0" dirty="0">
                <a:ln>
                  <a:noFill/>
                </a:ln>
                <a:solidFill>
                  <a:srgbClr val="666666"/>
                </a:solidFill>
                <a:effectLst/>
                <a:uLnTx/>
                <a:uFillTx/>
                <a:latin typeface="Calibri"/>
                <a:ea typeface="+mn-ea"/>
                <a:cs typeface="+mn-cs"/>
              </a:rPr>
              <a:t> con </a:t>
            </a:r>
            <a:r>
              <a:rPr kumimoji="0" sz="1600" b="0" i="0" u="none" strike="noStrike" kern="1200" cap="none" spc="0" normalizeH="0" baseline="0" noProof="0" dirty="0" err="1">
                <a:ln>
                  <a:noFill/>
                </a:ln>
                <a:solidFill>
                  <a:srgbClr val="666666"/>
                </a:solidFill>
                <a:effectLst/>
                <a:uLnTx/>
                <a:uFillTx/>
                <a:latin typeface="Calibri"/>
                <a:ea typeface="+mn-ea"/>
                <a:cs typeface="+mn-cs"/>
              </a:rPr>
              <a:t>incentivos</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alineados</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regulacion</a:t>
            </a:r>
            <a:r>
              <a:rPr kumimoji="0" sz="1600" b="0" i="0" u="none" strike="noStrike" kern="1200" cap="none" spc="0" normalizeH="0" baseline="0" noProof="0" dirty="0">
                <a:ln>
                  <a:noFill/>
                </a:ln>
                <a:solidFill>
                  <a:srgbClr val="666666"/>
                </a:solidFill>
                <a:effectLst/>
                <a:uLnTx/>
                <a:uFillTx/>
                <a:latin typeface="Calibri"/>
                <a:ea typeface="+mn-ea"/>
                <a:cs typeface="+mn-cs"/>
              </a:rPr>
              <a:t> compatible,</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UX </a:t>
            </a:r>
            <a:r>
              <a:rPr kumimoji="0" sz="1600" b="0" i="0" u="none" strike="noStrike" kern="1200" cap="none" spc="0" normalizeH="0" baseline="0" noProof="0" dirty="0" err="1">
                <a:ln>
                  <a:noFill/>
                </a:ln>
                <a:solidFill>
                  <a:srgbClr val="666666"/>
                </a:solidFill>
                <a:effectLst/>
                <a:uLnTx/>
                <a:uFillTx/>
                <a:latin typeface="Calibri"/>
                <a:ea typeface="+mn-ea"/>
                <a:cs typeface="+mn-cs"/>
              </a:rPr>
              <a:t>transparente</a:t>
            </a:r>
            <a:r>
              <a:rPr kumimoji="0" sz="1600" b="0" i="0" u="none" strike="noStrike" kern="1200" cap="none" spc="0" normalizeH="0" baseline="0" noProof="0" dirty="0">
                <a:ln>
                  <a:noFill/>
                </a:ln>
                <a:solidFill>
                  <a:srgbClr val="666666"/>
                </a:solidFill>
                <a:effectLst/>
                <a:uLnTx/>
                <a:uFillTx/>
                <a:latin typeface="Calibri"/>
                <a:ea typeface="+mn-ea"/>
                <a:cs typeface="+mn-cs"/>
              </a:rPr>
              <a:t>, MVP </a:t>
            </a:r>
            <a:r>
              <a:rPr kumimoji="0" sz="1600" b="0" i="0" u="none" strike="noStrike" kern="1200" cap="none" spc="0" normalizeH="0" baseline="0" noProof="0" dirty="0" err="1">
                <a:ln>
                  <a:noFill/>
                </a:ln>
                <a:solidFill>
                  <a:srgbClr val="666666"/>
                </a:solidFill>
                <a:effectLst/>
                <a:uLnTx/>
                <a:uFillTx/>
                <a:latin typeface="Calibri"/>
                <a:ea typeface="+mn-ea"/>
                <a:cs typeface="+mn-cs"/>
              </a:rPr>
              <a:t>pequeno</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gobernanza</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equilibrada</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Los </a:t>
            </a:r>
            <a:r>
              <a:rPr kumimoji="0" sz="1600" b="0" i="0" u="none" strike="noStrike" kern="1200" cap="none" spc="0" normalizeH="0" baseline="0" noProof="0" dirty="0" err="1">
                <a:ln>
                  <a:noFill/>
                </a:ln>
                <a:solidFill>
                  <a:srgbClr val="666666"/>
                </a:solidFill>
                <a:effectLst/>
                <a:uLnTx/>
                <a:uFillTx/>
                <a:latin typeface="Calibri"/>
                <a:ea typeface="+mn-ea"/>
                <a:cs typeface="+mn-cs"/>
              </a:rPr>
              <a:t>que</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fracasan</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fundador</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dominante</a:t>
            </a:r>
            <a:r>
              <a:rPr kumimoji="0" sz="1600" b="0" i="0" u="none" strike="noStrike" kern="1200" cap="none" spc="0" normalizeH="0" baseline="0" noProof="0" dirty="0">
                <a:ln>
                  <a:noFill/>
                </a:ln>
                <a:solidFill>
                  <a:srgbClr val="666666"/>
                </a:solidFill>
                <a:effectLst/>
                <a:uLnTx/>
                <a:uFillTx/>
                <a:latin typeface="Calibri"/>
                <a:ea typeface="+mn-ea"/>
                <a:cs typeface="+mn-cs"/>
              </a:rPr>
              <a:t>, sin </a:t>
            </a:r>
            <a:r>
              <a:rPr kumimoji="0" sz="1600" b="0" i="0" u="none" strike="noStrike" kern="1200" cap="none" spc="0" normalizeH="0" baseline="0" noProof="0" dirty="0" err="1">
                <a:ln>
                  <a:noFill/>
                </a:ln>
                <a:solidFill>
                  <a:srgbClr val="666666"/>
                </a:solidFill>
                <a:effectLst/>
                <a:uLnTx/>
                <a:uFillTx/>
                <a:latin typeface="Calibri"/>
                <a:ea typeface="+mn-ea"/>
                <a:cs typeface="+mn-cs"/>
              </a:rPr>
              <a:t>modelo</a:t>
            </a:r>
            <a:r>
              <a:rPr kumimoji="0" sz="1600" b="0" i="0" u="none" strike="noStrike" kern="1200" cap="none" spc="0" normalizeH="0" baseline="0" noProof="0" dirty="0">
                <a:ln>
                  <a:noFill/>
                </a:ln>
                <a:solidFill>
                  <a:srgbClr val="666666"/>
                </a:solidFill>
                <a:effectLst/>
                <a:uLnTx/>
                <a:uFillTx/>
                <a:latin typeface="Calibri"/>
                <a:ea typeface="+mn-ea"/>
                <a:cs typeface="+mn-cs"/>
              </a:rPr>
              <a:t> de </a:t>
            </a:r>
            <a:r>
              <a:rPr kumimoji="0" sz="1600" b="0" i="0" u="none" strike="noStrike" kern="1200" cap="none" spc="0" normalizeH="0" baseline="0" noProof="0" dirty="0" err="1">
                <a:ln>
                  <a:noFill/>
                </a:ln>
                <a:solidFill>
                  <a:srgbClr val="666666"/>
                </a:solidFill>
                <a:effectLst/>
                <a:uLnTx/>
                <a:uFillTx/>
                <a:latin typeface="Calibri"/>
                <a:ea typeface="+mn-ea"/>
                <a:cs typeface="+mn-cs"/>
              </a:rPr>
              <a:t>ingresos</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regulacion</a:t>
            </a:r>
            <a:r>
              <a:rPr kumimoji="0" sz="1600" b="0" i="0" u="none" strike="noStrike" kern="1200" cap="none" spc="0" normalizeH="0" baseline="0" noProof="0" dirty="0">
                <a:ln>
                  <a:noFill/>
                </a:ln>
                <a:solidFill>
                  <a:srgbClr val="666666"/>
                </a:solidFill>
                <a:effectLst/>
                <a:uLnTx/>
                <a:uFillTx/>
                <a:latin typeface="Calibri"/>
                <a:ea typeface="+mn-ea"/>
                <a:cs typeface="+mn-cs"/>
              </a:rPr>
              <a:t> incompatible, UX </a:t>
            </a:r>
            <a:r>
              <a:rPr kumimoji="0" sz="1600" b="0" i="0" u="none" strike="noStrike" kern="1200" cap="none" spc="0" normalizeH="0" baseline="0" noProof="0" dirty="0" err="1">
                <a:ln>
                  <a:noFill/>
                </a:ln>
                <a:solidFill>
                  <a:srgbClr val="666666"/>
                </a:solidFill>
                <a:effectLst/>
                <a:uLnTx/>
                <a:uFillTx/>
                <a:latin typeface="Calibri"/>
                <a:ea typeface="+mn-ea"/>
                <a:cs typeface="+mn-cs"/>
              </a:rPr>
              <a:t>compleja</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intentar</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cubrir</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todo</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el</a:t>
            </a:r>
            <a:r>
              <a:rPr kumimoji="0" sz="1600" b="0" i="0" u="none" strike="noStrike" kern="1200" cap="none" spc="0" normalizeH="0" baseline="0" noProof="0" dirty="0">
                <a:ln>
                  <a:noFill/>
                </a:ln>
                <a:solidFill>
                  <a:srgbClr val="666666"/>
                </a:solidFill>
                <a:effectLst/>
                <a:uLnTx/>
                <a:uFillTx/>
                <a:latin typeface="Calibri"/>
                <a:ea typeface="+mn-ea"/>
                <a:cs typeface="+mn-cs"/>
              </a:rPr>
              <a:t> mercado.</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2. Arbol de decision ¿blockchain o BD?</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5 </a:t>
            </a:r>
            <a:r>
              <a:rPr kumimoji="0" sz="1600" b="0" i="0" u="none" strike="noStrike" kern="1200" cap="none" spc="0" normalizeH="0" baseline="0" noProof="0" dirty="0" err="1">
                <a:ln>
                  <a:noFill/>
                </a:ln>
                <a:solidFill>
                  <a:srgbClr val="666666"/>
                </a:solidFill>
                <a:effectLst/>
                <a:uLnTx/>
                <a:uFillTx/>
                <a:latin typeface="Calibri"/>
                <a:ea typeface="+mn-ea"/>
                <a:cs typeface="+mn-cs"/>
              </a:rPr>
              <a:t>preguntas</a:t>
            </a:r>
            <a:r>
              <a:rPr kumimoji="0" sz="1600" b="0" i="0" u="none" strike="noStrike" kern="1200" cap="none" spc="0" normalizeH="0" baseline="0" noProof="0" dirty="0">
                <a:ln>
                  <a:noFill/>
                </a:ln>
                <a:solidFill>
                  <a:srgbClr val="666666"/>
                </a:solidFill>
                <a:effectLst/>
                <a:uLnTx/>
                <a:uFillTx/>
                <a:latin typeface="Calibri"/>
                <a:ea typeface="+mn-ea"/>
                <a:cs typeface="+mn-cs"/>
              </a:rPr>
              <a:t>: partes sin confianza / </a:t>
            </a:r>
            <a:r>
              <a:rPr kumimoji="0" sz="1600" b="0" i="0" u="none" strike="noStrike" kern="1200" cap="none" spc="0" normalizeH="0" baseline="0" noProof="0" dirty="0" err="1">
                <a:ln>
                  <a:noFill/>
                </a:ln>
                <a:solidFill>
                  <a:srgbClr val="666666"/>
                </a:solidFill>
                <a:effectLst/>
                <a:uLnTx/>
                <a:uFillTx/>
                <a:latin typeface="Calibri"/>
                <a:ea typeface="+mn-ea"/>
                <a:cs typeface="+mn-cs"/>
              </a:rPr>
              <a:t>compartir</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datos</a:t>
            </a:r>
            <a:r>
              <a:rPr kumimoji="0" sz="1600" b="0" i="0" u="none" strike="noStrike" kern="1200" cap="none" spc="0" normalizeH="0" baseline="0" noProof="0" dirty="0">
                <a:ln>
                  <a:noFill/>
                </a:ln>
                <a:solidFill>
                  <a:srgbClr val="666666"/>
                </a:solidFill>
                <a:effectLst/>
                <a:uLnTx/>
                <a:uFillTx/>
                <a:latin typeface="Calibri"/>
                <a:ea typeface="+mn-ea"/>
                <a:cs typeface="+mn-cs"/>
              </a:rPr>
              <a:t> / </a:t>
            </a:r>
            <a:r>
              <a:rPr kumimoji="0" sz="1600" b="0" i="0" u="none" strike="noStrike" kern="1200" cap="none" spc="0" normalizeH="0" baseline="0" noProof="0" dirty="0" err="1">
                <a:ln>
                  <a:noFill/>
                </a:ln>
                <a:solidFill>
                  <a:srgbClr val="666666"/>
                </a:solidFill>
                <a:effectLst/>
                <a:uLnTx/>
                <a:uFillTx/>
                <a:latin typeface="Calibri"/>
                <a:ea typeface="+mn-ea"/>
                <a:cs typeface="+mn-cs"/>
              </a:rPr>
              <a:t>inmutabilidad</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critica</a:t>
            </a:r>
            <a:r>
              <a:rPr kumimoji="0" sz="1600" b="0" i="0" u="none" strike="noStrike" kern="1200" cap="none" spc="0" normalizeH="0" baseline="0" noProof="0" dirty="0">
                <a:ln>
                  <a:noFill/>
                </a:ln>
                <a:solidFill>
                  <a:srgbClr val="666666"/>
                </a:solidFill>
                <a:effectLst/>
                <a:uLnTx/>
                <a:uFillTx/>
                <a:latin typeface="Calibri"/>
                <a:ea typeface="+mn-ea"/>
                <a:cs typeface="+mn-cs"/>
              </a:rPr>
              <a:t> /</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reglas</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verificables</a:t>
            </a:r>
            <a:r>
              <a:rPr kumimoji="0" sz="1600" b="0" i="0" u="none" strike="noStrike" kern="1200" cap="none" spc="0" normalizeH="0" baseline="0" noProof="0" dirty="0">
                <a:ln>
                  <a:noFill/>
                </a:ln>
                <a:solidFill>
                  <a:srgbClr val="666666"/>
                </a:solidFill>
                <a:effectLst/>
                <a:uLnTx/>
                <a:uFillTx/>
                <a:latin typeface="Calibri"/>
                <a:ea typeface="+mn-ea"/>
                <a:cs typeface="+mn-cs"/>
              </a:rPr>
              <a:t> / </a:t>
            </a:r>
            <a:r>
              <a:rPr kumimoji="0" sz="1600" b="0" i="0" u="none" strike="noStrike" kern="1200" cap="none" spc="0" normalizeH="0" baseline="0" noProof="0" dirty="0" err="1">
                <a:ln>
                  <a:noFill/>
                </a:ln>
                <a:solidFill>
                  <a:srgbClr val="666666"/>
                </a:solidFill>
                <a:effectLst/>
                <a:uLnTx/>
                <a:uFillTx/>
                <a:latin typeface="Calibri"/>
                <a:ea typeface="+mn-ea"/>
                <a:cs typeface="+mn-cs"/>
              </a:rPr>
              <a:t>ningun</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dueno</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unico</a:t>
            </a:r>
            <a:r>
              <a:rPr kumimoji="0" sz="1600" b="0" i="0" u="none" strike="noStrike" kern="1200" cap="none" spc="0" normalizeH="0" baseline="0" noProof="0" dirty="0">
                <a:ln>
                  <a:noFill/>
                </a:ln>
                <a:solidFill>
                  <a:srgbClr val="666666"/>
                </a:solidFill>
                <a:effectLst/>
                <a:uLnTx/>
                <a:uFillTx/>
                <a:latin typeface="Calibri"/>
                <a:ea typeface="+mn-ea"/>
                <a:cs typeface="+mn-cs"/>
              </a:rPr>
              <a:t>. Si a </a:t>
            </a:r>
            <a:r>
              <a:rPr kumimoji="0" sz="1600" b="0" i="0" u="none" strike="noStrike" kern="1200" cap="none" spc="0" normalizeH="0" baseline="0" noProof="0" dirty="0" err="1">
                <a:ln>
                  <a:noFill/>
                </a:ln>
                <a:solidFill>
                  <a:srgbClr val="666666"/>
                </a:solidFill>
                <a:effectLst/>
                <a:uLnTx/>
                <a:uFillTx/>
                <a:latin typeface="Calibri"/>
                <a:ea typeface="+mn-ea"/>
                <a:cs typeface="+mn-cs"/>
              </a:rPr>
              <a:t>todas</a:t>
            </a:r>
            <a:r>
              <a:rPr kumimoji="0" sz="1600" b="0" i="0" u="none" strike="noStrike" kern="1200" cap="none" spc="0" normalizeH="0" baseline="0" noProof="0" dirty="0">
                <a:ln>
                  <a:noFill/>
                </a:ln>
                <a:solidFill>
                  <a:srgbClr val="666666"/>
                </a:solidFill>
                <a:effectLst/>
                <a:uLnTx/>
                <a:uFillTx/>
                <a:latin typeface="Calibri"/>
                <a:ea typeface="+mn-ea"/>
                <a:cs typeface="+mn-cs"/>
              </a:rPr>
              <a:t> -&gt; blockchain.</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3. Como </a:t>
            </a:r>
            <a:r>
              <a:rPr kumimoji="0" sz="2000" b="0" i="0" u="none" strike="noStrike" kern="1200" cap="none" spc="0" normalizeH="0" baseline="0" noProof="0" dirty="0" err="1">
                <a:ln>
                  <a:noFill/>
                </a:ln>
                <a:solidFill>
                  <a:srgbClr val="333333"/>
                </a:solidFill>
                <a:effectLst/>
                <a:uLnTx/>
                <a:uFillTx/>
                <a:latin typeface="Calibri"/>
                <a:ea typeface="+mn-ea"/>
                <a:cs typeface="+mn-cs"/>
              </a:rPr>
              <a:t>presentar</a:t>
            </a:r>
            <a:r>
              <a:rPr kumimoji="0" sz="2000" b="0" i="0" u="none" strike="noStrike" kern="1200" cap="none" spc="0" normalizeH="0" baseline="0" noProof="0" dirty="0">
                <a:ln>
                  <a:noFill/>
                </a:ln>
                <a:solidFill>
                  <a:srgbClr val="333333"/>
                </a:solidFill>
                <a:effectLst/>
                <a:uLnTx/>
                <a:uFillTx/>
                <a:latin typeface="Calibri"/>
                <a:ea typeface="+mn-ea"/>
                <a:cs typeface="+mn-cs"/>
              </a:rPr>
              <a:t> a </a:t>
            </a:r>
            <a:r>
              <a:rPr kumimoji="0" sz="2000" b="0" i="0" u="none" strike="noStrike" kern="1200" cap="none" spc="0" normalizeH="0" baseline="0" noProof="0" dirty="0" err="1">
                <a:ln>
                  <a:noFill/>
                </a:ln>
                <a:solidFill>
                  <a:srgbClr val="333333"/>
                </a:solidFill>
                <a:effectLst/>
                <a:uLnTx/>
                <a:uFillTx/>
                <a:latin typeface="Calibri"/>
                <a:ea typeface="+mn-ea"/>
                <a:cs typeface="+mn-cs"/>
              </a:rPr>
              <a:t>direccion</a:t>
            </a:r>
            <a:r>
              <a:rPr kumimoji="0" sz="2000" b="0" i="0" u="none" strike="noStrike" kern="1200" cap="none" spc="0" normalizeH="0" baseline="0" noProof="0" dirty="0">
                <a:ln>
                  <a:noFill/>
                </a:ln>
                <a:solidFill>
                  <a:srgbClr val="333333"/>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Empezar</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por</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el</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problema</a:t>
            </a:r>
            <a:r>
              <a:rPr kumimoji="0" sz="1600" b="0" i="0" u="none" strike="noStrike" kern="1200" cap="none" spc="0" normalizeH="0" baseline="0" noProof="0" dirty="0">
                <a:ln>
                  <a:noFill/>
                </a:ln>
                <a:solidFill>
                  <a:srgbClr val="666666"/>
                </a:solidFill>
                <a:effectLst/>
                <a:uLnTx/>
                <a:uFillTx/>
                <a:latin typeface="Calibri"/>
                <a:ea typeface="+mn-ea"/>
                <a:cs typeface="+mn-cs"/>
              </a:rPr>
              <a:t> y </a:t>
            </a:r>
            <a:r>
              <a:rPr kumimoji="0" sz="1600" b="0" i="0" u="none" strike="noStrike" kern="1200" cap="none" spc="0" normalizeH="0" baseline="0" noProof="0" dirty="0" err="1">
                <a:ln>
                  <a:noFill/>
                </a:ln>
                <a:solidFill>
                  <a:srgbClr val="666666"/>
                </a:solidFill>
                <a:effectLst/>
                <a:uLnTx/>
                <a:uFillTx/>
                <a:latin typeface="Calibri"/>
                <a:ea typeface="+mn-ea"/>
                <a:cs typeface="+mn-cs"/>
              </a:rPr>
              <a:t>el</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coste</a:t>
            </a:r>
            <a:r>
              <a:rPr kumimoji="0" sz="1600" b="0" i="0" u="none" strike="noStrike" kern="1200" cap="none" spc="0" normalizeH="0" baseline="0" noProof="0" dirty="0">
                <a:ln>
                  <a:noFill/>
                </a:ln>
                <a:solidFill>
                  <a:srgbClr val="666666"/>
                </a:solidFill>
                <a:effectLst/>
                <a:uLnTx/>
                <a:uFillTx/>
                <a:latin typeface="Calibri"/>
                <a:ea typeface="+mn-ea"/>
                <a:cs typeface="+mn-cs"/>
              </a:rPr>
              <a:t> actual.</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Evitar</a:t>
            </a:r>
            <a:r>
              <a:rPr kumimoji="0" sz="1600" b="0" i="0" u="none" strike="noStrike" kern="1200" cap="none" spc="0" normalizeH="0" baseline="0" noProof="0" dirty="0">
                <a:ln>
                  <a:noFill/>
                </a:ln>
                <a:solidFill>
                  <a:srgbClr val="666666"/>
                </a:solidFill>
                <a:effectLst/>
                <a:uLnTx/>
                <a:uFillTx/>
                <a:latin typeface="Calibri"/>
                <a:ea typeface="+mn-ea"/>
                <a:cs typeface="+mn-cs"/>
              </a:rPr>
              <a:t> la palabra 'blockchain' al </a:t>
            </a:r>
            <a:r>
              <a:rPr kumimoji="0" sz="1600" b="0" i="0" u="none" strike="noStrike" kern="1200" cap="none" spc="0" normalizeH="0" baseline="0" noProof="0" dirty="0" err="1">
                <a:ln>
                  <a:noFill/>
                </a:ln>
                <a:solidFill>
                  <a:srgbClr val="666666"/>
                </a:solidFill>
                <a:effectLst/>
                <a:uLnTx/>
                <a:uFillTx/>
                <a:latin typeface="Calibri"/>
                <a:ea typeface="+mn-ea"/>
                <a:cs typeface="+mn-cs"/>
              </a:rPr>
              <a:t>inicio</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Hablar de '</a:t>
            </a:r>
            <a:r>
              <a:rPr kumimoji="0" sz="1600" b="0" i="0" u="none" strike="noStrike" kern="1200" cap="none" spc="0" normalizeH="0" baseline="0" noProof="0" dirty="0" err="1">
                <a:ln>
                  <a:noFill/>
                </a:ln>
                <a:solidFill>
                  <a:srgbClr val="666666"/>
                </a:solidFill>
                <a:effectLst/>
                <a:uLnTx/>
                <a:uFillTx/>
                <a:latin typeface="Calibri"/>
                <a:ea typeface="+mn-ea"/>
                <a:cs typeface="+mn-cs"/>
              </a:rPr>
              <a:t>registro</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distribuido</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compartido</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Presentar</a:t>
            </a:r>
            <a:r>
              <a:rPr kumimoji="0" sz="1600" b="0" i="0" u="none" strike="noStrike" kern="1200" cap="none" spc="0" normalizeH="0" baseline="0" noProof="0" dirty="0">
                <a:ln>
                  <a:noFill/>
                </a:ln>
                <a:solidFill>
                  <a:srgbClr val="666666"/>
                </a:solidFill>
                <a:effectLst/>
                <a:uLnTx/>
                <a:uFillTx/>
                <a:latin typeface="Calibri"/>
                <a:ea typeface="+mn-ea"/>
                <a:cs typeface="+mn-cs"/>
              </a:rPr>
              <a:t> ROI, </a:t>
            </a:r>
            <a:r>
              <a:rPr kumimoji="0" sz="1600" b="0" i="0" u="none" strike="noStrike" kern="1200" cap="none" spc="0" normalizeH="0" baseline="0" noProof="0" dirty="0" err="1">
                <a:ln>
                  <a:noFill/>
                </a:ln>
                <a:solidFill>
                  <a:srgbClr val="666666"/>
                </a:solidFill>
                <a:effectLst/>
                <a:uLnTx/>
                <a:uFillTx/>
                <a:latin typeface="Calibri"/>
                <a:ea typeface="+mn-ea"/>
                <a:cs typeface="+mn-cs"/>
              </a:rPr>
              <a:t>socios</a:t>
            </a:r>
            <a:r>
              <a:rPr kumimoji="0" sz="1600" b="0" i="0" u="none" strike="noStrike" kern="1200" cap="none" spc="0" normalizeH="0" baseline="0" noProof="0" dirty="0">
                <a:ln>
                  <a:noFill/>
                </a:ln>
                <a:solidFill>
                  <a:srgbClr val="666666"/>
                </a:solidFill>
                <a:effectLst/>
                <a:uLnTx/>
                <a:uFillTx/>
                <a:latin typeface="Calibri"/>
                <a:ea typeface="+mn-ea"/>
                <a:cs typeface="+mn-cs"/>
              </a:rPr>
              <a:t>, MVP, </a:t>
            </a:r>
            <a:r>
              <a:rPr kumimoji="0" sz="1600" b="0" i="0" u="none" strike="noStrike" kern="1200" cap="none" spc="0" normalizeH="0" baseline="0" noProof="0" dirty="0" err="1">
                <a:ln>
                  <a:noFill/>
                </a:ln>
                <a:solidFill>
                  <a:srgbClr val="666666"/>
                </a:solidFill>
                <a:effectLst/>
                <a:uLnTx/>
                <a:uFillTx/>
                <a:latin typeface="Calibri"/>
                <a:ea typeface="+mn-ea"/>
                <a:cs typeface="+mn-cs"/>
              </a:rPr>
              <a:t>riesgos</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000" b="0" i="0" u="none" strike="noStrike" kern="1200" cap="none" spc="0" normalizeH="0" baseline="0" noProof="0" dirty="0">
                <a:ln>
                  <a:noFill/>
                </a:ln>
                <a:solidFill>
                  <a:srgbClr val="333333"/>
                </a:solidFill>
                <a:effectLst/>
                <a:uLnTx/>
                <a:uFillTx/>
                <a:latin typeface="Calibri"/>
                <a:ea typeface="+mn-ea"/>
                <a:cs typeface="+mn-cs"/>
              </a:rPr>
              <a:t>4. </a:t>
            </a:r>
            <a:r>
              <a:rPr kumimoji="0" sz="2000" b="0" i="0" u="none" strike="noStrike" kern="1200" cap="none" spc="0" normalizeH="0" baseline="0" noProof="0" dirty="0" err="1">
                <a:ln>
                  <a:noFill/>
                </a:ln>
                <a:solidFill>
                  <a:srgbClr val="333333"/>
                </a:solidFill>
                <a:effectLst/>
                <a:uLnTx/>
                <a:uFillTx/>
                <a:latin typeface="Calibri"/>
                <a:ea typeface="+mn-ea"/>
                <a:cs typeface="+mn-cs"/>
              </a:rPr>
              <a:t>Modelos</a:t>
            </a:r>
            <a:r>
              <a:rPr kumimoji="0" sz="2000" b="0" i="0" u="none" strike="noStrike" kern="1200" cap="none" spc="0" normalizeH="0" baseline="0" noProof="0" dirty="0">
                <a:ln>
                  <a:noFill/>
                </a:ln>
                <a:solidFill>
                  <a:srgbClr val="333333"/>
                </a:solidFill>
                <a:effectLst/>
                <a:uLnTx/>
                <a:uFillTx/>
                <a:latin typeface="Calibri"/>
                <a:ea typeface="+mn-ea"/>
                <a:cs typeface="+mn-cs"/>
              </a:rPr>
              <a:t> de </a:t>
            </a:r>
            <a:r>
              <a:rPr kumimoji="0" sz="2000" b="0" i="0" u="none" strike="noStrike" kern="1200" cap="none" spc="0" normalizeH="0" baseline="0" noProof="0" dirty="0" err="1">
                <a:ln>
                  <a:noFill/>
                </a:ln>
                <a:solidFill>
                  <a:srgbClr val="333333"/>
                </a:solidFill>
                <a:effectLst/>
                <a:uLnTx/>
                <a:uFillTx/>
                <a:latin typeface="Calibri"/>
                <a:ea typeface="+mn-ea"/>
                <a:cs typeface="+mn-cs"/>
              </a:rPr>
              <a:t>gobernanza</a:t>
            </a:r>
            <a:r>
              <a:rPr kumimoji="0" sz="2000" b="0" i="0" u="none" strike="noStrike" kern="1200" cap="none" spc="0" normalizeH="0" baseline="0" noProof="0" dirty="0">
                <a:ln>
                  <a:noFill/>
                </a:ln>
                <a:solidFill>
                  <a:srgbClr val="333333"/>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Fundador</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dominante</a:t>
            </a:r>
            <a:r>
              <a:rPr kumimoji="0" sz="1600" b="0" i="0" u="none" strike="noStrike" kern="1200" cap="none" spc="0" normalizeH="0" baseline="0" noProof="0" dirty="0">
                <a:ln>
                  <a:noFill/>
                </a:ln>
                <a:solidFill>
                  <a:srgbClr val="666666"/>
                </a:solidFill>
                <a:effectLst/>
                <a:uLnTx/>
                <a:uFillTx/>
                <a:latin typeface="Calibri"/>
                <a:ea typeface="+mn-ea"/>
                <a:cs typeface="+mn-cs"/>
              </a:rPr>
              <a:t>: Walmart Food Trust.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Democratico: </a:t>
            </a:r>
            <a:r>
              <a:rPr kumimoji="0" sz="1600" b="0" i="0" u="none" strike="noStrike" kern="1200" cap="none" spc="0" normalizeH="0" baseline="0" noProof="0" dirty="0" err="1">
                <a:ln>
                  <a:noFill/>
                </a:ln>
                <a:solidFill>
                  <a:srgbClr val="666666"/>
                </a:solidFill>
                <a:effectLst/>
                <a:uLnTx/>
                <a:uFillTx/>
                <a:latin typeface="Calibri"/>
                <a:ea typeface="+mn-ea"/>
                <a:cs typeface="+mn-cs"/>
              </a:rPr>
              <a:t>Alastria</a:t>
            </a:r>
            <a:r>
              <a:rPr kumimoji="0" sz="1600" b="0" i="0" u="none" strike="noStrike" kern="1200" cap="none" spc="0" normalizeH="0" baseline="0" noProof="0" dirty="0">
                <a:ln>
                  <a:noFill/>
                </a:ln>
                <a:solidFill>
                  <a:srgbClr val="666666"/>
                </a:solidFill>
                <a:effectLst/>
                <a:uLnTx/>
                <a:uFillTx/>
                <a:latin typeface="Calibri"/>
                <a:ea typeface="+mn-ea"/>
                <a:cs typeface="+mn-cs"/>
              </a:rPr>
              <a:t> (1 </a:t>
            </a:r>
            <a:r>
              <a:rPr kumimoji="0" sz="1600" b="0" i="0" u="none" strike="noStrike" kern="1200" cap="none" spc="0" normalizeH="0" baseline="0" noProof="0" dirty="0" err="1">
                <a:ln>
                  <a:noFill/>
                </a:ln>
                <a:solidFill>
                  <a:srgbClr val="666666"/>
                </a:solidFill>
                <a:effectLst/>
                <a:uLnTx/>
                <a:uFillTx/>
                <a:latin typeface="Calibri"/>
                <a:ea typeface="+mn-ea"/>
                <a:cs typeface="+mn-cs"/>
              </a:rPr>
              <a:t>miembro</a:t>
            </a:r>
            <a:r>
              <a:rPr kumimoji="0" sz="1600" b="0" i="0" u="none" strike="noStrike" kern="1200" cap="none" spc="0" normalizeH="0" baseline="0" noProof="0" dirty="0">
                <a:ln>
                  <a:noFill/>
                </a:ln>
                <a:solidFill>
                  <a:srgbClr val="666666"/>
                </a:solidFill>
                <a:effectLst/>
                <a:uLnTx/>
                <a:uFillTx/>
                <a:latin typeface="Calibri"/>
                <a:ea typeface="+mn-ea"/>
                <a:cs typeface="+mn-cs"/>
              </a:rPr>
              <a:t> = 1 </a:t>
            </a:r>
            <a:r>
              <a:rPr kumimoji="0" sz="1600" b="0" i="0" u="none" strike="noStrike" kern="1200" cap="none" spc="0" normalizeH="0" baseline="0" noProof="0" dirty="0" err="1">
                <a:ln>
                  <a:noFill/>
                </a:ln>
                <a:solidFill>
                  <a:srgbClr val="666666"/>
                </a:solidFill>
                <a:effectLst/>
                <a:uLnTx/>
                <a:uFillTx/>
                <a:latin typeface="Calibri"/>
                <a:ea typeface="+mn-ea"/>
                <a:cs typeface="+mn-cs"/>
              </a:rPr>
              <a:t>voto</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Federado</a:t>
            </a:r>
            <a:r>
              <a:rPr kumimoji="0" sz="1600" b="0" i="0" u="none" strike="noStrike" kern="1200" cap="none" spc="0" normalizeH="0" baseline="0" noProof="0" dirty="0">
                <a:ln>
                  <a:noFill/>
                </a:ln>
                <a:solidFill>
                  <a:srgbClr val="666666"/>
                </a:solidFill>
                <a:effectLst/>
                <a:uLnTx/>
                <a:uFillTx/>
                <a:latin typeface="Calibri"/>
                <a:ea typeface="+mn-ea"/>
                <a:cs typeface="+mn-cs"/>
              </a:rPr>
              <a:t>: EBSI (</a:t>
            </a:r>
            <a:r>
              <a:rPr kumimoji="0" sz="1600" b="0" i="0" u="none" strike="noStrike" kern="1200" cap="none" spc="0" normalizeH="0" baseline="0" noProof="0" dirty="0" err="1">
                <a:ln>
                  <a:noFill/>
                </a:ln>
                <a:solidFill>
                  <a:srgbClr val="666666"/>
                </a:solidFill>
                <a:effectLst/>
                <a:uLnTx/>
                <a:uFillTx/>
                <a:latin typeface="Calibri"/>
                <a:ea typeface="+mn-ea"/>
                <a:cs typeface="+mn-cs"/>
              </a:rPr>
              <a:t>comite</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ejecutivo</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rotativo</a:t>
            </a:r>
            <a:r>
              <a:rPr kumimoji="0" sz="1600" b="0" i="0" u="none" strike="noStrike" kern="1200" cap="none" spc="0" normalizeH="0" baseline="0" noProof="0" dirty="0">
                <a:ln>
                  <a:noFill/>
                </a:ln>
                <a:solidFill>
                  <a:srgbClr val="666666"/>
                </a:solidFill>
                <a:effectLst/>
                <a:uLnTx/>
                <a:uFillTx/>
                <a:latin typeface="Calibri"/>
                <a:ea typeface="+mn-ea"/>
                <a:cs typeface="+mn-cs"/>
              </a:rPr>
              <a: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Respuestas al repaso del Modulo 3 (2/2)</a:t>
            </a:r>
          </a:p>
        </p:txBody>
      </p:sp>
      <p:sp>
        <p:nvSpPr>
          <p:cNvPr id="4" name="Rectangle 3"/>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640080" y="1086943"/>
            <a:ext cx="10515600" cy="47295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400" b="0" i="0" u="none" strike="noStrike" kern="1200" cap="none" spc="0" normalizeH="0" baseline="0" noProof="0" dirty="0">
                <a:ln>
                  <a:noFill/>
                </a:ln>
                <a:solidFill>
                  <a:srgbClr val="333333"/>
                </a:solidFill>
                <a:effectLst/>
                <a:uLnTx/>
                <a:uFillTx/>
                <a:latin typeface="Calibri"/>
                <a:ea typeface="+mn-ea"/>
                <a:cs typeface="+mn-cs"/>
              </a:rPr>
              <a:t>5. GDPR vs </a:t>
            </a:r>
            <a:r>
              <a:rPr kumimoji="0" sz="2400" b="0" i="0" u="none" strike="noStrike" kern="1200" cap="none" spc="0" normalizeH="0" baseline="0" noProof="0" dirty="0" err="1">
                <a:ln>
                  <a:noFill/>
                </a:ln>
                <a:solidFill>
                  <a:srgbClr val="333333"/>
                </a:solidFill>
                <a:effectLst/>
                <a:uLnTx/>
                <a:uFillTx/>
                <a:latin typeface="Calibri"/>
                <a:ea typeface="+mn-ea"/>
                <a:cs typeface="+mn-cs"/>
              </a:rPr>
              <a:t>inmutabilidad</a:t>
            </a:r>
            <a:r>
              <a:rPr kumimoji="0" sz="2400" b="0" i="0" u="none" strike="noStrike" kern="1200" cap="none" spc="0" normalizeH="0" baseline="0" noProof="0" dirty="0">
                <a:ln>
                  <a:noFill/>
                </a:ln>
                <a:solidFill>
                  <a:srgbClr val="333333"/>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Datos </a:t>
            </a:r>
            <a:r>
              <a:rPr kumimoji="0" sz="1600" b="0" i="0" u="none" strike="noStrike" kern="1200" cap="none" spc="0" normalizeH="0" baseline="0" noProof="0" dirty="0" err="1">
                <a:ln>
                  <a:noFill/>
                </a:ln>
                <a:solidFill>
                  <a:srgbClr val="666666"/>
                </a:solidFill>
                <a:effectLst/>
                <a:uLnTx/>
                <a:uFillTx/>
                <a:latin typeface="Calibri"/>
                <a:ea typeface="+mn-ea"/>
                <a:cs typeface="+mn-cs"/>
              </a:rPr>
              <a:t>personales</a:t>
            </a:r>
            <a:r>
              <a:rPr kumimoji="0" sz="1600" b="0" i="0" u="none" strike="noStrike" kern="1200" cap="none" spc="0" normalizeH="0" baseline="0" noProof="0" dirty="0">
                <a:ln>
                  <a:noFill/>
                </a:ln>
                <a:solidFill>
                  <a:srgbClr val="666666"/>
                </a:solidFill>
                <a:effectLst/>
                <a:uLnTx/>
                <a:uFillTx/>
                <a:latin typeface="Calibri"/>
                <a:ea typeface="+mn-ea"/>
                <a:cs typeface="+mn-cs"/>
              </a:rPr>
              <a:t> off-chain. Hash on-chain.</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Private Data con </a:t>
            </a:r>
            <a:r>
              <a:rPr kumimoji="0" sz="1600" b="0" i="0" u="none" strike="noStrike" kern="1200" cap="none" spc="0" normalizeH="0" baseline="0" noProof="0" dirty="0" err="1">
                <a:ln>
                  <a:noFill/>
                </a:ln>
                <a:solidFill>
                  <a:srgbClr val="666666"/>
                </a:solidFill>
                <a:effectLst/>
                <a:uLnTx/>
                <a:uFillTx/>
                <a:latin typeface="Calibri"/>
                <a:ea typeface="+mn-ea"/>
                <a:cs typeface="+mn-cs"/>
              </a:rPr>
              <a:t>blockToLive</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caduca</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datos</a:t>
            </a:r>
            <a:r>
              <a:rPr kumimoji="0" sz="1600" b="0" i="0" u="none" strike="noStrike" kern="1200" cap="none" spc="0" normalizeH="0" baseline="0" noProof="0" dirty="0">
                <a:ln>
                  <a:noFill/>
                </a:ln>
                <a:solidFill>
                  <a:srgbClr val="666666"/>
                </a:solidFill>
                <a:effectLst/>
                <a:uLnTx/>
                <a:uFillTx/>
                <a:latin typeface="Calibri"/>
                <a:ea typeface="+mn-ea"/>
                <a:cs typeface="+mn-cs"/>
              </a:rPr>
              <a:t> privados.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Borrar</a:t>
            </a:r>
            <a:r>
              <a:rPr kumimoji="0" sz="1600" b="0" i="0" u="none" strike="noStrike" kern="1200" cap="none" spc="0" normalizeH="0" baseline="0" noProof="0" dirty="0">
                <a:ln>
                  <a:noFill/>
                </a:ln>
                <a:solidFill>
                  <a:srgbClr val="666666"/>
                </a:solidFill>
                <a:effectLst/>
                <a:uLnTx/>
                <a:uFillTx/>
                <a:latin typeface="Calibri"/>
                <a:ea typeface="+mn-ea"/>
                <a:cs typeface="+mn-cs"/>
              </a:rPr>
              <a:t> off-chain </a:t>
            </a:r>
            <a:r>
              <a:rPr kumimoji="0" sz="1600" b="0" i="0" u="none" strike="noStrike" kern="1200" cap="none" spc="0" normalizeH="0" baseline="0" noProof="0" dirty="0" err="1">
                <a:ln>
                  <a:noFill/>
                </a:ln>
                <a:solidFill>
                  <a:srgbClr val="666666"/>
                </a:solidFill>
                <a:effectLst/>
                <a:uLnTx/>
                <a:uFillTx/>
                <a:latin typeface="Calibri"/>
                <a:ea typeface="+mn-ea"/>
                <a:cs typeface="+mn-cs"/>
              </a:rPr>
              <a:t>deja</a:t>
            </a:r>
            <a:r>
              <a:rPr kumimoji="0" sz="1600" b="0" i="0" u="none" strike="noStrike" kern="1200" cap="none" spc="0" normalizeH="0" baseline="0" noProof="0" dirty="0">
                <a:ln>
                  <a:noFill/>
                </a:ln>
                <a:solidFill>
                  <a:srgbClr val="666666"/>
                </a:solidFill>
                <a:effectLst/>
                <a:uLnTx/>
                <a:uFillTx/>
                <a:latin typeface="Calibri"/>
                <a:ea typeface="+mn-ea"/>
                <a:cs typeface="+mn-cs"/>
              </a:rPr>
              <a:t> hash </a:t>
            </a:r>
            <a:r>
              <a:rPr kumimoji="0" sz="1600" b="0" i="0" u="none" strike="noStrike" kern="1200" cap="none" spc="0" normalizeH="0" baseline="0" noProof="0" dirty="0" err="1">
                <a:ln>
                  <a:noFill/>
                </a:ln>
                <a:solidFill>
                  <a:srgbClr val="666666"/>
                </a:solidFill>
                <a:effectLst/>
                <a:uLnTx/>
                <a:uFillTx/>
                <a:latin typeface="Calibri"/>
                <a:ea typeface="+mn-ea"/>
                <a:cs typeface="+mn-cs"/>
              </a:rPr>
              <a:t>huerfano</a:t>
            </a:r>
            <a:r>
              <a:rPr kumimoji="0" sz="1600" b="0" i="0" u="none" strike="noStrike" kern="1200" cap="none" spc="0" normalizeH="0" baseline="0" noProof="0" dirty="0">
                <a:ln>
                  <a:noFill/>
                </a:ln>
                <a:solidFill>
                  <a:srgbClr val="666666"/>
                </a:solidFill>
                <a:effectLst/>
                <a:uLnTx/>
                <a:uFillTx/>
                <a:latin typeface="Calibri"/>
                <a:ea typeface="+mn-ea"/>
                <a:cs typeface="+mn-cs"/>
              </a:rPr>
              <a:t> = </a:t>
            </a:r>
            <a:r>
              <a:rPr kumimoji="0" sz="1600" b="0" i="0" u="none" strike="noStrike" kern="1200" cap="none" spc="0" normalizeH="0" baseline="0" noProof="0" dirty="0" err="1">
                <a:ln>
                  <a:noFill/>
                </a:ln>
                <a:solidFill>
                  <a:srgbClr val="666666"/>
                </a:solidFill>
                <a:effectLst/>
                <a:uLnTx/>
                <a:uFillTx/>
                <a:latin typeface="Calibri"/>
                <a:ea typeface="+mn-ea"/>
                <a:cs typeface="+mn-cs"/>
              </a:rPr>
              <a:t>pseudonimizacion</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efectiva</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400" b="0" i="0" u="none" strike="noStrike" kern="1200" cap="none" spc="0" normalizeH="0" baseline="0" noProof="0" dirty="0">
                <a:ln>
                  <a:noFill/>
                </a:ln>
                <a:solidFill>
                  <a:srgbClr val="333333"/>
                </a:solidFill>
                <a:effectLst/>
                <a:uLnTx/>
                <a:uFillTx/>
                <a:latin typeface="Calibri"/>
                <a:ea typeface="+mn-ea"/>
                <a:cs typeface="+mn-cs"/>
              </a:rPr>
              <a:t>6. </a:t>
            </a:r>
            <a:r>
              <a:rPr kumimoji="0" sz="2400" b="0" i="0" u="none" strike="noStrike" kern="1200" cap="none" spc="0" normalizeH="0" baseline="0" noProof="0" dirty="0" err="1">
                <a:ln>
                  <a:noFill/>
                </a:ln>
                <a:solidFill>
                  <a:srgbClr val="333333"/>
                </a:solidFill>
                <a:effectLst/>
                <a:uLnTx/>
                <a:uFillTx/>
                <a:latin typeface="Calibri"/>
                <a:ea typeface="+mn-ea"/>
                <a:cs typeface="+mn-cs"/>
              </a:rPr>
              <a:t>MiCA</a:t>
            </a:r>
            <a:r>
              <a:rPr kumimoji="0" sz="2400" b="0" i="0" u="none" strike="noStrike" kern="1200" cap="none" spc="0" normalizeH="0" baseline="0" noProof="0" dirty="0">
                <a:ln>
                  <a:noFill/>
                </a:ln>
                <a:solidFill>
                  <a:srgbClr val="333333"/>
                </a:solidFill>
                <a:effectLst/>
                <a:uLnTx/>
                <a:uFillTx/>
                <a:latin typeface="Calibri"/>
                <a:ea typeface="+mn-ea"/>
                <a:cs typeface="+mn-cs"/>
              </a:rPr>
              <a:t> y </a:t>
            </a:r>
            <a:r>
              <a:rPr kumimoji="0" sz="2400" b="0" i="0" u="none" strike="noStrike" kern="1200" cap="none" spc="0" normalizeH="0" baseline="0" noProof="0" dirty="0" err="1">
                <a:ln>
                  <a:noFill/>
                </a:ln>
                <a:solidFill>
                  <a:srgbClr val="333333"/>
                </a:solidFill>
                <a:effectLst/>
                <a:uLnTx/>
                <a:uFillTx/>
                <a:latin typeface="Calibri"/>
                <a:ea typeface="+mn-ea"/>
                <a:cs typeface="+mn-cs"/>
              </a:rPr>
              <a:t>regulacion</a:t>
            </a:r>
            <a:r>
              <a:rPr kumimoji="0" sz="2400" b="0" i="0" u="none" strike="noStrike" kern="1200" cap="none" spc="0" normalizeH="0" baseline="0" noProof="0" dirty="0">
                <a:ln>
                  <a:noFill/>
                </a:ln>
                <a:solidFill>
                  <a:srgbClr val="333333"/>
                </a:solidFill>
                <a:effectLst/>
                <a:uLnTx/>
                <a:uFillTx/>
                <a:latin typeface="Calibri"/>
                <a:ea typeface="+mn-ea"/>
                <a:cs typeface="+mn-cs"/>
              </a:rPr>
              <a:t> de tokens: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MiCA</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aplica</a:t>
            </a:r>
            <a:r>
              <a:rPr kumimoji="0" sz="1600" b="0" i="0" u="none" strike="noStrike" kern="1200" cap="none" spc="0" normalizeH="0" baseline="0" noProof="0" dirty="0">
                <a:ln>
                  <a:noFill/>
                </a:ln>
                <a:solidFill>
                  <a:srgbClr val="666666"/>
                </a:solidFill>
                <a:effectLst/>
                <a:uLnTx/>
                <a:uFillTx/>
                <a:latin typeface="Calibri"/>
                <a:ea typeface="+mn-ea"/>
                <a:cs typeface="+mn-cs"/>
              </a:rPr>
              <a:t> a </a:t>
            </a:r>
            <a:r>
              <a:rPr kumimoji="0" sz="1600" b="0" i="0" u="none" strike="noStrike" kern="1200" cap="none" spc="0" normalizeH="0" baseline="0" noProof="0" dirty="0" err="1">
                <a:ln>
                  <a:noFill/>
                </a:ln>
                <a:solidFill>
                  <a:srgbClr val="666666"/>
                </a:solidFill>
                <a:effectLst/>
                <a:uLnTx/>
                <a:uFillTx/>
                <a:latin typeface="Calibri"/>
                <a:ea typeface="+mn-ea"/>
                <a:cs typeface="+mn-cs"/>
              </a:rPr>
              <a:t>cripto</a:t>
            </a:r>
            <a:r>
              <a:rPr kumimoji="0" sz="1600" b="0" i="0" u="none" strike="noStrike" kern="1200" cap="none" spc="0" normalizeH="0" baseline="0" noProof="0" dirty="0">
                <a:ln>
                  <a:noFill/>
                </a:ln>
                <a:solidFill>
                  <a:srgbClr val="666666"/>
                </a:solidFill>
                <a:effectLst/>
                <a:uLnTx/>
                <a:uFillTx/>
                <a:latin typeface="Calibri"/>
                <a:ea typeface="+mn-ea"/>
                <a:cs typeface="+mn-cs"/>
              </a:rPr>
              <a:t> publica (stablecoins, exchanges, tokens).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Fabric enterprise SIN tokens </a:t>
            </a:r>
            <a:r>
              <a:rPr kumimoji="0" sz="1600" b="0" i="0" u="none" strike="noStrike" kern="1200" cap="none" spc="0" normalizeH="0" baseline="0" noProof="0" dirty="0" err="1">
                <a:ln>
                  <a:noFill/>
                </a:ln>
                <a:solidFill>
                  <a:srgbClr val="666666"/>
                </a:solidFill>
                <a:effectLst/>
                <a:uLnTx/>
                <a:uFillTx/>
                <a:latin typeface="Calibri"/>
                <a:ea typeface="+mn-ea"/>
                <a:cs typeface="+mn-cs"/>
              </a:rPr>
              <a:t>publicos</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menos</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regulacion</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directa</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Tokenizar</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valores</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bonos</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acciones</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en</a:t>
            </a:r>
            <a:r>
              <a:rPr kumimoji="0" sz="1600" b="0" i="0" u="none" strike="noStrike" kern="1200" cap="none" spc="0" normalizeH="0" baseline="0" noProof="0" dirty="0">
                <a:ln>
                  <a:noFill/>
                </a:ln>
                <a:solidFill>
                  <a:srgbClr val="666666"/>
                </a:solidFill>
                <a:effectLst/>
                <a:uLnTx/>
                <a:uFillTx/>
                <a:latin typeface="Calibri"/>
                <a:ea typeface="+mn-ea"/>
                <a:cs typeface="+mn-cs"/>
              </a:rPr>
              <a:t> Fabric: MiFID II + </a:t>
            </a:r>
            <a:r>
              <a:rPr kumimoji="0" sz="1600" b="0" i="0" u="none" strike="noStrike" kern="1200" cap="none" spc="0" normalizeH="0" baseline="0" noProof="0" dirty="0" err="1">
                <a:ln>
                  <a:noFill/>
                </a:ln>
                <a:solidFill>
                  <a:srgbClr val="666666"/>
                </a:solidFill>
                <a:effectLst/>
                <a:uLnTx/>
                <a:uFillTx/>
                <a:latin typeface="Calibri"/>
                <a:ea typeface="+mn-ea"/>
                <a:cs typeface="+mn-cs"/>
              </a:rPr>
              <a:t>autorizacion</a:t>
            </a:r>
            <a:r>
              <a:rPr kumimoji="0" sz="1600" b="0" i="0" u="none" strike="noStrike" kern="1200" cap="none" spc="0" normalizeH="0" baseline="0" noProof="0" dirty="0">
                <a:ln>
                  <a:noFill/>
                </a:ln>
                <a:solidFill>
                  <a:srgbClr val="666666"/>
                </a:solidFill>
                <a:effectLst/>
                <a:uLnTx/>
                <a:uFillTx/>
                <a:latin typeface="Calibri"/>
                <a:ea typeface="+mn-ea"/>
                <a:cs typeface="+mn-cs"/>
              </a:rPr>
              <a:t> CNMV.</a:t>
            </a:r>
          </a:p>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sz="2400" b="0" i="0" u="none" strike="noStrike" kern="1200" cap="none" spc="0" normalizeH="0" baseline="0" noProof="0" dirty="0">
                <a:ln>
                  <a:noFill/>
                </a:ln>
                <a:solidFill>
                  <a:srgbClr val="333333"/>
                </a:solidFill>
                <a:effectLst/>
                <a:uLnTx/>
                <a:uFillTx/>
                <a:latin typeface="Calibri"/>
                <a:ea typeface="+mn-ea"/>
                <a:cs typeface="+mn-cs"/>
              </a:rPr>
              <a:t>7. </a:t>
            </a:r>
            <a:r>
              <a:rPr kumimoji="0" sz="2400" b="0" i="0" u="none" strike="noStrike" kern="1200" cap="none" spc="0" normalizeH="0" baseline="0" noProof="0" dirty="0" err="1">
                <a:ln>
                  <a:noFill/>
                </a:ln>
                <a:solidFill>
                  <a:srgbClr val="333333"/>
                </a:solidFill>
                <a:effectLst/>
                <a:uLnTx/>
                <a:uFillTx/>
                <a:latin typeface="Calibri"/>
                <a:ea typeface="+mn-ea"/>
                <a:cs typeface="+mn-cs"/>
              </a:rPr>
              <a:t>Metodologia</a:t>
            </a:r>
            <a:r>
              <a:rPr kumimoji="0" sz="2400" b="0" i="0" u="none" strike="noStrike" kern="1200" cap="none" spc="0" normalizeH="0" baseline="0" noProof="0" dirty="0">
                <a:ln>
                  <a:noFill/>
                </a:ln>
                <a:solidFill>
                  <a:srgbClr val="333333"/>
                </a:solidFill>
                <a:effectLst/>
                <a:uLnTx/>
                <a:uFillTx/>
                <a:latin typeface="Calibri"/>
                <a:ea typeface="+mn-ea"/>
                <a:cs typeface="+mn-cs"/>
              </a:rPr>
              <a:t>: de la idea al roadmap:</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Descubrimiento</a:t>
            </a:r>
            <a:r>
              <a:rPr kumimoji="0" sz="1600" b="0" i="0" u="none" strike="noStrike" kern="1200" cap="none" spc="0" normalizeH="0" baseline="0" noProof="0" dirty="0">
                <a:ln>
                  <a:noFill/>
                </a:ln>
                <a:solidFill>
                  <a:srgbClr val="666666"/>
                </a:solidFill>
                <a:effectLst/>
                <a:uLnTx/>
                <a:uFillTx/>
                <a:latin typeface="Calibri"/>
                <a:ea typeface="+mn-ea"/>
                <a:cs typeface="+mn-cs"/>
              </a:rPr>
              <a:t> (1-2 meses): </a:t>
            </a:r>
            <a:r>
              <a:rPr kumimoji="0" sz="1600" b="0" i="0" u="none" strike="noStrike" kern="1200" cap="none" spc="0" normalizeH="0" baseline="0" noProof="0" dirty="0" err="1">
                <a:ln>
                  <a:noFill/>
                </a:ln>
                <a:solidFill>
                  <a:srgbClr val="666666"/>
                </a:solidFill>
                <a:effectLst/>
                <a:uLnTx/>
                <a:uFillTx/>
                <a:latin typeface="Calibri"/>
                <a:ea typeface="+mn-ea"/>
                <a:cs typeface="+mn-cs"/>
              </a:rPr>
              <a:t>problema</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validar</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si</a:t>
            </a:r>
            <a:r>
              <a:rPr kumimoji="0" sz="1600" b="0" i="0" u="none" strike="noStrike" kern="1200" cap="none" spc="0" normalizeH="0" baseline="0" noProof="0" dirty="0">
                <a:ln>
                  <a:noFill/>
                </a:ln>
                <a:solidFill>
                  <a:srgbClr val="666666"/>
                </a:solidFill>
                <a:effectLst/>
                <a:uLnTx/>
                <a:uFillTx/>
                <a:latin typeface="Calibri"/>
                <a:ea typeface="+mn-ea"/>
                <a:cs typeface="+mn-cs"/>
              </a:rPr>
              <a:t> blockchain </a:t>
            </a:r>
            <a:r>
              <a:rPr kumimoji="0" sz="1600" b="0" i="0" u="none" strike="noStrike" kern="1200" cap="none" spc="0" normalizeH="0" baseline="0" noProof="0" dirty="0" err="1">
                <a:ln>
                  <a:noFill/>
                </a:ln>
                <a:solidFill>
                  <a:srgbClr val="666666"/>
                </a:solidFill>
                <a:effectLst/>
                <a:uLnTx/>
                <a:uFillTx/>
                <a:latin typeface="Calibri"/>
                <a:ea typeface="+mn-ea"/>
                <a:cs typeface="+mn-cs"/>
              </a:rPr>
              <a:t>aporta</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socios</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PoC (3-4 meses): red minima, </a:t>
            </a:r>
            <a:r>
              <a:rPr kumimoji="0" sz="1600" b="0" i="0" u="none" strike="noStrike" kern="1200" cap="none" spc="0" normalizeH="0" baseline="0" noProof="0" dirty="0" err="1">
                <a:ln>
                  <a:noFill/>
                </a:ln>
                <a:solidFill>
                  <a:srgbClr val="666666"/>
                </a:solidFill>
                <a:effectLst/>
                <a:uLnTx/>
                <a:uFillTx/>
                <a:latin typeface="Calibri"/>
                <a:ea typeface="+mn-ea"/>
                <a:cs typeface="+mn-cs"/>
              </a:rPr>
              <a:t>chaincode</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basico</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demostrar</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funciona</a:t>
            </a:r>
            <a:r>
              <a:rPr kumimoji="0" sz="1600" b="0" i="0" u="none" strike="noStrike" kern="1200" cap="none" spc="0" normalizeH="0" baseline="0" noProof="0" dirty="0">
                <a:ln>
                  <a:noFill/>
                </a:ln>
                <a:solidFill>
                  <a:srgbClr val="666666"/>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MVP (5-8 meses): red con Fabric CA, </a:t>
            </a:r>
            <a:r>
              <a:rPr kumimoji="0" sz="1600" b="0" i="0" u="none" strike="noStrike" kern="1200" cap="none" spc="0" normalizeH="0" baseline="0" noProof="0" dirty="0" err="1">
                <a:ln>
                  <a:noFill/>
                </a:ln>
                <a:solidFill>
                  <a:srgbClr val="666666"/>
                </a:solidFill>
                <a:effectLst/>
                <a:uLnTx/>
                <a:uFillTx/>
                <a:latin typeface="Calibri"/>
                <a:ea typeface="+mn-ea"/>
                <a:cs typeface="+mn-cs"/>
              </a:rPr>
              <a:t>chaincode</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completo</a:t>
            </a:r>
            <a:r>
              <a:rPr kumimoji="0" sz="1600" b="0" i="0" u="none" strike="noStrike" kern="1200" cap="none" spc="0" normalizeH="0" baseline="0" noProof="0" dirty="0">
                <a:ln>
                  <a:noFill/>
                </a:ln>
                <a:solidFill>
                  <a:srgbClr val="666666"/>
                </a:solidFill>
                <a:effectLst/>
                <a:uLnTx/>
                <a:uFillTx/>
                <a:latin typeface="Calibri"/>
                <a:ea typeface="+mn-ea"/>
                <a:cs typeface="+mn-cs"/>
              </a:rPr>
              <a:t>, app, tests.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Piloto (9-12 meses): </a:t>
            </a:r>
            <a:r>
              <a:rPr kumimoji="0" sz="1600" b="0" i="0" u="none" strike="noStrike" kern="1200" cap="none" spc="0" normalizeH="0" baseline="0" noProof="0" dirty="0" err="1">
                <a:ln>
                  <a:noFill/>
                </a:ln>
                <a:solidFill>
                  <a:srgbClr val="666666"/>
                </a:solidFill>
                <a:effectLst/>
                <a:uLnTx/>
                <a:uFillTx/>
                <a:latin typeface="Calibri"/>
                <a:ea typeface="+mn-ea"/>
                <a:cs typeface="+mn-cs"/>
              </a:rPr>
              <a:t>datos</a:t>
            </a:r>
            <a:r>
              <a:rPr kumimoji="0" sz="1600" b="0" i="0" u="none" strike="noStrike" kern="1200" cap="none" spc="0" normalizeH="0" baseline="0" noProof="0" dirty="0">
                <a:ln>
                  <a:noFill/>
                </a:ln>
                <a:solidFill>
                  <a:srgbClr val="666666"/>
                </a:solidFill>
                <a:effectLst/>
                <a:uLnTx/>
                <a:uFillTx/>
                <a:latin typeface="Calibri"/>
                <a:ea typeface="+mn-ea"/>
                <a:cs typeface="+mn-cs"/>
              </a:rPr>
              <a:t> reales, mas orgs, </a:t>
            </a:r>
            <a:r>
              <a:rPr kumimoji="0" sz="1600" b="0" i="0" u="none" strike="noStrike" kern="1200" cap="none" spc="0" normalizeH="0" baseline="0" noProof="0" dirty="0" err="1">
                <a:ln>
                  <a:noFill/>
                </a:ln>
                <a:solidFill>
                  <a:srgbClr val="666666"/>
                </a:solidFill>
                <a:effectLst/>
                <a:uLnTx/>
                <a:uFillTx/>
                <a:latin typeface="Calibri"/>
                <a:ea typeface="+mn-ea"/>
                <a:cs typeface="+mn-cs"/>
              </a:rPr>
              <a:t>integracion</a:t>
            </a:r>
            <a:r>
              <a:rPr kumimoji="0" sz="1600" b="0" i="0" u="none" strike="noStrike" kern="1200" cap="none" spc="0" normalizeH="0" baseline="0" noProof="0" dirty="0">
                <a:ln>
                  <a:noFill/>
                </a:ln>
                <a:solidFill>
                  <a:srgbClr val="666666"/>
                </a:solidFill>
                <a:effectLst/>
                <a:uLnTx/>
                <a:uFillTx/>
                <a:latin typeface="Calibri"/>
                <a:ea typeface="+mn-ea"/>
                <a:cs typeface="+mn-cs"/>
              </a:rPr>
              <a:t> legacy.</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Produccion</a:t>
            </a:r>
            <a:r>
              <a:rPr kumimoji="0" sz="1600" b="0" i="0" u="none" strike="noStrike" kern="1200" cap="none" spc="0" normalizeH="0" baseline="0" noProof="0" dirty="0">
                <a:ln>
                  <a:noFill/>
                </a:ln>
                <a:solidFill>
                  <a:srgbClr val="666666"/>
                </a:solidFill>
                <a:effectLst/>
                <a:uLnTx/>
                <a:uFillTx/>
                <a:latin typeface="Calibri"/>
                <a:ea typeface="+mn-ea"/>
                <a:cs typeface="+mn-cs"/>
              </a:rPr>
              <a:t> (12+ meses): SLAs, </a:t>
            </a:r>
            <a:r>
              <a:rPr kumimoji="0" sz="1600" b="0" i="0" u="none" strike="noStrike" kern="1200" cap="none" spc="0" normalizeH="0" baseline="0" noProof="0" dirty="0" err="1">
                <a:ln>
                  <a:noFill/>
                </a:ln>
                <a:solidFill>
                  <a:srgbClr val="666666"/>
                </a:solidFill>
                <a:effectLst/>
                <a:uLnTx/>
                <a:uFillTx/>
                <a:latin typeface="Calibri"/>
                <a:ea typeface="+mn-ea"/>
                <a:cs typeface="+mn-cs"/>
              </a:rPr>
              <a:t>monitorizacion</a:t>
            </a:r>
            <a:r>
              <a:rPr kumimoji="0" sz="1600" b="0" i="0" u="none" strike="noStrike" kern="1200" cap="none" spc="0" normalizeH="0" baseline="0" noProof="0" dirty="0">
                <a:ln>
                  <a:noFill/>
                </a:ln>
                <a:solidFill>
                  <a:srgbClr val="666666"/>
                </a:solidFill>
                <a:effectLst/>
                <a:uLnTx/>
                <a:uFillTx/>
                <a:latin typeface="Calibri"/>
                <a:ea typeface="+mn-ea"/>
                <a:cs typeface="+mn-cs"/>
              </a:rPr>
              <a:t>, </a:t>
            </a:r>
            <a:r>
              <a:rPr kumimoji="0" sz="1600" b="0" i="0" u="none" strike="noStrike" kern="1200" cap="none" spc="0" normalizeH="0" baseline="0" noProof="0" dirty="0" err="1">
                <a:ln>
                  <a:noFill/>
                </a:ln>
                <a:solidFill>
                  <a:srgbClr val="666666"/>
                </a:solidFill>
                <a:effectLst/>
                <a:uLnTx/>
                <a:uFillTx/>
                <a:latin typeface="Calibri"/>
                <a:ea typeface="+mn-ea"/>
                <a:cs typeface="+mn-cs"/>
              </a:rPr>
              <a:t>soporte</a:t>
            </a:r>
            <a:r>
              <a:rPr kumimoji="0" sz="1600" b="0" i="0" u="none" strike="noStrike" kern="1200" cap="none" spc="0" normalizeH="0" baseline="0" noProof="0" dirty="0">
                <a:ln>
                  <a:noFill/>
                </a:ln>
                <a:solidFill>
                  <a:srgbClr val="666666"/>
                </a:solidFill>
                <a:effectLst/>
                <a:uLnTx/>
                <a:uFillTx/>
                <a:latin typeface="Calibri"/>
                <a:ea typeface="+mn-ea"/>
                <a:cs typeface="+mn-cs"/>
              </a:rPr>
              <a:t> 24/7.</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7540E-4FCC-8D6B-B59F-0763243D73C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E5D8616-204D-A519-3FF3-3685ACB1F313}"/>
              </a:ext>
            </a:extLst>
          </p:cNvPr>
          <p:cNvSpPr/>
          <p:nvPr/>
        </p:nvSpPr>
        <p:spPr>
          <a:xfrm>
            <a:off x="0" y="0"/>
            <a:ext cx="12188952" cy="7315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DBCDDF90-6377-B558-75DB-8298984107D9}"/>
              </a:ext>
            </a:extLst>
          </p:cNvPr>
          <p:cNvSpPr txBox="1"/>
          <p:nvPr/>
        </p:nvSpPr>
        <p:spPr>
          <a:xfrm>
            <a:off x="457200" y="274320"/>
            <a:ext cx="10972800" cy="731520"/>
          </a:xfrm>
          <a:prstGeom prst="rect">
            <a:avLst/>
          </a:prstGeom>
          <a:noFill/>
        </p:spPr>
        <p:txBody>
          <a:bodyPr wrap="square"/>
          <a:lstStyle/>
          <a:p>
            <a:pPr marL="0" marR="0" lvl="0" indent="0" algn="l" defTabSz="457200" rtl="0" eaLnBrk="1" fontAlgn="auto" latinLnBrk="0" hangingPunct="1">
              <a:lnSpc>
                <a:spcPct val="100000"/>
              </a:lnSpc>
              <a:spcBef>
                <a:spcPts val="0"/>
              </a:spcBef>
              <a:spcAft>
                <a:spcPts val="0"/>
              </a:spcAft>
              <a:buClrTx/>
              <a:buSzTx/>
              <a:buFontTx/>
              <a:buNone/>
              <a:tabLst/>
              <a:defRPr sz="3200" b="1">
                <a:solidFill>
                  <a:srgbClr val="22627E"/>
                </a:solidFill>
                <a:latin typeface="Calibri"/>
              </a:defRPr>
            </a:pPr>
            <a:r>
              <a:rPr kumimoji="0" sz="3200" b="1" i="0" u="none" strike="noStrike" kern="1200" cap="none" spc="0" normalizeH="0" baseline="0" noProof="0">
                <a:ln>
                  <a:noFill/>
                </a:ln>
                <a:solidFill>
                  <a:srgbClr val="22627E"/>
                </a:solidFill>
                <a:effectLst/>
                <a:uLnTx/>
                <a:uFillTx/>
                <a:latin typeface="Calibri"/>
                <a:ea typeface="+mn-ea"/>
                <a:cs typeface="+mn-cs"/>
              </a:rPr>
              <a:t>Respuestas al repaso del Modulo 3 (2/2)</a:t>
            </a:r>
          </a:p>
        </p:txBody>
      </p:sp>
      <p:sp>
        <p:nvSpPr>
          <p:cNvPr id="4" name="Rectangle 3">
            <a:extLst>
              <a:ext uri="{FF2B5EF4-FFF2-40B4-BE49-F238E27FC236}">
                <a16:creationId xmlns:a16="http://schemas.microsoft.com/office/drawing/2014/main" id="{781EF763-17A1-6EFE-E1CC-17F419EB24F2}"/>
              </a:ext>
            </a:extLst>
          </p:cNvPr>
          <p:cNvSpPr/>
          <p:nvPr/>
        </p:nvSpPr>
        <p:spPr>
          <a:xfrm>
            <a:off x="457200" y="1051560"/>
            <a:ext cx="10972800" cy="27432"/>
          </a:xfrm>
          <a:prstGeom prst="rect">
            <a:avLst/>
          </a:prstGeom>
          <a:solidFill>
            <a:srgbClr val="2262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a:extLst>
              <a:ext uri="{FF2B5EF4-FFF2-40B4-BE49-F238E27FC236}">
                <a16:creationId xmlns:a16="http://schemas.microsoft.com/office/drawing/2014/main" id="{0CD48B40-931D-DA51-C1D0-07D81F9360A5}"/>
              </a:ext>
            </a:extLst>
          </p:cNvPr>
          <p:cNvSpPr txBox="1"/>
          <p:nvPr/>
        </p:nvSpPr>
        <p:spPr>
          <a:xfrm>
            <a:off x="640080" y="1086943"/>
            <a:ext cx="10515600" cy="200054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800"/>
              </a:spcAft>
              <a:buClrTx/>
              <a:buSzTx/>
              <a:buFontTx/>
              <a:buNone/>
              <a:tabLst/>
              <a:defRPr sz="2000">
                <a:solidFill>
                  <a:srgbClr val="333333"/>
                </a:solidFill>
                <a:latin typeface="Calibri"/>
              </a:defRPr>
            </a:pPr>
            <a:r>
              <a:rPr kumimoji="0" lang="es-ES" sz="2400" b="0" i="0" u="none" strike="noStrike" kern="1200" cap="none" spc="0" normalizeH="0" baseline="0" noProof="0" dirty="0">
                <a:ln>
                  <a:noFill/>
                </a:ln>
                <a:solidFill>
                  <a:srgbClr val="333333"/>
                </a:solidFill>
                <a:effectLst/>
                <a:uLnTx/>
                <a:uFillTx/>
                <a:latin typeface="Calibri"/>
                <a:ea typeface="+mn-ea"/>
                <a:cs typeface="+mn-cs"/>
              </a:rPr>
              <a:t>8. Costes </a:t>
            </a:r>
            <a:r>
              <a:rPr kumimoji="0" lang="es-ES" sz="2400" b="0" i="0" u="none" strike="noStrike" kern="1200" cap="none" spc="0" normalizeH="0" baseline="0" noProof="0" dirty="0" err="1">
                <a:ln>
                  <a:noFill/>
                </a:ln>
                <a:solidFill>
                  <a:srgbClr val="333333"/>
                </a:solidFill>
                <a:effectLst/>
                <a:uLnTx/>
                <a:uFillTx/>
                <a:latin typeface="Calibri"/>
                <a:ea typeface="+mn-ea"/>
                <a:cs typeface="+mn-cs"/>
              </a:rPr>
              <a:t>tipicos</a:t>
            </a:r>
            <a:r>
              <a:rPr kumimoji="0" lang="es-ES" sz="2400" b="0" i="0" u="none" strike="noStrike" kern="1200" cap="none" spc="0" normalizeH="0" baseline="0" noProof="0" dirty="0">
                <a:ln>
                  <a:noFill/>
                </a:ln>
                <a:solidFill>
                  <a:srgbClr val="333333"/>
                </a:solidFill>
                <a:effectLst/>
                <a:uLnTx/>
                <a:uFillTx/>
                <a:latin typeface="Calibri"/>
                <a:ea typeface="+mn-ea"/>
                <a:cs typeface="+mn-cs"/>
              </a:rPr>
              <a:t> de un proyecto </a:t>
            </a:r>
            <a:r>
              <a:rPr kumimoji="0" lang="es-ES" sz="2400" b="0" i="0" u="none" strike="noStrike" kern="1200" cap="none" spc="0" normalizeH="0" baseline="0" noProof="0" dirty="0" err="1">
                <a:ln>
                  <a:noFill/>
                </a:ln>
                <a:solidFill>
                  <a:srgbClr val="333333"/>
                </a:solidFill>
                <a:effectLst/>
                <a:uLnTx/>
                <a:uFillTx/>
                <a:latin typeface="Calibri"/>
                <a:ea typeface="+mn-ea"/>
                <a:cs typeface="+mn-cs"/>
              </a:rPr>
              <a:t>Fabric</a:t>
            </a:r>
            <a:r>
              <a:rPr kumimoji="0" lang="es-ES" sz="2400" b="0" i="0" u="none" strike="noStrike" kern="1200" cap="none" spc="0" normalizeH="0" baseline="0" noProof="0" dirty="0">
                <a:ln>
                  <a:noFill/>
                </a:ln>
                <a:solidFill>
                  <a:srgbClr val="333333"/>
                </a:solidFill>
                <a:effectLst/>
                <a:uLnTx/>
                <a:uFillTx/>
                <a:latin typeface="Calibri"/>
                <a:ea typeface="+mn-ea"/>
                <a:cs typeface="+mn-cs"/>
              </a:rPr>
              <a:t>:</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600" b="0" i="0" u="none" strike="noStrike" kern="1200" cap="none" spc="0" normalizeH="0" baseline="0" noProof="0" dirty="0">
                <a:ln>
                  <a:noFill/>
                </a:ln>
                <a:solidFill>
                  <a:srgbClr val="666666"/>
                </a:solidFill>
                <a:effectLst/>
                <a:uLnTx/>
                <a:uFillTx/>
                <a:latin typeface="Calibri"/>
                <a:ea typeface="+mn-ea"/>
                <a:cs typeface="+mn-cs"/>
              </a:rPr>
              <a:t>    Infraestructura: 500-2000€/mes por </a:t>
            </a:r>
            <a:r>
              <a:rPr kumimoji="0" lang="es-ES" sz="1600" b="0" i="0" u="none" strike="noStrike" kern="1200" cap="none" spc="0" normalizeH="0" baseline="0" noProof="0" dirty="0" err="1">
                <a:ln>
                  <a:noFill/>
                </a:ln>
                <a:solidFill>
                  <a:srgbClr val="666666"/>
                </a:solidFill>
                <a:effectLst/>
                <a:uLnTx/>
                <a:uFillTx/>
                <a:latin typeface="Calibri"/>
                <a:ea typeface="+mn-ea"/>
                <a:cs typeface="+mn-cs"/>
              </a:rPr>
              <a:t>org</a:t>
            </a:r>
            <a:r>
              <a:rPr kumimoji="0" lang="es-ES" sz="1600" b="0" i="0" u="none" strike="noStrike" kern="1200" cap="none" spc="0" normalizeH="0" baseline="0" noProof="0" dirty="0">
                <a:ln>
                  <a:noFill/>
                </a:ln>
                <a:solidFill>
                  <a:srgbClr val="666666"/>
                </a:solidFill>
                <a:effectLst/>
                <a:uLnTx/>
                <a:uFillTx/>
                <a:latin typeface="Calibri"/>
                <a:ea typeface="+mn-ea"/>
                <a:cs typeface="+mn-cs"/>
              </a:rPr>
              <a:t> (</a:t>
            </a:r>
            <a:r>
              <a:rPr kumimoji="0" lang="es-ES" sz="1600" b="0" i="0" u="none" strike="noStrike" kern="1200" cap="none" spc="0" normalizeH="0" baseline="0" noProof="0" dirty="0" err="1">
                <a:ln>
                  <a:noFill/>
                </a:ln>
                <a:solidFill>
                  <a:srgbClr val="666666"/>
                </a:solidFill>
                <a:effectLst/>
                <a:uLnTx/>
                <a:uFillTx/>
                <a:latin typeface="Calibri"/>
                <a:ea typeface="+mn-ea"/>
                <a:cs typeface="+mn-cs"/>
              </a:rPr>
              <a:t>cloud</a:t>
            </a:r>
            <a:r>
              <a:rPr kumimoji="0" lang="es-ES" sz="1600" b="0" i="0" u="none" strike="noStrike" kern="1200" cap="none" spc="0" normalizeH="0" baseline="0" noProof="0" dirty="0">
                <a:ln>
                  <a:noFill/>
                </a:ln>
                <a:solidFill>
                  <a:srgbClr val="666666"/>
                </a:solidFill>
                <a:effectLst/>
                <a:uLnTx/>
                <a:uFillTx/>
                <a:latin typeface="Calibri"/>
                <a:ea typeface="+mn-ea"/>
                <a:cs typeface="+mn-cs"/>
              </a:rPr>
              <a:t>), menos </a:t>
            </a:r>
            <a:r>
              <a:rPr kumimoji="0" lang="es-ES" sz="1600" b="0" i="0" u="none" strike="noStrike" kern="1200" cap="none" spc="0" normalizeH="0" baseline="0" noProof="0" dirty="0" err="1">
                <a:ln>
                  <a:noFill/>
                </a:ln>
                <a:solidFill>
                  <a:srgbClr val="666666"/>
                </a:solidFill>
                <a:effectLst/>
                <a:uLnTx/>
                <a:uFillTx/>
                <a:latin typeface="Calibri"/>
                <a:ea typeface="+mn-ea"/>
                <a:cs typeface="+mn-cs"/>
              </a:rPr>
              <a:t>on</a:t>
            </a:r>
            <a:r>
              <a:rPr kumimoji="0" lang="es-ES" sz="1600" b="0" i="0" u="none" strike="noStrike" kern="1200" cap="none" spc="0" normalizeH="0" baseline="0" noProof="0" dirty="0">
                <a:ln>
                  <a:noFill/>
                </a:ln>
                <a:solidFill>
                  <a:srgbClr val="666666"/>
                </a:solidFill>
                <a:effectLst/>
                <a:uLnTx/>
                <a:uFillTx/>
                <a:latin typeface="Calibri"/>
                <a:ea typeface="+mn-ea"/>
                <a:cs typeface="+mn-cs"/>
              </a:rPr>
              <a:t>-premise.</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600" b="0" i="0" u="none" strike="noStrike" kern="1200" cap="none" spc="0" normalizeH="0" baseline="0" noProof="0" dirty="0">
                <a:ln>
                  <a:noFill/>
                </a:ln>
                <a:solidFill>
                  <a:srgbClr val="666666"/>
                </a:solidFill>
                <a:effectLst/>
                <a:uLnTx/>
                <a:uFillTx/>
                <a:latin typeface="Calibri"/>
                <a:ea typeface="+mn-ea"/>
                <a:cs typeface="+mn-cs"/>
              </a:rPr>
              <a:t>    Desarrollo: </a:t>
            </a:r>
            <a:r>
              <a:rPr kumimoji="0" lang="es-ES" sz="1600" b="0" i="0" u="none" strike="noStrike" kern="1200" cap="none" spc="0" normalizeH="0" baseline="0" noProof="0" dirty="0" err="1">
                <a:ln>
                  <a:noFill/>
                </a:ln>
                <a:solidFill>
                  <a:srgbClr val="666666"/>
                </a:solidFill>
                <a:effectLst/>
                <a:uLnTx/>
                <a:uFillTx/>
                <a:latin typeface="Calibri"/>
                <a:ea typeface="+mn-ea"/>
                <a:cs typeface="+mn-cs"/>
              </a:rPr>
              <a:t>chaincode</a:t>
            </a:r>
            <a:r>
              <a:rPr kumimoji="0" lang="es-ES" sz="1600" b="0" i="0" u="none" strike="noStrike" kern="1200" cap="none" spc="0" normalizeH="0" baseline="0" noProof="0" dirty="0">
                <a:ln>
                  <a:noFill/>
                </a:ln>
                <a:solidFill>
                  <a:srgbClr val="666666"/>
                </a:solidFill>
                <a:effectLst/>
                <a:uLnTx/>
                <a:uFillTx/>
                <a:latin typeface="Calibri"/>
                <a:ea typeface="+mn-ea"/>
                <a:cs typeface="+mn-cs"/>
              </a:rPr>
              <a:t> 2-6 meses + app cliente 1-3 meses.</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600" b="0" i="0" u="none" strike="noStrike" kern="1200" cap="none" spc="0" normalizeH="0" baseline="0" noProof="0" dirty="0">
                <a:ln>
                  <a:noFill/>
                </a:ln>
                <a:solidFill>
                  <a:srgbClr val="666666"/>
                </a:solidFill>
                <a:effectLst/>
                <a:uLnTx/>
                <a:uFillTx/>
                <a:latin typeface="Calibri"/>
                <a:ea typeface="+mn-ea"/>
                <a:cs typeface="+mn-cs"/>
              </a:rPr>
              <a:t>    </a:t>
            </a:r>
            <a:r>
              <a:rPr kumimoji="0" lang="es-ES" sz="1600" b="0" i="0" u="none" strike="noStrike" kern="1200" cap="none" spc="0" normalizeH="0" baseline="0" noProof="0" dirty="0" err="1">
                <a:ln>
                  <a:noFill/>
                </a:ln>
                <a:solidFill>
                  <a:srgbClr val="666666"/>
                </a:solidFill>
                <a:effectLst/>
                <a:uLnTx/>
                <a:uFillTx/>
                <a:latin typeface="Calibri"/>
                <a:ea typeface="+mn-ea"/>
                <a:cs typeface="+mn-cs"/>
              </a:rPr>
              <a:t>Integracion</a:t>
            </a:r>
            <a:r>
              <a:rPr kumimoji="0" lang="es-ES" sz="1600" b="0" i="0" u="none" strike="noStrike" kern="1200" cap="none" spc="0" normalizeH="0" baseline="0" noProof="0" dirty="0">
                <a:ln>
                  <a:noFill/>
                </a:ln>
                <a:solidFill>
                  <a:srgbClr val="666666"/>
                </a:solidFill>
                <a:effectLst/>
                <a:uLnTx/>
                <a:uFillTx/>
                <a:latin typeface="Calibri"/>
                <a:ea typeface="+mn-ea"/>
                <a:cs typeface="+mn-cs"/>
              </a:rPr>
              <a:t> con </a:t>
            </a:r>
            <a:r>
              <a:rPr kumimoji="0" lang="es-ES" sz="1600" b="0" i="0" u="none" strike="noStrike" kern="1200" cap="none" spc="0" normalizeH="0" baseline="0" noProof="0" dirty="0" err="1">
                <a:ln>
                  <a:noFill/>
                </a:ln>
                <a:solidFill>
                  <a:srgbClr val="666666"/>
                </a:solidFill>
                <a:effectLst/>
                <a:uLnTx/>
                <a:uFillTx/>
                <a:latin typeface="Calibri"/>
                <a:ea typeface="+mn-ea"/>
                <a:cs typeface="+mn-cs"/>
              </a:rPr>
              <a:t>legacy</a:t>
            </a:r>
            <a:r>
              <a:rPr kumimoji="0" lang="es-ES" sz="1600" b="0" i="0" u="none" strike="noStrike" kern="1200" cap="none" spc="0" normalizeH="0" baseline="0" noProof="0" dirty="0">
                <a:ln>
                  <a:noFill/>
                </a:ln>
                <a:solidFill>
                  <a:srgbClr val="666666"/>
                </a:solidFill>
                <a:effectLst/>
                <a:uLnTx/>
                <a:uFillTx/>
                <a:latin typeface="Calibri"/>
                <a:ea typeface="+mn-ea"/>
                <a:cs typeface="+mn-cs"/>
              </a:rPr>
              <a:t>: el coste mas impredecible (depende del sistema).</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600" b="0" i="0" u="none" strike="noStrike" kern="1200" cap="none" spc="0" normalizeH="0" baseline="0" noProof="0" dirty="0">
                <a:ln>
                  <a:noFill/>
                </a:ln>
                <a:solidFill>
                  <a:srgbClr val="666666"/>
                </a:solidFill>
                <a:effectLst/>
                <a:uLnTx/>
                <a:uFillTx/>
                <a:latin typeface="Calibri"/>
                <a:ea typeface="+mn-ea"/>
                <a:cs typeface="+mn-cs"/>
              </a:rPr>
              <a:t>    Operaciones: 0.5-1 persona por </a:t>
            </a:r>
            <a:r>
              <a:rPr kumimoji="0" lang="es-ES" sz="1600" b="0" i="0" u="none" strike="noStrike" kern="1200" cap="none" spc="0" normalizeH="0" baseline="0" noProof="0" dirty="0" err="1">
                <a:ln>
                  <a:noFill/>
                </a:ln>
                <a:solidFill>
                  <a:srgbClr val="666666"/>
                </a:solidFill>
                <a:effectLst/>
                <a:uLnTx/>
                <a:uFillTx/>
                <a:latin typeface="Calibri"/>
                <a:ea typeface="+mn-ea"/>
                <a:cs typeface="+mn-cs"/>
              </a:rPr>
              <a:t>org</a:t>
            </a:r>
            <a:r>
              <a:rPr kumimoji="0" lang="es-ES" sz="1600" b="0" i="0" u="none" strike="noStrike" kern="1200" cap="none" spc="0" normalizeH="0" baseline="0" noProof="0" dirty="0">
                <a:ln>
                  <a:noFill/>
                </a:ln>
                <a:solidFill>
                  <a:srgbClr val="666666"/>
                </a:solidFill>
                <a:effectLst/>
                <a:uLnTx/>
                <a:uFillTx/>
                <a:latin typeface="Calibri"/>
                <a:ea typeface="+mn-ea"/>
                <a:cs typeface="+mn-cs"/>
              </a:rPr>
              <a:t> + 20-30% del </a:t>
            </a:r>
            <a:r>
              <a:rPr kumimoji="0" lang="es-ES" sz="1600" b="0" i="0" u="none" strike="noStrike" kern="1200" cap="none" spc="0" normalizeH="0" baseline="0" noProof="0" dirty="0" err="1">
                <a:ln>
                  <a:noFill/>
                </a:ln>
                <a:solidFill>
                  <a:srgbClr val="666666"/>
                </a:solidFill>
                <a:effectLst/>
                <a:uLnTx/>
                <a:uFillTx/>
                <a:latin typeface="Calibri"/>
                <a:ea typeface="+mn-ea"/>
                <a:cs typeface="+mn-cs"/>
              </a:rPr>
              <a:t>dev</a:t>
            </a:r>
            <a:r>
              <a:rPr kumimoji="0" lang="es-ES" sz="1600" b="0" i="0" u="none" strike="noStrike" kern="1200" cap="none" spc="0" normalizeH="0" baseline="0" noProof="0" dirty="0">
                <a:ln>
                  <a:noFill/>
                </a:ln>
                <a:solidFill>
                  <a:srgbClr val="666666"/>
                </a:solidFill>
                <a:effectLst/>
                <a:uLnTx/>
                <a:uFillTx/>
                <a:latin typeface="Calibri"/>
                <a:ea typeface="+mn-ea"/>
                <a:cs typeface="+mn-cs"/>
              </a:rPr>
              <a:t>/ano mantenimiento.</a:t>
            </a:r>
          </a:p>
          <a:p>
            <a:pPr marL="457200" marR="0" lvl="1" indent="0" algn="l" defTabSz="457200" rtl="0" eaLnBrk="1" fontAlgn="auto" latinLnBrk="0" hangingPunct="1">
              <a:lnSpc>
                <a:spcPct val="100000"/>
              </a:lnSpc>
              <a:spcBef>
                <a:spcPts val="0"/>
              </a:spcBef>
              <a:spcAft>
                <a:spcPts val="400"/>
              </a:spcAft>
              <a:buClrTx/>
              <a:buSzTx/>
              <a:buFontTx/>
              <a:buNone/>
              <a:tabLst/>
              <a:defRPr sz="1700">
                <a:solidFill>
                  <a:srgbClr val="666666"/>
                </a:solidFill>
                <a:latin typeface="Calibri"/>
              </a:defRPr>
            </a:pPr>
            <a:r>
              <a:rPr kumimoji="0" lang="es-ES" sz="1600" b="0" i="0" u="none" strike="noStrike" kern="1200" cap="none" spc="0" normalizeH="0" baseline="0" noProof="0" dirty="0">
                <a:ln>
                  <a:noFill/>
                </a:ln>
                <a:solidFill>
                  <a:srgbClr val="666666"/>
                </a:solidFill>
                <a:effectLst/>
                <a:uLnTx/>
                <a:uFillTx/>
                <a:latin typeface="Calibri"/>
                <a:ea typeface="+mn-ea"/>
                <a:cs typeface="+mn-cs"/>
              </a:rPr>
              <a:t>    Gobernanza: reuniones, </a:t>
            </a:r>
            <a:r>
              <a:rPr kumimoji="0" lang="es-ES" sz="1600" b="0" i="0" u="none" strike="noStrike" kern="1200" cap="none" spc="0" normalizeH="0" baseline="0" noProof="0" dirty="0" err="1">
                <a:ln>
                  <a:noFill/>
                </a:ln>
                <a:solidFill>
                  <a:srgbClr val="666666"/>
                </a:solidFill>
                <a:effectLst/>
                <a:uLnTx/>
                <a:uFillTx/>
                <a:latin typeface="Calibri"/>
                <a:ea typeface="+mn-ea"/>
                <a:cs typeface="+mn-cs"/>
              </a:rPr>
              <a:t>comites</a:t>
            </a:r>
            <a:r>
              <a:rPr kumimoji="0" lang="es-ES" sz="1600" b="0" i="0" u="none" strike="noStrike" kern="1200" cap="none" spc="0" normalizeH="0" baseline="0" noProof="0" dirty="0">
                <a:ln>
                  <a:noFill/>
                </a:ln>
                <a:solidFill>
                  <a:srgbClr val="666666"/>
                </a:solidFill>
                <a:effectLst/>
                <a:uLnTx/>
                <a:uFillTx/>
                <a:latin typeface="Calibri"/>
                <a:ea typeface="+mn-ea"/>
                <a:cs typeface="+mn-cs"/>
              </a:rPr>
              <a:t>, </a:t>
            </a:r>
            <a:r>
              <a:rPr kumimoji="0" lang="es-ES" sz="1600" b="0" i="0" u="none" strike="noStrike" kern="1200" cap="none" spc="0" normalizeH="0" baseline="0" noProof="0" dirty="0" err="1">
                <a:ln>
                  <a:noFill/>
                </a:ln>
                <a:solidFill>
                  <a:srgbClr val="666666"/>
                </a:solidFill>
                <a:effectLst/>
                <a:uLnTx/>
                <a:uFillTx/>
                <a:latin typeface="Calibri"/>
                <a:ea typeface="+mn-ea"/>
                <a:cs typeface="+mn-cs"/>
              </a:rPr>
              <a:t>decision-making</a:t>
            </a:r>
            <a:r>
              <a:rPr kumimoji="0" lang="es-ES" sz="1600" b="0" i="0" u="none" strike="noStrike" kern="1200" cap="none" spc="0" normalizeH="0" baseline="0" noProof="0" dirty="0">
                <a:ln>
                  <a:noFill/>
                </a:ln>
                <a:solidFill>
                  <a:srgbClr val="666666"/>
                </a:solidFill>
                <a:effectLst/>
                <a:uLnTx/>
                <a:uFillTx/>
                <a:latin typeface="Calibri"/>
                <a:ea typeface="+mn-ea"/>
                <a:cs typeface="+mn-cs"/>
              </a:rPr>
              <a:t> (tiempo directivos).</a:t>
            </a:r>
          </a:p>
        </p:txBody>
      </p:sp>
    </p:spTree>
    <p:extLst>
      <p:ext uri="{BB962C8B-B14F-4D97-AF65-F5344CB8AC3E}">
        <p14:creationId xmlns:p14="http://schemas.microsoft.com/office/powerpoint/2010/main" val="13319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8376</Words>
  <Application>Microsoft Office PowerPoint</Application>
  <PresentationFormat>Personalizado</PresentationFormat>
  <Paragraphs>815</Paragraphs>
  <Slides>78</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78</vt:i4>
      </vt:variant>
    </vt:vector>
  </HeadingPairs>
  <TitlesOfParts>
    <vt:vector size="81"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Javier Nieto</dc:creator>
  <cp:keywords/>
  <dc:description>generated using python-pptx</dc:description>
  <cp:lastModifiedBy>Javier Nieto</cp:lastModifiedBy>
  <cp:revision>8</cp:revision>
  <dcterms:created xsi:type="dcterms:W3CDTF">2013-01-27T09:14:16Z</dcterms:created>
  <dcterms:modified xsi:type="dcterms:W3CDTF">2026-04-23T12:50:40Z</dcterms:modified>
  <cp:category/>
</cp:coreProperties>
</file>