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</p:sldIdLst>
  <p:sldSz cx="12188952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137160"/>
          </a:xfrm>
          <a:prstGeom prst="rect">
            <a:avLst/>
          </a:prstGeom>
          <a:solidFill>
            <a:srgbClr val="22627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6720840"/>
            <a:ext cx="12188952" cy="137160"/>
          </a:xfrm>
          <a:prstGeom prst="rect">
            <a:avLst/>
          </a:prstGeom>
          <a:solidFill>
            <a:srgbClr val="22627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365760"/>
            <a:ext cx="10972800" cy="45720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defRPr sz="1600" b="1">
                <a:solidFill>
                  <a:srgbClr val="22627E"/>
                </a:solidFill>
                <a:latin typeface="Calibri"/>
              </a:defRPr>
            </a:pPr>
            <a:r>
              <a:t>Modulo 3: Vision Empresarial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828800"/>
            <a:ext cx="10972800" cy="228600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defRPr sz="5400" b="1">
                <a:solidFill>
                  <a:srgbClr val="22627E"/>
                </a:solidFill>
                <a:latin typeface="Calibri"/>
              </a:defRPr>
            </a:pPr>
            <a:r>
              <a:t>Identificar Oportunidades</a:t>
            </a:r>
            <a:br/>
            <a:r>
              <a:t>de Negocio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4114800"/>
            <a:ext cx="10972800" cy="137160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defRPr sz="2400" b="0">
                <a:solidFill>
                  <a:srgbClr val="333333"/>
                </a:solidFill>
                <a:latin typeface="Calibri"/>
              </a:defRPr>
            </a:pPr>
            <a:r>
              <a:t>Dia 2 - Cuando tiene sentido blockchain y como venderlo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73152"/>
          </a:xfrm>
          <a:prstGeom prst="rect">
            <a:avLst/>
          </a:prstGeom>
          <a:solidFill>
            <a:srgbClr val="22627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274320"/>
            <a:ext cx="10972800" cy="73152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defRPr sz="3200" b="1">
                <a:solidFill>
                  <a:srgbClr val="22627E"/>
                </a:solidFill>
                <a:latin typeface="Calibri"/>
              </a:defRPr>
            </a:pPr>
            <a:r>
              <a:t>¿Cuando tiene sentido blockchain enterprise?</a:t>
            </a:r>
          </a:p>
        </p:txBody>
      </p:sp>
      <p:sp>
        <p:nvSpPr>
          <p:cNvPr id="4" name="Rectangle 3"/>
          <p:cNvSpPr/>
          <p:nvPr/>
        </p:nvSpPr>
        <p:spPr>
          <a:xfrm>
            <a:off x="457200" y="1051560"/>
            <a:ext cx="10972800" cy="27432"/>
          </a:xfrm>
          <a:prstGeom prst="rect">
            <a:avLst/>
          </a:prstGeom>
          <a:solidFill>
            <a:srgbClr val="22627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280160"/>
            <a:ext cx="1051560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2000">
                <a:solidFill>
                  <a:srgbClr val="333333"/>
                </a:solidFill>
                <a:latin typeface="Calibri"/>
              </a:defRPr>
            </a:pPr>
            <a:r>
              <a:t>Multiples organizaciones que necesitan compartir datos</a:t>
            </a:r>
          </a:p>
          <a:p>
            <a:pPr>
              <a:spcAft>
                <a:spcPts val="800"/>
              </a:spcAft>
              <a:defRPr sz="2000">
                <a:solidFill>
                  <a:srgbClr val="333333"/>
                </a:solidFill>
                <a:latin typeface="Calibri"/>
              </a:defRPr>
            </a:pPr>
            <a:r>
              <a:t>Desconfianza mutua: ninguna quiere que otra controle la base de datos</a:t>
            </a:r>
          </a:p>
          <a:p>
            <a:pPr>
              <a:spcAft>
                <a:spcPts val="800"/>
              </a:spcAft>
              <a:defRPr sz="2000">
                <a:solidFill>
                  <a:srgbClr val="333333"/>
                </a:solidFill>
                <a:latin typeface="Calibri"/>
              </a:defRPr>
            </a:pPr>
            <a:r>
              <a:t>Necesidad de trazabilidad inmutable (regulacion, auditoria, compliance)</a:t>
            </a:r>
          </a:p>
          <a:p>
            <a:pPr>
              <a:spcAft>
                <a:spcPts val="800"/>
              </a:spcAft>
              <a:defRPr sz="2000">
                <a:solidFill>
                  <a:srgbClr val="333333"/>
                </a:solidFill>
                <a:latin typeface="Calibri"/>
              </a:defRPr>
            </a:pPr>
            <a:r>
              <a:t>Reglas de negocio que deben ser verificables por todos los participantes</a:t>
            </a:r>
          </a:p>
          <a:p>
            <a:pPr>
              <a:spcAft>
                <a:spcPts val="800"/>
              </a:spcAft>
              <a:defRPr sz="2000">
                <a:solidFill>
                  <a:srgbClr val="333333"/>
                </a:solidFill>
                <a:latin typeface="Calibri"/>
              </a:defRPr>
            </a:pPr>
            <a:r>
              <a:t>Transacciones entre partes que hoy requieren intermediarios costosos</a:t>
            </a:r>
          </a:p>
          <a:p>
            <a:pPr>
              <a:spcAft>
                <a:spcPts val="800"/>
              </a:spcAft>
              <a:defRPr sz="2000">
                <a:solidFill>
                  <a:srgbClr val="333333"/>
                </a:solidFill>
                <a:latin typeface="Calibri"/>
              </a:defRPr>
            </a:pPr>
          </a:p>
          <a:p>
            <a:pPr>
              <a:spcAft>
                <a:spcPts val="800"/>
              </a:spcAft>
              <a:defRPr sz="2000">
                <a:solidFill>
                  <a:srgbClr val="333333"/>
                </a:solidFill>
                <a:latin typeface="Calibri"/>
              </a:defRPr>
            </a:pPr>
            <a:r>
              <a:t>Si se cumplen TODAS estas condiciones, blockchain aporta valor.</a:t>
            </a:r>
          </a:p>
          <a:p>
            <a:pPr>
              <a:spcAft>
                <a:spcPts val="800"/>
              </a:spcAft>
              <a:defRPr sz="2000">
                <a:solidFill>
                  <a:srgbClr val="333333"/>
                </a:solidFill>
                <a:latin typeface="Calibri"/>
              </a:defRPr>
            </a:pPr>
            <a:r>
              <a:t>Si falta alguna, probablemente hay una solucion mas sencilla.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73152"/>
          </a:xfrm>
          <a:prstGeom prst="rect">
            <a:avLst/>
          </a:prstGeom>
          <a:solidFill>
            <a:srgbClr val="22627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274320"/>
            <a:ext cx="10972800" cy="73152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defRPr sz="3200" b="1">
                <a:solidFill>
                  <a:srgbClr val="22627E"/>
                </a:solidFill>
                <a:latin typeface="Calibri"/>
              </a:defRPr>
            </a:pPr>
            <a:r>
              <a:t>¿Cuando NO tiene sentido?</a:t>
            </a:r>
          </a:p>
        </p:txBody>
      </p:sp>
      <p:sp>
        <p:nvSpPr>
          <p:cNvPr id="4" name="Rectangle 3"/>
          <p:cNvSpPr/>
          <p:nvPr/>
        </p:nvSpPr>
        <p:spPr>
          <a:xfrm>
            <a:off x="457200" y="1051560"/>
            <a:ext cx="10972800" cy="27432"/>
          </a:xfrm>
          <a:prstGeom prst="rect">
            <a:avLst/>
          </a:prstGeom>
          <a:solidFill>
            <a:srgbClr val="22627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280160"/>
            <a:ext cx="1051560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2000">
                <a:solidFill>
                  <a:srgbClr val="333333"/>
                </a:solidFill>
                <a:latin typeface="Calibri"/>
              </a:defRPr>
            </a:pPr>
            <a:r>
              <a:t>Un solo actor gestiona todos los datos (usa una base de datos)</a:t>
            </a:r>
          </a:p>
          <a:p>
            <a:pPr>
              <a:spcAft>
                <a:spcPts val="800"/>
              </a:spcAft>
              <a:defRPr sz="2000">
                <a:solidFill>
                  <a:srgbClr val="333333"/>
                </a:solidFill>
                <a:latin typeface="Calibri"/>
              </a:defRPr>
            </a:pPr>
            <a:r>
              <a:t>Los datos no se comparten entre organizaciones (usa APIs)</a:t>
            </a:r>
          </a:p>
          <a:p>
            <a:pPr>
              <a:spcAft>
                <a:spcPts val="800"/>
              </a:spcAft>
              <a:defRPr sz="2000">
                <a:solidFill>
                  <a:srgbClr val="333333"/>
                </a:solidFill>
                <a:latin typeface="Calibri"/>
              </a:defRPr>
            </a:pPr>
            <a:r>
              <a:t>El rendimiento es critico y necesitas miles de TPS con baja latencia</a:t>
            </a:r>
          </a:p>
          <a:p>
            <a:pPr>
              <a:spcAft>
                <a:spcPts val="800"/>
              </a:spcAft>
              <a:defRPr sz="2000">
                <a:solidFill>
                  <a:srgbClr val="333333"/>
                </a:solidFill>
                <a:latin typeface="Calibri"/>
              </a:defRPr>
            </a:pPr>
            <a:r>
              <a:t>Los datos necesitan ser editables o borrables (GDPR, derecho al olvido)</a:t>
            </a:r>
          </a:p>
          <a:p>
            <a:pPr>
              <a:spcAft>
                <a:spcPts val="800"/>
              </a:spcAft>
              <a:defRPr sz="2000">
                <a:solidFill>
                  <a:srgbClr val="333333"/>
                </a:solidFill>
                <a:latin typeface="Calibri"/>
              </a:defRPr>
            </a:pPr>
            <a:r>
              <a:t>No hay problema de confianza entre las partes (usa un SaaS compartido)</a:t>
            </a:r>
          </a:p>
          <a:p>
            <a:pPr>
              <a:spcAft>
                <a:spcPts val="800"/>
              </a:spcAft>
              <a:defRPr sz="2000">
                <a:solidFill>
                  <a:srgbClr val="333333"/>
                </a:solidFill>
                <a:latin typeface="Calibri"/>
              </a:defRPr>
            </a:pPr>
            <a:r>
              <a:t>El coste de montar y mantener la red no compensa el beneficio</a:t>
            </a:r>
          </a:p>
          <a:p>
            <a:pPr>
              <a:spcAft>
                <a:spcPts val="800"/>
              </a:spcAft>
              <a:defRPr sz="2000">
                <a:solidFill>
                  <a:srgbClr val="333333"/>
                </a:solidFill>
                <a:latin typeface="Calibri"/>
              </a:defRPr>
            </a:pPr>
          </a:p>
          <a:p>
            <a:pPr>
              <a:spcAft>
                <a:spcPts val="800"/>
              </a:spcAft>
              <a:defRPr sz="2000">
                <a:solidFill>
                  <a:srgbClr val="333333"/>
                </a:solidFill>
                <a:latin typeface="Calibri"/>
              </a:defRPr>
            </a:pPr>
            <a:r>
              <a:t>Blockchain NO es la solucion a todo. Saber cuando NO usarlo</a:t>
            </a:r>
          </a:p>
          <a:p>
            <a:pPr>
              <a:spcAft>
                <a:spcPts val="800"/>
              </a:spcAft>
              <a:defRPr sz="2000">
                <a:solidFill>
                  <a:srgbClr val="333333"/>
                </a:solidFill>
                <a:latin typeface="Calibri"/>
              </a:defRPr>
            </a:pPr>
            <a:r>
              <a:t>es tan importante como saber cuando si.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73152"/>
          </a:xfrm>
          <a:prstGeom prst="rect">
            <a:avLst/>
          </a:prstGeom>
          <a:solidFill>
            <a:srgbClr val="22627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274320"/>
            <a:ext cx="10972800" cy="73152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defRPr sz="3200" b="1">
                <a:solidFill>
                  <a:srgbClr val="22627E"/>
                </a:solidFill>
                <a:latin typeface="Calibri"/>
              </a:defRPr>
            </a:pPr>
            <a:r>
              <a:t>Oportunidades por sector</a:t>
            </a:r>
          </a:p>
        </p:txBody>
      </p:sp>
      <p:sp>
        <p:nvSpPr>
          <p:cNvPr id="4" name="Rectangle 3"/>
          <p:cNvSpPr/>
          <p:nvPr/>
        </p:nvSpPr>
        <p:spPr>
          <a:xfrm>
            <a:off x="457200" y="1051560"/>
            <a:ext cx="10972800" cy="27432"/>
          </a:xfrm>
          <a:prstGeom prst="rect">
            <a:avLst/>
          </a:prstGeom>
          <a:solidFill>
            <a:srgbClr val="22627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280160"/>
            <a:ext cx="1051560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2000">
                <a:solidFill>
                  <a:srgbClr val="333333"/>
                </a:solidFill>
                <a:latin typeface="Calibri"/>
              </a:defRPr>
            </a:pPr>
            <a:r>
              <a:t>Finanzas: liquidacion, trade finance, tokenizacion de activos, KYC compartido</a:t>
            </a:r>
          </a:p>
          <a:p>
            <a:pPr>
              <a:spcAft>
                <a:spcPts val="800"/>
              </a:spcAft>
              <a:defRPr sz="2000">
                <a:solidFill>
                  <a:srgbClr val="333333"/>
                </a:solidFill>
                <a:latin typeface="Calibri"/>
              </a:defRPr>
            </a:pPr>
            <a:r>
              <a:t>Supply chain: trazabilidad, certificacion de origen, cold chain</a:t>
            </a:r>
          </a:p>
          <a:p>
            <a:pPr>
              <a:spcAft>
                <a:spcPts val="800"/>
              </a:spcAft>
              <a:defRPr sz="2000">
                <a:solidFill>
                  <a:srgbClr val="333333"/>
                </a:solidFill>
                <a:latin typeface="Calibri"/>
              </a:defRPr>
            </a:pPr>
            <a:r>
              <a:t>Salud: historiales compartidos, trazabilidad de farmacos, ensayos clinicos</a:t>
            </a:r>
          </a:p>
          <a:p>
            <a:pPr>
              <a:spcAft>
                <a:spcPts val="800"/>
              </a:spcAft>
              <a:defRPr sz="2000">
                <a:solidFill>
                  <a:srgbClr val="333333"/>
                </a:solidFill>
                <a:latin typeface="Calibri"/>
              </a:defRPr>
            </a:pPr>
            <a:r>
              <a:t>Administracion publica: registro de propiedad, licitaciones, subvenciones</a:t>
            </a:r>
          </a:p>
          <a:p>
            <a:pPr>
              <a:spcAft>
                <a:spcPts val="800"/>
              </a:spcAft>
              <a:defRPr sz="2000">
                <a:solidFill>
                  <a:srgbClr val="333333"/>
                </a:solidFill>
                <a:latin typeface="Calibri"/>
              </a:defRPr>
            </a:pPr>
            <a:r>
              <a:t>Energia: certificados de origen renovable, mercados P2P de energia</a:t>
            </a:r>
          </a:p>
          <a:p>
            <a:pPr>
              <a:spcAft>
                <a:spcPts val="800"/>
              </a:spcAft>
              <a:defRPr sz="2000">
                <a:solidFill>
                  <a:srgbClr val="333333"/>
                </a:solidFill>
                <a:latin typeface="Calibri"/>
              </a:defRPr>
            </a:pPr>
            <a:r>
              <a:t>Seguros: reaseguros automatizados, gestion de siniestros multi-aseguradora</a:t>
            </a:r>
          </a:p>
          <a:p>
            <a:pPr>
              <a:spcAft>
                <a:spcPts val="800"/>
              </a:spcAft>
              <a:defRPr sz="2000">
                <a:solidFill>
                  <a:srgbClr val="333333"/>
                </a:solidFill>
                <a:latin typeface="Calibri"/>
              </a:defRPr>
            </a:pPr>
            <a:r>
              <a:t>Educacion: titulos verificables, credenciales profesionales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73152"/>
          </a:xfrm>
          <a:prstGeom prst="rect">
            <a:avLst/>
          </a:prstGeom>
          <a:solidFill>
            <a:srgbClr val="22627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274320"/>
            <a:ext cx="10972800" cy="73152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defRPr sz="3200" b="1">
                <a:solidFill>
                  <a:srgbClr val="22627E"/>
                </a:solidFill>
                <a:latin typeface="Calibri"/>
              </a:defRPr>
            </a:pPr>
            <a:r>
              <a:t>Como presentar un proyecto blockchain al comite de direccion</a:t>
            </a:r>
          </a:p>
        </p:txBody>
      </p:sp>
      <p:sp>
        <p:nvSpPr>
          <p:cNvPr id="4" name="Rectangle 3"/>
          <p:cNvSpPr/>
          <p:nvPr/>
        </p:nvSpPr>
        <p:spPr>
          <a:xfrm>
            <a:off x="457200" y="1051560"/>
            <a:ext cx="10972800" cy="27432"/>
          </a:xfrm>
          <a:prstGeom prst="rect">
            <a:avLst/>
          </a:prstGeom>
          <a:solidFill>
            <a:srgbClr val="22627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280160"/>
            <a:ext cx="1051560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2000">
                <a:solidFill>
                  <a:srgbClr val="333333"/>
                </a:solidFill>
                <a:latin typeface="Calibri"/>
              </a:defRPr>
            </a:pPr>
            <a:r>
              <a:t>NO empieces por la tecnologia. Empieza por el problema de negocio:</a:t>
            </a:r>
          </a:p>
          <a:p>
            <a:pPr>
              <a:spcAft>
                <a:spcPts val="800"/>
              </a:spcAft>
              <a:defRPr sz="2000">
                <a:solidFill>
                  <a:srgbClr val="333333"/>
                </a:solidFill>
                <a:latin typeface="Calibri"/>
              </a:defRPr>
            </a:pPr>
          </a:p>
          <a:p>
            <a:pPr>
              <a:spcAft>
                <a:spcPts val="800"/>
              </a:spcAft>
              <a:defRPr sz="2000">
                <a:solidFill>
                  <a:srgbClr val="333333"/>
                </a:solidFill>
                <a:latin typeface="Calibri"/>
              </a:defRPr>
            </a:pPr>
            <a:r>
              <a:t>1. ¿Cual es el problema? (coste, tiempo, fraude, desconfianza)</a:t>
            </a:r>
          </a:p>
          <a:p>
            <a:pPr>
              <a:spcAft>
                <a:spcPts val="800"/>
              </a:spcAft>
              <a:defRPr sz="2000">
                <a:solidFill>
                  <a:srgbClr val="333333"/>
                </a:solidFill>
                <a:latin typeface="Calibri"/>
              </a:defRPr>
            </a:pPr>
            <a:r>
              <a:t>2. ¿Cuanto nos cuesta hoy? (euros, dias, riesgo)</a:t>
            </a:r>
          </a:p>
          <a:p>
            <a:pPr>
              <a:spcAft>
                <a:spcPts val="800"/>
              </a:spcAft>
              <a:defRPr sz="2000">
                <a:solidFill>
                  <a:srgbClr val="333333"/>
                </a:solidFill>
                <a:latin typeface="Calibri"/>
              </a:defRPr>
            </a:pPr>
            <a:r>
              <a:t>3. ¿Por que las soluciones actuales no funcionan? (intermediarios, silos)</a:t>
            </a:r>
          </a:p>
          <a:p>
            <a:pPr>
              <a:spcAft>
                <a:spcPts val="800"/>
              </a:spcAft>
              <a:defRPr sz="2000">
                <a:solidFill>
                  <a:srgbClr val="333333"/>
                </a:solidFill>
                <a:latin typeface="Calibri"/>
              </a:defRPr>
            </a:pPr>
            <a:r>
              <a:t>4. ¿Que propones? (consorcio + ledger compartido — sin decir 'blockchain' aun)</a:t>
            </a:r>
          </a:p>
          <a:p>
            <a:pPr>
              <a:spcAft>
                <a:spcPts val="800"/>
              </a:spcAft>
              <a:defRPr sz="2000">
                <a:solidFill>
                  <a:srgbClr val="333333"/>
                </a:solidFill>
                <a:latin typeface="Calibri"/>
              </a:defRPr>
            </a:pPr>
            <a:r>
              <a:t>5. ¿Con quien lo hariamos? (socios del consorcio)</a:t>
            </a:r>
          </a:p>
          <a:p>
            <a:pPr>
              <a:spcAft>
                <a:spcPts val="800"/>
              </a:spcAft>
              <a:defRPr sz="2000">
                <a:solidFill>
                  <a:srgbClr val="333333"/>
                </a:solidFill>
                <a:latin typeface="Calibri"/>
              </a:defRPr>
            </a:pPr>
            <a:r>
              <a:t>6. ¿Cuanto cuesta y cuanto ahorra? (ROI, payback)</a:t>
            </a:r>
          </a:p>
          <a:p>
            <a:pPr>
              <a:spcAft>
                <a:spcPts val="800"/>
              </a:spcAft>
              <a:defRPr sz="2000">
                <a:solidFill>
                  <a:srgbClr val="333333"/>
                </a:solidFill>
                <a:latin typeface="Calibri"/>
              </a:defRPr>
            </a:pPr>
            <a:r>
              <a:t>7. ¿Que riesgos tiene? (y como los mitigamos)</a:t>
            </a:r>
          </a:p>
          <a:p>
            <a:pPr>
              <a:spcAft>
                <a:spcPts val="800"/>
              </a:spcAft>
              <a:defRPr sz="2000">
                <a:solidFill>
                  <a:srgbClr val="333333"/>
                </a:solidFill>
                <a:latin typeface="Calibri"/>
              </a:defRPr>
            </a:pPr>
          </a:p>
          <a:p>
            <a:pPr>
              <a:spcAft>
                <a:spcPts val="800"/>
              </a:spcAft>
              <a:defRPr sz="2000">
                <a:solidFill>
                  <a:srgbClr val="333333"/>
                </a:solidFill>
                <a:latin typeface="Calibri"/>
              </a:defRPr>
            </a:pPr>
            <a:r>
              <a:t>Consejo: la palabra 'blockchain' genera ruido. Usa 'registro distribuido compartido'.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73152"/>
          </a:xfrm>
          <a:prstGeom prst="rect">
            <a:avLst/>
          </a:prstGeom>
          <a:solidFill>
            <a:srgbClr val="22627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274320"/>
            <a:ext cx="10972800" cy="73152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defRPr sz="3200" b="1">
                <a:solidFill>
                  <a:srgbClr val="22627E"/>
                </a:solidFill>
                <a:latin typeface="Calibri"/>
              </a:defRPr>
            </a:pPr>
            <a:r>
              <a:t>ROI y metricas: ¿como mides el exito?</a:t>
            </a:r>
          </a:p>
        </p:txBody>
      </p:sp>
      <p:sp>
        <p:nvSpPr>
          <p:cNvPr id="4" name="Rectangle 3"/>
          <p:cNvSpPr/>
          <p:nvPr/>
        </p:nvSpPr>
        <p:spPr>
          <a:xfrm>
            <a:off x="457200" y="1051560"/>
            <a:ext cx="10972800" cy="27432"/>
          </a:xfrm>
          <a:prstGeom prst="rect">
            <a:avLst/>
          </a:prstGeom>
          <a:solidFill>
            <a:srgbClr val="22627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280160"/>
            <a:ext cx="1051560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2000">
                <a:solidFill>
                  <a:srgbClr val="333333"/>
                </a:solidFill>
                <a:latin typeface="Calibri"/>
              </a:defRPr>
            </a:pPr>
            <a:r>
              <a:t>Metricas de eficiencia:</a:t>
            </a:r>
          </a:p>
          <a:p>
            <a:pPr lvl="1">
              <a:spcAft>
                <a:spcPts val="400"/>
              </a:spcAft>
              <a:defRPr sz="1700">
                <a:solidFill>
                  <a:srgbClr val="666666"/>
                </a:solidFill>
                <a:latin typeface="Calibri"/>
              </a:defRPr>
            </a:pPr>
            <a:r>
              <a:t>    Tiempo de proceso: ¿cuanto se redujo? (ej: KYC de 2 semanas a 2 minutos)</a:t>
            </a:r>
          </a:p>
          <a:p>
            <a:pPr lvl="1">
              <a:spcAft>
                <a:spcPts val="400"/>
              </a:spcAft>
              <a:defRPr sz="1700">
                <a:solidFill>
                  <a:srgbClr val="666666"/>
                </a:solidFill>
                <a:latin typeface="Calibri"/>
              </a:defRPr>
            </a:pPr>
            <a:r>
              <a:t>    Errores: ¿cuantos errores manuales se eliminaron?</a:t>
            </a:r>
          </a:p>
          <a:p>
            <a:pPr lvl="1">
              <a:spcAft>
                <a:spcPts val="400"/>
              </a:spcAft>
              <a:defRPr sz="1700">
                <a:solidFill>
                  <a:srgbClr val="666666"/>
                </a:solidFill>
                <a:latin typeface="Calibri"/>
              </a:defRPr>
            </a:pPr>
            <a:r>
              <a:t>    Intermediarios: ¿cuantos pasos/actores se eliminaron?</a:t>
            </a:r>
          </a:p>
          <a:p>
            <a:pPr>
              <a:spcAft>
                <a:spcPts val="800"/>
              </a:spcAft>
              <a:defRPr sz="2000">
                <a:solidFill>
                  <a:srgbClr val="333333"/>
                </a:solidFill>
                <a:latin typeface="Calibri"/>
              </a:defRPr>
            </a:pPr>
            <a:r>
              <a:t>Metricas de confianza:</a:t>
            </a:r>
          </a:p>
          <a:p>
            <a:pPr lvl="1">
              <a:spcAft>
                <a:spcPts val="400"/>
              </a:spcAft>
              <a:defRPr sz="1700">
                <a:solidFill>
                  <a:srgbClr val="666666"/>
                </a:solidFill>
                <a:latin typeface="Calibri"/>
              </a:defRPr>
            </a:pPr>
            <a:r>
              <a:t>    Disputas: ¿cuantas disputas comerciales se evitaron?</a:t>
            </a:r>
          </a:p>
          <a:p>
            <a:pPr lvl="1">
              <a:spcAft>
                <a:spcPts val="400"/>
              </a:spcAft>
              <a:defRPr sz="1700">
                <a:solidFill>
                  <a:srgbClr val="666666"/>
                </a:solidFill>
                <a:latin typeface="Calibri"/>
              </a:defRPr>
            </a:pPr>
            <a:r>
              <a:t>    Auditoria: ¿cuanto tarda una auditoria ahora vs antes?</a:t>
            </a:r>
          </a:p>
          <a:p>
            <a:pPr lvl="1">
              <a:spcAft>
                <a:spcPts val="400"/>
              </a:spcAft>
              <a:defRPr sz="1700">
                <a:solidFill>
                  <a:srgbClr val="666666"/>
                </a:solidFill>
                <a:latin typeface="Calibri"/>
              </a:defRPr>
            </a:pPr>
            <a:r>
              <a:t>    Fraude: ¿cuantos casos de fraude se detectaron/evitaron?</a:t>
            </a:r>
          </a:p>
          <a:p>
            <a:pPr>
              <a:spcAft>
                <a:spcPts val="800"/>
              </a:spcAft>
              <a:defRPr sz="2000">
                <a:solidFill>
                  <a:srgbClr val="333333"/>
                </a:solidFill>
                <a:latin typeface="Calibri"/>
              </a:defRPr>
            </a:pPr>
            <a:r>
              <a:t>Metricas de coste:</a:t>
            </a:r>
          </a:p>
          <a:p>
            <a:pPr lvl="1">
              <a:spcAft>
                <a:spcPts val="400"/>
              </a:spcAft>
              <a:defRPr sz="1700">
                <a:solidFill>
                  <a:srgbClr val="666666"/>
                </a:solidFill>
                <a:latin typeface="Calibri"/>
              </a:defRPr>
            </a:pPr>
            <a:r>
              <a:t>    Coste de infraestructura: ¿cuanto cuesta mantener la red?</a:t>
            </a:r>
          </a:p>
          <a:p>
            <a:pPr lvl="1">
              <a:spcAft>
                <a:spcPts val="400"/>
              </a:spcAft>
              <a:defRPr sz="1700">
                <a:solidFill>
                  <a:srgbClr val="666666"/>
                </a:solidFill>
                <a:latin typeface="Calibri"/>
              </a:defRPr>
            </a:pPr>
            <a:r>
              <a:t>    Coste de intermediarios eliminados: ¿cuanto ahorramos?</a:t>
            </a:r>
          </a:p>
          <a:p>
            <a:pPr lvl="1">
              <a:spcAft>
                <a:spcPts val="400"/>
              </a:spcAft>
              <a:defRPr sz="1700">
                <a:solidFill>
                  <a:srgbClr val="666666"/>
                </a:solidFill>
                <a:latin typeface="Calibri"/>
              </a:defRPr>
            </a:pPr>
            <a:r>
              <a:t>    Payback: ¿en cuanto tiempo se recupera la inversion?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73152"/>
          </a:xfrm>
          <a:prstGeom prst="rect">
            <a:avLst/>
          </a:prstGeom>
          <a:solidFill>
            <a:srgbClr val="0D944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457200" y="274320"/>
            <a:ext cx="2286000" cy="457200"/>
          </a:xfrm>
          <a:prstGeom prst="rect">
            <a:avLst/>
          </a:prstGeom>
          <a:solidFill>
            <a:srgbClr val="0D944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274320"/>
            <a:ext cx="2286000" cy="457200"/>
          </a:xfrm>
          <a:prstGeom prst="rect">
            <a:avLst/>
          </a:prstGeom>
          <a:noFill/>
        </p:spPr>
        <p:txBody>
          <a:bodyPr wrap="square"/>
          <a:lstStyle/>
          <a:p>
            <a:pPr algn="ctr">
              <a:defRPr sz="1800" b="1">
                <a:solidFill>
                  <a:srgbClr val="FFFFFF"/>
                </a:solidFill>
                <a:latin typeface="Calibri"/>
              </a:defRPr>
            </a:pPr>
            <a:r>
              <a:t>ACTIVIDAD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017520" y="274320"/>
            <a:ext cx="8686800" cy="73152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defRPr sz="3000" b="1">
                <a:solidFill>
                  <a:srgbClr val="333333"/>
                </a:solidFill>
                <a:latin typeface="Calibri"/>
              </a:defRPr>
            </a:pPr>
            <a:r>
              <a:t>Elevator pitch: tu proyecto blockchain</a:t>
            </a:r>
          </a:p>
        </p:txBody>
      </p:sp>
      <p:sp>
        <p:nvSpPr>
          <p:cNvPr id="6" name="Rectangle 5"/>
          <p:cNvSpPr/>
          <p:nvPr/>
        </p:nvSpPr>
        <p:spPr>
          <a:xfrm>
            <a:off x="457200" y="1051560"/>
            <a:ext cx="10972800" cy="27432"/>
          </a:xfrm>
          <a:prstGeom prst="rect">
            <a:avLst/>
          </a:prstGeom>
          <a:solidFill>
            <a:srgbClr val="0D944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40080" y="1371600"/>
            <a:ext cx="1051560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  <a:defRPr sz="2000">
                <a:solidFill>
                  <a:srgbClr val="333333"/>
                </a:solidFill>
                <a:latin typeface="Calibri"/>
              </a:defRPr>
            </a:pPr>
            <a:r>
              <a:t>Cada alumno (o pareja) prepara un elevator pitch de 2 minutos:</a:t>
            </a:r>
          </a:p>
          <a:p>
            <a:pPr>
              <a:spcAft>
                <a:spcPts val="1000"/>
              </a:spcAft>
              <a:defRPr sz="2000">
                <a:solidFill>
                  <a:srgbClr val="333333"/>
                </a:solidFill>
                <a:latin typeface="Calibri"/>
              </a:defRPr>
            </a:pPr>
          </a:p>
          <a:p>
            <a:pPr>
              <a:spcAft>
                <a:spcPts val="1000"/>
              </a:spcAft>
              <a:defRPr sz="2000">
                <a:solidFill>
                  <a:srgbClr val="333333"/>
                </a:solidFill>
                <a:latin typeface="Calibri"/>
              </a:defRPr>
            </a:pPr>
            <a:r>
              <a:t>1. Elegir un problema real de su empresa o sector</a:t>
            </a:r>
          </a:p>
          <a:p>
            <a:pPr>
              <a:spcAft>
                <a:spcPts val="1000"/>
              </a:spcAft>
              <a:defRPr sz="2000">
                <a:solidFill>
                  <a:srgbClr val="333333"/>
                </a:solidFill>
                <a:latin typeface="Calibri"/>
              </a:defRPr>
            </a:pPr>
            <a:r>
              <a:t>2. Verificar con el arbol de decision que blockchain tiene sentido</a:t>
            </a:r>
          </a:p>
          <a:p>
            <a:pPr>
              <a:spcAft>
                <a:spcPts val="1000"/>
              </a:spcAft>
              <a:defRPr sz="2000">
                <a:solidFill>
                  <a:srgbClr val="333333"/>
                </a:solidFill>
                <a:latin typeface="Calibri"/>
              </a:defRPr>
            </a:pPr>
            <a:r>
              <a:t>3. Preparar el pitch con esta estructura:</a:t>
            </a:r>
          </a:p>
          <a:p>
            <a:pPr>
              <a:spcAft>
                <a:spcPts val="1000"/>
              </a:spcAft>
              <a:defRPr sz="2000">
                <a:solidFill>
                  <a:srgbClr val="333333"/>
                </a:solidFill>
                <a:latin typeface="Calibri"/>
              </a:defRPr>
            </a:pPr>
            <a:r>
              <a:t>   - El problema (30 seg)</a:t>
            </a:r>
          </a:p>
          <a:p>
            <a:pPr>
              <a:spcAft>
                <a:spcPts val="1000"/>
              </a:spcAft>
              <a:defRPr sz="2000">
                <a:solidFill>
                  <a:srgbClr val="333333"/>
                </a:solidFill>
                <a:latin typeface="Calibri"/>
              </a:defRPr>
            </a:pPr>
            <a:r>
              <a:t>   - Por que las soluciones actuales no sirven (30 seg)</a:t>
            </a:r>
          </a:p>
          <a:p>
            <a:pPr>
              <a:spcAft>
                <a:spcPts val="1000"/>
              </a:spcAft>
              <a:defRPr sz="2000">
                <a:solidFill>
                  <a:srgbClr val="333333"/>
                </a:solidFill>
                <a:latin typeface="Calibri"/>
              </a:defRPr>
            </a:pPr>
            <a:r>
              <a:t>   - La propuesta con blockchain (30 seg)</a:t>
            </a:r>
          </a:p>
          <a:p>
            <a:pPr>
              <a:spcAft>
                <a:spcPts val="1000"/>
              </a:spcAft>
              <a:defRPr sz="2000">
                <a:solidFill>
                  <a:srgbClr val="333333"/>
                </a:solidFill>
                <a:latin typeface="Calibri"/>
              </a:defRPr>
            </a:pPr>
            <a:r>
              <a:t>   - Los socios del consorcio y el beneficio esperado (30 seg)</a:t>
            </a:r>
          </a:p>
          <a:p>
            <a:pPr>
              <a:spcAft>
                <a:spcPts val="1000"/>
              </a:spcAft>
              <a:defRPr sz="2000">
                <a:solidFill>
                  <a:srgbClr val="333333"/>
                </a:solidFill>
                <a:latin typeface="Calibri"/>
              </a:defRPr>
            </a:pPr>
          </a:p>
          <a:p>
            <a:pPr>
              <a:spcAft>
                <a:spcPts val="1000"/>
              </a:spcAft>
              <a:defRPr sz="2000">
                <a:solidFill>
                  <a:srgbClr val="333333"/>
                </a:solidFill>
                <a:latin typeface="Calibri"/>
              </a:defRPr>
            </a:pPr>
            <a:r>
              <a:t>Presentar al resto de la clase. Feedback constructivo.</a:t>
            </a:r>
          </a:p>
          <a:p>
            <a:pPr>
              <a:spcAft>
                <a:spcPts val="1000"/>
              </a:spcAft>
              <a:defRPr sz="2000">
                <a:solidFill>
                  <a:srgbClr val="333333"/>
                </a:solidFill>
                <a:latin typeface="Calibri"/>
              </a:defRPr>
            </a:pPr>
            <a:r>
              <a:t>Tiempo de preparacion: 20 minutos.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73152"/>
          </a:xfrm>
          <a:prstGeom prst="rect">
            <a:avLst/>
          </a:prstGeom>
          <a:solidFill>
            <a:srgbClr val="7C3AE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457200" y="274320"/>
            <a:ext cx="3200400" cy="457200"/>
          </a:xfrm>
          <a:prstGeom prst="rect">
            <a:avLst/>
          </a:prstGeom>
          <a:solidFill>
            <a:srgbClr val="7C3AE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274320"/>
            <a:ext cx="3200400" cy="457200"/>
          </a:xfrm>
          <a:prstGeom prst="rect">
            <a:avLst/>
          </a:prstGeom>
          <a:noFill/>
        </p:spPr>
        <p:txBody>
          <a:bodyPr wrap="square"/>
          <a:lstStyle/>
          <a:p>
            <a:pPr algn="ctr">
              <a:defRPr sz="1800" b="1">
                <a:solidFill>
                  <a:srgbClr val="FFFFFF"/>
                </a:solidFill>
                <a:latin typeface="Calibri"/>
              </a:defRPr>
            </a:pPr>
            <a:r>
              <a:t>CULTURA GENERAL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931920" y="228600"/>
            <a:ext cx="7772400" cy="73152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defRPr sz="2800" b="1">
                <a:solidFill>
                  <a:srgbClr val="333333"/>
                </a:solidFill>
                <a:latin typeface="Calibri"/>
              </a:defRPr>
            </a:pPr>
            <a:r>
              <a:t>Gartner y el Hype Cycle</a:t>
            </a:r>
          </a:p>
        </p:txBody>
      </p:sp>
      <p:sp>
        <p:nvSpPr>
          <p:cNvPr id="6" name="Rectangle 5"/>
          <p:cNvSpPr/>
          <p:nvPr/>
        </p:nvSpPr>
        <p:spPr>
          <a:xfrm>
            <a:off x="457200" y="1051560"/>
            <a:ext cx="10972800" cy="27432"/>
          </a:xfrm>
          <a:prstGeom prst="rect">
            <a:avLst/>
          </a:prstGeom>
          <a:solidFill>
            <a:srgbClr val="7C3AE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40080" y="1371600"/>
            <a:ext cx="1051560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  <a:defRPr sz="2000">
                <a:solidFill>
                  <a:srgbClr val="333333"/>
                </a:solidFill>
                <a:latin typeface="Calibri"/>
              </a:defRPr>
            </a:pPr>
            <a:r>
              <a:t>Gartner publica cada ano su Hype Cycle for Blockchain and Web3.</a:t>
            </a:r>
          </a:p>
          <a:p>
            <a:pPr>
              <a:spcAft>
                <a:spcPts val="1000"/>
              </a:spcAft>
              <a:defRPr sz="2000">
                <a:solidFill>
                  <a:srgbClr val="333333"/>
                </a:solidFill>
                <a:latin typeface="Calibri"/>
              </a:defRPr>
            </a:pPr>
            <a:r>
              <a:t>En 2017, blockchain estaba en el 'Pico de Expectativas Infladas'.</a:t>
            </a:r>
          </a:p>
          <a:p>
            <a:pPr>
              <a:spcAft>
                <a:spcPts val="1000"/>
              </a:spcAft>
              <a:defRPr sz="2000">
                <a:solidFill>
                  <a:srgbClr val="333333"/>
                </a:solidFill>
                <a:latin typeface="Calibri"/>
              </a:defRPr>
            </a:pPr>
            <a:r>
              <a:t>En 2023, blockchain enterprise habia caido al 'Valle de la Desilusion'.</a:t>
            </a:r>
          </a:p>
          <a:p>
            <a:pPr>
              <a:spcAft>
                <a:spcPts val="1000"/>
              </a:spcAft>
              <a:defRPr sz="2000">
                <a:solidFill>
                  <a:srgbClr val="333333"/>
                </a:solidFill>
                <a:latin typeface="Calibri"/>
              </a:defRPr>
            </a:pPr>
            <a:r>
              <a:t>En 2025, empieza a subir la 'Pendiente de la Iluminacion'.</a:t>
            </a:r>
          </a:p>
          <a:p>
            <a:pPr>
              <a:spcAft>
                <a:spcPts val="1000"/>
              </a:spcAft>
              <a:defRPr sz="2000">
                <a:solidFill>
                  <a:srgbClr val="333333"/>
                </a:solidFill>
                <a:latin typeface="Calibri"/>
              </a:defRPr>
            </a:pPr>
          </a:p>
          <a:p>
            <a:pPr>
              <a:spcAft>
                <a:spcPts val="1000"/>
              </a:spcAft>
              <a:defRPr sz="2000">
                <a:solidFill>
                  <a:srgbClr val="333333"/>
                </a:solidFill>
                <a:latin typeface="Calibri"/>
              </a:defRPr>
            </a:pPr>
            <a:r>
              <a:t>Esto es normal: TODAS las tecnologias pasan por este ciclo.</a:t>
            </a:r>
          </a:p>
          <a:p>
            <a:pPr>
              <a:spcAft>
                <a:spcPts val="1000"/>
              </a:spcAft>
              <a:defRPr sz="2000">
                <a:solidFill>
                  <a:srgbClr val="333333"/>
                </a:solidFill>
                <a:latin typeface="Calibri"/>
              </a:defRPr>
            </a:pPr>
            <a:r>
              <a:t>Internet en 2001, cloud en 2010, IA en 2024... y blockchain ahora.</a:t>
            </a:r>
          </a:p>
          <a:p>
            <a:pPr>
              <a:spcAft>
                <a:spcPts val="1000"/>
              </a:spcAft>
              <a:defRPr sz="2000">
                <a:solidFill>
                  <a:srgbClr val="333333"/>
                </a:solidFill>
                <a:latin typeface="Calibri"/>
              </a:defRPr>
            </a:pPr>
          </a:p>
          <a:p>
            <a:pPr>
              <a:spcAft>
                <a:spcPts val="1000"/>
              </a:spcAft>
              <a:defRPr sz="2000">
                <a:solidFill>
                  <a:srgbClr val="333333"/>
                </a:solidFill>
                <a:latin typeface="Calibri"/>
              </a:defRPr>
            </a:pPr>
            <a:r>
              <a:t>La pregunta no es '¿blockchain esta muerto?'</a:t>
            </a:r>
          </a:p>
          <a:p>
            <a:pPr>
              <a:spcAft>
                <a:spcPts val="1000"/>
              </a:spcAft>
              <a:defRPr sz="2000">
                <a:solidFill>
                  <a:srgbClr val="333333"/>
                </a:solidFill>
                <a:latin typeface="Calibri"/>
              </a:defRPr>
            </a:pPr>
            <a:r>
              <a:t>La pregunta es '¿para que casos concretos es util?'</a:t>
            </a:r>
          </a:p>
          <a:p>
            <a:pPr>
              <a:spcAft>
                <a:spcPts val="1000"/>
              </a:spcAft>
              <a:defRPr sz="2000">
                <a:solidFill>
                  <a:srgbClr val="333333"/>
                </a:solidFill>
                <a:latin typeface="Calibri"/>
              </a:defRPr>
            </a:pPr>
            <a:r>
              <a:t>Eso es exactamente lo que estamos aprendiendo en este modulo.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22627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274320"/>
            <a:ext cx="10972800" cy="73152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defRPr sz="3600" b="1">
                <a:solidFill>
                  <a:srgbClr val="FFFFFF"/>
                </a:solidFill>
                <a:latin typeface="Calibri"/>
              </a:defRPr>
            </a:pPr>
            <a:r>
              <a:t>Repaso del dia</a:t>
            </a:r>
          </a:p>
        </p:txBody>
      </p:sp>
      <p:sp>
        <p:nvSpPr>
          <p:cNvPr id="4" name="Rectangle 3"/>
          <p:cNvSpPr/>
          <p:nvPr/>
        </p:nvSpPr>
        <p:spPr>
          <a:xfrm>
            <a:off x="457200" y="1051560"/>
            <a:ext cx="10972800" cy="27432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371600"/>
            <a:ext cx="1051560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  <a:defRPr sz="2000">
                <a:solidFill>
                  <a:srgbClr val="FFFFFF"/>
                </a:solidFill>
                <a:latin typeface="Calibri"/>
              </a:defRPr>
            </a:pPr>
            <a:r>
              <a:t>1. ¿Cuando tiene sentido blockchain enterprise? Da 3 condiciones</a:t>
            </a:r>
          </a:p>
          <a:p>
            <a:pPr>
              <a:spcAft>
                <a:spcPts val="1000"/>
              </a:spcAft>
              <a:defRPr sz="2000">
                <a:solidFill>
                  <a:srgbClr val="FFFFFF"/>
                </a:solidFill>
                <a:latin typeface="Calibri"/>
              </a:defRPr>
            </a:pPr>
            <a:r>
              <a:t>2. ¿Cuando NO tiene sentido? Da 3 razones</a:t>
            </a:r>
          </a:p>
          <a:p>
            <a:pPr>
              <a:spcAft>
                <a:spcPts val="1000"/>
              </a:spcAft>
              <a:defRPr sz="2000">
                <a:solidFill>
                  <a:srgbClr val="FFFFFF"/>
                </a:solidFill>
                <a:latin typeface="Calibri"/>
              </a:defRPr>
            </a:pPr>
            <a:r>
              <a:t>3. ¿Como presentarias un proyecto blockchain a un comite de direccion?</a:t>
            </a:r>
          </a:p>
          <a:p>
            <a:pPr>
              <a:spcAft>
                <a:spcPts val="1000"/>
              </a:spcAft>
              <a:defRPr sz="2000">
                <a:solidFill>
                  <a:srgbClr val="FFFFFF"/>
                </a:solidFill>
                <a:latin typeface="Calibri"/>
              </a:defRPr>
            </a:pPr>
            <a:r>
              <a:t>4. ¿Que metricas usarias para medir el exito?</a:t>
            </a:r>
          </a:p>
          <a:p>
            <a:pPr>
              <a:spcAft>
                <a:spcPts val="1000"/>
              </a:spcAft>
              <a:defRPr sz="2000">
                <a:solidFill>
                  <a:srgbClr val="FFFFFF"/>
                </a:solidFill>
                <a:latin typeface="Calibri"/>
              </a:defRPr>
            </a:pPr>
            <a:r>
              <a:t>5. ¿Por que es mejor no empezar con la palabra 'blockchain'?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