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56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3: Vision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Casos de Uso Reales:</a:t>
            </a:r>
            <a:br/>
            <a:r>
              <a:t>Exitos y Fracasos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1 - Que funciona, que no funciona y por que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Caso 1: Walmart Food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Trazabilidad alimentaria con Hyperledger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El problema que resolvieron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Walmart es </a:t>
            </a:r>
            <a:r>
              <a:rPr dirty="0" err="1"/>
              <a:t>el</a:t>
            </a:r>
            <a:r>
              <a:rPr dirty="0"/>
              <a:t> mayor </a:t>
            </a:r>
            <a:r>
              <a:rPr dirty="0" err="1"/>
              <a:t>supermercado</a:t>
            </a:r>
            <a:r>
              <a:rPr dirty="0"/>
              <a:t> del </a:t>
            </a:r>
            <a:r>
              <a:rPr dirty="0" err="1"/>
              <a:t>mundo</a:t>
            </a:r>
            <a:r>
              <a:rPr dirty="0"/>
              <a:t>: 10.500+ tiendas, 2.3 </a:t>
            </a:r>
            <a:r>
              <a:rPr dirty="0" err="1"/>
              <a:t>millones</a:t>
            </a:r>
            <a:r>
              <a:rPr dirty="0"/>
              <a:t> de </a:t>
            </a:r>
            <a:r>
              <a:rPr dirty="0" err="1"/>
              <a:t>empleados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Problema</a:t>
            </a:r>
            <a:r>
              <a:rPr dirty="0"/>
              <a:t> 1: </a:t>
            </a:r>
            <a:r>
              <a:rPr dirty="0" err="1"/>
              <a:t>brotes</a:t>
            </a:r>
            <a:r>
              <a:rPr dirty="0"/>
              <a:t> de salmonella y E.coli </a:t>
            </a:r>
            <a:r>
              <a:rPr dirty="0" err="1"/>
              <a:t>requieren</a:t>
            </a:r>
            <a:r>
              <a:rPr dirty="0"/>
              <a:t> </a:t>
            </a:r>
            <a:r>
              <a:rPr dirty="0" err="1"/>
              <a:t>retirar</a:t>
            </a:r>
            <a:r>
              <a:rPr dirty="0"/>
              <a:t> </a:t>
            </a:r>
            <a:r>
              <a:rPr dirty="0" err="1"/>
              <a:t>productos</a:t>
            </a:r>
            <a:r>
              <a:rPr dirty="0"/>
              <a:t> </a:t>
            </a:r>
            <a:r>
              <a:rPr dirty="0" err="1"/>
              <a:t>inmediatamente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Problema</a:t>
            </a:r>
            <a:r>
              <a:rPr dirty="0"/>
              <a:t> 2: antes de Fabric, </a:t>
            </a:r>
            <a:r>
              <a:rPr dirty="0" err="1"/>
              <a:t>rastrear</a:t>
            </a:r>
            <a:r>
              <a:rPr dirty="0"/>
              <a:t> un </a:t>
            </a:r>
            <a:r>
              <a:rPr dirty="0" err="1"/>
              <a:t>lote</a:t>
            </a:r>
            <a:r>
              <a:rPr dirty="0"/>
              <a:t> de </a:t>
            </a:r>
            <a:r>
              <a:rPr lang="es-ES" dirty="0"/>
              <a:t>producto</a:t>
            </a:r>
            <a:r>
              <a:rPr dirty="0"/>
              <a:t> </a:t>
            </a:r>
            <a:r>
              <a:rPr dirty="0" err="1"/>
              <a:t>tardaba</a:t>
            </a:r>
            <a:r>
              <a:rPr dirty="0"/>
              <a:t> 7 </a:t>
            </a:r>
            <a:r>
              <a:rPr dirty="0" err="1"/>
              <a:t>dias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Problema</a:t>
            </a:r>
            <a:r>
              <a:rPr dirty="0"/>
              <a:t> 3: </a:t>
            </a:r>
            <a:r>
              <a:rPr dirty="0" err="1"/>
              <a:t>esos</a:t>
            </a:r>
            <a:r>
              <a:rPr dirty="0"/>
              <a:t> 7 </a:t>
            </a:r>
            <a:r>
              <a:rPr dirty="0" err="1"/>
              <a:t>dias</a:t>
            </a:r>
            <a:r>
              <a:rPr dirty="0"/>
              <a:t> = </a:t>
            </a:r>
            <a:r>
              <a:rPr dirty="0" err="1"/>
              <a:t>millones</a:t>
            </a:r>
            <a:r>
              <a:rPr dirty="0"/>
              <a:t> de </a:t>
            </a:r>
            <a:r>
              <a:rPr dirty="0" err="1"/>
              <a:t>productos</a:t>
            </a:r>
            <a:r>
              <a:rPr dirty="0"/>
              <a:t> </a:t>
            </a:r>
            <a:r>
              <a:rPr dirty="0" err="1"/>
              <a:t>potencialmente</a:t>
            </a:r>
            <a:r>
              <a:rPr dirty="0"/>
              <a:t> </a:t>
            </a:r>
            <a:r>
              <a:rPr dirty="0" err="1"/>
              <a:t>contaminados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circulacion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Problema</a:t>
            </a:r>
            <a:r>
              <a:rPr dirty="0"/>
              <a:t> 4: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proveedor</a:t>
            </a:r>
            <a:r>
              <a:rPr dirty="0"/>
              <a:t> tenia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propio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, </a:t>
            </a:r>
            <a:r>
              <a:rPr dirty="0" err="1"/>
              <a:t>imposible</a:t>
            </a:r>
            <a:r>
              <a:rPr dirty="0"/>
              <a:t> de </a:t>
            </a:r>
            <a:r>
              <a:rPr dirty="0" err="1"/>
              <a:t>consolidar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Coste </a:t>
            </a:r>
            <a:r>
              <a:rPr dirty="0" err="1"/>
              <a:t>estimado</a:t>
            </a:r>
            <a:r>
              <a:rPr dirty="0"/>
              <a:t>: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 de </a:t>
            </a:r>
            <a:r>
              <a:rPr dirty="0" err="1"/>
              <a:t>retraso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un recall = </a:t>
            </a:r>
            <a:r>
              <a:rPr dirty="0" err="1"/>
              <a:t>millones</a:t>
            </a:r>
            <a:r>
              <a:rPr dirty="0"/>
              <a:t> de </a:t>
            </a:r>
            <a:r>
              <a:rPr dirty="0" err="1"/>
              <a:t>dolares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perdidas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La solucion con Hyperledger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Walmart + IBM lanzaron IBM Food Trust en 2018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Basado en Hyperledger Fabric (permissioned)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actor de la cadena tiene su peer: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Productor (granja)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Procesador (lavado, empaquetado)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Distribuidor (transporte refrigerado)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Walmart (tienda)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Trazabilidad end-to-end: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movimiento del lote se registra en el ledger compartido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Cualquier actor puede consultar el historial completo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Con un QR en el producto, se ve todo el recorrido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Rastreo de mango de 7 dias a 2.2 segundos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Mas de 150 organizaciones conectadas en 2020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Productos cubiertos: hoja verde, carne, mariscos, yogur, huevos, pollo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2019, Walmart obligo a todos sus proveedores de hoja verde a unirse al sistema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Uno de los mayores exitos de Fabric en produccion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Clave del exito: Walmart es el actor dominante y forzo la adopcion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Topologia simplificada de IBM Food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D41DE5C-CADF-11F3-FC8C-E4FD97C27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961" y="1492253"/>
            <a:ext cx="9244904" cy="50109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EJERCICIO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EJERCICIO: Diseña tu propia red de trazabilidad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8147081" cy="5196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Caso </a:t>
            </a:r>
            <a:r>
              <a:rPr dirty="0" err="1"/>
              <a:t>practico</a:t>
            </a:r>
            <a:r>
              <a:rPr dirty="0"/>
              <a:t> </a:t>
            </a:r>
            <a:r>
              <a:rPr dirty="0" err="1"/>
              <a:t>adaptado</a:t>
            </a:r>
            <a:r>
              <a:rPr dirty="0"/>
              <a:t> al aula: </a:t>
            </a:r>
            <a:r>
              <a:rPr dirty="0" err="1"/>
              <a:t>trazabilidad</a:t>
            </a:r>
            <a:r>
              <a:rPr dirty="0"/>
              <a:t> de </a:t>
            </a:r>
            <a:r>
              <a:rPr dirty="0" err="1"/>
              <a:t>aguacates</a:t>
            </a:r>
            <a:r>
              <a:rPr dirty="0"/>
              <a:t> de Malaga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Actores</a:t>
            </a:r>
            <a:r>
              <a:rPr dirty="0"/>
              <a:t> del </a:t>
            </a:r>
            <a:r>
              <a:rPr dirty="0" err="1"/>
              <a:t>consorcio</a:t>
            </a:r>
            <a:r>
              <a:rPr dirty="0"/>
              <a:t>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  - Productor (</a:t>
            </a:r>
            <a:r>
              <a:rPr dirty="0" err="1"/>
              <a:t>granja</a:t>
            </a:r>
            <a:r>
              <a:rPr dirty="0"/>
              <a:t>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  - </a:t>
            </a:r>
            <a:r>
              <a:rPr dirty="0" err="1"/>
              <a:t>Distribuidor</a:t>
            </a:r>
            <a:r>
              <a:rPr dirty="0"/>
              <a:t> (</a:t>
            </a:r>
            <a:r>
              <a:rPr dirty="0" err="1"/>
              <a:t>transporte</a:t>
            </a:r>
            <a:r>
              <a:rPr dirty="0"/>
              <a:t> </a:t>
            </a:r>
            <a:r>
              <a:rPr dirty="0" err="1"/>
              <a:t>refrigerado</a:t>
            </a:r>
            <a:r>
              <a:rPr dirty="0"/>
              <a:t>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  - Supermercado (</a:t>
            </a:r>
            <a:r>
              <a:rPr dirty="0" err="1"/>
              <a:t>venta</a:t>
            </a:r>
            <a:r>
              <a:rPr dirty="0"/>
              <a:t> final)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  - </a:t>
            </a:r>
            <a:r>
              <a:rPr dirty="0" err="1"/>
              <a:t>Regulador</a:t>
            </a:r>
            <a:r>
              <a:rPr dirty="0"/>
              <a:t> (AESAN - </a:t>
            </a:r>
            <a:r>
              <a:rPr dirty="0" err="1"/>
              <a:t>seguridad</a:t>
            </a:r>
            <a:r>
              <a:rPr dirty="0"/>
              <a:t> alimentaria)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lang="es-ES" dirty="0"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lang="es-ES" dirty="0"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lang="es-ES" dirty="0"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Guia </a:t>
            </a:r>
            <a:r>
              <a:rPr dirty="0" err="1"/>
              <a:t>tecnica</a:t>
            </a:r>
            <a:r>
              <a:rPr dirty="0"/>
              <a:t> completa: docs/modulo-3/ejercicios/ejercicio-walmart.md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25BA6A5-778B-1651-2E89-2C6A128C34DB}"/>
              </a:ext>
            </a:extLst>
          </p:cNvPr>
          <p:cNvSpPr txBox="1"/>
          <p:nvPr/>
        </p:nvSpPr>
        <p:spPr>
          <a:xfrm>
            <a:off x="6094412" y="1824880"/>
            <a:ext cx="6138746" cy="3760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Tareas: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  FASE 1: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    </a:t>
            </a:r>
            <a:r>
              <a:rPr lang="es-ES" dirty="0" err="1"/>
              <a:t>Disenar</a:t>
            </a:r>
            <a:r>
              <a:rPr lang="es-ES" dirty="0"/>
              <a:t> la </a:t>
            </a:r>
            <a:r>
              <a:rPr lang="es-ES" dirty="0" err="1"/>
              <a:t>topologia</a:t>
            </a:r>
            <a:r>
              <a:rPr lang="es-ES" dirty="0"/>
              <a:t> de red: cuantas </a:t>
            </a:r>
            <a:r>
              <a:rPr lang="es-ES" dirty="0" err="1"/>
              <a:t>orgs</a:t>
            </a:r>
            <a:r>
              <a:rPr lang="es-ES" dirty="0"/>
              <a:t>, canales, </a:t>
            </a:r>
            <a:r>
              <a:rPr lang="es-ES" dirty="0" err="1"/>
              <a:t>Private</a:t>
            </a:r>
            <a:r>
              <a:rPr lang="es-ES" dirty="0"/>
              <a:t> Data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    Decidir </a:t>
            </a:r>
            <a:r>
              <a:rPr lang="es-ES" dirty="0" err="1"/>
              <a:t>politicas</a:t>
            </a:r>
            <a:r>
              <a:rPr lang="es-ES" dirty="0"/>
              <a:t> de </a:t>
            </a:r>
            <a:r>
              <a:rPr lang="es-ES" dirty="0" err="1"/>
              <a:t>endorsement</a:t>
            </a:r>
            <a:r>
              <a:rPr lang="es-ES" dirty="0"/>
              <a:t> y control de acceso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  FASE 2: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    Montar la red con 4 organizaciones + </a:t>
            </a:r>
            <a:r>
              <a:rPr lang="es-ES" dirty="0" err="1"/>
              <a:t>orderer</a:t>
            </a:r>
            <a:endParaRPr lang="es-ES" dirty="0"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    Desplegar el </a:t>
            </a:r>
            <a:r>
              <a:rPr lang="es-ES" dirty="0" err="1"/>
              <a:t>chaincode</a:t>
            </a:r>
            <a:r>
              <a:rPr lang="es-ES" dirty="0"/>
              <a:t> con </a:t>
            </a:r>
            <a:r>
              <a:rPr lang="es-ES" dirty="0" err="1"/>
              <a:t>Private</a:t>
            </a:r>
            <a:r>
              <a:rPr lang="es-ES" dirty="0"/>
              <a:t> Data </a:t>
            </a:r>
            <a:r>
              <a:rPr lang="es-ES" dirty="0" err="1"/>
              <a:t>Collections</a:t>
            </a:r>
            <a:endParaRPr lang="es-ES" dirty="0"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lang="es-ES" dirty="0"/>
              <a:t>    Probar el flujo completo de trazabilidad y un </a:t>
            </a:r>
            <a:r>
              <a:rPr lang="es-ES" dirty="0" err="1"/>
              <a:t>recall</a:t>
            </a:r>
            <a:endParaRPr lang="es-E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Preguntas clave para tu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Piensa en estas preguntas antes de empezar a codificar: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¿Cuantas organizaciones? ¿Con peer propio cada una?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¿Un canal unico o multiples canales segregados?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¿Que datos van on-chain (publicos) y cuales en Private Data?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Pista: los precios de compra entre actores son confidenciales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¿Quien puede crear un lote? ¿Solo el productor?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¿Quien puede hacer recall? ¿Solo el regulador o cualquier actor?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¿Que politica de endorsement tiene sentido?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Para movimientos normales vs para recall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7. ¿Como verificaria el consumidor final un QR? (no tiene peer)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Debate tras el ejercicio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¿Vuestra topologia se parece a la de IBM Food Trust? ¿En que difiere?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¿Que ventaja real aporta Fabric aqui frente a una BD compartida gestionada por Walmart?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¿Que pasa si el productor miente sobre el origen? ¿Blockchain lo detecta?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Walmart fue el que impuso la adopcion. ¿Es justo? ¿Es necesario?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¿Como integrariais sensores IoT para automatizar el registro de temperatura?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640</Words>
  <Application>Microsoft Office PowerPoint</Application>
  <PresentationFormat>Personalizado</PresentationFormat>
  <Paragraphs>73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2</cp:revision>
  <dcterms:created xsi:type="dcterms:W3CDTF">2013-01-27T09:14:16Z</dcterms:created>
  <dcterms:modified xsi:type="dcterms:W3CDTF">2026-04-22T08:50:45Z</dcterms:modified>
  <cp:category/>
</cp:coreProperties>
</file>