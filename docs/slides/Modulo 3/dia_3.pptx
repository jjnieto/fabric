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8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Gobernanza y Toma</a:t>
            </a:r>
            <a:br/>
            <a:r>
              <a:t>de Decisiones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3 - Quien manda en un consorcio blockchain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¿Que es la gobernanza de un consorcio?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conjunto de reglas que definen como se toman las decisiones en la red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es un tema tecnico: es un tema politico, legal y de negocio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la gobernanza no esta clara desde el dia 1, el proyecto fracasara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Preguntas que debe responder: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¿Quien puede unirse a la red? ¿Y quien puede ser expulsado?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¿Quien aprueba cambios en los chaincodes?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¿Quien paga la infraestructura (orderers, CAs)?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¿Como se resuelven los conflictos?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¿Que pasa con los datos si una org abandona?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Modelos de gobernanza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Fundador dominante: una empresa crea la red y pone las reglas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Ejemplo: Walmart Food Trust. Walmart decide, los proveedores acatan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Pro: rapido de arrancar. Contra: los demas desconfian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Democratico: todas las orgs tienen el mismo voto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Ejemplo: Alastria. Cada miembro un voto en la asamblea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Pro: equitativo. Contra: lento, dificil llegar a acuerdos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Federado: un comite tecnico/ejecutivo toma las decisiones operativas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Ejemplo: EBSI. La EBP decide la estrategia, los estados operan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Pro: agil. Contra: el comite puede desconectarse de los miembros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Gobernanza en Fabric: las politicas como herramienta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Fabric codifica la gobernanza directamente en la configuracion del canal: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Politicas de canal: quien puede leer, escribir, administrar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MAJORITY Admins: la mayoria de orgs deben aprobar cambios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ALL Admins: unanimidad requerida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Politicas de endorsement: quien valida cada transaccion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AND(Org1, Org2): ambas deben aprobar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OR(Org1, Org2): basta con una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Lifecycle: aprobar chaincodes requiere mayoria de orgs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Las politicas de Fabric son gobernanza ejecutable: no son un documento, son codigo.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¿Quien paga que?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organizacion paga SU infraestructura: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Sus peers, su Fabric CA, su almacenamiento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infraestructura compartida es el debate: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Orderer: ¿quien lo opera? ¿se reparte el coste?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Desarrollo de chaincodes: ¿quien lo paga? ¿quien lo mantiene?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Soporte y operaciones: ¿hay un equipo central o cada org se apana?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Modelos comunes: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Cuota fija: todos pagan lo mismo (simple, pero ¿justo?)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Por uso: paga mas quien mas transacciones hace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Por tamano: las orgs grandes pagan mas que las pequenas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Sponsor: una org grande subvenciona al resto (al principio)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Onboarding y offboarding de organizaciones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Incorporar una nueva org (onboarding):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Evaluacion: ¿cumple los requisitos del consorcio?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Aprobacion: las orgs existentes votan (MAJORITY o ALL)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Tecnico: generar identidades, anadir al canal (doc 06)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Legal: firmar el acuerdo de consorcio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Operativo: instalar chaincodes, sincronizar ledger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Expulsar o que se vaya una org (offboarding):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¿Que pasa con sus datos en el ledger? (son inmutables, no se pueden borrar)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¿Que pasa con sus certificados? (revocar via CRL)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¿Puede llevarse una copia de los datos? (depende del acuerdo)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¿Como se redistribuyen sus responsabilidades?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Esto DEBE estar definido ANTES de que pase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Alastria: gobernanza de un consorcio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Alastria es una asociacion sin animo de lucro con +500 miembros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Estructura de gobierno: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Asamblea General: todos los miembros votan (1 miembro = 1 voto)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Junta Directiva: 15 miembros elegidos, toma decisiones ejecutivas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Grupos de trabajo: identidad, tokenizacion, regulacion, etc.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Decisiones tecnicas: Comite Tecnico (rotativo entre miembros activos)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Cuotas anuales segun tamano de la empresa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Leccion: el modelo funciona pero es lento. 500 miembros = 500 opiniones.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Disenar la gobernanza de un consorcio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Escenario: 5 bancos quieren crear una plataforma de KYC compartido en Fabric.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Decidir en grupo: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¿Que modelo de gobernanza elegis? (fundador, democratico, federado)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¿Que politica de endorsement usariais? (AND, OR, MAJORITY)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¿Quien opera los orderers?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¿Como se incorpora un nuevo banco?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¿Que pasa si un banco quiere salir? ¿Y con los datos KYC de sus clientes?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¿Que es la gobernanza de un consorcio y por que es critica?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Nombra los 3 modelos de gobernanza y un ejemplo de cada uno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¿Como codifica Fabric la gobernanza? (politicas)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¿Quien deberia pagar los orderers?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¿Que hay que definir ANTES de que una org abandone el consorcio?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0DF4C-6600-94C1-F17D-4ABBB121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F3F762-3B2C-24CE-CBD7-D92BE3C5B448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F2038-8444-91B3-5D73-DD019909E67E}"/>
              </a:ext>
            </a:extLst>
          </p:cNvPr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debate: gobernanza consorcio KYC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20898B-7859-C38A-ED92-8286103E29EB}"/>
              </a:ext>
            </a:extLst>
          </p:cNvPr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67B94-98B8-9119-A4A6-7610C50E64C6}"/>
              </a:ext>
            </a:extLst>
          </p:cNvPr>
          <p:cNvSpPr txBox="1"/>
          <p:nvPr/>
        </p:nvSpPr>
        <p:spPr>
          <a:xfrm>
            <a:off x="640080" y="1280160"/>
            <a:ext cx="10515600" cy="408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Modelo de </a:t>
            </a:r>
            <a:r>
              <a:rPr dirty="0" err="1"/>
              <a:t>gobernanza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Federado</a:t>
            </a:r>
            <a:r>
              <a:rPr dirty="0"/>
              <a:t> con </a:t>
            </a:r>
            <a:r>
              <a:rPr dirty="0" err="1"/>
              <a:t>comite</a:t>
            </a:r>
            <a:r>
              <a:rPr dirty="0"/>
              <a:t> </a:t>
            </a:r>
            <a:r>
              <a:rPr dirty="0" err="1"/>
              <a:t>rotativo</a:t>
            </a:r>
            <a:r>
              <a:rPr dirty="0"/>
              <a:t>: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 banco domine.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Alternativa: </a:t>
            </a:r>
            <a:r>
              <a:rPr dirty="0" err="1"/>
              <a:t>democratico</a:t>
            </a:r>
            <a:r>
              <a:rPr dirty="0"/>
              <a:t> (1 banco = 1 </a:t>
            </a:r>
            <a:r>
              <a:rPr dirty="0" err="1"/>
              <a:t>voto</a:t>
            </a:r>
            <a:r>
              <a:rPr dirty="0"/>
              <a:t>) </a:t>
            </a:r>
            <a:r>
              <a:rPr dirty="0" err="1"/>
              <a:t>si</a:t>
            </a:r>
            <a:r>
              <a:rPr dirty="0"/>
              <a:t> son comparables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tamano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Fundador</a:t>
            </a:r>
            <a:r>
              <a:rPr dirty="0"/>
              <a:t> </a:t>
            </a:r>
            <a:r>
              <a:rPr dirty="0" err="1"/>
              <a:t>dominante</a:t>
            </a:r>
            <a:r>
              <a:rPr dirty="0"/>
              <a:t>: </a:t>
            </a:r>
            <a:r>
              <a:rPr dirty="0" err="1"/>
              <a:t>evitar</a:t>
            </a:r>
            <a:r>
              <a:rPr dirty="0"/>
              <a:t> — </a:t>
            </a:r>
            <a:r>
              <a:rPr dirty="0" err="1"/>
              <a:t>replicaria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TradeLens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Politica</a:t>
            </a:r>
            <a:r>
              <a:rPr dirty="0"/>
              <a:t> de endorsement: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Lectura KYC: OR(</a:t>
            </a:r>
            <a:r>
              <a:rPr dirty="0" err="1"/>
              <a:t>banco_titular</a:t>
            </a:r>
            <a:r>
              <a:rPr dirty="0"/>
              <a:t>) — </a:t>
            </a:r>
            <a:r>
              <a:rPr dirty="0" err="1"/>
              <a:t>el</a:t>
            </a:r>
            <a:r>
              <a:rPr dirty="0"/>
              <a:t> banco del </a:t>
            </a:r>
            <a:r>
              <a:rPr dirty="0" err="1"/>
              <a:t>cliente</a:t>
            </a:r>
            <a:r>
              <a:rPr dirty="0"/>
              <a:t> basta.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Actualizar</a:t>
            </a:r>
            <a:r>
              <a:rPr dirty="0"/>
              <a:t> KYC: AND(</a:t>
            </a:r>
            <a:r>
              <a:rPr dirty="0" err="1"/>
              <a:t>banco_titular</a:t>
            </a:r>
            <a:r>
              <a:rPr dirty="0"/>
              <a:t>, </a:t>
            </a:r>
            <a:r>
              <a:rPr dirty="0" err="1"/>
              <a:t>banco_validador</a:t>
            </a:r>
            <a:r>
              <a:rPr dirty="0"/>
              <a:t>) — doble </a:t>
            </a:r>
            <a:r>
              <a:rPr dirty="0" err="1"/>
              <a:t>verificacion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Cambios</a:t>
            </a:r>
            <a:r>
              <a:rPr dirty="0"/>
              <a:t> de </a:t>
            </a:r>
            <a:r>
              <a:rPr dirty="0" err="1"/>
              <a:t>politica</a:t>
            </a:r>
            <a:r>
              <a:rPr dirty="0"/>
              <a:t> del canal: MAJORITY de </a:t>
            </a:r>
            <a:r>
              <a:rPr dirty="0" err="1"/>
              <a:t>los</a:t>
            </a:r>
            <a:r>
              <a:rPr dirty="0"/>
              <a:t> 5 </a:t>
            </a:r>
            <a:r>
              <a:rPr dirty="0" err="1"/>
              <a:t>bancos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¿Quien opera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orderers</a:t>
            </a:r>
            <a:r>
              <a:rPr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Distribuidos</a:t>
            </a:r>
            <a:r>
              <a:rPr dirty="0"/>
              <a:t>: </a:t>
            </a:r>
            <a:r>
              <a:rPr dirty="0" err="1"/>
              <a:t>cada</a:t>
            </a:r>
            <a:r>
              <a:rPr dirty="0"/>
              <a:t> banco opera un </a:t>
            </a:r>
            <a:r>
              <a:rPr dirty="0" err="1"/>
              <a:t>nodo</a:t>
            </a:r>
            <a:r>
              <a:rPr dirty="0"/>
              <a:t> Raft (5 </a:t>
            </a:r>
            <a:r>
              <a:rPr dirty="0" err="1"/>
              <a:t>nodos</a:t>
            </a:r>
            <a:r>
              <a:rPr dirty="0"/>
              <a:t> total).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Ningun</a:t>
            </a:r>
            <a:r>
              <a:rPr dirty="0"/>
              <a:t> banco </a:t>
            </a:r>
            <a:r>
              <a:rPr dirty="0" err="1"/>
              <a:t>controla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ordering solo.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Alta </a:t>
            </a:r>
            <a:r>
              <a:rPr dirty="0" err="1"/>
              <a:t>disponibilidad</a:t>
            </a:r>
            <a:r>
              <a:rPr dirty="0"/>
              <a:t>: </a:t>
            </a:r>
            <a:r>
              <a:rPr dirty="0" err="1"/>
              <a:t>tolera</a:t>
            </a:r>
            <a:r>
              <a:rPr dirty="0"/>
              <a:t> 2 </a:t>
            </a:r>
            <a:r>
              <a:rPr dirty="0" err="1"/>
              <a:t>fallos</a:t>
            </a:r>
            <a:r>
              <a:rPr dirty="0"/>
              <a:t> </a:t>
            </a:r>
            <a:r>
              <a:rPr dirty="0" err="1"/>
              <a:t>simultaneos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205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debate: gobernanza consorcio KYC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4. Como incorporar un nuevo banco: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</a:t>
            </a:r>
            <a:r>
              <a:rPr lang="es-ES" dirty="0" err="1"/>
              <a:t>Evaluacion</a:t>
            </a:r>
            <a:r>
              <a:rPr lang="es-ES" dirty="0"/>
              <a:t> por </a:t>
            </a:r>
            <a:r>
              <a:rPr lang="es-ES" dirty="0" err="1"/>
              <a:t>comite</a:t>
            </a:r>
            <a:r>
              <a:rPr lang="es-ES" dirty="0"/>
              <a:t> (sistemas, </a:t>
            </a:r>
            <a:r>
              <a:rPr lang="es-ES" dirty="0" err="1"/>
              <a:t>regulacion</a:t>
            </a:r>
            <a:r>
              <a:rPr lang="es-ES" dirty="0"/>
              <a:t>, solvencia).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</a:t>
            </a:r>
            <a:r>
              <a:rPr lang="es-ES" dirty="0" err="1"/>
              <a:t>Aprobacion</a:t>
            </a:r>
            <a:r>
              <a:rPr lang="es-ES" dirty="0"/>
              <a:t> formal: MAJORITY de los 5 bancos existentes.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</a:t>
            </a:r>
            <a:r>
              <a:rPr lang="es-ES" dirty="0" err="1"/>
              <a:t>Onboarding</a:t>
            </a:r>
            <a:r>
              <a:rPr lang="es-ES" dirty="0"/>
              <a:t> </a:t>
            </a:r>
            <a:r>
              <a:rPr lang="es-ES" dirty="0" err="1"/>
              <a:t>tecnico</a:t>
            </a:r>
            <a:r>
              <a:rPr lang="es-ES" dirty="0"/>
              <a:t>: emitir </a:t>
            </a:r>
            <a:r>
              <a:rPr lang="es-ES" dirty="0" err="1"/>
              <a:t>certs</a:t>
            </a:r>
            <a:r>
              <a:rPr lang="es-ES" dirty="0"/>
              <a:t>, unir al canal, instalar </a:t>
            </a:r>
            <a:r>
              <a:rPr lang="es-ES" dirty="0" err="1"/>
              <a:t>chaincode</a:t>
            </a:r>
            <a:r>
              <a:rPr lang="es-ES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Cuota escalada: paga proporcional a su </a:t>
            </a:r>
            <a:r>
              <a:rPr lang="es-ES" dirty="0" err="1"/>
              <a:t>tamano</a:t>
            </a:r>
            <a:r>
              <a:rPr lang="es-ES"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5. Que pasa si un banco quiere salir: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Datos KYC ya registrados: inmutables, no se pueden borrar.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Su certificado se revoca (CRL) — no puede leer ni escribir.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Los clientes del banco migran a otro banco del consorcio o salen del sistema.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Responsabilidad legal por datos antiguos queda </a:t>
            </a:r>
            <a:r>
              <a:rPr lang="es-ES" dirty="0" err="1"/>
              <a:t>segun</a:t>
            </a:r>
            <a:r>
              <a:rPr lang="es-ES" dirty="0"/>
              <a:t> el acuerdo del consorcio.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Gobernanza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critica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Conjunto de </a:t>
            </a:r>
            <a:r>
              <a:rPr dirty="0" err="1"/>
              <a:t>reglas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definen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se toman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red.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Sin </a:t>
            </a:r>
            <a:r>
              <a:rPr dirty="0" err="1"/>
              <a:t>ella</a:t>
            </a:r>
            <a:r>
              <a:rPr dirty="0"/>
              <a:t>, no hay </a:t>
            </a:r>
            <a:r>
              <a:rPr dirty="0" err="1"/>
              <a:t>consenso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cambios</a:t>
            </a:r>
            <a:r>
              <a:rPr dirty="0"/>
              <a:t>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consorcio</a:t>
            </a:r>
            <a:r>
              <a:rPr dirty="0"/>
              <a:t> se </a:t>
            </a:r>
            <a:r>
              <a:rPr dirty="0" err="1"/>
              <a:t>paraliza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Proyectos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TradeLens</a:t>
            </a:r>
            <a:r>
              <a:rPr dirty="0"/>
              <a:t> </a:t>
            </a:r>
            <a:r>
              <a:rPr dirty="0" err="1"/>
              <a:t>cerraron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falla</a:t>
            </a:r>
            <a:r>
              <a:rPr dirty="0"/>
              <a:t> de </a:t>
            </a:r>
            <a:r>
              <a:rPr dirty="0" err="1"/>
              <a:t>gobernanza</a:t>
            </a:r>
            <a:r>
              <a:rPr dirty="0"/>
              <a:t>, no </a:t>
            </a:r>
            <a:r>
              <a:rPr dirty="0" err="1"/>
              <a:t>tecnologia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Tres </a:t>
            </a:r>
            <a:r>
              <a:rPr dirty="0" err="1"/>
              <a:t>modelos</a:t>
            </a:r>
            <a:r>
              <a:rPr dirty="0"/>
              <a:t> de </a:t>
            </a:r>
            <a:r>
              <a:rPr dirty="0" err="1"/>
              <a:t>gobernanza</a:t>
            </a:r>
            <a:r>
              <a:rPr dirty="0"/>
              <a:t> + </a:t>
            </a:r>
            <a:r>
              <a:rPr dirty="0" err="1"/>
              <a:t>ejemplo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Fundador</a:t>
            </a:r>
            <a:r>
              <a:rPr dirty="0"/>
              <a:t> </a:t>
            </a:r>
            <a:r>
              <a:rPr dirty="0" err="1"/>
              <a:t>dominante</a:t>
            </a:r>
            <a:r>
              <a:rPr dirty="0"/>
              <a:t>: Walmart Food Trust (Walmart </a:t>
            </a:r>
            <a:r>
              <a:rPr dirty="0" err="1"/>
              <a:t>impone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Democratico: </a:t>
            </a:r>
            <a:r>
              <a:rPr dirty="0" err="1"/>
              <a:t>Alastria</a:t>
            </a:r>
            <a:r>
              <a:rPr dirty="0"/>
              <a:t> (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miembro</a:t>
            </a:r>
            <a:r>
              <a:rPr dirty="0"/>
              <a:t> un </a:t>
            </a:r>
            <a:r>
              <a:rPr dirty="0" err="1"/>
              <a:t>voto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asamblea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Federado</a:t>
            </a:r>
            <a:r>
              <a:rPr dirty="0"/>
              <a:t>: EBSI (</a:t>
            </a:r>
            <a:r>
              <a:rPr dirty="0" err="1"/>
              <a:t>comite</a:t>
            </a:r>
            <a:r>
              <a:rPr dirty="0"/>
              <a:t> </a:t>
            </a:r>
            <a:r>
              <a:rPr dirty="0" err="1"/>
              <a:t>ejecutivo</a:t>
            </a:r>
            <a:r>
              <a:rPr dirty="0"/>
              <a:t> </a:t>
            </a:r>
            <a:r>
              <a:rPr dirty="0" err="1"/>
              <a:t>rotativo</a:t>
            </a:r>
            <a:r>
              <a:rPr dirty="0"/>
              <a:t> entre </a:t>
            </a:r>
            <a:r>
              <a:rPr dirty="0" err="1"/>
              <a:t>miembros</a:t>
            </a:r>
            <a:r>
              <a:rPr dirty="0"/>
              <a:t>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¿Como </a:t>
            </a:r>
            <a:r>
              <a:rPr dirty="0" err="1"/>
              <a:t>codifica</a:t>
            </a:r>
            <a:r>
              <a:rPr dirty="0"/>
              <a:t> Fabric la </a:t>
            </a:r>
            <a:r>
              <a:rPr dirty="0" err="1"/>
              <a:t>gobernanza</a:t>
            </a:r>
            <a:r>
              <a:rPr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Politicas</a:t>
            </a:r>
            <a:r>
              <a:rPr dirty="0"/>
              <a:t> de canal (MAJORITY Admins, </a:t>
            </a:r>
            <a:r>
              <a:rPr dirty="0" err="1"/>
              <a:t>etc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Politicas</a:t>
            </a:r>
            <a:r>
              <a:rPr dirty="0"/>
              <a:t> de endorsement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chaincode</a:t>
            </a:r>
            <a:r>
              <a:rPr dirty="0"/>
              <a:t> o state-based </a:t>
            </a:r>
            <a:r>
              <a:rPr dirty="0" err="1"/>
              <a:t>por</a:t>
            </a:r>
            <a:r>
              <a:rPr dirty="0"/>
              <a:t> key.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Lifecycle: </a:t>
            </a:r>
            <a:r>
              <a:rPr dirty="0" err="1"/>
              <a:t>approveformyorg</a:t>
            </a:r>
            <a:r>
              <a:rPr dirty="0"/>
              <a:t> + commit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consenso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Configuracion</a:t>
            </a:r>
            <a:r>
              <a:rPr dirty="0"/>
              <a:t> del canal: </a:t>
            </a:r>
            <a:r>
              <a:rPr dirty="0" err="1"/>
              <a:t>cambios</a:t>
            </a:r>
            <a:r>
              <a:rPr dirty="0"/>
              <a:t> via </a:t>
            </a:r>
            <a:r>
              <a:rPr dirty="0" err="1"/>
              <a:t>propuesta</a:t>
            </a:r>
            <a:r>
              <a:rPr dirty="0"/>
              <a:t> + </a:t>
            </a:r>
            <a:r>
              <a:rPr dirty="0" err="1"/>
              <a:t>firmas</a:t>
            </a:r>
            <a:r>
              <a:rPr dirty="0"/>
              <a:t> + update.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3883-EFD0-EBD4-00D3-9CE64083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E06754-A856-4AF0-8AA9-89E78DEED6A6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82A04-AA24-9B4D-E8C1-62ADCFFBE901}"/>
              </a:ext>
            </a:extLst>
          </p:cNvPr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CF7974-55AF-FA1F-803E-1B33BD94967F}"/>
              </a:ext>
            </a:extLst>
          </p:cNvPr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DEB7-5693-78BC-2914-62280E15D52C}"/>
              </a:ext>
            </a:extLst>
          </p:cNvPr>
          <p:cNvSpPr txBox="1"/>
          <p:nvPr/>
        </p:nvSpPr>
        <p:spPr>
          <a:xfrm>
            <a:off x="640080" y="1280160"/>
            <a:ext cx="1051560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4. ¿Quien </a:t>
            </a:r>
            <a:r>
              <a:rPr lang="es-ES" dirty="0" err="1"/>
              <a:t>deberia</a:t>
            </a:r>
            <a:r>
              <a:rPr lang="es-ES" dirty="0"/>
              <a:t> pagar los </a:t>
            </a:r>
            <a:r>
              <a:rPr lang="es-ES" dirty="0" err="1"/>
              <a:t>orderers</a:t>
            </a:r>
            <a:r>
              <a:rPr lang="es-ES"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Depende del modelo: cuota fija por </a:t>
            </a:r>
            <a:r>
              <a:rPr lang="es-ES" dirty="0" err="1"/>
              <a:t>org</a:t>
            </a:r>
            <a:r>
              <a:rPr lang="es-ES" dirty="0"/>
              <a:t> o proporcional al uso.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Modelo sponsor: una </a:t>
            </a:r>
            <a:r>
              <a:rPr lang="es-ES" dirty="0" err="1"/>
              <a:t>org</a:t>
            </a:r>
            <a:r>
              <a:rPr lang="es-ES" dirty="0"/>
              <a:t> paga todo al principio (no recomendado a largo plazo).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</a:t>
            </a:r>
            <a:r>
              <a:rPr lang="es-ES" dirty="0" err="1"/>
              <a:t>Producci­on</a:t>
            </a:r>
            <a:r>
              <a:rPr lang="es-ES" dirty="0"/>
              <a:t>: cada </a:t>
            </a:r>
            <a:r>
              <a:rPr lang="es-ES" dirty="0" err="1"/>
              <a:t>org</a:t>
            </a:r>
            <a:r>
              <a:rPr lang="es-ES" dirty="0"/>
              <a:t> opera su propio </a:t>
            </a:r>
            <a:r>
              <a:rPr lang="es-ES" dirty="0" err="1"/>
              <a:t>orderer</a:t>
            </a:r>
            <a:r>
              <a:rPr lang="es-ES" dirty="0"/>
              <a:t> (</a:t>
            </a:r>
            <a:r>
              <a:rPr lang="es-ES" dirty="0" err="1"/>
              <a:t>Raft</a:t>
            </a:r>
            <a:r>
              <a:rPr lang="es-ES" dirty="0"/>
              <a:t> distribuido).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5. ¿Que definir ANTES de que una </a:t>
            </a:r>
            <a:r>
              <a:rPr lang="es-ES" dirty="0" err="1"/>
              <a:t>org</a:t>
            </a:r>
            <a:r>
              <a:rPr lang="es-ES" dirty="0"/>
              <a:t> abandone?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Como se revocan sus certificados y se actualiza la CRL.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Que pasa con los datos en el </a:t>
            </a:r>
            <a:r>
              <a:rPr lang="es-ES" dirty="0" err="1"/>
              <a:t>ledger</a:t>
            </a:r>
            <a:r>
              <a:rPr lang="es-ES" dirty="0"/>
              <a:t> (inmutables, no se borran).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Quien asume sus responsabilidades operativas.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dirty="0"/>
              <a:t>    Clausula de </a:t>
            </a:r>
            <a:r>
              <a:rPr lang="es-ES" dirty="0" err="1"/>
              <a:t>resolucion</a:t>
            </a:r>
            <a:r>
              <a:rPr lang="es-ES" dirty="0"/>
              <a:t> de disputas y </a:t>
            </a:r>
            <a:r>
              <a:rPr lang="es-ES" dirty="0" err="1"/>
              <a:t>sucesion</a:t>
            </a:r>
            <a:r>
              <a:rPr lang="es-ES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/>
              <a:t>    Todo esto DEBE estar en el acuerdo del consorcio ANTES de empezar.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267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</Words>
  <Application>Microsoft Office PowerPoint</Application>
  <PresentationFormat>Personalizado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2</cp:revision>
  <dcterms:created xsi:type="dcterms:W3CDTF">2013-01-27T09:14:16Z</dcterms:created>
  <dcterms:modified xsi:type="dcterms:W3CDTF">2026-04-23T12:12:46Z</dcterms:modified>
  <cp:category/>
</cp:coreProperties>
</file>