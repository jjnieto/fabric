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Blockchain: adopcion y barreras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¿Por que blockchain</a:t>
            </a:r>
            <a:br/>
            <a:r>
              <a:t>no ha triunfado (todavia)?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Casos reales, barreras de adopcion y el papel de blockchain privada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promesa vs la realidad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prometia revolucionar industrias enteras: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Cadenas de suministro transparentes y trazables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Registros inmutables de propiedad, identidad, salud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Pagos transfronterizos instantaneos y baratos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Votacion electronica segura y verificable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Eliminacion de intermediarios en seguros, finanzas, comercio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realidad (2024-2026):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mayoria de pilotos no pasaron a produccion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Varios consorcios de grandes empresas cerraron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adopcion masiva no ha llegado fuera de cripto/DeFi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empresas siguen usando bases de datos tradicionales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ha fallado? No es la tecnologia. Son los incentivos, la regulacion y la 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ciclo</a:t>
            </a:r>
            <a:r>
              <a:rPr dirty="0"/>
              <a:t> de hype de </a:t>
            </a:r>
            <a:r>
              <a:rPr lang="es-ES" dirty="0"/>
              <a:t>las tecnologías (Curva de Gartner)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8F9B7BF-8B12-85E4-5BF7-BBDF04BA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93" y="1299268"/>
            <a:ext cx="7954438" cy="500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6 casos reales</a:t>
            </a:r>
            <a:br/>
            <a:r>
              <a:t>que no llegaron al mainstream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¿Que podemos aprender de cada uno?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1: TradeLens (Maersk + IBM)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plataforma de trazabilidad de comercio maritimo global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Inversion: cientos de millones de dolares, respaldada por IBM y Maersk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Participantes: llego a conectar a mas de 150 organizaciones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cerro en noviembre de 2022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navieras competidoras (MSC, CMA CGM) no querian unirse a una plataforma controlada por Maersk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'fundador dominante': ¿por que dar mis datos a mi competidor?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se alcanzo la masa critica necesaria para que la red fuera util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propuesta de valor no compensaba el coste de integracion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2: B3i (consorcio de aseguradoras)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plataforma de reaseguros automatizados con smart contracts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R3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Fundadores: Allianz, Swiss Re, Zurich, Munich Re y otras 15+ aseguradoras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cerro en julio de 2022 tras declararse insolvente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encontro un modelo de negocio viable: ¿quien paga la plataforma?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aseguradoras querian participar pero no financiar indefinidamente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Complejidad regulatoria: cada pais con reglas distintas para reaseguros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sistemas legacy de las aseguradoras eran muy dificiles de integrar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Leccion: la tecnologia funcionaba, el negocio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3: MedRec (MIT - historial medico)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sistema de historial medico compartido entre hospitales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Ethereum (red privada)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Concepto: el paciente controla quien accede a sus datos medicos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nunca paso de fase de investigacion academica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Regulacion sanitaria extremadamente estricta (HIPAA en EE.UU., GDPR en Europa)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medicos no quieren aprender herramientas nuevas: la UX debe ser invisible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hospitales tienen sistemas legacy incompatibles entre si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¿Quien administra la red? ¿Quien paga los nodos? ¿Quien es responsable?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Privacidad: ¿realmente queremos datos medicos en CUALQUIER tipo de blockchain?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4: Voatz (votacion electronica)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app de votacion electronica basada en blockchain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Uso real: se uso en elecciones locales en West Virginia (EE.UU.)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Promesa: votacion segura, verificable y accesible desde el movil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auditoria del MIT encontro vulnerabilidades criticas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Investigadores del MIT demostraron que los votos podian ser alterados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app dependia de un servidor central: no era realmente descentralizada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voto electronico tiene un problema fundamental: verificabilidad vs anonimato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Rechazo politico: ambos partidos desconfian del voto electronico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no resuelve el 'ultimo metro': ¿como verificas la identidad del votante?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5: De Beers - Tracr (diamantes)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trazabilidad de diamantes desde la mina al consumidor final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blockchain privada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demostrar que un diamante no es 'de sangre' ni de conflicto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Estado: funciona, pero adopcion limitada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no ha triunfado?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proveedores pequenos (minas artesanales) no tienen infraestructura digital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'garbage in, garbage out': si la mina miente al registrar, blockchain no lo detecta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intermediarios que se benefician de la opacidad no quieren participar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consumidor final no sabe (ni le importa) verificar en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 Beers controla la plataforma: mismo problema de 'fundador dominante' que TradeLens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6: Registro de propiedad de Honduras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registro inmobiliario en blockchain para combatir la corrupcion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Contexto: en Honduras, el fraude en registros de propiedad es endemico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Promesa: un registro inmutable que ningun funcionario pudiera alterar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el proyecto fue abandonado en fase inicial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Resistencia institucional: los que se benefician de la corrupcion bloquearon el proyecto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Marco legal: la ley hondurena no reconoce registros digitales como validos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 de infraestructura: muchas zonas rurales sin internet fiable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'genesis': ¿quien carga los datos iniciales? ¿y si ya son fraudulentos?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no elimina la corrupcion si los corruptos controlan la entrada de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Resumen: ¿por que no triunfaron?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Barrera principal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¿Fallo la tecnologia?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TradeLens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Gobernanza: competidores no se unen a plataforma del rival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B3i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de negocio: nadie queria pagar la plataforma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MedRec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Regulacion + UX: demasiado complejo para medicos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Seguridad + confianza: vulnerabilidades y rechazo politico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Parcialmente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 Beers Tracr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Adopcion: proveedores pequenos sin incentivo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Institucional: resistencia politica y marco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Patrones comunes: las 5 barreras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Gobernanza: ¿quien controla la red? El fundador dominante ahuyenta a los demas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Incentivos: ¿por que participaria cada actor? Si no gana nada, no se une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Regulacion: las leyes no estan preparadas para registros inmutables descentralizados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UX y complejidad: si el usuario final necesita entender blockchain, ya has perdido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El problema del genesis: blockchain garantiza inmutabilidad, pero no veracidad del dato inicial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Ninguno de estos problemas es tecnologico. Son problemas de personas, de negocio y de regulacion.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Debate: ¿Por que blockchain no ha triunfado?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 err="1"/>
              <a:t>Dividirse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3 </a:t>
            </a:r>
            <a:r>
              <a:rPr sz="1600" dirty="0" err="1"/>
              <a:t>grupos</a:t>
            </a:r>
            <a:r>
              <a:rPr sz="1600" dirty="0"/>
              <a:t>. Cada </a:t>
            </a:r>
            <a:r>
              <a:rPr sz="1600" dirty="0" err="1"/>
              <a:t>grupo</a:t>
            </a:r>
            <a:r>
              <a:rPr sz="1600" dirty="0"/>
              <a:t> </a:t>
            </a:r>
            <a:r>
              <a:rPr sz="1600" dirty="0" err="1"/>
              <a:t>recibe</a:t>
            </a:r>
            <a:r>
              <a:rPr sz="1600" dirty="0"/>
              <a:t> 2 </a:t>
            </a:r>
            <a:r>
              <a:rPr sz="1600" dirty="0" err="1"/>
              <a:t>casos</a:t>
            </a:r>
            <a:r>
              <a:rPr sz="1600"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Para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caso</a:t>
            </a:r>
            <a:r>
              <a:rPr sz="1600" dirty="0"/>
              <a:t>, </a:t>
            </a:r>
            <a:r>
              <a:rPr sz="1600" dirty="0" err="1"/>
              <a:t>debatir</a:t>
            </a:r>
            <a:r>
              <a:rPr sz="1600" dirty="0"/>
              <a:t> y </a:t>
            </a:r>
            <a:r>
              <a:rPr sz="1600" dirty="0" err="1"/>
              <a:t>preparar</a:t>
            </a:r>
            <a:r>
              <a:rPr sz="1600" dirty="0"/>
              <a:t> (15 </a:t>
            </a:r>
            <a:r>
              <a:rPr sz="1600" dirty="0" err="1"/>
              <a:t>minutos</a:t>
            </a:r>
            <a:r>
              <a:rPr sz="1600" dirty="0"/>
              <a:t>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1. ¿El </a:t>
            </a:r>
            <a:r>
              <a:rPr sz="1600" dirty="0" err="1"/>
              <a:t>problema</a:t>
            </a:r>
            <a:r>
              <a:rPr sz="1600" dirty="0"/>
              <a:t> era real? ¿Blockchain era la </a:t>
            </a:r>
            <a:r>
              <a:rPr sz="1600" dirty="0" err="1"/>
              <a:t>solucion</a:t>
            </a:r>
            <a:r>
              <a:rPr sz="1600" dirty="0"/>
              <a:t> </a:t>
            </a:r>
            <a:r>
              <a:rPr sz="1600" dirty="0" err="1"/>
              <a:t>correcta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2. ¿</a:t>
            </a:r>
            <a:r>
              <a:rPr sz="1600" dirty="0" err="1"/>
              <a:t>Cual</a:t>
            </a:r>
            <a:r>
              <a:rPr sz="1600" dirty="0"/>
              <a:t> </a:t>
            </a:r>
            <a:r>
              <a:rPr sz="1600" dirty="0" err="1"/>
              <a:t>fue</a:t>
            </a:r>
            <a:r>
              <a:rPr sz="1600" dirty="0"/>
              <a:t> la barrera principal? (</a:t>
            </a:r>
            <a:r>
              <a:rPr sz="1600" dirty="0" err="1"/>
              <a:t>gobernanza</a:t>
            </a:r>
            <a:r>
              <a:rPr sz="1600" dirty="0"/>
              <a:t>, </a:t>
            </a:r>
            <a:r>
              <a:rPr sz="1600" dirty="0" err="1"/>
              <a:t>incentivos</a:t>
            </a:r>
            <a:r>
              <a:rPr sz="1600" dirty="0"/>
              <a:t>, </a:t>
            </a:r>
            <a:r>
              <a:rPr sz="1600" dirty="0" err="1"/>
              <a:t>regulacion</a:t>
            </a:r>
            <a:r>
              <a:rPr sz="1600" dirty="0"/>
              <a:t>, UX, genesis)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3. ¿</a:t>
            </a:r>
            <a:r>
              <a:rPr sz="1600" dirty="0" err="1"/>
              <a:t>Podria</a:t>
            </a:r>
            <a:r>
              <a:rPr sz="1600" dirty="0"/>
              <a:t> </a:t>
            </a:r>
            <a:r>
              <a:rPr sz="1600" dirty="0" err="1"/>
              <a:t>funcionar</a:t>
            </a:r>
            <a:r>
              <a:rPr sz="1600" dirty="0"/>
              <a:t> HOY con </a:t>
            </a:r>
            <a:r>
              <a:rPr sz="1600" dirty="0" err="1"/>
              <a:t>una</a:t>
            </a:r>
            <a:r>
              <a:rPr sz="1600" dirty="0"/>
              <a:t> blockchain </a:t>
            </a:r>
            <a:r>
              <a:rPr sz="1600" dirty="0" err="1"/>
              <a:t>privada</a:t>
            </a:r>
            <a:r>
              <a:rPr sz="1600" dirty="0"/>
              <a:t>/permissioned </a:t>
            </a:r>
            <a:r>
              <a:rPr sz="1600" dirty="0" err="1"/>
              <a:t>tipo</a:t>
            </a:r>
            <a:r>
              <a:rPr sz="1600" dirty="0"/>
              <a:t> Fabric?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4. ¿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condiciones</a:t>
            </a:r>
            <a:r>
              <a:rPr sz="1600" dirty="0"/>
              <a:t> </a:t>
            </a:r>
            <a:r>
              <a:rPr sz="1600" dirty="0" err="1"/>
              <a:t>deberian</a:t>
            </a:r>
            <a:r>
              <a:rPr sz="1600" dirty="0"/>
              <a:t> </a:t>
            </a:r>
            <a:r>
              <a:rPr sz="1600" dirty="0" err="1"/>
              <a:t>darse</a:t>
            </a:r>
            <a:r>
              <a:rPr sz="1600" dirty="0"/>
              <a:t> para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funcionase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 err="1"/>
              <a:t>Puesta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comun</a:t>
            </a:r>
            <a:r>
              <a:rPr sz="1600" dirty="0"/>
              <a:t> (5 </a:t>
            </a:r>
            <a:r>
              <a:rPr sz="1600" dirty="0" err="1"/>
              <a:t>minutos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grupo</a:t>
            </a:r>
            <a:r>
              <a:rPr sz="1600" dirty="0"/>
              <a:t>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- </a:t>
            </a:r>
            <a:r>
              <a:rPr sz="1600" dirty="0" err="1"/>
              <a:t>Presentar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2 </a:t>
            </a:r>
            <a:r>
              <a:rPr sz="1600" dirty="0" err="1"/>
              <a:t>casos</a:t>
            </a:r>
            <a:r>
              <a:rPr sz="1600" dirty="0"/>
              <a:t> y las </a:t>
            </a:r>
            <a:r>
              <a:rPr sz="1600" dirty="0" err="1"/>
              <a:t>conclusiones</a:t>
            </a: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- ¿Hay </a:t>
            </a:r>
            <a:r>
              <a:rPr sz="1600" dirty="0" err="1"/>
              <a:t>patrones</a:t>
            </a:r>
            <a:r>
              <a:rPr sz="1600" dirty="0"/>
              <a:t> </a:t>
            </a:r>
            <a:r>
              <a:rPr sz="1600" dirty="0" err="1"/>
              <a:t>comunes</a:t>
            </a:r>
            <a:r>
              <a:rPr sz="1600" dirty="0"/>
              <a:t> entre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fracasos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A: </a:t>
            </a:r>
            <a:r>
              <a:rPr sz="1600" dirty="0" err="1"/>
              <a:t>TradeLens</a:t>
            </a:r>
            <a:r>
              <a:rPr sz="1600" dirty="0"/>
              <a:t> + B3i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B: </a:t>
            </a:r>
            <a:r>
              <a:rPr sz="1600" dirty="0" err="1"/>
              <a:t>MedRec</a:t>
            </a:r>
            <a:r>
              <a:rPr sz="1600" dirty="0"/>
              <a:t> + </a:t>
            </a:r>
            <a:r>
              <a:rPr sz="1600" dirty="0" err="1"/>
              <a:t>Voatz</a:t>
            </a: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C: De Beers Tracr + Honduras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Preguntas para el debate conjunto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De los 6 casos, ¿cual creeis que tiene mas posibilidades de funcionar en el futuro? ¿Por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¿Blockchain privada (Fabric) resuelve alguna de las 5 barreras? ¿Cuales si y cuales no?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¿Conoceis algun caso en vuestro sector que podria caer en las mismas trampas?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tuvierais que convencer a vuestro jefe de usar blockchain, ¿que argumentos usariais sabiendo estos fracasos?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¿Hay casos donde simplemente NO se necesita blockchain y una base de datos basta?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¿Y si el problema no es blockchain, sino QUE blockchain?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Muchos de estos proyectos usaron blockchain publica o redes mal gobernadas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privada/permissioned (Fabric) resuelve varias barreras: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Escalabilidad: miles de TPS sin gas fees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Privacidad: canales y Private Data (clave para salud, finanzas)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Identidades conocidas: cumplimiento regulatorio (KYC, AML)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UX: el usuario final no necesita saber que hay blockchain detras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Gobernanza: reglas claras desde el inicio (politicas de endorsement)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NO resuelve: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problema del genesis: si el dato inicial es falso, blockchain lo hace inmutable, no verdadero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Incentivos: si los participantes no ganan nada, no se unen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Resistencia institucional: si los que mandan no quieren transparencia, la bloquearan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clave: blockchain privada funciona cuando hay un consorcio con incentivos alineados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Casos que SI estan funcionando (con blockchain privada)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Walmart + IBM Food Trust: trazabilidad alimentaria en produccion desde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We.Trade: financiacion de comercio internacional entre bancos europeos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Marco Polo Network: trade finance con multiples bancos en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HKMA (Hong Kong): plataforma de trade finance eTradeConnect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ANZ + Scentre Group: tokenizacion de alquileres comerciales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tienen en comun los que SI funcionan?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Consorcio con incentivos claros y alineados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problema real que no se resolvia sin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equilibrada (ningun actor domina)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UX transparente: el usuario no ve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Regulacion compatible o apoyo del regulador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 actividad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TradeLens</a:t>
            </a:r>
            <a:r>
              <a:rPr dirty="0"/>
              <a:t> (Maersk + IBM):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Problema</a:t>
            </a:r>
            <a:r>
              <a:rPr dirty="0"/>
              <a:t> real? Si — </a:t>
            </a:r>
            <a:r>
              <a:rPr dirty="0" err="1"/>
              <a:t>coordinacion</a:t>
            </a:r>
            <a:r>
              <a:rPr dirty="0"/>
              <a:t> entre </a:t>
            </a:r>
            <a:r>
              <a:rPr dirty="0" err="1"/>
              <a:t>navieras</a:t>
            </a:r>
            <a:r>
              <a:rPr dirty="0"/>
              <a:t>, </a:t>
            </a:r>
            <a:r>
              <a:rPr dirty="0" err="1"/>
              <a:t>puertos</a:t>
            </a:r>
            <a:r>
              <a:rPr dirty="0"/>
              <a:t>, </a:t>
            </a:r>
            <a:r>
              <a:rPr dirty="0" err="1"/>
              <a:t>aduanas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Barrera: GOBERNANZA (</a:t>
            </a:r>
            <a:r>
              <a:rPr dirty="0" err="1"/>
              <a:t>fundador</a:t>
            </a:r>
            <a:r>
              <a:rPr dirty="0"/>
              <a:t> </a:t>
            </a:r>
            <a:r>
              <a:rPr dirty="0" err="1"/>
              <a:t>dominante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Funcionaria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Fabric </a:t>
            </a:r>
            <a:r>
              <a:rPr dirty="0" err="1"/>
              <a:t>privada</a:t>
            </a:r>
            <a:r>
              <a:rPr dirty="0"/>
              <a:t>? Si, </a:t>
            </a:r>
            <a:r>
              <a:rPr dirty="0" err="1"/>
              <a:t>si</a:t>
            </a:r>
            <a:r>
              <a:rPr dirty="0"/>
              <a:t> lo funda un </a:t>
            </a:r>
            <a:r>
              <a:rPr dirty="0" err="1"/>
              <a:t>consorcio</a:t>
            </a:r>
            <a:r>
              <a:rPr dirty="0"/>
              <a:t> </a:t>
            </a:r>
            <a:r>
              <a:rPr dirty="0" err="1"/>
              <a:t>neutro</a:t>
            </a:r>
            <a:r>
              <a:rPr dirty="0"/>
              <a:t> o la IMO.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Condiciones</a:t>
            </a:r>
            <a:r>
              <a:rPr dirty="0"/>
              <a:t>: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controla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orderers</a:t>
            </a:r>
            <a:r>
              <a:rPr dirty="0"/>
              <a:t>, </a:t>
            </a:r>
            <a:r>
              <a:rPr dirty="0" err="1"/>
              <a:t>reglas</a:t>
            </a:r>
            <a:r>
              <a:rPr dirty="0"/>
              <a:t> de entrada/</a:t>
            </a:r>
            <a:r>
              <a:rPr dirty="0" err="1"/>
              <a:t>salida</a:t>
            </a:r>
            <a:r>
              <a:rPr dirty="0"/>
              <a:t> </a:t>
            </a:r>
            <a:r>
              <a:rPr dirty="0" err="1"/>
              <a:t>claras</a:t>
            </a:r>
            <a:r>
              <a:rPr dirty="0"/>
              <a:t>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 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costes</a:t>
            </a:r>
            <a:r>
              <a:rPr dirty="0"/>
              <a:t> </a:t>
            </a:r>
            <a:r>
              <a:rPr dirty="0" err="1"/>
              <a:t>proporcional</a:t>
            </a:r>
            <a:r>
              <a:rPr dirty="0"/>
              <a:t> (</a:t>
            </a:r>
            <a:r>
              <a:rPr dirty="0" err="1"/>
              <a:t>cuotas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tamano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B3i (</a:t>
            </a:r>
            <a:r>
              <a:rPr dirty="0" err="1"/>
              <a:t>consorcio</a:t>
            </a:r>
            <a:r>
              <a:rPr dirty="0"/>
              <a:t> </a:t>
            </a:r>
            <a:r>
              <a:rPr dirty="0" err="1"/>
              <a:t>reaseguros</a:t>
            </a:r>
            <a:r>
              <a:rPr dirty="0"/>
              <a:t>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Problema</a:t>
            </a:r>
            <a:r>
              <a:rPr dirty="0"/>
              <a:t> real? Si — </a:t>
            </a:r>
            <a:r>
              <a:rPr dirty="0" err="1"/>
              <a:t>duplicacion</a:t>
            </a:r>
            <a:r>
              <a:rPr dirty="0"/>
              <a:t> documental y </a:t>
            </a:r>
            <a:r>
              <a:rPr dirty="0" err="1"/>
              <a:t>liquidaciones</a:t>
            </a:r>
            <a:r>
              <a:rPr dirty="0"/>
              <a:t> </a:t>
            </a:r>
            <a:r>
              <a:rPr dirty="0" err="1"/>
              <a:t>lentas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Barrera: INCENTIVOS (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insostenible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Funcionaria</a:t>
            </a:r>
            <a:r>
              <a:rPr dirty="0"/>
              <a:t> hoy </a:t>
            </a:r>
            <a:r>
              <a:rPr dirty="0" err="1"/>
              <a:t>en</a:t>
            </a:r>
            <a:r>
              <a:rPr dirty="0"/>
              <a:t> Fabric </a:t>
            </a:r>
            <a:r>
              <a:rPr dirty="0" err="1"/>
              <a:t>privada</a:t>
            </a:r>
            <a:r>
              <a:rPr dirty="0"/>
              <a:t>? Si, con fees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transaccion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Condiciones</a:t>
            </a:r>
            <a:r>
              <a:rPr dirty="0"/>
              <a:t>: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reaseguro</a:t>
            </a:r>
            <a:r>
              <a:rPr dirty="0"/>
              <a:t> </a:t>
            </a:r>
            <a:r>
              <a:rPr dirty="0" err="1"/>
              <a:t>paga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pequena</a:t>
            </a:r>
            <a:r>
              <a:rPr dirty="0"/>
              <a:t> </a:t>
            </a:r>
            <a:r>
              <a:rPr dirty="0" err="1"/>
              <a:t>comision</a:t>
            </a:r>
            <a:r>
              <a:rPr dirty="0"/>
              <a:t> al </a:t>
            </a:r>
            <a:r>
              <a:rPr dirty="0" err="1"/>
              <a:t>consorcio</a:t>
            </a:r>
            <a:r>
              <a:rPr dirty="0"/>
              <a:t>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  MVP con 1 </a:t>
            </a:r>
            <a:r>
              <a:rPr dirty="0" err="1"/>
              <a:t>linea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(</a:t>
            </a:r>
            <a:r>
              <a:rPr dirty="0" err="1"/>
              <a:t>catastroficos</a:t>
            </a:r>
            <a:r>
              <a:rPr dirty="0"/>
              <a:t>), </a:t>
            </a:r>
            <a:r>
              <a:rPr dirty="0" err="1"/>
              <a:t>apoyo</a:t>
            </a:r>
            <a:r>
              <a:rPr dirty="0"/>
              <a:t> de EIOPA.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MedRec</a:t>
            </a:r>
            <a:r>
              <a:rPr dirty="0"/>
              <a:t> (MIT - </a:t>
            </a:r>
            <a:r>
              <a:rPr dirty="0" err="1"/>
              <a:t>historiales</a:t>
            </a:r>
            <a:r>
              <a:rPr dirty="0"/>
              <a:t> medicos):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Problema</a:t>
            </a:r>
            <a:r>
              <a:rPr dirty="0"/>
              <a:t> real? Si — </a:t>
            </a:r>
            <a:r>
              <a:rPr dirty="0" err="1"/>
              <a:t>pacientes</a:t>
            </a:r>
            <a:r>
              <a:rPr dirty="0"/>
              <a:t> sin control </a:t>
            </a:r>
            <a:r>
              <a:rPr dirty="0" err="1"/>
              <a:t>sobre</a:t>
            </a:r>
            <a:r>
              <a:rPr dirty="0"/>
              <a:t> sus </a:t>
            </a:r>
            <a:r>
              <a:rPr dirty="0" err="1"/>
              <a:t>datos</a:t>
            </a:r>
            <a:r>
              <a:rPr dirty="0"/>
              <a:t> medicos.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Barrera: REGULACION + UX + GENESIS.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¿</a:t>
            </a:r>
            <a:r>
              <a:rPr dirty="0" err="1"/>
              <a:t>Funcionaria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Fabric? </a:t>
            </a:r>
            <a:r>
              <a:rPr dirty="0" err="1"/>
              <a:t>Parcialmente</a:t>
            </a:r>
            <a:r>
              <a:rPr dirty="0"/>
              <a:t> — </a:t>
            </a:r>
            <a:r>
              <a:rPr dirty="0" err="1"/>
              <a:t>si</a:t>
            </a:r>
            <a:r>
              <a:rPr dirty="0"/>
              <a:t>, con </a:t>
            </a:r>
            <a:r>
              <a:rPr dirty="0" err="1"/>
              <a:t>datos</a:t>
            </a:r>
            <a:r>
              <a:rPr dirty="0"/>
              <a:t> off-chain y hashes on-chain.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Condiciones</a:t>
            </a:r>
            <a:r>
              <a:rPr dirty="0"/>
              <a:t>: </a:t>
            </a:r>
            <a:r>
              <a:rPr dirty="0" err="1"/>
              <a:t>adopcion</a:t>
            </a:r>
            <a:r>
              <a:rPr dirty="0"/>
              <a:t> </a:t>
            </a:r>
            <a:r>
              <a:rPr dirty="0" err="1"/>
              <a:t>obligatoria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de </a:t>
            </a:r>
            <a:r>
              <a:rPr dirty="0" err="1"/>
              <a:t>salud</a:t>
            </a:r>
            <a:r>
              <a:rPr dirty="0"/>
              <a:t>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  UX </a:t>
            </a:r>
            <a:r>
              <a:rPr dirty="0" err="1"/>
              <a:t>transparente</a:t>
            </a:r>
            <a:r>
              <a:rPr dirty="0"/>
              <a:t> para medicos, </a:t>
            </a:r>
            <a:r>
              <a:rPr dirty="0" err="1"/>
              <a:t>cumplimiento</a:t>
            </a:r>
            <a:r>
              <a:rPr dirty="0"/>
              <a:t> GDPR </a:t>
            </a:r>
            <a:r>
              <a:rPr dirty="0" err="1"/>
              <a:t>estricto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 actividad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6348"/>
            <a:ext cx="10515600" cy="573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Voatz</a:t>
            </a:r>
            <a:r>
              <a:rPr dirty="0"/>
              <a:t> (</a:t>
            </a:r>
            <a:r>
              <a:rPr dirty="0" err="1"/>
              <a:t>votacion</a:t>
            </a:r>
            <a:r>
              <a:rPr dirty="0"/>
              <a:t> electronica):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Problema</a:t>
            </a:r>
            <a:r>
              <a:rPr sz="1600" dirty="0"/>
              <a:t> real? Si — </a:t>
            </a:r>
            <a:r>
              <a:rPr sz="1600" dirty="0" err="1"/>
              <a:t>accesibilidad</a:t>
            </a:r>
            <a:r>
              <a:rPr sz="1600" dirty="0"/>
              <a:t> del </a:t>
            </a:r>
            <a:r>
              <a:rPr sz="1600" dirty="0" err="1"/>
              <a:t>voto</a:t>
            </a:r>
            <a:r>
              <a:rPr sz="1600" dirty="0"/>
              <a:t>, </a:t>
            </a:r>
            <a:r>
              <a:rPr sz="1600" dirty="0" err="1"/>
              <a:t>especialmente</a:t>
            </a:r>
            <a:r>
              <a:rPr sz="1600" dirty="0"/>
              <a:t> </a:t>
            </a:r>
            <a:r>
              <a:rPr sz="1600" dirty="0" err="1"/>
              <a:t>remoto</a:t>
            </a:r>
            <a:r>
              <a:rPr sz="1600" dirty="0"/>
              <a:t>/</a:t>
            </a:r>
            <a:r>
              <a:rPr sz="1600" dirty="0" err="1"/>
              <a:t>discapacidad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Barrera: REGULACION + UX + GENESIS (</a:t>
            </a:r>
            <a:r>
              <a:rPr sz="1600" dirty="0" err="1"/>
              <a:t>verificacion</a:t>
            </a:r>
            <a:r>
              <a:rPr sz="1600" dirty="0"/>
              <a:t> de </a:t>
            </a:r>
            <a:r>
              <a:rPr sz="1600" dirty="0" err="1"/>
              <a:t>identidad</a:t>
            </a:r>
            <a:r>
              <a:rPr sz="1600" dirty="0"/>
              <a:t> del </a:t>
            </a:r>
            <a:r>
              <a:rPr sz="1600" dirty="0" err="1"/>
              <a:t>votante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Funcionaria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Fabric? NO </a:t>
            </a:r>
            <a:r>
              <a:rPr sz="1600" dirty="0" err="1"/>
              <a:t>resuelve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problema</a:t>
            </a:r>
            <a:r>
              <a:rPr sz="1600" dirty="0"/>
              <a:t> fundamental — la </a:t>
            </a:r>
            <a:r>
              <a:rPr sz="1600" dirty="0" err="1"/>
              <a:t>identidad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Condiciones</a:t>
            </a:r>
            <a:r>
              <a:rPr sz="1600" dirty="0"/>
              <a:t>: </a:t>
            </a:r>
            <a:r>
              <a:rPr sz="1600" dirty="0" err="1"/>
              <a:t>voto</a:t>
            </a:r>
            <a:r>
              <a:rPr sz="1600" dirty="0"/>
              <a:t> </a:t>
            </a:r>
            <a:r>
              <a:rPr sz="1600" dirty="0" err="1"/>
              <a:t>verificable</a:t>
            </a:r>
            <a:r>
              <a:rPr sz="1600" dirty="0"/>
              <a:t> </a:t>
            </a:r>
            <a:r>
              <a:rPr sz="1600" dirty="0" err="1"/>
              <a:t>criptograficamente</a:t>
            </a:r>
            <a:r>
              <a:rPr sz="1600" dirty="0"/>
              <a:t> + supervision </a:t>
            </a:r>
            <a:r>
              <a:rPr sz="1600" dirty="0" err="1"/>
              <a:t>oficial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Blockchain </a:t>
            </a:r>
            <a:r>
              <a:rPr sz="1600" dirty="0" err="1"/>
              <a:t>aqui</a:t>
            </a:r>
            <a:r>
              <a:rPr sz="1600" dirty="0"/>
              <a:t> es la </a:t>
            </a:r>
            <a:r>
              <a:rPr sz="1600" dirty="0" err="1"/>
              <a:t>parte</a:t>
            </a:r>
            <a:r>
              <a:rPr sz="1600" dirty="0"/>
              <a:t> FACIL;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problema</a:t>
            </a:r>
            <a:r>
              <a:rPr sz="1600" dirty="0"/>
              <a:t> es politico, legal y social.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De Beers Tracr (diamantes):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Problema</a:t>
            </a:r>
            <a:r>
              <a:rPr sz="1600" dirty="0"/>
              <a:t> real? Si — </a:t>
            </a:r>
            <a:r>
              <a:rPr sz="1600" dirty="0" err="1"/>
              <a:t>trazabilidad</a:t>
            </a:r>
            <a:r>
              <a:rPr sz="1600" dirty="0"/>
              <a:t> de diamantes no de </a:t>
            </a:r>
            <a:r>
              <a:rPr sz="1600" dirty="0" err="1"/>
              <a:t>conflicto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Barrera: GOBERNANZA (</a:t>
            </a:r>
            <a:r>
              <a:rPr sz="1600" dirty="0" err="1"/>
              <a:t>fundador</a:t>
            </a:r>
            <a:r>
              <a:rPr sz="1600" dirty="0"/>
              <a:t> </a:t>
            </a:r>
            <a:r>
              <a:rPr sz="1600" dirty="0" err="1"/>
              <a:t>dominante</a:t>
            </a:r>
            <a:r>
              <a:rPr sz="1600" dirty="0"/>
              <a:t>) + GENESIS (</a:t>
            </a:r>
            <a:r>
              <a:rPr sz="1600" dirty="0" err="1"/>
              <a:t>datos</a:t>
            </a:r>
            <a:r>
              <a:rPr sz="1600" dirty="0"/>
              <a:t> de mina).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Funcionaria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Fabric? Si, </a:t>
            </a:r>
            <a:r>
              <a:rPr sz="1600" dirty="0" err="1"/>
              <a:t>si</a:t>
            </a:r>
            <a:r>
              <a:rPr sz="1600" dirty="0"/>
              <a:t> lo funda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organizacion</a:t>
            </a:r>
            <a:r>
              <a:rPr sz="1600" dirty="0"/>
              <a:t> </a:t>
            </a:r>
            <a:r>
              <a:rPr sz="1600" dirty="0" err="1"/>
              <a:t>neutra</a:t>
            </a:r>
            <a:r>
              <a:rPr sz="1600" dirty="0"/>
              <a:t> (GIA, WFDB).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Condiciones</a:t>
            </a:r>
            <a:r>
              <a:rPr sz="1600" dirty="0"/>
              <a:t>: </a:t>
            </a:r>
            <a:r>
              <a:rPr sz="1600" dirty="0" err="1"/>
              <a:t>incluir</a:t>
            </a:r>
            <a:r>
              <a:rPr sz="1600" dirty="0"/>
              <a:t> </a:t>
            </a:r>
            <a:r>
              <a:rPr sz="1600" dirty="0" err="1"/>
              <a:t>mineros</a:t>
            </a:r>
            <a:r>
              <a:rPr sz="1600" dirty="0"/>
              <a:t> </a:t>
            </a:r>
            <a:r>
              <a:rPr sz="1600" dirty="0" err="1"/>
              <a:t>artesanales</a:t>
            </a:r>
            <a:r>
              <a:rPr sz="1600" dirty="0"/>
              <a:t>, usar </a:t>
            </a:r>
            <a:r>
              <a:rPr sz="1600" dirty="0" err="1"/>
              <a:t>sensores</a:t>
            </a:r>
            <a:r>
              <a:rPr sz="1600" dirty="0"/>
              <a:t> IoT para </a:t>
            </a:r>
            <a:r>
              <a:rPr sz="1600" dirty="0" err="1"/>
              <a:t>autenticar</a:t>
            </a:r>
            <a:r>
              <a:rPr sz="1600" dirty="0"/>
              <a:t> </a:t>
            </a:r>
            <a:r>
              <a:rPr sz="1600" dirty="0" err="1"/>
              <a:t>origen</a:t>
            </a:r>
            <a:r>
              <a:rPr sz="1600" dirty="0"/>
              <a:t>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  </a:t>
            </a:r>
            <a:r>
              <a:rPr sz="1600" dirty="0" err="1"/>
              <a:t>consumidor</a:t>
            </a:r>
            <a:r>
              <a:rPr sz="1600" dirty="0"/>
              <a:t> final </a:t>
            </a:r>
            <a:r>
              <a:rPr sz="1600" dirty="0" err="1"/>
              <a:t>puede</a:t>
            </a:r>
            <a:r>
              <a:rPr sz="1600" dirty="0"/>
              <a:t> </a:t>
            </a:r>
            <a:r>
              <a:rPr sz="1600" dirty="0" err="1"/>
              <a:t>verificar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QR sin </a:t>
            </a:r>
            <a:r>
              <a:rPr sz="1600" dirty="0" err="1"/>
              <a:t>entender</a:t>
            </a:r>
            <a:r>
              <a:rPr sz="1600" dirty="0"/>
              <a:t> blockchain.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Registro de </a:t>
            </a:r>
            <a:r>
              <a:rPr dirty="0" err="1"/>
              <a:t>propiedad</a:t>
            </a:r>
            <a:r>
              <a:rPr dirty="0"/>
              <a:t> Honduras: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Problema</a:t>
            </a:r>
            <a:r>
              <a:rPr sz="1600" dirty="0"/>
              <a:t> real? Si — </a:t>
            </a:r>
            <a:r>
              <a:rPr sz="1600" dirty="0" err="1"/>
              <a:t>corrupcion</a:t>
            </a:r>
            <a:r>
              <a:rPr sz="1600" dirty="0"/>
              <a:t> </a:t>
            </a:r>
            <a:r>
              <a:rPr sz="1600" dirty="0" err="1"/>
              <a:t>masiva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registros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Barrera: INSTITUCIONAL (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pierden</a:t>
            </a:r>
            <a:r>
              <a:rPr sz="1600" dirty="0"/>
              <a:t> con </a:t>
            </a:r>
            <a:r>
              <a:rPr sz="1600" dirty="0" err="1"/>
              <a:t>transparencia</a:t>
            </a:r>
            <a:r>
              <a:rPr sz="1600" dirty="0"/>
              <a:t> </a:t>
            </a:r>
            <a:r>
              <a:rPr sz="1600" dirty="0" err="1"/>
              <a:t>bloquean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Funcionaria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Fabric? La </a:t>
            </a:r>
            <a:r>
              <a:rPr sz="1600" dirty="0" err="1"/>
              <a:t>tecnologia</a:t>
            </a:r>
            <a:r>
              <a:rPr sz="1600" dirty="0"/>
              <a:t> </a:t>
            </a:r>
            <a:r>
              <a:rPr sz="1600" dirty="0" err="1"/>
              <a:t>si</a:t>
            </a:r>
            <a:r>
              <a:rPr sz="1600" dirty="0"/>
              <a:t>. El </a:t>
            </a:r>
            <a:r>
              <a:rPr sz="1600" dirty="0" err="1"/>
              <a:t>problema</a:t>
            </a:r>
            <a:r>
              <a:rPr sz="1600" dirty="0"/>
              <a:t> no es </a:t>
            </a:r>
            <a:r>
              <a:rPr sz="1600" dirty="0" err="1"/>
              <a:t>tecnico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Condiciones</a:t>
            </a:r>
            <a:r>
              <a:rPr sz="1600" dirty="0"/>
              <a:t>: </a:t>
            </a:r>
            <a:r>
              <a:rPr sz="1600" dirty="0" err="1"/>
              <a:t>voluntad</a:t>
            </a:r>
            <a:r>
              <a:rPr sz="1600" dirty="0"/>
              <a:t> </a:t>
            </a:r>
            <a:r>
              <a:rPr sz="1600" dirty="0" err="1"/>
              <a:t>politica</a:t>
            </a:r>
            <a:r>
              <a:rPr sz="1600" dirty="0"/>
              <a:t> real, </a:t>
            </a:r>
            <a:r>
              <a:rPr sz="1600" dirty="0" err="1"/>
              <a:t>reforma</a:t>
            </a:r>
            <a:r>
              <a:rPr sz="1600" dirty="0"/>
              <a:t> del </a:t>
            </a:r>
            <a:r>
              <a:rPr sz="1600" dirty="0" err="1"/>
              <a:t>marco</a:t>
            </a:r>
            <a:r>
              <a:rPr sz="1600" dirty="0"/>
              <a:t> legal,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  </a:t>
            </a:r>
            <a:r>
              <a:rPr sz="1600" dirty="0" err="1"/>
              <a:t>infraestructura</a:t>
            </a:r>
            <a:r>
              <a:rPr sz="1600" dirty="0"/>
              <a:t> digital minima, </a:t>
            </a:r>
            <a:r>
              <a:rPr sz="1600" dirty="0" err="1"/>
              <a:t>adopcion</a:t>
            </a:r>
            <a:r>
              <a:rPr sz="1600" dirty="0"/>
              <a:t> </a:t>
            </a:r>
            <a:r>
              <a:rPr sz="1600" dirty="0" err="1"/>
              <a:t>desde</a:t>
            </a:r>
            <a:r>
              <a:rPr sz="1600" dirty="0"/>
              <a:t> lo municipal (bottom-up).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¿Cual de los 6 tiene mas posibilidades de funcionar en el futuro?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 Beers Tracr y MedRec son los mas prometedores — el problema es real y persistente.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TradeLens podria relanzarse si es una fundacion neutral.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Voatz: muy improbable — el problema central (identidad) no lo resuelve blockchain.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Honduras: depende del clima politico, no de la tecnologia.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B3i: posible con nuevo modelo de negocio y MVP pequeno.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¿Blockchain privada (Fabric) resuelve las 5 barreras?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GOBERNANZA: parcialmente — Fabric da herramientas (politicas) pero no define quien las usa.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INCENTIVOS: NO — es problema de negocio, no tecnologico.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REGULACION: parcialmente — Fabric es compatible con GDPR (hash on-chain, dato off-chain).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UX: SI — se puede ocultar completamente detras de una app tradicional.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GENESIS: NO — si entras datos falsos, blockchain los hace inmutables (no verdaderos).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Casos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vuestro</a:t>
            </a:r>
            <a:r>
              <a:rPr dirty="0"/>
              <a:t> sector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podrian</a:t>
            </a:r>
            <a:r>
              <a:rPr dirty="0"/>
              <a:t> </a:t>
            </a:r>
            <a:r>
              <a:rPr dirty="0" err="1"/>
              <a:t>caer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mismas</a:t>
            </a:r>
            <a:r>
              <a:rPr dirty="0"/>
              <a:t> </a:t>
            </a:r>
            <a:r>
              <a:rPr dirty="0" err="1"/>
              <a:t>trampas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Cualquier</a:t>
            </a:r>
            <a:r>
              <a:rPr sz="1600" dirty="0"/>
              <a:t> </a:t>
            </a:r>
            <a:r>
              <a:rPr sz="1600" dirty="0" err="1"/>
              <a:t>proyecto</a:t>
            </a:r>
            <a:r>
              <a:rPr sz="1600" dirty="0"/>
              <a:t> </a:t>
            </a:r>
            <a:r>
              <a:rPr sz="1600" dirty="0" err="1"/>
              <a:t>donde</a:t>
            </a:r>
            <a:r>
              <a:rPr sz="1600" dirty="0"/>
              <a:t> un </a:t>
            </a:r>
            <a:r>
              <a:rPr sz="1600" dirty="0" err="1"/>
              <a:t>competidor</a:t>
            </a:r>
            <a:r>
              <a:rPr sz="1600" dirty="0"/>
              <a:t> sea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fundador</a:t>
            </a:r>
            <a:r>
              <a:rPr sz="1600" dirty="0"/>
              <a:t> (</a:t>
            </a:r>
            <a:r>
              <a:rPr sz="1600" dirty="0" err="1"/>
              <a:t>problema</a:t>
            </a:r>
            <a:r>
              <a:rPr sz="1600" dirty="0"/>
              <a:t> </a:t>
            </a:r>
            <a:r>
              <a:rPr sz="1600" dirty="0" err="1"/>
              <a:t>TradeLens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Consorcios</a:t>
            </a:r>
            <a:r>
              <a:rPr sz="1600" dirty="0"/>
              <a:t> sin </a:t>
            </a:r>
            <a:r>
              <a:rPr sz="1600" dirty="0" err="1"/>
              <a:t>modelo</a:t>
            </a:r>
            <a:r>
              <a:rPr sz="1600" dirty="0"/>
              <a:t> de </a:t>
            </a:r>
            <a:r>
              <a:rPr sz="1600" dirty="0" err="1"/>
              <a:t>ingresos</a:t>
            </a:r>
            <a:r>
              <a:rPr sz="1600" dirty="0"/>
              <a:t> claro </a:t>
            </a:r>
            <a:r>
              <a:rPr sz="1600" dirty="0" err="1"/>
              <a:t>desde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dia</a:t>
            </a:r>
            <a:r>
              <a:rPr sz="1600" dirty="0"/>
              <a:t> 1 (</a:t>
            </a:r>
            <a:r>
              <a:rPr sz="1600" dirty="0" err="1"/>
              <a:t>problema</a:t>
            </a:r>
            <a:r>
              <a:rPr sz="1600" dirty="0"/>
              <a:t> B3i).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Proyectos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requieren</a:t>
            </a:r>
            <a:r>
              <a:rPr sz="1600" dirty="0"/>
              <a:t> </a:t>
            </a:r>
            <a:r>
              <a:rPr sz="1600" dirty="0" err="1"/>
              <a:t>cambiar</a:t>
            </a:r>
            <a:r>
              <a:rPr sz="1600" dirty="0"/>
              <a:t> </a:t>
            </a:r>
            <a:r>
              <a:rPr sz="1600" dirty="0" err="1"/>
              <a:t>procesos</a:t>
            </a:r>
            <a:r>
              <a:rPr sz="1600" dirty="0"/>
              <a:t> </a:t>
            </a:r>
            <a:r>
              <a:rPr sz="1600" dirty="0" err="1"/>
              <a:t>profundos</a:t>
            </a:r>
            <a:r>
              <a:rPr sz="1600" dirty="0"/>
              <a:t> de </a:t>
            </a:r>
            <a:r>
              <a:rPr sz="1600" dirty="0" err="1"/>
              <a:t>usuarios</a:t>
            </a:r>
            <a:r>
              <a:rPr sz="1600" dirty="0"/>
              <a:t> (</a:t>
            </a:r>
            <a:r>
              <a:rPr sz="1600" dirty="0" err="1"/>
              <a:t>MedRec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Proyectos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sectores</a:t>
            </a:r>
            <a:r>
              <a:rPr sz="1600" dirty="0"/>
              <a:t> con </a:t>
            </a:r>
            <a:r>
              <a:rPr sz="1600" dirty="0" err="1"/>
              <a:t>regulacion</a:t>
            </a:r>
            <a:r>
              <a:rPr sz="1600" dirty="0"/>
              <a:t> </a:t>
            </a:r>
            <a:r>
              <a:rPr sz="1600" dirty="0" err="1"/>
              <a:t>muy</a:t>
            </a:r>
            <a:r>
              <a:rPr sz="1600" dirty="0"/>
              <a:t> </a:t>
            </a:r>
            <a:r>
              <a:rPr sz="1600" dirty="0" err="1"/>
              <a:t>estricta</a:t>
            </a:r>
            <a:r>
              <a:rPr sz="1600" dirty="0"/>
              <a:t> no </a:t>
            </a:r>
            <a:r>
              <a:rPr sz="1600" dirty="0" err="1"/>
              <a:t>adaptada</a:t>
            </a:r>
            <a:r>
              <a:rPr sz="1600" dirty="0"/>
              <a:t> (</a:t>
            </a:r>
            <a:r>
              <a:rPr sz="1600" dirty="0" err="1"/>
              <a:t>salud</a:t>
            </a:r>
            <a:r>
              <a:rPr sz="1600" dirty="0"/>
              <a:t>, </a:t>
            </a:r>
            <a:r>
              <a:rPr sz="1600" dirty="0" err="1"/>
              <a:t>finanzas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Argumentos</a:t>
            </a:r>
            <a:r>
              <a:rPr dirty="0"/>
              <a:t> para </a:t>
            </a:r>
            <a:r>
              <a:rPr dirty="0" err="1"/>
              <a:t>convencer</a:t>
            </a:r>
            <a:r>
              <a:rPr dirty="0"/>
              <a:t> al jefe </a:t>
            </a:r>
            <a:r>
              <a:rPr dirty="0" err="1"/>
              <a:t>sabiendo</a:t>
            </a:r>
            <a:r>
              <a:rPr dirty="0"/>
              <a:t> </a:t>
            </a: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fracasos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'</a:t>
            </a:r>
            <a:r>
              <a:rPr sz="1600" dirty="0" err="1"/>
              <a:t>Empezamos</a:t>
            </a:r>
            <a:r>
              <a:rPr sz="1600" dirty="0"/>
              <a:t> con un MVP </a:t>
            </a:r>
            <a:r>
              <a:rPr sz="1600" dirty="0" err="1"/>
              <a:t>muy</a:t>
            </a:r>
            <a:r>
              <a:rPr sz="1600" dirty="0"/>
              <a:t> </a:t>
            </a:r>
            <a:r>
              <a:rPr sz="1600" dirty="0" err="1"/>
              <a:t>pequeno</a:t>
            </a:r>
            <a:r>
              <a:rPr sz="1600" dirty="0"/>
              <a:t>, 2-3 orgs, 6 meses' — reduce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riesgo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'No </a:t>
            </a:r>
            <a:r>
              <a:rPr sz="1600" dirty="0" err="1"/>
              <a:t>somos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fundador</a:t>
            </a:r>
            <a:r>
              <a:rPr sz="1600" dirty="0"/>
              <a:t> </a:t>
            </a:r>
            <a:r>
              <a:rPr sz="1600" dirty="0" err="1"/>
              <a:t>dominante</a:t>
            </a:r>
            <a:r>
              <a:rPr sz="1600" dirty="0"/>
              <a:t>, </a:t>
            </a:r>
            <a:r>
              <a:rPr sz="1600" dirty="0" err="1"/>
              <a:t>somos</a:t>
            </a:r>
            <a:r>
              <a:rPr sz="1600" dirty="0"/>
              <a:t> uno mas' — </a:t>
            </a:r>
            <a:r>
              <a:rPr sz="1600" dirty="0" err="1"/>
              <a:t>evita</a:t>
            </a:r>
            <a:r>
              <a:rPr sz="1600" dirty="0"/>
              <a:t> </a:t>
            </a:r>
            <a:r>
              <a:rPr sz="1600" dirty="0" err="1"/>
              <a:t>problema</a:t>
            </a:r>
            <a:r>
              <a:rPr sz="1600" dirty="0"/>
              <a:t> </a:t>
            </a:r>
            <a:r>
              <a:rPr sz="1600" dirty="0" err="1"/>
              <a:t>TradeLens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'</a:t>
            </a:r>
            <a:r>
              <a:rPr sz="1600" dirty="0" err="1"/>
              <a:t>Tenemos</a:t>
            </a:r>
            <a:r>
              <a:rPr sz="1600" dirty="0"/>
              <a:t> </a:t>
            </a:r>
            <a:r>
              <a:rPr sz="1600" dirty="0" err="1"/>
              <a:t>modelo</a:t>
            </a:r>
            <a:r>
              <a:rPr sz="1600" dirty="0"/>
              <a:t> de </a:t>
            </a:r>
            <a:r>
              <a:rPr sz="1600" dirty="0" err="1"/>
              <a:t>ingresos</a:t>
            </a:r>
            <a:r>
              <a:rPr sz="1600" dirty="0"/>
              <a:t> antes de </a:t>
            </a:r>
            <a:r>
              <a:rPr sz="1600" dirty="0" err="1"/>
              <a:t>desarrollar</a:t>
            </a:r>
            <a:r>
              <a:rPr sz="1600" dirty="0"/>
              <a:t>' — </a:t>
            </a:r>
            <a:r>
              <a:rPr sz="1600" dirty="0" err="1"/>
              <a:t>evita</a:t>
            </a:r>
            <a:r>
              <a:rPr sz="1600" dirty="0"/>
              <a:t> </a:t>
            </a:r>
            <a:r>
              <a:rPr sz="1600" dirty="0" err="1"/>
              <a:t>problema</a:t>
            </a:r>
            <a:r>
              <a:rPr sz="1600" dirty="0"/>
              <a:t> B3i.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'La IA </a:t>
            </a:r>
            <a:r>
              <a:rPr sz="1600" dirty="0" err="1"/>
              <a:t>esta</a:t>
            </a:r>
            <a:r>
              <a:rPr sz="1600" dirty="0"/>
              <a:t> </a:t>
            </a:r>
            <a:r>
              <a:rPr sz="1600" dirty="0" err="1"/>
              <a:t>lista</a:t>
            </a:r>
            <a:r>
              <a:rPr sz="1600" dirty="0"/>
              <a:t>,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regulador</a:t>
            </a:r>
            <a:r>
              <a:rPr sz="1600" dirty="0"/>
              <a:t> </a:t>
            </a:r>
            <a:r>
              <a:rPr sz="1600" dirty="0" err="1"/>
              <a:t>esta</a:t>
            </a:r>
            <a:r>
              <a:rPr sz="1600" dirty="0"/>
              <a:t> </a:t>
            </a:r>
            <a:r>
              <a:rPr sz="1600" dirty="0" err="1"/>
              <a:t>lista</a:t>
            </a:r>
            <a:r>
              <a:rPr sz="1600" dirty="0"/>
              <a:t>, </a:t>
            </a:r>
            <a:r>
              <a:rPr sz="1600" dirty="0" err="1"/>
              <a:t>nosotros</a:t>
            </a:r>
            <a:r>
              <a:rPr sz="1600" dirty="0"/>
              <a:t> </a:t>
            </a:r>
            <a:r>
              <a:rPr sz="1600" dirty="0" err="1"/>
              <a:t>debemos</a:t>
            </a:r>
            <a:r>
              <a:rPr sz="1600" dirty="0"/>
              <a:t> </a:t>
            </a:r>
            <a:r>
              <a:rPr sz="1600" dirty="0" err="1"/>
              <a:t>estarlo</a:t>
            </a:r>
            <a:r>
              <a:rPr sz="1600" dirty="0"/>
              <a:t>' — </a:t>
            </a:r>
            <a:r>
              <a:rPr sz="1600" dirty="0" err="1"/>
              <a:t>contexto</a:t>
            </a:r>
            <a:r>
              <a:rPr sz="1600" dirty="0"/>
              <a:t> favorable.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NUNCA: '</a:t>
            </a:r>
            <a:r>
              <a:rPr sz="1600" dirty="0" err="1"/>
              <a:t>porque</a:t>
            </a:r>
            <a:r>
              <a:rPr sz="1600" dirty="0"/>
              <a:t> es blockchain' — ese es </a:t>
            </a:r>
            <a:r>
              <a:rPr sz="1600" dirty="0" err="1"/>
              <a:t>el</a:t>
            </a:r>
            <a:r>
              <a:rPr sz="1600" dirty="0"/>
              <a:t> camino al </a:t>
            </a:r>
            <a:r>
              <a:rPr sz="1600" dirty="0" err="1"/>
              <a:t>fracaso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5. ¿Casos </a:t>
            </a:r>
            <a:r>
              <a:rPr dirty="0" err="1"/>
              <a:t>donde</a:t>
            </a:r>
            <a:r>
              <a:rPr dirty="0"/>
              <a:t> NO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blockchain?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Un solo actor </a:t>
            </a:r>
            <a:r>
              <a:rPr sz="1600" dirty="0" err="1"/>
              <a:t>gestiona</a:t>
            </a:r>
            <a:r>
              <a:rPr sz="1600" dirty="0"/>
              <a:t> </a:t>
            </a:r>
            <a:r>
              <a:rPr sz="1600" dirty="0" err="1"/>
              <a:t>todos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-&gt; base de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tradicional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Los </a:t>
            </a:r>
            <a:r>
              <a:rPr sz="1600" dirty="0" err="1"/>
              <a:t>datos</a:t>
            </a:r>
            <a:r>
              <a:rPr sz="1600" dirty="0"/>
              <a:t> no </a:t>
            </a:r>
            <a:r>
              <a:rPr sz="1600" dirty="0" err="1"/>
              <a:t>necesitan</a:t>
            </a:r>
            <a:r>
              <a:rPr sz="1600" dirty="0"/>
              <a:t> ser </a:t>
            </a:r>
            <a:r>
              <a:rPr sz="1600" dirty="0" err="1"/>
              <a:t>compartidos</a:t>
            </a:r>
            <a:r>
              <a:rPr sz="1600" dirty="0"/>
              <a:t> entre orgs -&gt; APIs entre </a:t>
            </a:r>
            <a:r>
              <a:rPr sz="1600" dirty="0" err="1"/>
              <a:t>sistemas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No hay </a:t>
            </a:r>
            <a:r>
              <a:rPr sz="1600" dirty="0" err="1"/>
              <a:t>desconfianza</a:t>
            </a:r>
            <a:r>
              <a:rPr sz="1600" dirty="0"/>
              <a:t> entre partes -&gt; SaaS </a:t>
            </a:r>
            <a:r>
              <a:rPr sz="1600" dirty="0" err="1"/>
              <a:t>compartido</a:t>
            </a:r>
            <a:r>
              <a:rPr sz="1600" dirty="0"/>
              <a:t> con </a:t>
            </a:r>
            <a:r>
              <a:rPr sz="1600" dirty="0" err="1"/>
              <a:t>permisos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Rendimiento</a:t>
            </a:r>
            <a:r>
              <a:rPr sz="1600" dirty="0"/>
              <a:t> es </a:t>
            </a:r>
            <a:r>
              <a:rPr sz="1600" dirty="0" err="1"/>
              <a:t>critico</a:t>
            </a:r>
            <a:r>
              <a:rPr sz="1600" dirty="0"/>
              <a:t> (&gt;10k TPS) -&gt; BD </a:t>
            </a:r>
            <a:r>
              <a:rPr sz="1600" dirty="0" err="1"/>
              <a:t>distribuida</a:t>
            </a:r>
            <a:r>
              <a:rPr sz="1600" dirty="0"/>
              <a:t> </a:t>
            </a:r>
            <a:r>
              <a:rPr sz="1600" dirty="0" err="1"/>
              <a:t>tradicional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Regla: </a:t>
            </a:r>
            <a:r>
              <a:rPr sz="1600" dirty="0" err="1"/>
              <a:t>si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BD + APIs </a:t>
            </a:r>
            <a:r>
              <a:rPr sz="1600" dirty="0" err="1"/>
              <a:t>resuelve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problema</a:t>
            </a:r>
            <a:r>
              <a:rPr sz="1600" dirty="0"/>
              <a:t>, no </a:t>
            </a:r>
            <a:r>
              <a:rPr sz="1600" dirty="0" err="1"/>
              <a:t>necesitas</a:t>
            </a:r>
            <a:r>
              <a:rPr sz="1600" dirty="0"/>
              <a:t> blockchain.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2505</Words>
  <Application>Microsoft Office PowerPoint</Application>
  <PresentationFormat>Personalizado</PresentationFormat>
  <Paragraphs>233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4</cp:revision>
  <dcterms:created xsi:type="dcterms:W3CDTF">2013-01-27T09:14:16Z</dcterms:created>
  <dcterms:modified xsi:type="dcterms:W3CDTF">2026-04-23T11:52:22Z</dcterms:modified>
  <cp:category/>
</cp:coreProperties>
</file>