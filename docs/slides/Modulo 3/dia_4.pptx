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8" y="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3: Vision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Marco Legal y</a:t>
            </a:r>
            <a:br/>
            <a:r>
              <a:t>Regulatorio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Dia 4 - GDPR, MiCA, smart contracts y responsabilidad legal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Blockchain y GDPR: la tension fundamental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GDPR (Reglamento General de Proteccion de Datos) establece: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Derecho al olvido: el ciudadano puede pedir que borren sus datos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Minimizacion: solo guardar los datos estrictamente necesarios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Limitacion de almacenamiento: no conservar datos mas de lo necesario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Blockchain establece: los datos son inmutables y permanentes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¿Es incompatible? No del todo, pero hay que disenar con cuidado: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NUNCA guardar datos personales directamente en el ledger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Guardar un hash o referencia: los datos reales off-chain (BD normal)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Private Data Collections: los datos se pueden purgar (blockToLive)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se borra el dato off-chain, el hash on-chain es inutil (pseudonimizacion)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Smart contracts: ¿son contratos legales?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Respuesta corta: NO, al menos no automaticamente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 smart contract es codigo, no un contrato juridico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Para que tenga valor legal necesita: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Consentimiento de las partes (firma digital)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Objeto licito (lo que hace el contrato es legal)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Identificacion de las partes (no anonimas)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Jurisdiccion y ley aplicable definidas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Mecanismo de resolucion de disputas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Jurisprudencia actual: muy limitada, varia por pais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Enfoque practico: el smart contract EJECUTA las clausulas de un contrato legal separado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contrato legal dice QUE se hace. El smart contract COMO se ejecuta.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MiCA: regulacion europea de criptoactivos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Markets in Crypto-Assets Regulation (MiCA) — en vigor desde diciembre 2024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Aplica a: tokens de utilidad, stablecoins, criptoactivos en general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aplica directamente a: blockchain enterprise/permissioned sin tokens publicos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Pero es relevante si tu proyecto Fabric incluye tokens que salen al mercado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Puntos clave de MiCA: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Emisores de stablecoins: necesitan autorizacion y reservas auditadas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Exchanges y custodios: necesitan licencia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Whitepaper obligatorio: describir el token, riesgos, derechos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Proteccion al inversor: informacion clara, derecho de retirada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Supervisores: ESMA y autoridades nacionales (CNMV en Espana)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Tokenizacion de activos: regulacion actual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tokenizas un activo real (bono, accion, inmueble) en Fabric: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El token puede ser un 'valor negociable' segun MiFID II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Necesitas autorizacion de la CNMV (Espana) o equivalente europeo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Aplican las mismas reglas que a los valores tradicionales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Security Token Offerings (STOs): tokenizar + vender al publico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Mas regulado que una ICO, pero legal y con marco claro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Ejemplo: Bit2Me STX (autorizado por CNMV bajo regimen sandbox)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Tokenizacion interna (entre orgs de un consorcio): menos regulacion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Si los tokens no salen de la red permissioned, MiCA no aplica directamente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Responsabilidad legal: si el chaincode tiene un bug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¿Quien responde si un chaincode transfiere fondos incorrectamente?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Escenarios: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1. Bug del desarrollador: ¿responsabilidad del desarrollador o de la org que lo aprobo?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2. Todas las orgs aprobaron el chaincode (lifecycle): ¿responsabilidad compartida?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3. Una org detecto el bug pero no lo reporto: ¿negligencia?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la practica: el acuerdo del consorcio debe definir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¿Quien audita los chaincodes antes de aprobarlos?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¿Hay seguro de responsabilidad?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¿Que mecanismo de compensacion existe?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¿Que jurisdiccion y ley aplican?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Marco legal y blockchain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¿Donde guardarias los datos personales de clientes en un proyecto Fabric? ¿On-chain o off-chain?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Si un smart contract ejecuta una clausula incorrectamente, ¿quien es responsable?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¿Deberia el regulador tener acceso de solo lectura a todos los canales de Fabric?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Un consorcio de bancos tokeniza bonos en Fabric. ¿Que regulacion aplica?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¿Es MiCA un freno o un acelerador para blockchain enterprise en Europa?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CULTURA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2860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El caso DAO y la ley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2016, el hack de The DAO robo 60 millones de dolares en ETH.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comunidad Ethereum hizo un hard fork para revertir el robo.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Preguntas legales sin respuesta clara (aun hoy):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¿Fue un robo si el atacante 'solo' ejecuto el codigo tal como estaba escrito?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¿El hard fork fue una confiscacion de activos?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¿Quien tenia jurisdiccion? ¿Suiza (donde estaba The DAO)? ¿Internet?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2023, la SEC demando a los creadores de The DAO por vender valores no registrados.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 anos despues, la ley sigue poniendose al dia con la tecnologia.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¿Como se reconcilia GDPR con la inmutabilidad de blockchain?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¿Un smart contract es un contrato legal? ¿Que le falta?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¿Que es MiCA y a quien aplica?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¿Que regulacion aplica si tokenizas un bono en Fabric?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Si un chaincode tiene un bug, ¿quien responde?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0567" y="1051560"/>
            <a:ext cx="10515600" cy="573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1. GDPR vs </a:t>
            </a:r>
            <a:r>
              <a:rPr dirty="0" err="1"/>
              <a:t>inmutabilidad</a:t>
            </a:r>
            <a:r>
              <a:rPr dirty="0"/>
              <a:t> de blockchain: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No son incompatibles, </a:t>
            </a:r>
            <a:r>
              <a:rPr sz="1600" dirty="0" err="1"/>
              <a:t>pero</a:t>
            </a:r>
            <a:r>
              <a:rPr sz="1600" dirty="0"/>
              <a:t> </a:t>
            </a:r>
            <a:r>
              <a:rPr sz="1600" dirty="0" err="1"/>
              <a:t>requieren</a:t>
            </a:r>
            <a:r>
              <a:rPr sz="1600" dirty="0"/>
              <a:t> </a:t>
            </a:r>
            <a:r>
              <a:rPr sz="1600" dirty="0" err="1"/>
              <a:t>diseño</a:t>
            </a:r>
            <a:r>
              <a:rPr sz="1600" dirty="0"/>
              <a:t> </a:t>
            </a:r>
            <a:r>
              <a:rPr sz="1600" dirty="0" err="1"/>
              <a:t>cuidadoso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NUNCA </a:t>
            </a:r>
            <a:r>
              <a:rPr sz="1600" dirty="0" err="1"/>
              <a:t>guardar</a:t>
            </a:r>
            <a:r>
              <a:rPr sz="1600" dirty="0"/>
              <a:t> </a:t>
            </a:r>
            <a:r>
              <a:rPr sz="1600" dirty="0" err="1"/>
              <a:t>datos</a:t>
            </a:r>
            <a:r>
              <a:rPr sz="1600" dirty="0"/>
              <a:t> </a:t>
            </a:r>
            <a:r>
              <a:rPr sz="1600" dirty="0" err="1"/>
              <a:t>personales</a:t>
            </a:r>
            <a:r>
              <a:rPr sz="1600" dirty="0"/>
              <a:t> on-chain — solo hash o </a:t>
            </a:r>
            <a:r>
              <a:rPr sz="1600" dirty="0" err="1"/>
              <a:t>referencia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Datos reales off-chain (BD </a:t>
            </a:r>
            <a:r>
              <a:rPr sz="1600" dirty="0" err="1"/>
              <a:t>tradicional</a:t>
            </a:r>
            <a:r>
              <a:rPr sz="1600" dirty="0"/>
              <a:t>), </a:t>
            </a:r>
            <a:r>
              <a:rPr sz="1600" dirty="0" err="1"/>
              <a:t>borrables</a:t>
            </a:r>
            <a:r>
              <a:rPr sz="1600" dirty="0"/>
              <a:t> para </a:t>
            </a:r>
            <a:r>
              <a:rPr sz="1600" dirty="0" err="1"/>
              <a:t>cumplir</a:t>
            </a:r>
            <a:r>
              <a:rPr sz="1600" dirty="0"/>
              <a:t> derecho al </a:t>
            </a:r>
            <a:r>
              <a:rPr sz="1600" dirty="0" err="1"/>
              <a:t>olvido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Private Data Collections con </a:t>
            </a:r>
            <a:r>
              <a:rPr sz="1600" dirty="0" err="1"/>
              <a:t>blockToLive</a:t>
            </a:r>
            <a:r>
              <a:rPr sz="1600" dirty="0"/>
              <a:t> </a:t>
            </a:r>
            <a:r>
              <a:rPr sz="1600" dirty="0" err="1"/>
              <a:t>permiten</a:t>
            </a:r>
            <a:r>
              <a:rPr sz="1600" dirty="0"/>
              <a:t> </a:t>
            </a:r>
            <a:r>
              <a:rPr sz="1600" dirty="0" err="1"/>
              <a:t>caducar</a:t>
            </a:r>
            <a:r>
              <a:rPr sz="1600" dirty="0"/>
              <a:t> </a:t>
            </a:r>
            <a:r>
              <a:rPr sz="1600" dirty="0" err="1"/>
              <a:t>datos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400" dirty="0"/>
              <a:t>Al</a:t>
            </a:r>
            <a:r>
              <a:rPr sz="1600" dirty="0"/>
              <a:t> </a:t>
            </a:r>
            <a:r>
              <a:rPr sz="1600" dirty="0" err="1"/>
              <a:t>borrar</a:t>
            </a:r>
            <a:r>
              <a:rPr sz="1600" dirty="0"/>
              <a:t> </a:t>
            </a:r>
            <a:r>
              <a:rPr sz="1600" dirty="0" err="1"/>
              <a:t>dato</a:t>
            </a:r>
            <a:r>
              <a:rPr sz="1600" dirty="0"/>
              <a:t> off-chain, </a:t>
            </a:r>
            <a:r>
              <a:rPr sz="1600" dirty="0" err="1"/>
              <a:t>el</a:t>
            </a:r>
            <a:r>
              <a:rPr sz="1600" dirty="0"/>
              <a:t> hash on-chain </a:t>
            </a:r>
            <a:r>
              <a:rPr sz="1600" dirty="0" err="1"/>
              <a:t>queda</a:t>
            </a:r>
            <a:r>
              <a:rPr sz="1600" dirty="0"/>
              <a:t> </a:t>
            </a:r>
            <a:r>
              <a:rPr sz="1600" dirty="0" err="1"/>
              <a:t>huerfano</a:t>
            </a:r>
            <a:r>
              <a:rPr sz="1600" dirty="0"/>
              <a:t> (</a:t>
            </a:r>
            <a:r>
              <a:rPr sz="1600" dirty="0" err="1"/>
              <a:t>pseudonimizacion</a:t>
            </a:r>
            <a:r>
              <a:rPr sz="1600" dirty="0"/>
              <a:t>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2. ¿Smart contract es un </a:t>
            </a:r>
            <a:r>
              <a:rPr dirty="0" err="1"/>
              <a:t>contrato</a:t>
            </a:r>
            <a:r>
              <a:rPr dirty="0"/>
              <a:t> legal? ¿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NO, al </a:t>
            </a:r>
            <a:r>
              <a:rPr sz="1600" dirty="0" err="1"/>
              <a:t>menos</a:t>
            </a:r>
            <a:r>
              <a:rPr sz="1600" dirty="0"/>
              <a:t> no </a:t>
            </a:r>
            <a:r>
              <a:rPr sz="1600" dirty="0" err="1"/>
              <a:t>automaticamente</a:t>
            </a:r>
            <a:r>
              <a:rPr sz="1600" dirty="0"/>
              <a:t>. Un smart contract es </a:t>
            </a:r>
            <a:r>
              <a:rPr sz="1600" dirty="0" err="1"/>
              <a:t>codigo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Para </a:t>
            </a:r>
            <a:r>
              <a:rPr sz="1600" dirty="0" err="1"/>
              <a:t>tener</a:t>
            </a:r>
            <a:r>
              <a:rPr sz="1600" dirty="0"/>
              <a:t> valor legal </a:t>
            </a:r>
            <a:r>
              <a:rPr sz="1600" dirty="0" err="1"/>
              <a:t>necesita</a:t>
            </a:r>
            <a:r>
              <a:rPr sz="1600" dirty="0"/>
              <a:t>: </a:t>
            </a:r>
            <a:r>
              <a:rPr sz="1600" dirty="0" err="1"/>
              <a:t>consentimiento</a:t>
            </a:r>
            <a:r>
              <a:rPr sz="1600" dirty="0"/>
              <a:t> </a:t>
            </a:r>
            <a:r>
              <a:rPr sz="1600" dirty="0" err="1"/>
              <a:t>explicito</a:t>
            </a:r>
            <a:r>
              <a:rPr sz="1600" dirty="0"/>
              <a:t> de las partes,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identificacion</a:t>
            </a:r>
            <a:r>
              <a:rPr sz="1600" dirty="0"/>
              <a:t> (no </a:t>
            </a:r>
            <a:r>
              <a:rPr sz="1600" dirty="0" err="1"/>
              <a:t>pseudonima</a:t>
            </a:r>
            <a:r>
              <a:rPr sz="1600" dirty="0"/>
              <a:t>), </a:t>
            </a:r>
            <a:r>
              <a:rPr sz="1600" dirty="0" err="1"/>
              <a:t>objeto</a:t>
            </a:r>
            <a:r>
              <a:rPr sz="1600" dirty="0"/>
              <a:t> </a:t>
            </a:r>
            <a:r>
              <a:rPr sz="1600" dirty="0" err="1"/>
              <a:t>licito</a:t>
            </a:r>
            <a:r>
              <a:rPr sz="1600" dirty="0"/>
              <a:t>, </a:t>
            </a:r>
            <a:r>
              <a:rPr sz="1600" dirty="0" err="1"/>
              <a:t>jurisdiccion</a:t>
            </a:r>
            <a:r>
              <a:rPr sz="1600" dirty="0"/>
              <a:t> </a:t>
            </a:r>
            <a:r>
              <a:rPr sz="1600" dirty="0" err="1"/>
              <a:t>clara</a:t>
            </a:r>
            <a:r>
              <a:rPr sz="1600" dirty="0"/>
              <a:t>,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mecanismo</a:t>
            </a:r>
            <a:r>
              <a:rPr sz="1600" dirty="0"/>
              <a:t> de </a:t>
            </a:r>
            <a:r>
              <a:rPr sz="1600" dirty="0" err="1"/>
              <a:t>resolucion</a:t>
            </a:r>
            <a:r>
              <a:rPr sz="1600" dirty="0"/>
              <a:t> de </a:t>
            </a:r>
            <a:r>
              <a:rPr sz="1600" dirty="0" err="1"/>
              <a:t>disputas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Enfoque</a:t>
            </a:r>
            <a:r>
              <a:rPr sz="1600" dirty="0"/>
              <a:t> </a:t>
            </a:r>
            <a:r>
              <a:rPr sz="1600" dirty="0" err="1"/>
              <a:t>practico</a:t>
            </a:r>
            <a:r>
              <a:rPr sz="1600" dirty="0"/>
              <a:t>: </a:t>
            </a:r>
            <a:r>
              <a:rPr sz="1600" dirty="0" err="1"/>
              <a:t>contrato</a:t>
            </a:r>
            <a:r>
              <a:rPr sz="1600" dirty="0"/>
              <a:t> legal </a:t>
            </a:r>
            <a:r>
              <a:rPr sz="1600" dirty="0" err="1"/>
              <a:t>tradicional</a:t>
            </a:r>
            <a:r>
              <a:rPr sz="1600" dirty="0"/>
              <a:t> + smart contract </a:t>
            </a:r>
            <a:r>
              <a:rPr sz="1600" dirty="0" err="1"/>
              <a:t>que</a:t>
            </a:r>
            <a:r>
              <a:rPr sz="1600" dirty="0"/>
              <a:t> lo </a:t>
            </a:r>
            <a:r>
              <a:rPr sz="1600" dirty="0" err="1"/>
              <a:t>ejecuta</a:t>
            </a:r>
            <a:r>
              <a:rPr sz="1600"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3. ¿</a:t>
            </a:r>
            <a:r>
              <a:rPr dirty="0" err="1"/>
              <a:t>Que</a:t>
            </a:r>
            <a:r>
              <a:rPr dirty="0"/>
              <a:t> es </a:t>
            </a:r>
            <a:r>
              <a:rPr dirty="0" err="1"/>
              <a:t>MiCA</a:t>
            </a:r>
            <a:r>
              <a:rPr dirty="0"/>
              <a:t> y a </a:t>
            </a:r>
            <a:r>
              <a:rPr dirty="0" err="1"/>
              <a:t>quien</a:t>
            </a:r>
            <a:r>
              <a:rPr dirty="0"/>
              <a:t> </a:t>
            </a:r>
            <a:r>
              <a:rPr dirty="0" err="1"/>
              <a:t>aplica</a:t>
            </a:r>
            <a:r>
              <a:rPr dirty="0"/>
              <a:t>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Markets in Crypto-Assets Regulation (</a:t>
            </a:r>
            <a:r>
              <a:rPr sz="1600" dirty="0" err="1"/>
              <a:t>diciembre</a:t>
            </a:r>
            <a:r>
              <a:rPr sz="1600" dirty="0"/>
              <a:t> 2024).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Aplica</a:t>
            </a:r>
            <a:r>
              <a:rPr sz="1600" dirty="0"/>
              <a:t> a: tokens de </a:t>
            </a:r>
            <a:r>
              <a:rPr sz="1600" dirty="0" err="1"/>
              <a:t>utilidad</a:t>
            </a:r>
            <a:r>
              <a:rPr sz="1600" dirty="0"/>
              <a:t>, stablecoins, </a:t>
            </a:r>
            <a:r>
              <a:rPr sz="1600" dirty="0" err="1"/>
              <a:t>criptoactivos</a:t>
            </a:r>
            <a:r>
              <a:rPr sz="1600" dirty="0"/>
              <a:t> </a:t>
            </a:r>
            <a:r>
              <a:rPr sz="1600" dirty="0" err="1"/>
              <a:t>publicos</a:t>
            </a:r>
            <a:r>
              <a:rPr sz="1600" dirty="0"/>
              <a:t>, exchanges.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NO </a:t>
            </a:r>
            <a:r>
              <a:rPr sz="1600" dirty="0" err="1"/>
              <a:t>aplica</a:t>
            </a:r>
            <a:r>
              <a:rPr sz="1600" dirty="0"/>
              <a:t> </a:t>
            </a:r>
            <a:r>
              <a:rPr sz="1600" dirty="0" err="1"/>
              <a:t>directamente</a:t>
            </a:r>
            <a:r>
              <a:rPr sz="1600" dirty="0"/>
              <a:t> a blockchain enterprise permissioned sin tokens </a:t>
            </a:r>
            <a:r>
              <a:rPr sz="1600" dirty="0" err="1"/>
              <a:t>publicos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Relevante</a:t>
            </a:r>
            <a:r>
              <a:rPr sz="1600" dirty="0"/>
              <a:t> </a:t>
            </a:r>
            <a:r>
              <a:rPr sz="1600" dirty="0" err="1"/>
              <a:t>si</a:t>
            </a:r>
            <a:r>
              <a:rPr sz="1600" dirty="0"/>
              <a:t> </a:t>
            </a:r>
            <a:r>
              <a:rPr sz="1600" dirty="0" err="1"/>
              <a:t>tu</a:t>
            </a:r>
            <a:r>
              <a:rPr sz="1600" dirty="0"/>
              <a:t> </a:t>
            </a:r>
            <a:r>
              <a:rPr sz="1600" dirty="0" err="1"/>
              <a:t>proyecto</a:t>
            </a:r>
            <a:r>
              <a:rPr sz="1600" dirty="0"/>
              <a:t> Fabric </a:t>
            </a:r>
            <a:r>
              <a:rPr sz="1600" dirty="0" err="1"/>
              <a:t>emite</a:t>
            </a:r>
            <a:r>
              <a:rPr sz="1600" dirty="0"/>
              <a:t> tokens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salen</a:t>
            </a:r>
            <a:r>
              <a:rPr sz="1600" dirty="0"/>
              <a:t> al mercado.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Requisitos</a:t>
            </a:r>
            <a:r>
              <a:rPr sz="1600" dirty="0"/>
              <a:t>: whitepaper, </a:t>
            </a:r>
            <a:r>
              <a:rPr sz="1600" dirty="0" err="1"/>
              <a:t>proteccion</a:t>
            </a:r>
            <a:r>
              <a:rPr sz="1600" dirty="0"/>
              <a:t> al </a:t>
            </a:r>
            <a:r>
              <a:rPr sz="1600" dirty="0" err="1"/>
              <a:t>inversor</a:t>
            </a:r>
            <a:r>
              <a:rPr sz="1600" dirty="0"/>
              <a:t>, </a:t>
            </a:r>
            <a:r>
              <a:rPr sz="1600" dirty="0" err="1"/>
              <a:t>autorizacion</a:t>
            </a:r>
            <a:r>
              <a:rPr sz="1600" dirty="0"/>
              <a:t> ESMA/CNMV.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Regulacion si tokenizas un bono en Fabric: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el token representa un valor negociable -&gt; MiFID II aplica.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Requiere autorizacion de la CNMV (Espana) o equivalente europeo.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Aplican las mismas reglas que a valores tradicionales (folleto, KYC, etc).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es una STO (Security Token Offering): mas regulado que ICO pero con marco.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Tokenizacion interna entre orgs (no ventas publicas): menos regulacion directa.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Si un chaincode tiene un bug, ¿quien responde?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Responsabilidad compartida: todas las orgs que aprobaron el lifecycle.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Preguntas clave a definir en el acuerdo del consorcio: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- ¿Quien audita los chaincodes antes de aprobarlos?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- ¿Hay seguro de responsabilidad civil?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- ¿Mecanismo de compensacion?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- ¿Jurisdiccion y ley aplicables?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En la practica: el desarrollador/proveedor responde contractualmente.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consorcio establece limites via SLA y clausulas de indemnizacion.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1301</Words>
  <Application>Microsoft Office PowerPoint</Application>
  <PresentationFormat>Personalizado</PresentationFormat>
  <Paragraphs>126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2</cp:revision>
  <dcterms:created xsi:type="dcterms:W3CDTF">2013-01-27T09:14:16Z</dcterms:created>
  <dcterms:modified xsi:type="dcterms:W3CDTF">2026-04-23T12:13:15Z</dcterms:modified>
  <cp:category/>
</cp:coreProperties>
</file>