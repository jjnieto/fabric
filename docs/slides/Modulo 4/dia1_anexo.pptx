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1" d="100"/>
          <a:sy n="91" d="100"/>
        </p:scale>
        <p:origin x="768"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2084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65760"/>
            <a:ext cx="10972800" cy="457200"/>
          </a:xfrm>
          <a:prstGeom prst="rect">
            <a:avLst/>
          </a:prstGeom>
          <a:noFill/>
        </p:spPr>
        <p:txBody>
          <a:bodyPr wrap="square"/>
          <a:lstStyle/>
          <a:p>
            <a:pPr algn="l">
              <a:defRPr sz="1600" b="1">
                <a:solidFill>
                  <a:srgbClr val="22627E"/>
                </a:solidFill>
                <a:latin typeface="Calibri"/>
              </a:defRPr>
            </a:pPr>
            <a:r>
              <a:t>Modulo 4: Tokens y Smart Contracts</a:t>
            </a:r>
          </a:p>
        </p:txBody>
      </p:sp>
      <p:sp>
        <p:nvSpPr>
          <p:cNvPr id="5" name="TextBox 4"/>
          <p:cNvSpPr txBox="1"/>
          <p:nvPr/>
        </p:nvSpPr>
        <p:spPr>
          <a:xfrm>
            <a:off x="457200" y="1828800"/>
            <a:ext cx="10972800" cy="2286000"/>
          </a:xfrm>
          <a:prstGeom prst="rect">
            <a:avLst/>
          </a:prstGeom>
          <a:noFill/>
        </p:spPr>
        <p:txBody>
          <a:bodyPr wrap="square"/>
          <a:lstStyle/>
          <a:p>
            <a:pPr algn="l">
              <a:defRPr sz="5400" b="1">
                <a:solidFill>
                  <a:srgbClr val="22627E"/>
                </a:solidFill>
                <a:latin typeface="Calibri"/>
              </a:defRPr>
            </a:pPr>
            <a:r>
              <a:t>Tokenizacion en</a:t>
            </a:r>
            <a:br/>
            <a:r>
              <a:t>Hyperledger Fabric</a:t>
            </a:r>
          </a:p>
        </p:txBody>
      </p:sp>
      <p:sp>
        <p:nvSpPr>
          <p:cNvPr id="6" name="TextBox 5"/>
          <p:cNvSpPr txBox="1"/>
          <p:nvPr/>
        </p:nvSpPr>
        <p:spPr>
          <a:xfrm>
            <a:off x="457200" y="4114800"/>
            <a:ext cx="10972800" cy="1371600"/>
          </a:xfrm>
          <a:prstGeom prst="rect">
            <a:avLst/>
          </a:prstGeom>
          <a:noFill/>
        </p:spPr>
        <p:txBody>
          <a:bodyPr wrap="square"/>
          <a:lstStyle/>
          <a:p>
            <a:pPr algn="l">
              <a:defRPr sz="2400" b="0">
                <a:solidFill>
                  <a:srgbClr val="333333"/>
                </a:solidFill>
                <a:latin typeface="Calibri"/>
              </a:defRPr>
            </a:pPr>
            <a:r>
              <a:t>De tokens EVM a tokens enterprise en Fabric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De Ethereum a Fabric: cambio de paradigma</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En Ethereum los tokens son Smart Contracts publicos (ERC-20, ERC-721, ERC-1155)</a:t>
            </a:r>
          </a:p>
          <a:p>
            <a:pPr>
              <a:spcAft>
                <a:spcPts val="800"/>
              </a:spcAft>
              <a:defRPr sz="2000">
                <a:solidFill>
                  <a:srgbClr val="333333"/>
                </a:solidFill>
                <a:latin typeface="Calibri"/>
              </a:defRPr>
            </a:pPr>
            <a:r>
              <a:t>Cualquiera puede crear, transferir y consultar tokens sin permiso</a:t>
            </a:r>
          </a:p>
          <a:p>
            <a:pPr>
              <a:spcAft>
                <a:spcPts val="800"/>
              </a:spcAft>
              <a:defRPr sz="2000">
                <a:solidFill>
                  <a:srgbClr val="333333"/>
                </a:solidFill>
                <a:latin typeface="Calibri"/>
              </a:defRPr>
            </a:pPr>
            <a:r>
              <a:t>En Fabric no existen estandares ERC: los tokens se implementan como chaincodes</a:t>
            </a:r>
          </a:p>
          <a:p>
            <a:pPr>
              <a:spcAft>
                <a:spcPts val="800"/>
              </a:spcAft>
              <a:defRPr sz="2000">
                <a:solidFill>
                  <a:srgbClr val="333333"/>
                </a:solidFill>
                <a:latin typeface="Calibri"/>
              </a:defRPr>
            </a:pPr>
            <a:r>
              <a:t>Fabric es permissioned: solo participantes autorizados operan con tokens</a:t>
            </a:r>
          </a:p>
          <a:p>
            <a:pPr>
              <a:spcAft>
                <a:spcPts val="800"/>
              </a:spcAft>
              <a:defRPr sz="2000">
                <a:solidFill>
                  <a:srgbClr val="333333"/>
                </a:solidFill>
                <a:latin typeface="Calibri"/>
              </a:defRPr>
            </a:pPr>
            <a:r>
              <a:t>No hay criptomoneda nativa: los tokens representan activos del mundo real</a:t>
            </a:r>
          </a:p>
          <a:p>
            <a:pPr>
              <a:spcAft>
                <a:spcPts val="800"/>
              </a:spcAft>
              <a:defRPr sz="2000">
                <a:solidFill>
                  <a:srgbClr val="333333"/>
                </a:solidFill>
                <a:latin typeface="Calibri"/>
              </a:defRPr>
            </a:pPr>
            <a:r>
              <a:t>La privacidad es nativa: canales y Private Data Collections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Tokens: Ethereum vs Hyperledger Fabric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822960" y="1371600"/>
          <a:ext cx="10515600" cy="3977640"/>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20000"/>
                    </a:ext>
                  </a:extLst>
                </a:gridCol>
                <a:gridCol w="3505200">
                  <a:extLst>
                    <a:ext uri="{9D8B030D-6E8A-4147-A177-3AD203B41FA5}">
                      <a16:colId xmlns:a16="http://schemas.microsoft.com/office/drawing/2014/main" val="20001"/>
                    </a:ext>
                  </a:extLst>
                </a:gridCol>
                <a:gridCol w="3505200">
                  <a:extLst>
                    <a:ext uri="{9D8B030D-6E8A-4147-A177-3AD203B41FA5}">
                      <a16:colId xmlns:a16="http://schemas.microsoft.com/office/drawing/2014/main" val="20002"/>
                    </a:ext>
                  </a:extLst>
                </a:gridCol>
              </a:tblGrid>
              <a:tr h="411480">
                <a:tc>
                  <a:txBody>
                    <a:bodyPr/>
                    <a:lstStyle/>
                    <a:p>
                      <a:pPr>
                        <a:defRPr sz="1600" b="1">
                          <a:solidFill>
                            <a:srgbClr val="FFFFFF"/>
                          </a:solidFill>
                          <a:latin typeface="Calibri"/>
                        </a:defRPr>
                      </a:pPr>
                      <a:r>
                        <a:t>Aspecto</a:t>
                      </a:r>
                    </a:p>
                  </a:txBody>
                  <a:tcPr>
                    <a:solidFill>
                      <a:srgbClr val="22627E"/>
                    </a:solidFill>
                  </a:tcPr>
                </a:tc>
                <a:tc>
                  <a:txBody>
                    <a:bodyPr/>
                    <a:lstStyle/>
                    <a:p>
                      <a:pPr>
                        <a:defRPr sz="1600" b="1">
                          <a:solidFill>
                            <a:srgbClr val="FFFFFF"/>
                          </a:solidFill>
                          <a:latin typeface="Calibri"/>
                        </a:defRPr>
                      </a:pPr>
                      <a:r>
                        <a:t>Ethereum</a:t>
                      </a:r>
                    </a:p>
                  </a:txBody>
                  <a:tcPr>
                    <a:solidFill>
                      <a:srgbClr val="22627E"/>
                    </a:solidFill>
                  </a:tcPr>
                </a:tc>
                <a:tc>
                  <a:txBody>
                    <a:bodyPr/>
                    <a:lstStyle/>
                    <a:p>
                      <a:pPr>
                        <a:defRPr sz="1600" b="1">
                          <a:solidFill>
                            <a:srgbClr val="FFFFFF"/>
                          </a:solidFill>
                          <a:latin typeface="Calibri"/>
                        </a:defRPr>
                      </a:pPr>
                      <a:r>
                        <a:t>Hyperledger Fabric</a:t>
                      </a:r>
                    </a:p>
                  </a:txBody>
                  <a:tcPr>
                    <a:solidFill>
                      <a:srgbClr val="22627E"/>
                    </a:solidFill>
                  </a:tcPr>
                </a:tc>
                <a:extLst>
                  <a:ext uri="{0D108BD9-81ED-4DB2-BD59-A6C34878D82A}">
                    <a16:rowId xmlns:a16="http://schemas.microsoft.com/office/drawing/2014/main" val="10000"/>
                  </a:ext>
                </a:extLst>
              </a:tr>
              <a:tr h="411480">
                <a:tc>
                  <a:txBody>
                    <a:bodyPr/>
                    <a:lstStyle/>
                    <a:p>
                      <a:pPr>
                        <a:defRPr sz="1500">
                          <a:solidFill>
                            <a:srgbClr val="333333"/>
                          </a:solidFill>
                          <a:latin typeface="Calibri"/>
                        </a:defRPr>
                      </a:pPr>
                      <a:r>
                        <a:t>Estandar</a:t>
                      </a:r>
                    </a:p>
                  </a:txBody>
                  <a:tcPr>
                    <a:solidFill>
                      <a:srgbClr val="F2F2F2"/>
                    </a:solidFill>
                  </a:tcPr>
                </a:tc>
                <a:tc>
                  <a:txBody>
                    <a:bodyPr/>
                    <a:lstStyle/>
                    <a:p>
                      <a:pPr>
                        <a:defRPr sz="1500">
                          <a:solidFill>
                            <a:srgbClr val="333333"/>
                          </a:solidFill>
                          <a:latin typeface="Calibri"/>
                        </a:defRPr>
                      </a:pPr>
                      <a:r>
                        <a:t>ERC-20, ERC-721, ERC-1155</a:t>
                      </a:r>
                    </a:p>
                  </a:txBody>
                  <a:tcPr>
                    <a:solidFill>
                      <a:srgbClr val="F2F2F2"/>
                    </a:solidFill>
                  </a:tcPr>
                </a:tc>
                <a:tc>
                  <a:txBody>
                    <a:bodyPr/>
                    <a:lstStyle/>
                    <a:p>
                      <a:pPr>
                        <a:defRPr sz="1500">
                          <a:solidFill>
                            <a:srgbClr val="333333"/>
                          </a:solidFill>
                          <a:latin typeface="Calibri"/>
                        </a:defRPr>
                      </a:pPr>
                      <a:r>
                        <a:t>No hay estandar oficial, se implementa via chaincode</a:t>
                      </a:r>
                    </a:p>
                  </a:txBody>
                  <a:tcPr>
                    <a:solidFill>
                      <a:srgbClr val="F2F2F2"/>
                    </a:solidFill>
                  </a:tcPr>
                </a:tc>
                <a:extLst>
                  <a:ext uri="{0D108BD9-81ED-4DB2-BD59-A6C34878D82A}">
                    <a16:rowId xmlns:a16="http://schemas.microsoft.com/office/drawing/2014/main" val="10001"/>
                  </a:ext>
                </a:extLst>
              </a:tr>
              <a:tr h="411480">
                <a:tc>
                  <a:txBody>
                    <a:bodyPr/>
                    <a:lstStyle/>
                    <a:p>
                      <a:pPr>
                        <a:defRPr sz="1500">
                          <a:solidFill>
                            <a:srgbClr val="333333"/>
                          </a:solidFill>
                          <a:latin typeface="Calibri"/>
                        </a:defRPr>
                      </a:pPr>
                      <a:r>
                        <a:t>Permiso</a:t>
                      </a:r>
                    </a:p>
                  </a:txBody>
                  <a:tcPr/>
                </a:tc>
                <a:tc>
                  <a:txBody>
                    <a:bodyPr/>
                    <a:lstStyle/>
                    <a:p>
                      <a:pPr>
                        <a:defRPr sz="1500">
                          <a:solidFill>
                            <a:srgbClr val="333333"/>
                          </a:solidFill>
                          <a:latin typeface="Calibri"/>
                        </a:defRPr>
                      </a:pPr>
                      <a:r>
                        <a:t>Permissionless: cualquiera puede crear tokens</a:t>
                      </a:r>
                    </a:p>
                  </a:txBody>
                  <a:tcPr/>
                </a:tc>
                <a:tc>
                  <a:txBody>
                    <a:bodyPr/>
                    <a:lstStyle/>
                    <a:p>
                      <a:pPr>
                        <a:defRPr sz="1500">
                          <a:solidFill>
                            <a:srgbClr val="333333"/>
                          </a:solidFill>
                          <a:latin typeface="Calibri"/>
                        </a:defRPr>
                      </a:pPr>
                      <a:r>
                        <a:t>Permissioned: solo participantes autorizados</a:t>
                      </a:r>
                    </a:p>
                  </a:txBody>
                  <a:tcPr/>
                </a:tc>
                <a:extLst>
                  <a:ext uri="{0D108BD9-81ED-4DB2-BD59-A6C34878D82A}">
                    <a16:rowId xmlns:a16="http://schemas.microsoft.com/office/drawing/2014/main" val="10002"/>
                  </a:ext>
                </a:extLst>
              </a:tr>
              <a:tr h="411480">
                <a:tc>
                  <a:txBody>
                    <a:bodyPr/>
                    <a:lstStyle/>
                    <a:p>
                      <a:pPr>
                        <a:defRPr sz="1500">
                          <a:solidFill>
                            <a:srgbClr val="333333"/>
                          </a:solidFill>
                          <a:latin typeface="Calibri"/>
                        </a:defRPr>
                      </a:pPr>
                      <a:r>
                        <a:t>Visibilidad</a:t>
                      </a:r>
                    </a:p>
                  </a:txBody>
                  <a:tcPr>
                    <a:solidFill>
                      <a:srgbClr val="F2F2F2"/>
                    </a:solidFill>
                  </a:tcPr>
                </a:tc>
                <a:tc>
                  <a:txBody>
                    <a:bodyPr/>
                    <a:lstStyle/>
                    <a:p>
                      <a:pPr>
                        <a:defRPr sz="1500">
                          <a:solidFill>
                            <a:srgbClr val="333333"/>
                          </a:solidFill>
                          <a:latin typeface="Calibri"/>
                        </a:defRPr>
                      </a:pPr>
                      <a:r>
                        <a:t>Publica: todo el mundo ve los balances</a:t>
                      </a:r>
                    </a:p>
                  </a:txBody>
                  <a:tcPr>
                    <a:solidFill>
                      <a:srgbClr val="F2F2F2"/>
                    </a:solidFill>
                  </a:tcPr>
                </a:tc>
                <a:tc>
                  <a:txBody>
                    <a:bodyPr/>
                    <a:lstStyle/>
                    <a:p>
                      <a:pPr>
                        <a:defRPr sz="1500">
                          <a:solidFill>
                            <a:srgbClr val="333333"/>
                          </a:solidFill>
                          <a:latin typeface="Calibri"/>
                        </a:defRPr>
                      </a:pPr>
                      <a:r>
                        <a:t>Privada: canales y Private Data</a:t>
                      </a:r>
                    </a:p>
                  </a:txBody>
                  <a:tcPr>
                    <a:solidFill>
                      <a:srgbClr val="F2F2F2"/>
                    </a:solidFill>
                  </a:tcPr>
                </a:tc>
                <a:extLst>
                  <a:ext uri="{0D108BD9-81ED-4DB2-BD59-A6C34878D82A}">
                    <a16:rowId xmlns:a16="http://schemas.microsoft.com/office/drawing/2014/main" val="10003"/>
                  </a:ext>
                </a:extLst>
              </a:tr>
              <a:tr h="411480">
                <a:tc>
                  <a:txBody>
                    <a:bodyPr/>
                    <a:lstStyle/>
                    <a:p>
                      <a:pPr>
                        <a:defRPr sz="1500">
                          <a:solidFill>
                            <a:srgbClr val="333333"/>
                          </a:solidFill>
                          <a:latin typeface="Calibri"/>
                        </a:defRPr>
                      </a:pPr>
                      <a:r>
                        <a:t>Moneda nativa</a:t>
                      </a:r>
                    </a:p>
                  </a:txBody>
                  <a:tcPr/>
                </a:tc>
                <a:tc>
                  <a:txBody>
                    <a:bodyPr/>
                    <a:lstStyle/>
                    <a:p>
                      <a:pPr>
                        <a:defRPr sz="1500">
                          <a:solidFill>
                            <a:srgbClr val="333333"/>
                          </a:solidFill>
                          <a:latin typeface="Calibri"/>
                        </a:defRPr>
                      </a:pPr>
                      <a:r>
                        <a:t>ETH para gas</a:t>
                      </a:r>
                    </a:p>
                  </a:txBody>
                  <a:tcPr/>
                </a:tc>
                <a:tc>
                  <a:txBody>
                    <a:bodyPr/>
                    <a:lstStyle/>
                    <a:p>
                      <a:pPr>
                        <a:defRPr sz="1500">
                          <a:solidFill>
                            <a:srgbClr val="333333"/>
                          </a:solidFill>
                          <a:latin typeface="Calibri"/>
                        </a:defRPr>
                      </a:pPr>
                      <a:r>
                        <a:t>No hay moneda nativa</a:t>
                      </a:r>
                    </a:p>
                  </a:txBody>
                  <a:tcPr/>
                </a:tc>
                <a:extLst>
                  <a:ext uri="{0D108BD9-81ED-4DB2-BD59-A6C34878D82A}">
                    <a16:rowId xmlns:a16="http://schemas.microsoft.com/office/drawing/2014/main" val="10004"/>
                  </a:ext>
                </a:extLst>
              </a:tr>
              <a:tr h="411480">
                <a:tc>
                  <a:txBody>
                    <a:bodyPr/>
                    <a:lstStyle/>
                    <a:p>
                      <a:pPr>
                        <a:defRPr sz="1500">
                          <a:solidFill>
                            <a:srgbClr val="333333"/>
                          </a:solidFill>
                          <a:latin typeface="Calibri"/>
                        </a:defRPr>
                      </a:pPr>
                      <a:r>
                        <a:t>Lenguaje</a:t>
                      </a:r>
                    </a:p>
                  </a:txBody>
                  <a:tcPr>
                    <a:solidFill>
                      <a:srgbClr val="F2F2F2"/>
                    </a:solidFill>
                  </a:tcPr>
                </a:tc>
                <a:tc>
                  <a:txBody>
                    <a:bodyPr/>
                    <a:lstStyle/>
                    <a:p>
                      <a:pPr>
                        <a:defRPr sz="1500">
                          <a:solidFill>
                            <a:srgbClr val="333333"/>
                          </a:solidFill>
                          <a:latin typeface="Calibri"/>
                        </a:defRPr>
                      </a:pPr>
                      <a:r>
                        <a:t>Solidity / Vyper</a:t>
                      </a:r>
                    </a:p>
                  </a:txBody>
                  <a:tcPr>
                    <a:solidFill>
                      <a:srgbClr val="F2F2F2"/>
                    </a:solidFill>
                  </a:tcPr>
                </a:tc>
                <a:tc>
                  <a:txBody>
                    <a:bodyPr/>
                    <a:lstStyle/>
                    <a:p>
                      <a:pPr>
                        <a:defRPr sz="1500">
                          <a:solidFill>
                            <a:srgbClr val="333333"/>
                          </a:solidFill>
                          <a:latin typeface="Calibri"/>
                        </a:defRPr>
                      </a:pPr>
                      <a:r>
                        <a:t>Go, Node.js, Java</a:t>
                      </a:r>
                    </a:p>
                  </a:txBody>
                  <a:tcPr>
                    <a:solidFill>
                      <a:srgbClr val="F2F2F2"/>
                    </a:solidFill>
                  </a:tcPr>
                </a:tc>
                <a:extLst>
                  <a:ext uri="{0D108BD9-81ED-4DB2-BD59-A6C34878D82A}">
                    <a16:rowId xmlns:a16="http://schemas.microsoft.com/office/drawing/2014/main" val="10005"/>
                  </a:ext>
                </a:extLst>
              </a:tr>
              <a:tr h="411480">
                <a:tc>
                  <a:txBody>
                    <a:bodyPr/>
                    <a:lstStyle/>
                    <a:p>
                      <a:pPr>
                        <a:defRPr sz="1500">
                          <a:solidFill>
                            <a:srgbClr val="333333"/>
                          </a:solidFill>
                          <a:latin typeface="Calibri"/>
                        </a:defRPr>
                      </a:pPr>
                      <a:r>
                        <a:t>Identidad</a:t>
                      </a:r>
                    </a:p>
                  </a:txBody>
                  <a:tcPr/>
                </a:tc>
                <a:tc>
                  <a:txBody>
                    <a:bodyPr/>
                    <a:lstStyle/>
                    <a:p>
                      <a:pPr>
                        <a:defRPr sz="1500">
                          <a:solidFill>
                            <a:srgbClr val="333333"/>
                          </a:solidFill>
                          <a:latin typeface="Calibri"/>
                        </a:defRPr>
                      </a:pPr>
                      <a:r>
                        <a:t>Direccion pseudonima</a:t>
                      </a:r>
                    </a:p>
                  </a:txBody>
                  <a:tcPr/>
                </a:tc>
                <a:tc>
                  <a:txBody>
                    <a:bodyPr/>
                    <a:lstStyle/>
                    <a:p>
                      <a:pPr>
                        <a:defRPr sz="1500">
                          <a:solidFill>
                            <a:srgbClr val="333333"/>
                          </a:solidFill>
                          <a:latin typeface="Calibri"/>
                        </a:defRPr>
                      </a:pPr>
                      <a:r>
                        <a:t>Certificado X.509 con nombre y org</a:t>
                      </a:r>
                    </a:p>
                  </a:txBody>
                  <a:tcPr/>
                </a:tc>
                <a:extLst>
                  <a:ext uri="{0D108BD9-81ED-4DB2-BD59-A6C34878D82A}">
                    <a16:rowId xmlns:a16="http://schemas.microsoft.com/office/drawing/2014/main" val="10006"/>
                  </a:ext>
                </a:extLst>
              </a:tr>
              <a:tr h="411480">
                <a:tc>
                  <a:txBody>
                    <a:bodyPr/>
                    <a:lstStyle/>
                    <a:p>
                      <a:pPr>
                        <a:defRPr sz="1500">
                          <a:solidFill>
                            <a:srgbClr val="333333"/>
                          </a:solidFill>
                          <a:latin typeface="Calibri"/>
                        </a:defRPr>
                      </a:pPr>
                      <a:r>
                        <a:t>Interoperabilidad</a:t>
                      </a:r>
                    </a:p>
                  </a:txBody>
                  <a:tcPr>
                    <a:solidFill>
                      <a:srgbClr val="F2F2F2"/>
                    </a:solidFill>
                  </a:tcPr>
                </a:tc>
                <a:tc>
                  <a:txBody>
                    <a:bodyPr/>
                    <a:lstStyle/>
                    <a:p>
                      <a:pPr>
                        <a:defRPr sz="1500">
                          <a:solidFill>
                            <a:srgbClr val="333333"/>
                          </a:solidFill>
                          <a:latin typeface="Calibri"/>
                        </a:defRPr>
                      </a:pPr>
                      <a:r>
                        <a:t>Cualquier wallet/DEX</a:t>
                      </a:r>
                    </a:p>
                  </a:txBody>
                  <a:tcPr>
                    <a:solidFill>
                      <a:srgbClr val="F2F2F2"/>
                    </a:solidFill>
                  </a:tcPr>
                </a:tc>
                <a:tc>
                  <a:txBody>
                    <a:bodyPr/>
                    <a:lstStyle/>
                    <a:p>
                      <a:pPr>
                        <a:defRPr sz="1500">
                          <a:solidFill>
                            <a:srgbClr val="333333"/>
                          </a:solidFill>
                          <a:latin typeface="Calibri"/>
                        </a:defRPr>
                      </a:pPr>
                      <a:r>
                        <a:t>Solo participantes de la red</a:t>
                      </a:r>
                    </a:p>
                  </a:txBody>
                  <a:tcPr>
                    <a:solidFill>
                      <a:srgbClr val="F2F2F2"/>
                    </a:solidFill>
                  </a:tcPr>
                </a:tc>
                <a:extLst>
                  <a:ext uri="{0D108BD9-81ED-4DB2-BD59-A6C34878D82A}">
                    <a16:rowId xmlns:a16="http://schemas.microsoft.com/office/drawing/2014/main" val="10007"/>
                  </a:ext>
                </a:extLst>
              </a:tr>
              <a:tr h="411480">
                <a:tc>
                  <a:txBody>
                    <a:bodyPr/>
                    <a:lstStyle/>
                    <a:p>
                      <a:pPr>
                        <a:defRPr sz="1500">
                          <a:solidFill>
                            <a:srgbClr val="333333"/>
                          </a:solidFill>
                          <a:latin typeface="Calibri"/>
                        </a:defRPr>
                      </a:pPr>
                      <a:r>
                        <a:t>Caso de uso tipico</a:t>
                      </a:r>
                    </a:p>
                  </a:txBody>
                  <a:tcPr/>
                </a:tc>
                <a:tc>
                  <a:txBody>
                    <a:bodyPr/>
                    <a:lstStyle/>
                    <a:p>
                      <a:pPr>
                        <a:defRPr sz="1500">
                          <a:solidFill>
                            <a:srgbClr val="333333"/>
                          </a:solidFill>
                          <a:latin typeface="Calibri"/>
                        </a:defRPr>
                      </a:pPr>
                      <a:r>
                        <a:t>DeFi, NFTs, especulacion</a:t>
                      </a:r>
                    </a:p>
                  </a:txBody>
                  <a:tcPr/>
                </a:tc>
                <a:tc>
                  <a:txBody>
                    <a:bodyPr/>
                    <a:lstStyle/>
                    <a:p>
                      <a:pPr>
                        <a:defRPr sz="1500">
                          <a:solidFill>
                            <a:srgbClr val="333333"/>
                          </a:solidFill>
                          <a:latin typeface="Calibri"/>
                        </a:defRPr>
                      </a:pPr>
                      <a:r>
                        <a:t>Supply chain, bonos, fidelizacion</a:t>
                      </a: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Tres formas de implementar tokens en Fabric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1. Chaincode custom: escribir tu propia logica de token desde cero</a:t>
            </a:r>
          </a:p>
          <a:p>
            <a:pPr lvl="1">
              <a:spcAft>
                <a:spcPts val="400"/>
              </a:spcAft>
              <a:defRPr sz="1700">
                <a:solidFill>
                  <a:srgbClr val="666666"/>
                </a:solidFill>
                <a:latin typeface="Calibri"/>
              </a:defRPr>
            </a:pPr>
            <a:r>
              <a:t>    Maximo control y flexibilidad</a:t>
            </a:r>
          </a:p>
          <a:p>
            <a:pPr lvl="1">
              <a:spcAft>
                <a:spcPts val="400"/>
              </a:spcAft>
              <a:defRPr sz="1700">
                <a:solidFill>
                  <a:srgbClr val="666666"/>
                </a:solidFill>
                <a:latin typeface="Calibri"/>
              </a:defRPr>
            </a:pPr>
            <a:r>
              <a:t>    Requiere implementar mint, transfer, balanceOf, allowance...</a:t>
            </a:r>
          </a:p>
          <a:p>
            <a:pPr>
              <a:spcAft>
                <a:spcPts val="800"/>
              </a:spcAft>
              <a:defRPr sz="2000">
                <a:solidFill>
                  <a:srgbClr val="333333"/>
                </a:solidFill>
                <a:latin typeface="Calibri"/>
              </a:defRPr>
            </a:pPr>
            <a:r>
              <a:t>2. Fabric Token SDK: libreria oficial con modelo UTXO</a:t>
            </a:r>
          </a:p>
          <a:p>
            <a:pPr lvl="1">
              <a:spcAft>
                <a:spcPts val="400"/>
              </a:spcAft>
              <a:defRPr sz="1700">
                <a:solidFill>
                  <a:srgbClr val="666666"/>
                </a:solidFill>
                <a:latin typeface="Calibri"/>
              </a:defRPr>
            </a:pPr>
            <a:r>
              <a:t>    Modelo UTXO similar a Bitcoin</a:t>
            </a:r>
          </a:p>
          <a:p>
            <a:pPr lvl="1">
              <a:spcAft>
                <a:spcPts val="400"/>
              </a:spcAft>
              <a:defRPr sz="1700">
                <a:solidFill>
                  <a:srgbClr val="666666"/>
                </a:solidFill>
                <a:latin typeface="Calibri"/>
              </a:defRPr>
            </a:pPr>
            <a:r>
              <a:t>    Soporta privacidad con tokens anonimos</a:t>
            </a:r>
          </a:p>
          <a:p>
            <a:pPr lvl="1">
              <a:spcAft>
                <a:spcPts val="400"/>
              </a:spcAft>
              <a:defRPr sz="1700">
                <a:solidFill>
                  <a:srgbClr val="666666"/>
                </a:solidFill>
                <a:latin typeface="Calibri"/>
              </a:defRPr>
            </a:pPr>
            <a:r>
              <a:t>    Mas complejo de entender pero mas potente</a:t>
            </a:r>
          </a:p>
          <a:p>
            <a:pPr>
              <a:spcAft>
                <a:spcPts val="800"/>
              </a:spcAft>
              <a:defRPr sz="2000">
                <a:solidFill>
                  <a:srgbClr val="333333"/>
                </a:solidFill>
                <a:latin typeface="Calibri"/>
              </a:defRPr>
            </a:pPr>
            <a:r>
              <a:t>3. Fabric Samples token-erc20: ejemplo oficial tipo ERC-20 con modelo de cuentas</a:t>
            </a:r>
          </a:p>
          <a:p>
            <a:pPr lvl="1">
              <a:spcAft>
                <a:spcPts val="400"/>
              </a:spcAft>
              <a:defRPr sz="1700">
                <a:solidFill>
                  <a:srgbClr val="666666"/>
                </a:solidFill>
                <a:latin typeface="Calibri"/>
              </a:defRPr>
            </a:pPr>
            <a:r>
              <a:t>    El mas parecido a un ERC-20 de Ethereum</a:t>
            </a:r>
          </a:p>
          <a:p>
            <a:pPr lvl="1">
              <a:spcAft>
                <a:spcPts val="400"/>
              </a:spcAft>
              <a:defRPr sz="1700">
                <a:solidFill>
                  <a:srgbClr val="666666"/>
                </a:solidFill>
                <a:latin typeface="Calibri"/>
              </a:defRPr>
            </a:pPr>
            <a:r>
              <a:t>    Buen punto de partida para aprender</a:t>
            </a:r>
          </a:p>
          <a:p>
            <a:pPr lvl="1">
              <a:spcAft>
                <a:spcPts val="400"/>
              </a:spcAft>
              <a:defRPr sz="1700">
                <a:solidFill>
                  <a:srgbClr val="666666"/>
                </a:solidFill>
                <a:latin typeface="Calibri"/>
              </a:defRPr>
            </a:pPr>
            <a:r>
              <a:t>    Repositorio: fabric-samples/token-erc-20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Flujo de un token en Fabric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371600" y="1371600"/>
            <a:ext cx="9418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0" y="2286000"/>
            <a:ext cx="8503920" cy="1371600"/>
          </a:xfrm>
          <a:prstGeom prst="rect">
            <a:avLst/>
          </a:prstGeom>
          <a:noFill/>
        </p:spPr>
        <p:txBody>
          <a:bodyPr wrap="square"/>
          <a:lstStyle/>
          <a:p>
            <a:pPr algn="ctr">
              <a:defRPr sz="2400" b="0">
                <a:solidFill>
                  <a:srgbClr val="999999"/>
                </a:solidFill>
                <a:latin typeface="Calibri"/>
              </a:defRPr>
            </a:pPr>
            <a:r>
              <a:t>[Diagrama: App cliente -&gt; Gateway -&gt; Peer (chaincode token) -&gt; World State (balances)]</a:t>
            </a:r>
          </a:p>
        </p:txBody>
      </p:sp>
      <p:sp>
        <p:nvSpPr>
          <p:cNvPr id="7" name="Rectangle 6"/>
          <p:cNvSpPr/>
          <p:nvPr/>
        </p:nvSpPr>
        <p:spPr>
          <a:xfrm>
            <a:off x="1371600" y="3840480"/>
            <a:ext cx="9418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840480"/>
            <a:ext cx="9418320" cy="320040"/>
          </a:xfrm>
          <a:prstGeom prst="rect">
            <a:avLst/>
          </a:prstGeom>
          <a:noFill/>
        </p:spPr>
        <p:txBody>
          <a:bodyPr wrap="square"/>
          <a:lstStyle/>
          <a:p>
            <a:pPr algn="ctr">
              <a:defRPr sz="1300" b="1">
                <a:solidFill>
                  <a:srgbClr val="FFFFFF"/>
                </a:solidFill>
                <a:latin typeface="Calibri"/>
              </a:defRPr>
            </a:pPr>
            <a:r>
              <a:t>Prompt para IA generativa:</a:t>
            </a:r>
          </a:p>
        </p:txBody>
      </p:sp>
      <p:sp>
        <p:nvSpPr>
          <p:cNvPr id="9" name="TextBox 8"/>
          <p:cNvSpPr txBox="1"/>
          <p:nvPr/>
        </p:nvSpPr>
        <p:spPr>
          <a:xfrm>
            <a:off x="1645920" y="4297680"/>
            <a:ext cx="8869680" cy="914400"/>
          </a:xfrm>
          <a:prstGeom prst="rect">
            <a:avLst/>
          </a:prstGeom>
          <a:noFill/>
        </p:spPr>
        <p:txBody>
          <a:bodyPr wrap="square"/>
          <a:lstStyle/>
          <a:p>
            <a:pPr algn="l">
              <a:defRPr sz="1400" b="0">
                <a:solidFill>
                  <a:srgbClr val="7C3AED"/>
                </a:solidFill>
                <a:latin typeface="Consolas"/>
              </a:defRPr>
            </a:pPr>
            <a:r>
              <a:t>Technical diagram showing token flow in Hyperledger Fabric: client app sends transaction proposal through Fabric Gateway to endorsing peer, chaincode executes token logic, world state updates balances. Clean flat design, dark teal color scheme, labeled arrows between components.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Fabric Token SDK: vision general</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Libreria oficial de Hyperledger para gestion de tokens</a:t>
            </a:r>
          </a:p>
          <a:p>
            <a:pPr>
              <a:spcAft>
                <a:spcPts val="800"/>
              </a:spcAft>
              <a:defRPr sz="2000">
                <a:solidFill>
                  <a:srgbClr val="333333"/>
                </a:solidFill>
                <a:latin typeface="Calibri"/>
              </a:defRPr>
            </a:pPr>
            <a:r>
              <a:t>Modelo UTXO: cada token es una 'moneda' indivisible que se gasta completa</a:t>
            </a:r>
          </a:p>
          <a:p>
            <a:pPr>
              <a:spcAft>
                <a:spcPts val="800"/>
              </a:spcAft>
              <a:defRPr sz="2000">
                <a:solidFill>
                  <a:srgbClr val="333333"/>
                </a:solidFill>
                <a:latin typeface="Calibri"/>
              </a:defRPr>
            </a:pPr>
            <a:r>
              <a:t>Operaciones principales:</a:t>
            </a:r>
          </a:p>
          <a:p>
            <a:pPr lvl="1">
              <a:spcAft>
                <a:spcPts val="400"/>
              </a:spcAft>
              <a:defRPr sz="1700">
                <a:solidFill>
                  <a:srgbClr val="666666"/>
                </a:solidFill>
                <a:latin typeface="Calibri"/>
              </a:defRPr>
            </a:pPr>
            <a:r>
              <a:t>    Issue: crear nuevos tokens (equivalente a mint)</a:t>
            </a:r>
          </a:p>
          <a:p>
            <a:pPr lvl="1">
              <a:spcAft>
                <a:spcPts val="400"/>
              </a:spcAft>
              <a:defRPr sz="1700">
                <a:solidFill>
                  <a:srgbClr val="666666"/>
                </a:solidFill>
                <a:latin typeface="Calibri"/>
              </a:defRPr>
            </a:pPr>
            <a:r>
              <a:t>    Transfer: enviar tokens a otro participante</a:t>
            </a:r>
          </a:p>
          <a:p>
            <a:pPr lvl="1">
              <a:spcAft>
                <a:spcPts val="400"/>
              </a:spcAft>
              <a:defRPr sz="1700">
                <a:solidFill>
                  <a:srgbClr val="666666"/>
                </a:solidFill>
                <a:latin typeface="Calibri"/>
              </a:defRPr>
            </a:pPr>
            <a:r>
              <a:t>    Redeem: destruir tokens (equivalente a burn)</a:t>
            </a:r>
          </a:p>
          <a:p>
            <a:pPr lvl="1">
              <a:spcAft>
                <a:spcPts val="400"/>
              </a:spcAft>
              <a:defRPr sz="1700">
                <a:solidFill>
                  <a:srgbClr val="666666"/>
                </a:solidFill>
                <a:latin typeface="Calibri"/>
              </a:defRPr>
            </a:pPr>
            <a:r>
              <a:t>    List: consultar tokens propios</a:t>
            </a:r>
          </a:p>
          <a:p>
            <a:pPr>
              <a:spcAft>
                <a:spcPts val="800"/>
              </a:spcAft>
              <a:defRPr sz="2000">
                <a:solidFill>
                  <a:srgbClr val="333333"/>
                </a:solidFill>
                <a:latin typeface="Calibri"/>
              </a:defRPr>
            </a:pPr>
            <a:r>
              <a:t>Soporta tokens fungibles y no fungibles</a:t>
            </a:r>
          </a:p>
          <a:p>
            <a:pPr>
              <a:spcAft>
                <a:spcPts val="800"/>
              </a:spcAft>
              <a:defRPr sz="2000">
                <a:solidFill>
                  <a:srgbClr val="333333"/>
                </a:solidFill>
                <a:latin typeface="Calibri"/>
              </a:defRPr>
            </a:pPr>
            <a:r>
              <a:t>Permite anonimato: el emisor no sabe quien tiene los tokens</a:t>
            </a:r>
          </a:p>
          <a:p>
            <a:pPr>
              <a:spcAft>
                <a:spcPts val="800"/>
              </a:spcAft>
              <a:defRPr sz="2000">
                <a:solidFill>
                  <a:srgbClr val="333333"/>
                </a:solidFill>
                <a:latin typeface="Calibri"/>
              </a:defRPr>
            </a:pPr>
            <a:r>
              <a:t>Integracion con Fabric CA para identidades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UTXO vs Account Model</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5029200" cy="457200"/>
          </a:xfrm>
          <a:prstGeom prst="rect">
            <a:avLst/>
          </a:prstGeom>
          <a:noFill/>
        </p:spPr>
        <p:txBody>
          <a:bodyPr wrap="square"/>
          <a:lstStyle/>
          <a:p>
            <a:pPr algn="l">
              <a:defRPr sz="2200" b="1">
                <a:solidFill>
                  <a:srgbClr val="22627E"/>
                </a:solidFill>
                <a:latin typeface="Calibri"/>
              </a:defRPr>
            </a:pPr>
            <a:r>
              <a:t>Modelo UTXO (Token SDK)</a:t>
            </a:r>
          </a:p>
        </p:txBody>
      </p:sp>
      <p:sp>
        <p:nvSpPr>
          <p:cNvPr id="6" name="TextBox 5"/>
          <p:cNvSpPr txBox="1"/>
          <p:nvPr/>
        </p:nvSpPr>
        <p:spPr>
          <a:xfrm>
            <a:off x="640080" y="1828800"/>
            <a:ext cx="5029200" cy="4572000"/>
          </a:xfrm>
          <a:prstGeom prst="rect">
            <a:avLst/>
          </a:prstGeom>
          <a:noFill/>
        </p:spPr>
        <p:txBody>
          <a:bodyPr wrap="square">
            <a:spAutoFit/>
          </a:bodyPr>
          <a:lstStyle/>
          <a:p>
            <a:pPr>
              <a:spcAft>
                <a:spcPts val="600"/>
              </a:spcAft>
              <a:defRPr sz="1800">
                <a:solidFill>
                  <a:srgbClr val="333333"/>
                </a:solidFill>
                <a:latin typeface="Calibri"/>
              </a:defRPr>
            </a:pPr>
            <a:r>
              <a:t>Cada token es un 'billete' unico</a:t>
            </a:r>
          </a:p>
          <a:p>
            <a:pPr>
              <a:spcAft>
                <a:spcPts val="600"/>
              </a:spcAft>
              <a:defRPr sz="1800">
                <a:solidFill>
                  <a:srgbClr val="333333"/>
                </a:solidFill>
                <a:latin typeface="Calibri"/>
              </a:defRPr>
            </a:pPr>
            <a:r>
              <a:t>Para pagar, se 'gasta' el billete entero</a:t>
            </a:r>
          </a:p>
          <a:p>
            <a:pPr>
              <a:spcAft>
                <a:spcPts val="600"/>
              </a:spcAft>
              <a:defRPr sz="1800">
                <a:solidFill>
                  <a:srgbClr val="333333"/>
                </a:solidFill>
                <a:latin typeface="Calibri"/>
              </a:defRPr>
            </a:pPr>
            <a:r>
              <a:t>Si sobra, se crea un 'cambio'</a:t>
            </a:r>
          </a:p>
          <a:p>
            <a:pPr>
              <a:spcAft>
                <a:spcPts val="600"/>
              </a:spcAft>
              <a:defRPr sz="1800">
                <a:solidFill>
                  <a:srgbClr val="333333"/>
                </a:solidFill>
                <a:latin typeface="Calibri"/>
              </a:defRPr>
            </a:pPr>
            <a:r>
              <a:t>Mejor privacidad (no hay balance visible)</a:t>
            </a:r>
          </a:p>
          <a:p>
            <a:pPr>
              <a:spcAft>
                <a:spcPts val="600"/>
              </a:spcAft>
              <a:defRPr sz="1800">
                <a:solidFill>
                  <a:srgbClr val="333333"/>
                </a:solidFill>
                <a:latin typeface="Calibri"/>
              </a:defRPr>
            </a:pPr>
            <a:r>
              <a:t>Mas complejo de consultar</a:t>
            </a:r>
          </a:p>
          <a:p>
            <a:pPr>
              <a:spcAft>
                <a:spcPts val="600"/>
              </a:spcAft>
              <a:defRPr sz="1800">
                <a:solidFill>
                  <a:srgbClr val="333333"/>
                </a:solidFill>
                <a:latin typeface="Calibri"/>
              </a:defRPr>
            </a:pPr>
            <a:endParaRPr/>
          </a:p>
          <a:p>
            <a:pPr>
              <a:spcAft>
                <a:spcPts val="600"/>
              </a:spcAft>
              <a:defRPr sz="1800">
                <a:solidFill>
                  <a:srgbClr val="333333"/>
                </a:solidFill>
                <a:latin typeface="Calibri"/>
              </a:defRPr>
            </a:pPr>
            <a:r>
              <a:t>Ejemplo: tienes un token de 100.</a:t>
            </a:r>
          </a:p>
          <a:p>
            <a:pPr>
              <a:spcAft>
                <a:spcPts val="600"/>
              </a:spcAft>
              <a:defRPr sz="1800">
                <a:solidFill>
                  <a:srgbClr val="333333"/>
                </a:solidFill>
                <a:latin typeface="Calibri"/>
              </a:defRPr>
            </a:pPr>
            <a:r>
              <a:t>Pagas 30 -&gt; se destruye el de 100</a:t>
            </a:r>
          </a:p>
          <a:p>
            <a:pPr>
              <a:spcAft>
                <a:spcPts val="600"/>
              </a:spcAft>
              <a:defRPr sz="1800">
                <a:solidFill>
                  <a:srgbClr val="333333"/>
                </a:solidFill>
                <a:latin typeface="Calibri"/>
              </a:defRPr>
            </a:pPr>
            <a:r>
              <a:t>Se crean dos: uno de 30 (destino)</a:t>
            </a:r>
          </a:p>
          <a:p>
            <a:pPr>
              <a:spcAft>
                <a:spcPts val="600"/>
              </a:spcAft>
              <a:defRPr sz="1800">
                <a:solidFill>
                  <a:srgbClr val="333333"/>
                </a:solidFill>
                <a:latin typeface="Calibri"/>
              </a:defRPr>
            </a:pPr>
            <a:r>
              <a:t>y otro de 70 (tu cambio).</a:t>
            </a:r>
          </a:p>
        </p:txBody>
      </p:sp>
      <p:sp>
        <p:nvSpPr>
          <p:cNvPr id="7" name="Rectangle 6"/>
          <p:cNvSpPr/>
          <p:nvPr/>
        </p:nvSpPr>
        <p:spPr>
          <a:xfrm>
            <a:off x="5943600" y="1280160"/>
            <a:ext cx="27432"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309360" y="1280160"/>
            <a:ext cx="5029200" cy="457200"/>
          </a:xfrm>
          <a:prstGeom prst="rect">
            <a:avLst/>
          </a:prstGeom>
          <a:noFill/>
        </p:spPr>
        <p:txBody>
          <a:bodyPr wrap="square"/>
          <a:lstStyle/>
          <a:p>
            <a:pPr algn="l">
              <a:defRPr sz="2200" b="1">
                <a:solidFill>
                  <a:srgbClr val="22627E"/>
                </a:solidFill>
                <a:latin typeface="Calibri"/>
              </a:defRPr>
            </a:pPr>
            <a:r>
              <a:t>Modelo de Cuentas (ERC-20 like)</a:t>
            </a:r>
          </a:p>
        </p:txBody>
      </p:sp>
      <p:sp>
        <p:nvSpPr>
          <p:cNvPr id="9" name="TextBox 8"/>
          <p:cNvSpPr txBox="1"/>
          <p:nvPr/>
        </p:nvSpPr>
        <p:spPr>
          <a:xfrm>
            <a:off x="6309360" y="1828800"/>
            <a:ext cx="5029200" cy="4572000"/>
          </a:xfrm>
          <a:prstGeom prst="rect">
            <a:avLst/>
          </a:prstGeom>
          <a:noFill/>
        </p:spPr>
        <p:txBody>
          <a:bodyPr wrap="square">
            <a:spAutoFit/>
          </a:bodyPr>
          <a:lstStyle/>
          <a:p>
            <a:pPr>
              <a:spcAft>
                <a:spcPts val="600"/>
              </a:spcAft>
              <a:defRPr sz="1800">
                <a:solidFill>
                  <a:srgbClr val="333333"/>
                </a:solidFill>
                <a:latin typeface="Calibri"/>
              </a:defRPr>
            </a:pPr>
            <a:r>
              <a:t>Cada usuario tiene un balance numerico</a:t>
            </a:r>
          </a:p>
          <a:p>
            <a:pPr>
              <a:spcAft>
                <a:spcPts val="600"/>
              </a:spcAft>
              <a:defRPr sz="1800">
                <a:solidFill>
                  <a:srgbClr val="333333"/>
                </a:solidFill>
                <a:latin typeface="Calibri"/>
              </a:defRPr>
            </a:pPr>
            <a:r>
              <a:t>Transferir = restar de uno, sumar a otro</a:t>
            </a:r>
          </a:p>
          <a:p>
            <a:pPr>
              <a:spcAft>
                <a:spcPts val="600"/>
              </a:spcAft>
              <a:defRPr sz="1800">
                <a:solidFill>
                  <a:srgbClr val="333333"/>
                </a:solidFill>
                <a:latin typeface="Calibri"/>
              </a:defRPr>
            </a:pPr>
            <a:r>
              <a:t>Mas intuitivo y facil de consultar</a:t>
            </a:r>
          </a:p>
          <a:p>
            <a:pPr>
              <a:spcAft>
                <a:spcPts val="600"/>
              </a:spcAft>
              <a:defRPr sz="1800">
                <a:solidFill>
                  <a:srgbClr val="333333"/>
                </a:solidFill>
                <a:latin typeface="Calibri"/>
              </a:defRPr>
            </a:pPr>
            <a:r>
              <a:t>Menos privado (balances visibles)</a:t>
            </a:r>
          </a:p>
          <a:p>
            <a:pPr>
              <a:spcAft>
                <a:spcPts val="600"/>
              </a:spcAft>
              <a:defRPr sz="1800">
                <a:solidFill>
                  <a:srgbClr val="333333"/>
                </a:solidFill>
                <a:latin typeface="Calibri"/>
              </a:defRPr>
            </a:pPr>
            <a:r>
              <a:t>Similar a una cuenta bancaria</a:t>
            </a:r>
          </a:p>
          <a:p>
            <a:pPr>
              <a:spcAft>
                <a:spcPts val="600"/>
              </a:spcAft>
              <a:defRPr sz="1800">
                <a:solidFill>
                  <a:srgbClr val="333333"/>
                </a:solidFill>
                <a:latin typeface="Calibri"/>
              </a:defRPr>
            </a:pPr>
            <a:endParaRPr/>
          </a:p>
          <a:p>
            <a:pPr>
              <a:spcAft>
                <a:spcPts val="600"/>
              </a:spcAft>
              <a:defRPr sz="1800">
                <a:solidFill>
                  <a:srgbClr val="333333"/>
                </a:solidFill>
                <a:latin typeface="Calibri"/>
              </a:defRPr>
            </a:pPr>
            <a:r>
              <a:t>Ejemplo: tienes balance = 100.</a:t>
            </a:r>
          </a:p>
          <a:p>
            <a:pPr>
              <a:spcAft>
                <a:spcPts val="600"/>
              </a:spcAft>
              <a:defRPr sz="1800">
                <a:solidFill>
                  <a:srgbClr val="333333"/>
                </a:solidFill>
                <a:latin typeface="Calibri"/>
              </a:defRPr>
            </a:pPr>
            <a:r>
              <a:t>Pagas 30 -&gt; tu balance = 70</a:t>
            </a:r>
          </a:p>
          <a:p>
            <a:pPr>
              <a:spcAft>
                <a:spcPts val="600"/>
              </a:spcAft>
              <a:defRPr sz="1800">
                <a:solidFill>
                  <a:srgbClr val="333333"/>
                </a:solidFill>
                <a:latin typeface="Calibri"/>
              </a:defRPr>
            </a:pPr>
            <a:r>
              <a:t>Destino: su balance += 30</a:t>
            </a:r>
          </a:p>
          <a:p>
            <a:pPr>
              <a:spcAft>
                <a:spcPts val="600"/>
              </a:spcAft>
              <a:defRPr sz="1800">
                <a:solidFill>
                  <a:srgbClr val="333333"/>
                </a:solidFill>
                <a:latin typeface="Calibri"/>
              </a:defRPr>
            </a:pPr>
            <a:r>
              <a:t>Simple, directo.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Modelo UTXO visualizado</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371600" y="1371600"/>
            <a:ext cx="9418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0" y="2286000"/>
            <a:ext cx="8503920" cy="1371600"/>
          </a:xfrm>
          <a:prstGeom prst="rect">
            <a:avLst/>
          </a:prstGeom>
          <a:noFill/>
        </p:spPr>
        <p:txBody>
          <a:bodyPr wrap="square"/>
          <a:lstStyle/>
          <a:p>
            <a:pPr algn="ctr">
              <a:defRPr sz="2400" b="0">
                <a:solidFill>
                  <a:srgbClr val="999999"/>
                </a:solidFill>
                <a:latin typeface="Calibri"/>
              </a:defRPr>
            </a:pPr>
            <a:r>
              <a:t>[Diagrama: Token de 100 se destruye, se crean token de 30 y token de 70]</a:t>
            </a:r>
          </a:p>
        </p:txBody>
      </p:sp>
      <p:sp>
        <p:nvSpPr>
          <p:cNvPr id="7" name="Rectangle 6"/>
          <p:cNvSpPr/>
          <p:nvPr/>
        </p:nvSpPr>
        <p:spPr>
          <a:xfrm>
            <a:off x="1371600" y="3840480"/>
            <a:ext cx="9418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840480"/>
            <a:ext cx="9418320" cy="320040"/>
          </a:xfrm>
          <a:prstGeom prst="rect">
            <a:avLst/>
          </a:prstGeom>
          <a:noFill/>
        </p:spPr>
        <p:txBody>
          <a:bodyPr wrap="square"/>
          <a:lstStyle/>
          <a:p>
            <a:pPr algn="ctr">
              <a:defRPr sz="1300" b="1">
                <a:solidFill>
                  <a:srgbClr val="FFFFFF"/>
                </a:solidFill>
                <a:latin typeface="Calibri"/>
              </a:defRPr>
            </a:pPr>
            <a:r>
              <a:t>Prompt para IA generativa:</a:t>
            </a:r>
          </a:p>
        </p:txBody>
      </p:sp>
      <p:sp>
        <p:nvSpPr>
          <p:cNvPr id="9" name="TextBox 8"/>
          <p:cNvSpPr txBox="1"/>
          <p:nvPr/>
        </p:nvSpPr>
        <p:spPr>
          <a:xfrm>
            <a:off x="1645920" y="4297680"/>
            <a:ext cx="8869680" cy="914400"/>
          </a:xfrm>
          <a:prstGeom prst="rect">
            <a:avLst/>
          </a:prstGeom>
          <a:noFill/>
        </p:spPr>
        <p:txBody>
          <a:bodyPr wrap="square"/>
          <a:lstStyle/>
          <a:p>
            <a:pPr algn="l">
              <a:defRPr sz="1400" b="0">
                <a:solidFill>
                  <a:srgbClr val="7C3AED"/>
                </a:solidFill>
                <a:latin typeface="Consolas"/>
              </a:defRPr>
            </a:pPr>
            <a:r>
              <a:t>Clean infographic showing UTXO model: a single token worth 100 units splits into two tokens (30 and 70). Left side shows input token being consumed, right side shows two new output tokens created. Arrows indicate flow. Minimalist flat design, teal and white color scheme.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Casos de uso: tokens enterprise en Fabric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Fidelizacion: puntos de un consorcio de empresas (aeroloineas, retail)</a:t>
            </a:r>
          </a:p>
          <a:p>
            <a:pPr>
              <a:spcAft>
                <a:spcPts val="800"/>
              </a:spcAft>
              <a:defRPr sz="2000">
                <a:solidFill>
                  <a:srgbClr val="333333"/>
                </a:solidFill>
                <a:latin typeface="Calibri"/>
              </a:defRPr>
            </a:pPr>
            <a:r>
              <a:t>Bonos tokenizados: emision, custodia y liquidacion entre bancos</a:t>
            </a:r>
          </a:p>
          <a:p>
            <a:pPr>
              <a:spcAft>
                <a:spcPts val="800"/>
              </a:spcAft>
              <a:defRPr sz="2000">
                <a:solidFill>
                  <a:srgbClr val="333333"/>
                </a:solidFill>
                <a:latin typeface="Calibri"/>
              </a:defRPr>
            </a:pPr>
            <a:r>
              <a:t>Supply chain: tokens que representan lotes de producto en transito</a:t>
            </a:r>
          </a:p>
          <a:p>
            <a:pPr>
              <a:spcAft>
                <a:spcPts val="800"/>
              </a:spcAft>
              <a:defRPr sz="2000">
                <a:solidFill>
                  <a:srgbClr val="333333"/>
                </a:solidFill>
                <a:latin typeface="Calibri"/>
              </a:defRPr>
            </a:pPr>
            <a:r>
              <a:t>Carbon credits: tokens que representan derechos de emision</a:t>
            </a:r>
          </a:p>
          <a:p>
            <a:pPr>
              <a:spcAft>
                <a:spcPts val="800"/>
              </a:spcAft>
              <a:defRPr sz="2000">
                <a:solidFill>
                  <a:srgbClr val="333333"/>
                </a:solidFill>
                <a:latin typeface="Calibri"/>
              </a:defRPr>
            </a:pPr>
            <a:r>
              <a:t>Pagos interbancarios: settlement instantaneo entre participantes</a:t>
            </a:r>
          </a:p>
          <a:p>
            <a:pPr>
              <a:spcAft>
                <a:spcPts val="800"/>
              </a:spcAft>
              <a:defRPr sz="2000">
                <a:solidFill>
                  <a:srgbClr val="333333"/>
                </a:solidFill>
                <a:latin typeface="Calibri"/>
              </a:defRPr>
            </a:pPr>
            <a:r>
              <a:t>Propiedad inmobiliaria: fracciones de un activo tokenizado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Ejemplo: Token de fidelizacion entre empresas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Escenario: tres empresas (hotel, aerolinea, tienda) comparten puntos</a:t>
            </a:r>
          </a:p>
          <a:p>
            <a:pPr>
              <a:spcAft>
                <a:spcPts val="800"/>
              </a:spcAft>
              <a:defRPr sz="2000">
                <a:solidFill>
                  <a:srgbClr val="333333"/>
                </a:solidFill>
                <a:latin typeface="Calibri"/>
              </a:defRPr>
            </a:pPr>
            <a:r>
              <a:t>Cada empresa es una organizacion en Fabric con su propio peer</a:t>
            </a:r>
          </a:p>
          <a:p>
            <a:pPr>
              <a:spcAft>
                <a:spcPts val="800"/>
              </a:spcAft>
              <a:defRPr sz="2000">
                <a:solidFill>
                  <a:srgbClr val="333333"/>
                </a:solidFill>
                <a:latin typeface="Calibri"/>
              </a:defRPr>
            </a:pPr>
            <a:r>
              <a:t>Un canal compartido con un chaincode de token fungible</a:t>
            </a:r>
          </a:p>
          <a:p>
            <a:pPr>
              <a:spcAft>
                <a:spcPts val="800"/>
              </a:spcAft>
              <a:defRPr sz="2000">
                <a:solidFill>
                  <a:srgbClr val="333333"/>
                </a:solidFill>
                <a:latin typeface="Calibri"/>
              </a:defRPr>
            </a:pPr>
            <a:r>
              <a:t>El hotel emite puntos al cliente por cada estancia</a:t>
            </a:r>
          </a:p>
          <a:p>
            <a:pPr>
              <a:spcAft>
                <a:spcPts val="800"/>
              </a:spcAft>
              <a:defRPr sz="2000">
                <a:solidFill>
                  <a:srgbClr val="333333"/>
                </a:solidFill>
                <a:latin typeface="Calibri"/>
              </a:defRPr>
            </a:pPr>
            <a:r>
              <a:t>El cliente gasta puntos en la tienda o en vuelos</a:t>
            </a:r>
          </a:p>
          <a:p>
            <a:pPr>
              <a:spcAft>
                <a:spcPts val="800"/>
              </a:spcAft>
              <a:defRPr sz="2000">
                <a:solidFill>
                  <a:srgbClr val="333333"/>
                </a:solidFill>
                <a:latin typeface="Calibri"/>
              </a:defRPr>
            </a:pPr>
            <a:r>
              <a:t>El chaincode valida: saldo suficiente, org autorizada, limites</a:t>
            </a:r>
          </a:p>
          <a:p>
            <a:pPr>
              <a:spcAft>
                <a:spcPts val="800"/>
              </a:spcAft>
              <a:defRPr sz="2000">
                <a:solidFill>
                  <a:srgbClr val="333333"/>
                </a:solidFill>
                <a:latin typeface="Calibri"/>
              </a:defRPr>
            </a:pPr>
            <a:r>
              <a:t>Liquidacion mensual entre empresas via el ledger compartido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Ejemplo: Bonos tokenizados en Fabric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Escenario: emision de un bono entre emisor, agente y custodios</a:t>
            </a:r>
          </a:p>
          <a:p>
            <a:pPr>
              <a:spcAft>
                <a:spcPts val="800"/>
              </a:spcAft>
              <a:defRPr sz="2000">
                <a:solidFill>
                  <a:srgbClr val="333333"/>
                </a:solidFill>
                <a:latin typeface="Calibri"/>
              </a:defRPr>
            </a:pPr>
            <a:r>
              <a:t>Cada participante es una org en Fabric</a:t>
            </a:r>
          </a:p>
          <a:p>
            <a:pPr>
              <a:spcAft>
                <a:spcPts val="800"/>
              </a:spcAft>
              <a:defRPr sz="2000">
                <a:solidFill>
                  <a:srgbClr val="333333"/>
                </a:solidFill>
                <a:latin typeface="Calibri"/>
              </a:defRPr>
            </a:pPr>
            <a:r>
              <a:t>Private Data: solo el emisor y el custodio ven los detalles del inversor</a:t>
            </a:r>
          </a:p>
          <a:p>
            <a:pPr>
              <a:spcAft>
                <a:spcPts val="800"/>
              </a:spcAft>
              <a:defRPr sz="2000">
                <a:solidFill>
                  <a:srgbClr val="333333"/>
                </a:solidFill>
                <a:latin typeface="Calibri"/>
              </a:defRPr>
            </a:pPr>
            <a:r>
              <a:t>Token no fungible: cada bono tiene numero serie, nominal, cupon, vencimiento</a:t>
            </a:r>
          </a:p>
          <a:p>
            <a:pPr>
              <a:spcAft>
                <a:spcPts val="800"/>
              </a:spcAft>
              <a:defRPr sz="2000">
                <a:solidFill>
                  <a:srgbClr val="333333"/>
                </a:solidFill>
                <a:latin typeface="Calibri"/>
              </a:defRPr>
            </a:pPr>
            <a:r>
              <a:t>Chaincode gestiona: emision, transferencia, pago de cupones, amortizacion</a:t>
            </a:r>
          </a:p>
          <a:p>
            <a:pPr lvl="1">
              <a:spcAft>
                <a:spcPts val="400"/>
              </a:spcAft>
              <a:defRPr sz="1700">
                <a:solidFill>
                  <a:srgbClr val="666666"/>
                </a:solidFill>
                <a:latin typeface="Calibri"/>
              </a:defRPr>
            </a:pPr>
            <a:r>
              <a:t>    Comparar con el bono Santander 2019 y EIB 2021 vistos en la sesion anterior</a:t>
            </a:r>
          </a:p>
          <a:p>
            <a:pPr>
              <a:spcAft>
                <a:spcPts val="800"/>
              </a:spcAft>
              <a:defRPr sz="2000">
                <a:solidFill>
                  <a:srgbClr val="333333"/>
                </a:solidFill>
                <a:latin typeface="Calibri"/>
              </a:defRPr>
            </a:pPr>
            <a:r>
              <a:t>Auditores acceden via canal separado con vista de solo lectura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Fabric Samples: token-erc-20</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Repositorio oficial: fabric-samples/token-erc-20</a:t>
            </a:r>
          </a:p>
          <a:p>
            <a:pPr>
              <a:spcAft>
                <a:spcPts val="800"/>
              </a:spcAft>
              <a:defRPr sz="2000">
                <a:solidFill>
                  <a:srgbClr val="333333"/>
                </a:solidFill>
                <a:latin typeface="Calibri"/>
              </a:defRPr>
            </a:pPr>
            <a:r>
              <a:t>Implementacion tipo ERC-20 adaptada a Fabric</a:t>
            </a:r>
          </a:p>
          <a:p>
            <a:pPr>
              <a:spcAft>
                <a:spcPts val="800"/>
              </a:spcAft>
              <a:defRPr sz="2000">
                <a:solidFill>
                  <a:srgbClr val="333333"/>
                </a:solidFill>
                <a:latin typeface="Calibri"/>
              </a:defRPr>
            </a:pPr>
            <a:r>
              <a:t>Funciones disponibles:</a:t>
            </a:r>
          </a:p>
          <a:p>
            <a:pPr lvl="1">
              <a:spcAft>
                <a:spcPts val="400"/>
              </a:spcAft>
              <a:defRPr sz="1700">
                <a:solidFill>
                  <a:srgbClr val="666666"/>
                </a:solidFill>
                <a:latin typeface="Calibri"/>
              </a:defRPr>
            </a:pPr>
            <a:r>
              <a:t>    Mint(amount) - crear tokens (solo minter autorizado)</a:t>
            </a:r>
          </a:p>
          <a:p>
            <a:pPr lvl="1">
              <a:spcAft>
                <a:spcPts val="400"/>
              </a:spcAft>
              <a:defRPr sz="1700">
                <a:solidFill>
                  <a:srgbClr val="666666"/>
                </a:solidFill>
                <a:latin typeface="Calibri"/>
              </a:defRPr>
            </a:pPr>
            <a:r>
              <a:t>    Transfer(to, amount) - transferir tokens</a:t>
            </a:r>
          </a:p>
          <a:p>
            <a:pPr lvl="1">
              <a:spcAft>
                <a:spcPts val="400"/>
              </a:spcAft>
              <a:defRPr sz="1700">
                <a:solidFill>
                  <a:srgbClr val="666666"/>
                </a:solidFill>
                <a:latin typeface="Calibri"/>
              </a:defRPr>
            </a:pPr>
            <a:r>
              <a:t>    BalanceOf(account) - consultar saldo</a:t>
            </a:r>
          </a:p>
          <a:p>
            <a:pPr lvl="1">
              <a:spcAft>
                <a:spcPts val="400"/>
              </a:spcAft>
              <a:defRPr sz="1700">
                <a:solidFill>
                  <a:srgbClr val="666666"/>
                </a:solidFill>
                <a:latin typeface="Calibri"/>
              </a:defRPr>
            </a:pPr>
            <a:r>
              <a:t>    Approve(spender, amount) + TransferFrom - delegacion</a:t>
            </a:r>
          </a:p>
          <a:p>
            <a:pPr lvl="1">
              <a:spcAft>
                <a:spcPts val="400"/>
              </a:spcAft>
              <a:defRPr sz="1700">
                <a:solidFill>
                  <a:srgbClr val="666666"/>
                </a:solidFill>
                <a:latin typeface="Calibri"/>
              </a:defRPr>
            </a:pPr>
            <a:r>
              <a:t>    TotalSupply() - supply total emitido</a:t>
            </a:r>
          </a:p>
          <a:p>
            <a:pPr>
              <a:spcAft>
                <a:spcPts val="800"/>
              </a:spcAft>
              <a:defRPr sz="2000">
                <a:solidFill>
                  <a:srgbClr val="333333"/>
                </a:solidFill>
                <a:latin typeface="Calibri"/>
              </a:defRPr>
            </a:pPr>
            <a:r>
              <a:t>Usa certificados X.509 para identificar al propietario (no direcciones)</a:t>
            </a:r>
          </a:p>
          <a:p>
            <a:pPr>
              <a:spcAft>
                <a:spcPts val="800"/>
              </a:spcAft>
              <a:defRPr sz="2000">
                <a:solidFill>
                  <a:srgbClr val="333333"/>
                </a:solidFill>
                <a:latin typeface="Calibri"/>
              </a:defRPr>
            </a:pPr>
            <a:r>
              <a:t>El minter se define por atributo en el certificado</a:t>
            </a:r>
          </a:p>
          <a:p>
            <a:pPr>
              <a:spcAft>
                <a:spcPts val="800"/>
              </a:spcAft>
              <a:defRPr sz="2000">
                <a:solidFill>
                  <a:srgbClr val="333333"/>
                </a:solidFill>
                <a:latin typeface="Calibri"/>
              </a:defRPr>
            </a:pPr>
            <a:r>
              <a:t>Ideal como punto de partida para tokens fungibles en Fabric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Token ERC-20 en Fabric: snippet</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Funcion Transfer del token-erc-20 oficial de Fabric Samples</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00200"/>
            <a:ext cx="10698480" cy="4754880"/>
          </a:xfrm>
          <a:prstGeom prst="rect">
            <a:avLst/>
          </a:prstGeom>
          <a:noFill/>
        </p:spPr>
        <p:txBody>
          <a:bodyPr wrap="square"/>
          <a:lstStyle/>
          <a:p>
            <a:br>
              <a:rPr sz="1400" dirty="0">
                <a:solidFill>
                  <a:schemeClr val="bg1"/>
                </a:solidFill>
              </a:rPr>
            </a:br>
            <a:r>
              <a:rPr sz="1400" dirty="0">
                <a:solidFill>
                  <a:schemeClr val="bg1"/>
                </a:solidFill>
              </a:rPr>
              <a:t>// Transfer moves tokens from caller to recipient</a:t>
            </a:r>
            <a:br>
              <a:rPr sz="1400" dirty="0">
                <a:solidFill>
                  <a:schemeClr val="bg1"/>
                </a:solidFill>
              </a:rPr>
            </a:br>
            <a:r>
              <a:rPr sz="1400" dirty="0" err="1">
                <a:solidFill>
                  <a:schemeClr val="bg1"/>
                </a:solidFill>
              </a:rPr>
              <a:t>func</a:t>
            </a:r>
            <a:r>
              <a:rPr sz="1400" dirty="0">
                <a:solidFill>
                  <a:schemeClr val="bg1"/>
                </a:solidFill>
              </a:rPr>
              <a:t> (s *</a:t>
            </a:r>
            <a:r>
              <a:rPr sz="1400" dirty="0" err="1">
                <a:solidFill>
                  <a:schemeClr val="bg1"/>
                </a:solidFill>
              </a:rPr>
              <a:t>SmartContract</a:t>
            </a:r>
            <a:r>
              <a:rPr sz="1400" dirty="0">
                <a:solidFill>
                  <a:schemeClr val="bg1"/>
                </a:solidFill>
              </a:rPr>
              <a:t>) Transfer(</a:t>
            </a:r>
            <a:r>
              <a:rPr sz="1400" dirty="0" err="1">
                <a:solidFill>
                  <a:schemeClr val="bg1"/>
                </a:solidFill>
              </a:rPr>
              <a:t>ctx</a:t>
            </a:r>
            <a:r>
              <a:rPr sz="1400" dirty="0">
                <a:solidFill>
                  <a:schemeClr val="bg1"/>
                </a:solidFill>
              </a:rPr>
              <a:t> </a:t>
            </a:r>
            <a:r>
              <a:rPr sz="1400" dirty="0" err="1">
                <a:solidFill>
                  <a:schemeClr val="bg1"/>
                </a:solidFill>
              </a:rPr>
              <a:t>contractapi.TransactionContextInterface</a:t>
            </a:r>
            <a:r>
              <a:rPr sz="1400" dirty="0">
                <a:solidFill>
                  <a:schemeClr val="bg1"/>
                </a:solidFill>
              </a:rPr>
              <a:t>,</a:t>
            </a:r>
            <a:br>
              <a:rPr sz="1400" dirty="0">
                <a:solidFill>
                  <a:schemeClr val="bg1"/>
                </a:solidFill>
              </a:rPr>
            </a:br>
            <a:r>
              <a:rPr sz="1400" dirty="0">
                <a:solidFill>
                  <a:schemeClr val="bg1"/>
                </a:solidFill>
              </a:rPr>
              <a:t>    recipient string, amount int) error {</a:t>
            </a:r>
            <a:br>
              <a:rPr sz="1400" dirty="0">
                <a:solidFill>
                  <a:schemeClr val="bg1"/>
                </a:solidFill>
              </a:rPr>
            </a:br>
            <a:br>
              <a:rPr sz="1400" dirty="0">
                <a:solidFill>
                  <a:schemeClr val="bg1"/>
                </a:solidFill>
              </a:rPr>
            </a:br>
            <a:r>
              <a:rPr sz="1400" dirty="0">
                <a:solidFill>
                  <a:schemeClr val="bg1"/>
                </a:solidFill>
              </a:rPr>
              <a:t>    </a:t>
            </a:r>
            <a:r>
              <a:rPr sz="1400" dirty="0" err="1">
                <a:solidFill>
                  <a:schemeClr val="bg1"/>
                </a:solidFill>
              </a:rPr>
              <a:t>clientID</a:t>
            </a:r>
            <a:r>
              <a:rPr sz="1400" dirty="0">
                <a:solidFill>
                  <a:schemeClr val="bg1"/>
                </a:solidFill>
              </a:rPr>
              <a:t>, err := </a:t>
            </a:r>
            <a:r>
              <a:rPr sz="1400" dirty="0" err="1">
                <a:solidFill>
                  <a:schemeClr val="bg1"/>
                </a:solidFill>
              </a:rPr>
              <a:t>ctx.GetClientIdentity</a:t>
            </a:r>
            <a:r>
              <a:rPr sz="1400" dirty="0">
                <a:solidFill>
                  <a:schemeClr val="bg1"/>
                </a:solidFill>
              </a:rPr>
              <a:t>().GetID()</a:t>
            </a:r>
            <a:br>
              <a:rPr sz="1400" dirty="0">
                <a:solidFill>
                  <a:schemeClr val="bg1"/>
                </a:solidFill>
              </a:rPr>
            </a:br>
            <a:r>
              <a:rPr sz="1400" dirty="0">
                <a:solidFill>
                  <a:schemeClr val="bg1"/>
                </a:solidFill>
              </a:rPr>
              <a:t>    if err != nil {</a:t>
            </a:r>
            <a:br>
              <a:rPr sz="1400" dirty="0">
                <a:solidFill>
                  <a:schemeClr val="bg1"/>
                </a:solidFill>
              </a:rPr>
            </a:br>
            <a:r>
              <a:rPr sz="1400" dirty="0">
                <a:solidFill>
                  <a:schemeClr val="bg1"/>
                </a:solidFill>
              </a:rPr>
              <a:t>        return </a:t>
            </a:r>
            <a:r>
              <a:rPr sz="1400" dirty="0" err="1">
                <a:solidFill>
                  <a:schemeClr val="bg1"/>
                </a:solidFill>
              </a:rPr>
              <a:t>fmt.Errorf</a:t>
            </a:r>
            <a:r>
              <a:rPr sz="1400" dirty="0">
                <a:solidFill>
                  <a:schemeClr val="bg1"/>
                </a:solidFill>
              </a:rPr>
              <a:t>("failed to get client identity: %v", err)</a:t>
            </a:r>
            <a:br>
              <a:rPr sz="1400" dirty="0">
                <a:solidFill>
                  <a:schemeClr val="bg1"/>
                </a:solidFill>
              </a:rPr>
            </a:br>
            <a:r>
              <a:rPr sz="1400" dirty="0">
                <a:solidFill>
                  <a:schemeClr val="bg1"/>
                </a:solidFill>
              </a:rPr>
              <a:t>    }</a:t>
            </a:r>
            <a:br>
              <a:rPr sz="1400" dirty="0">
                <a:solidFill>
                  <a:schemeClr val="bg1"/>
                </a:solidFill>
              </a:rPr>
            </a:br>
            <a:br>
              <a:rPr sz="1400" dirty="0">
                <a:solidFill>
                  <a:schemeClr val="bg1"/>
                </a:solidFill>
              </a:rPr>
            </a:br>
            <a:r>
              <a:rPr sz="1400" dirty="0">
                <a:solidFill>
                  <a:schemeClr val="bg1"/>
                </a:solidFill>
              </a:rPr>
              <a:t>    err = </a:t>
            </a:r>
            <a:r>
              <a:rPr sz="1400" dirty="0" err="1">
                <a:solidFill>
                  <a:schemeClr val="bg1"/>
                </a:solidFill>
              </a:rPr>
              <a:t>transferHelper</a:t>
            </a:r>
            <a:r>
              <a:rPr sz="1400" dirty="0">
                <a:solidFill>
                  <a:schemeClr val="bg1"/>
                </a:solidFill>
              </a:rPr>
              <a:t>(</a:t>
            </a:r>
            <a:r>
              <a:rPr sz="1400" dirty="0" err="1">
                <a:solidFill>
                  <a:schemeClr val="bg1"/>
                </a:solidFill>
              </a:rPr>
              <a:t>ctx</a:t>
            </a:r>
            <a:r>
              <a:rPr sz="1400" dirty="0">
                <a:solidFill>
                  <a:schemeClr val="bg1"/>
                </a:solidFill>
              </a:rPr>
              <a:t>, </a:t>
            </a:r>
            <a:r>
              <a:rPr sz="1400" dirty="0" err="1">
                <a:solidFill>
                  <a:schemeClr val="bg1"/>
                </a:solidFill>
              </a:rPr>
              <a:t>clientID</a:t>
            </a:r>
            <a:r>
              <a:rPr sz="1400" dirty="0">
                <a:solidFill>
                  <a:schemeClr val="bg1"/>
                </a:solidFill>
              </a:rPr>
              <a:t>, recipient, amount)</a:t>
            </a:r>
            <a:br>
              <a:rPr sz="1400" dirty="0">
                <a:solidFill>
                  <a:schemeClr val="bg1"/>
                </a:solidFill>
              </a:rPr>
            </a:br>
            <a:r>
              <a:rPr sz="1400" dirty="0">
                <a:solidFill>
                  <a:schemeClr val="bg1"/>
                </a:solidFill>
              </a:rPr>
              <a:t>    if err != nil {</a:t>
            </a:r>
            <a:br>
              <a:rPr sz="1400" dirty="0">
                <a:solidFill>
                  <a:schemeClr val="bg1"/>
                </a:solidFill>
              </a:rPr>
            </a:br>
            <a:r>
              <a:rPr sz="1400" dirty="0">
                <a:solidFill>
                  <a:schemeClr val="bg1"/>
                </a:solidFill>
              </a:rPr>
              <a:t>        return </a:t>
            </a:r>
            <a:r>
              <a:rPr sz="1400" dirty="0" err="1">
                <a:solidFill>
                  <a:schemeClr val="bg1"/>
                </a:solidFill>
              </a:rPr>
              <a:t>fmt.Errorf</a:t>
            </a:r>
            <a:r>
              <a:rPr sz="1400" dirty="0">
                <a:solidFill>
                  <a:schemeClr val="bg1"/>
                </a:solidFill>
              </a:rPr>
              <a:t>("failed to transfer: %v", err)</a:t>
            </a:r>
            <a:br>
              <a:rPr sz="1400" dirty="0">
                <a:solidFill>
                  <a:schemeClr val="bg1"/>
                </a:solidFill>
              </a:rPr>
            </a:br>
            <a:r>
              <a:rPr sz="1400" dirty="0">
                <a:solidFill>
                  <a:schemeClr val="bg1"/>
                </a:solidFill>
              </a:rPr>
              <a:t>    }</a:t>
            </a:r>
            <a:br>
              <a:rPr sz="1400" dirty="0">
                <a:solidFill>
                  <a:schemeClr val="bg1"/>
                </a:solidFill>
              </a:rPr>
            </a:br>
            <a:br>
              <a:rPr sz="1400" dirty="0">
                <a:solidFill>
                  <a:schemeClr val="bg1"/>
                </a:solidFill>
              </a:rPr>
            </a:br>
            <a:r>
              <a:rPr sz="1400" dirty="0">
                <a:solidFill>
                  <a:schemeClr val="bg1"/>
                </a:solidFill>
              </a:rPr>
              <a:t>    // Emit Transfer event</a:t>
            </a:r>
            <a:br>
              <a:rPr sz="1400" dirty="0">
                <a:solidFill>
                  <a:schemeClr val="bg1"/>
                </a:solidFill>
              </a:rPr>
            </a:br>
            <a:r>
              <a:rPr sz="1400" dirty="0">
                <a:solidFill>
                  <a:schemeClr val="bg1"/>
                </a:solidFill>
              </a:rPr>
              <a:t>    </a:t>
            </a:r>
            <a:r>
              <a:rPr sz="1400" dirty="0" err="1">
                <a:solidFill>
                  <a:schemeClr val="bg1"/>
                </a:solidFill>
              </a:rPr>
              <a:t>transferEvent</a:t>
            </a:r>
            <a:r>
              <a:rPr sz="1400" dirty="0">
                <a:solidFill>
                  <a:schemeClr val="bg1"/>
                </a:solidFill>
              </a:rPr>
              <a:t> := </a:t>
            </a:r>
            <a:r>
              <a:rPr sz="1400" dirty="0" err="1">
                <a:solidFill>
                  <a:schemeClr val="bg1"/>
                </a:solidFill>
              </a:rPr>
              <a:t>TransferEvent</a:t>
            </a:r>
            <a:r>
              <a:rPr sz="1400" dirty="0">
                <a:solidFill>
                  <a:schemeClr val="bg1"/>
                </a:solidFill>
              </a:rPr>
              <a:t>{From: </a:t>
            </a:r>
            <a:r>
              <a:rPr sz="1400" dirty="0" err="1">
                <a:solidFill>
                  <a:schemeClr val="bg1"/>
                </a:solidFill>
              </a:rPr>
              <a:t>clientID</a:t>
            </a:r>
            <a:r>
              <a:rPr sz="1400" dirty="0">
                <a:solidFill>
                  <a:schemeClr val="bg1"/>
                </a:solidFill>
              </a:rPr>
              <a:t>, To: recipient, Value: amount}</a:t>
            </a:r>
            <a:br>
              <a:rPr sz="1400" dirty="0">
                <a:solidFill>
                  <a:schemeClr val="bg1"/>
                </a:solidFill>
              </a:rPr>
            </a:br>
            <a:r>
              <a:rPr sz="1400" dirty="0">
                <a:solidFill>
                  <a:schemeClr val="bg1"/>
                </a:solidFill>
              </a:rPr>
              <a:t>    </a:t>
            </a:r>
            <a:r>
              <a:rPr sz="1400" dirty="0" err="1">
                <a:solidFill>
                  <a:schemeClr val="bg1"/>
                </a:solidFill>
              </a:rPr>
              <a:t>eventJSON</a:t>
            </a:r>
            <a:r>
              <a:rPr sz="1400" dirty="0">
                <a:solidFill>
                  <a:schemeClr val="bg1"/>
                </a:solidFill>
              </a:rPr>
              <a:t>, _ := </a:t>
            </a:r>
            <a:r>
              <a:rPr sz="1400" dirty="0" err="1">
                <a:solidFill>
                  <a:schemeClr val="bg1"/>
                </a:solidFill>
              </a:rPr>
              <a:t>json.Marshal</a:t>
            </a:r>
            <a:r>
              <a:rPr sz="1400" dirty="0">
                <a:solidFill>
                  <a:schemeClr val="bg1"/>
                </a:solidFill>
              </a:rPr>
              <a:t>(</a:t>
            </a:r>
            <a:r>
              <a:rPr sz="1400" dirty="0" err="1">
                <a:solidFill>
                  <a:schemeClr val="bg1"/>
                </a:solidFill>
              </a:rPr>
              <a:t>transferEvent</a:t>
            </a:r>
            <a:r>
              <a:rPr sz="1400" dirty="0">
                <a:solidFill>
                  <a:schemeClr val="bg1"/>
                </a:solidFill>
              </a:rPr>
              <a:t>)</a:t>
            </a:r>
            <a:br>
              <a:rPr sz="1400" dirty="0">
                <a:solidFill>
                  <a:schemeClr val="bg1"/>
                </a:solidFill>
              </a:rPr>
            </a:br>
            <a:r>
              <a:rPr sz="1400" dirty="0">
                <a:solidFill>
                  <a:schemeClr val="bg1"/>
                </a:solidFill>
              </a:rPr>
              <a:t>    </a:t>
            </a:r>
            <a:r>
              <a:rPr sz="1400" dirty="0" err="1">
                <a:solidFill>
                  <a:schemeClr val="bg1"/>
                </a:solidFill>
              </a:rPr>
              <a:t>ctx.GetStub</a:t>
            </a:r>
            <a:r>
              <a:rPr sz="1400" dirty="0">
                <a:solidFill>
                  <a:schemeClr val="bg1"/>
                </a:solidFill>
              </a:rPr>
              <a:t>().</a:t>
            </a:r>
            <a:r>
              <a:rPr sz="1400" dirty="0" err="1">
                <a:solidFill>
                  <a:schemeClr val="bg1"/>
                </a:solidFill>
              </a:rPr>
              <a:t>SetEvent</a:t>
            </a:r>
            <a:r>
              <a:rPr sz="1400" dirty="0">
                <a:solidFill>
                  <a:schemeClr val="bg1"/>
                </a:solidFill>
              </a:rPr>
              <a:t>("Transfer", </a:t>
            </a:r>
            <a:r>
              <a:rPr sz="1400" dirty="0" err="1">
                <a:solidFill>
                  <a:schemeClr val="bg1"/>
                </a:solidFill>
              </a:rPr>
              <a:t>eventJSON</a:t>
            </a:r>
            <a:r>
              <a:rPr sz="1400" dirty="0">
                <a:solidFill>
                  <a:schemeClr val="bg1"/>
                </a:solidFill>
              </a:rPr>
              <a:t>)</a:t>
            </a:r>
            <a:br>
              <a:rPr dirty="0">
                <a:solidFill>
                  <a:schemeClr val="bg1"/>
                </a:solidFill>
              </a:rPr>
            </a:br>
            <a:br>
              <a:rPr dirty="0">
                <a:solidFill>
                  <a:schemeClr val="bg1"/>
                </a:solidFill>
              </a:rPr>
            </a:br>
            <a:r>
              <a:rPr sz="1400" dirty="0">
                <a:solidFill>
                  <a:schemeClr val="bg1"/>
                </a:solidFill>
              </a:rPr>
              <a:t>    return nil</a:t>
            </a:r>
            <a:br>
              <a:rPr dirty="0">
                <a:solidFill>
                  <a:schemeClr val="bg1"/>
                </a:solidFill>
              </a:rPr>
            </a:br>
            <a:r>
              <a:rPr dirty="0"/>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74320"/>
            <a:ext cx="1645920" cy="4572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645920" cy="457200"/>
          </a:xfrm>
          <a:prstGeom prst="rect">
            <a:avLst/>
          </a:prstGeom>
          <a:noFill/>
        </p:spPr>
        <p:txBody>
          <a:bodyPr wrap="square"/>
          <a:lstStyle/>
          <a:p>
            <a:pPr algn="ctr">
              <a:defRPr sz="1800" b="1">
                <a:solidFill>
                  <a:srgbClr val="FFFFFF"/>
                </a:solidFill>
                <a:latin typeface="Calibri"/>
              </a:defRPr>
            </a:pPr>
            <a:r>
              <a:t>DEBATE</a:t>
            </a:r>
          </a:p>
        </p:txBody>
      </p:sp>
      <p:sp>
        <p:nvSpPr>
          <p:cNvPr id="5" name="TextBox 4"/>
          <p:cNvSpPr txBox="1"/>
          <p:nvPr/>
        </p:nvSpPr>
        <p:spPr>
          <a:xfrm>
            <a:off x="2377440" y="274320"/>
            <a:ext cx="9144000" cy="731520"/>
          </a:xfrm>
          <a:prstGeom prst="rect">
            <a:avLst/>
          </a:prstGeom>
          <a:noFill/>
        </p:spPr>
        <p:txBody>
          <a:bodyPr wrap="square"/>
          <a:lstStyle/>
          <a:p>
            <a:pPr algn="l">
              <a:defRPr sz="3000" b="1">
                <a:solidFill>
                  <a:srgbClr val="333333"/>
                </a:solidFill>
                <a:latin typeface="Calibri"/>
              </a:defRPr>
            </a:pPr>
            <a:r>
              <a:t>Tokenizacion en Fabric</a:t>
            </a:r>
          </a:p>
        </p:txBody>
      </p:sp>
      <p:sp>
        <p:nvSpPr>
          <p:cNvPr id="6" name="Rectangle 5"/>
          <p:cNvSpPr/>
          <p:nvPr/>
        </p:nvSpPr>
        <p:spPr>
          <a:xfrm>
            <a:off x="457200" y="1051560"/>
            <a:ext cx="10972800" cy="2743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371600"/>
            <a:ext cx="10515600" cy="4298613"/>
          </a:xfrm>
          <a:prstGeom prst="rect">
            <a:avLst/>
          </a:prstGeom>
          <a:noFill/>
        </p:spPr>
        <p:txBody>
          <a:bodyPr wrap="square">
            <a:spAutoFit/>
          </a:bodyPr>
          <a:lstStyle/>
          <a:p>
            <a:pPr>
              <a:spcAft>
                <a:spcPts val="1600"/>
              </a:spcAft>
              <a:defRPr sz="2200">
                <a:solidFill>
                  <a:srgbClr val="333333"/>
                </a:solidFill>
                <a:latin typeface="Calibri"/>
              </a:defRPr>
            </a:pPr>
            <a:r>
              <a:rPr dirty="0"/>
              <a:t>1. En Ethereum </a:t>
            </a:r>
            <a:r>
              <a:rPr dirty="0" err="1"/>
              <a:t>cualquiera</a:t>
            </a:r>
            <a:r>
              <a:rPr dirty="0"/>
              <a:t> </a:t>
            </a:r>
            <a:r>
              <a:rPr dirty="0" err="1"/>
              <a:t>puede</a:t>
            </a:r>
            <a:r>
              <a:rPr dirty="0"/>
              <a:t> </a:t>
            </a:r>
            <a:r>
              <a:rPr dirty="0" err="1"/>
              <a:t>crear</a:t>
            </a:r>
            <a:r>
              <a:rPr dirty="0"/>
              <a:t> un token. En Fabric solo </a:t>
            </a:r>
            <a:r>
              <a:rPr dirty="0" err="1"/>
              <a:t>los</a:t>
            </a:r>
            <a:r>
              <a:rPr dirty="0"/>
              <a:t> </a:t>
            </a:r>
            <a:r>
              <a:rPr dirty="0" err="1"/>
              <a:t>autorizados</a:t>
            </a:r>
            <a:r>
              <a:rPr dirty="0"/>
              <a:t>. ¿Es </a:t>
            </a:r>
            <a:r>
              <a:rPr dirty="0" err="1"/>
              <a:t>esto</a:t>
            </a:r>
            <a:r>
              <a:rPr dirty="0"/>
              <a:t> </a:t>
            </a:r>
            <a:r>
              <a:rPr dirty="0" err="1"/>
              <a:t>una</a:t>
            </a:r>
            <a:r>
              <a:rPr dirty="0"/>
              <a:t> </a:t>
            </a:r>
            <a:r>
              <a:rPr dirty="0" err="1"/>
              <a:t>ventaja</a:t>
            </a:r>
            <a:r>
              <a:rPr dirty="0"/>
              <a:t> o </a:t>
            </a:r>
            <a:r>
              <a:rPr dirty="0" err="1"/>
              <a:t>una</a:t>
            </a:r>
            <a:r>
              <a:rPr dirty="0"/>
              <a:t> </a:t>
            </a:r>
            <a:r>
              <a:rPr dirty="0" err="1"/>
              <a:t>limitacion</a:t>
            </a:r>
            <a:r>
              <a:rPr dirty="0"/>
              <a:t>?</a:t>
            </a:r>
          </a:p>
          <a:p>
            <a:pPr>
              <a:spcAft>
                <a:spcPts val="1600"/>
              </a:spcAft>
              <a:defRPr sz="2200">
                <a:solidFill>
                  <a:srgbClr val="333333"/>
                </a:solidFill>
                <a:latin typeface="Calibri"/>
              </a:defRPr>
            </a:pPr>
            <a:r>
              <a:rPr dirty="0"/>
              <a:t>2. ¿</a:t>
            </a:r>
            <a:r>
              <a:rPr dirty="0" err="1"/>
              <a:t>Que</a:t>
            </a:r>
            <a:r>
              <a:rPr dirty="0"/>
              <a:t> </a:t>
            </a:r>
            <a:r>
              <a:rPr dirty="0" err="1"/>
              <a:t>tipo</a:t>
            </a:r>
            <a:r>
              <a:rPr dirty="0"/>
              <a:t> de </a:t>
            </a:r>
            <a:r>
              <a:rPr dirty="0" err="1"/>
              <a:t>activos</a:t>
            </a:r>
            <a:r>
              <a:rPr lang="es-ES" dirty="0"/>
              <a:t>, según vuestra experiencia, </a:t>
            </a:r>
            <a:r>
              <a:rPr dirty="0"/>
              <a:t>se </a:t>
            </a:r>
            <a:r>
              <a:rPr dirty="0" err="1"/>
              <a:t>beneficiarian</a:t>
            </a:r>
            <a:r>
              <a:rPr dirty="0"/>
              <a:t> de la </a:t>
            </a:r>
            <a:r>
              <a:rPr dirty="0" err="1"/>
              <a:t>tokenizacion</a:t>
            </a:r>
            <a:r>
              <a:rPr dirty="0"/>
              <a:t> </a:t>
            </a:r>
            <a:r>
              <a:rPr dirty="0" err="1"/>
              <a:t>en</a:t>
            </a:r>
            <a:r>
              <a:rPr dirty="0"/>
              <a:t> </a:t>
            </a:r>
            <a:r>
              <a:rPr dirty="0" err="1"/>
              <a:t>una</a:t>
            </a:r>
            <a:r>
              <a:rPr dirty="0"/>
              <a:t> red permissioned?</a:t>
            </a:r>
          </a:p>
          <a:p>
            <a:pPr>
              <a:spcAft>
                <a:spcPts val="1600"/>
              </a:spcAft>
              <a:defRPr sz="2200">
                <a:solidFill>
                  <a:srgbClr val="333333"/>
                </a:solidFill>
                <a:latin typeface="Calibri"/>
              </a:defRPr>
            </a:pPr>
            <a:r>
              <a:rPr dirty="0"/>
              <a:t>3. ¿Modelo UTXO o </a:t>
            </a:r>
            <a:r>
              <a:rPr dirty="0" err="1"/>
              <a:t>modelo</a:t>
            </a:r>
            <a:r>
              <a:rPr dirty="0"/>
              <a:t> de </a:t>
            </a:r>
            <a:r>
              <a:rPr dirty="0" err="1"/>
              <a:t>cuentas</a:t>
            </a:r>
            <a:r>
              <a:rPr dirty="0"/>
              <a:t>? ¿</a:t>
            </a:r>
            <a:r>
              <a:rPr dirty="0" err="1"/>
              <a:t>Cual</a:t>
            </a:r>
            <a:r>
              <a:rPr dirty="0"/>
              <a:t> </a:t>
            </a:r>
            <a:r>
              <a:rPr dirty="0" err="1"/>
              <a:t>elegiriais</a:t>
            </a:r>
            <a:r>
              <a:rPr dirty="0"/>
              <a:t> para </a:t>
            </a:r>
            <a:r>
              <a:rPr dirty="0" err="1"/>
              <a:t>vuestro</a:t>
            </a:r>
            <a:r>
              <a:rPr dirty="0"/>
              <a:t> </a:t>
            </a:r>
            <a:r>
              <a:rPr dirty="0" err="1"/>
              <a:t>caso</a:t>
            </a:r>
            <a:r>
              <a:rPr dirty="0"/>
              <a:t> de </a:t>
            </a:r>
            <a:r>
              <a:rPr dirty="0" err="1"/>
              <a:t>uso</a:t>
            </a:r>
            <a:r>
              <a:rPr dirty="0"/>
              <a:t> y </a:t>
            </a:r>
            <a:r>
              <a:rPr dirty="0" err="1"/>
              <a:t>por</a:t>
            </a:r>
            <a:r>
              <a:rPr dirty="0"/>
              <a:t> </a:t>
            </a:r>
            <a:r>
              <a:rPr dirty="0" err="1"/>
              <a:t>que</a:t>
            </a:r>
            <a:r>
              <a:rPr dirty="0"/>
              <a:t>?</a:t>
            </a:r>
          </a:p>
          <a:p>
            <a:pPr>
              <a:spcAft>
                <a:spcPts val="1600"/>
              </a:spcAft>
              <a:defRPr sz="2200">
                <a:solidFill>
                  <a:srgbClr val="333333"/>
                </a:solidFill>
                <a:latin typeface="Calibri"/>
              </a:defRPr>
            </a:pPr>
            <a:r>
              <a:rPr dirty="0"/>
              <a:t>4. Los tokens </a:t>
            </a:r>
            <a:r>
              <a:rPr dirty="0" err="1"/>
              <a:t>en</a:t>
            </a:r>
            <a:r>
              <a:rPr dirty="0"/>
              <a:t> Fabric no </a:t>
            </a:r>
            <a:r>
              <a:rPr dirty="0" err="1"/>
              <a:t>cotizan</a:t>
            </a:r>
            <a:r>
              <a:rPr dirty="0"/>
              <a:t> </a:t>
            </a:r>
            <a:r>
              <a:rPr dirty="0" err="1"/>
              <a:t>en</a:t>
            </a:r>
            <a:r>
              <a:rPr dirty="0"/>
              <a:t> exchanges. ¿</a:t>
            </a:r>
            <a:r>
              <a:rPr dirty="0" err="1"/>
              <a:t>Pierde</a:t>
            </a:r>
            <a:r>
              <a:rPr dirty="0"/>
              <a:t> </a:t>
            </a:r>
            <a:r>
              <a:rPr dirty="0" err="1"/>
              <a:t>sentido</a:t>
            </a:r>
            <a:r>
              <a:rPr dirty="0"/>
              <a:t> la </a:t>
            </a:r>
            <a:r>
              <a:rPr dirty="0" err="1"/>
              <a:t>tokenizacion</a:t>
            </a:r>
            <a:r>
              <a:rPr dirty="0"/>
              <a:t> sin mercado </a:t>
            </a:r>
            <a:r>
              <a:rPr dirty="0" err="1"/>
              <a:t>secundario</a:t>
            </a:r>
            <a:r>
              <a:rPr dirty="0"/>
              <a:t>?</a:t>
            </a:r>
          </a:p>
          <a:p>
            <a:pPr>
              <a:spcAft>
                <a:spcPts val="1600"/>
              </a:spcAft>
              <a:defRPr sz="2200">
                <a:solidFill>
                  <a:srgbClr val="333333"/>
                </a:solidFill>
                <a:latin typeface="Calibri"/>
              </a:defRPr>
            </a:pPr>
            <a:r>
              <a:rPr dirty="0"/>
              <a:t>5. ¿Como </a:t>
            </a:r>
            <a:r>
              <a:rPr dirty="0" err="1"/>
              <a:t>afecta</a:t>
            </a:r>
            <a:r>
              <a:rPr dirty="0"/>
              <a:t> la </a:t>
            </a:r>
            <a:r>
              <a:rPr dirty="0" err="1"/>
              <a:t>privacidad</a:t>
            </a:r>
            <a:r>
              <a:rPr dirty="0"/>
              <a:t> de Fabric (canales, Private Data) al </a:t>
            </a:r>
            <a:r>
              <a:rPr dirty="0" err="1"/>
              <a:t>dise</a:t>
            </a:r>
            <a:r>
              <a:rPr lang="es-ES" dirty="0"/>
              <a:t>ñ</a:t>
            </a:r>
            <a:r>
              <a:rPr dirty="0"/>
              <a:t>o de un token enterprise?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600" b="1">
                <a:solidFill>
                  <a:srgbClr val="FFFFFF"/>
                </a:solidFill>
                <a:latin typeface="Calibri"/>
              </a:defRPr>
            </a:pPr>
            <a:r>
              <a:t>Repaso del dia</a:t>
            </a:r>
          </a:p>
        </p:txBody>
      </p:sp>
      <p:sp>
        <p:nvSpPr>
          <p:cNvPr id="4" name="Rectangle 3"/>
          <p:cNvSpPr/>
          <p:nvPr/>
        </p:nvSpPr>
        <p:spPr>
          <a:xfrm>
            <a:off x="457200" y="1051560"/>
            <a:ext cx="10972800" cy="27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FFFFFF"/>
                </a:solidFill>
                <a:latin typeface="Calibri"/>
              </a:defRPr>
            </a:pPr>
            <a:r>
              <a:t>1. ¿Cual es la principal diferencia entre tokens en Ethereum y en Fabric?</a:t>
            </a:r>
          </a:p>
          <a:p>
            <a:pPr>
              <a:spcAft>
                <a:spcPts val="1000"/>
              </a:spcAft>
              <a:defRPr sz="2000">
                <a:solidFill>
                  <a:srgbClr val="FFFFFF"/>
                </a:solidFill>
                <a:latin typeface="Calibri"/>
              </a:defRPr>
            </a:pPr>
            <a:r>
              <a:t>2. Nombra tres formas de implementar tokens en Fabric</a:t>
            </a:r>
          </a:p>
          <a:p>
            <a:pPr>
              <a:spcAft>
                <a:spcPts val="1000"/>
              </a:spcAft>
              <a:defRPr sz="2000">
                <a:solidFill>
                  <a:srgbClr val="FFFFFF"/>
                </a:solidFill>
                <a:latin typeface="Calibri"/>
              </a:defRPr>
            </a:pPr>
            <a:r>
              <a:t>3. ¿Que es el modelo UTXO y en que se diferencia del modelo de cuentas?</a:t>
            </a:r>
          </a:p>
          <a:p>
            <a:pPr>
              <a:spcAft>
                <a:spcPts val="1000"/>
              </a:spcAft>
              <a:defRPr sz="2000">
                <a:solidFill>
                  <a:srgbClr val="FFFFFF"/>
                </a:solidFill>
                <a:latin typeface="Calibri"/>
              </a:defRPr>
            </a:pPr>
            <a:r>
              <a:t>4. ¿Que operaciones soporta el Fabric Token SDK?</a:t>
            </a:r>
          </a:p>
          <a:p>
            <a:pPr>
              <a:spcAft>
                <a:spcPts val="1000"/>
              </a:spcAft>
              <a:defRPr sz="2000">
                <a:solidFill>
                  <a:srgbClr val="FFFFFF"/>
                </a:solidFill>
                <a:latin typeface="Calibri"/>
              </a:defRPr>
            </a:pPr>
            <a:r>
              <a:t>5. ¿Por que Fabric no tiene moneda nativa como ETH?</a:t>
            </a:r>
          </a:p>
          <a:p>
            <a:pPr>
              <a:spcAft>
                <a:spcPts val="1000"/>
              </a:spcAft>
              <a:defRPr sz="2000">
                <a:solidFill>
                  <a:srgbClr val="FFFFFF"/>
                </a:solidFill>
                <a:latin typeface="Calibri"/>
              </a:defRPr>
            </a:pPr>
            <a:r>
              <a:t>6. Da un ejemplo de token enterprise que tenga sentido en Fabric</a:t>
            </a:r>
          </a:p>
          <a:p>
            <a:pPr>
              <a:spcAft>
                <a:spcPts val="1000"/>
              </a:spcAft>
              <a:defRPr sz="2000">
                <a:solidFill>
                  <a:srgbClr val="FFFFFF"/>
                </a:solidFill>
                <a:latin typeface="Calibri"/>
              </a:defRPr>
            </a:pPr>
            <a:r>
              <a:t>7. ¿Que ventaja ofrece la privacidad de Fabric para tokens enterprise?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1431</Words>
  <Application>Microsoft Office PowerPoint</Application>
  <PresentationFormat>Personalizado</PresentationFormat>
  <Paragraphs>146</Paragraphs>
  <Slides>15</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15</vt:i4>
      </vt:variant>
    </vt:vector>
  </HeadingPairs>
  <TitlesOfParts>
    <vt:vector size="18"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Javier Nieto</cp:lastModifiedBy>
  <cp:revision>2</cp:revision>
  <dcterms:created xsi:type="dcterms:W3CDTF">2013-01-27T09:14:16Z</dcterms:created>
  <dcterms:modified xsi:type="dcterms:W3CDTF">2026-04-13T08:20:40Z</dcterms:modified>
  <cp:category/>
</cp:coreProperties>
</file>