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0" r:id="rId18"/>
    <p:sldId id="273" r:id="rId19"/>
    <p:sldId id="274" r:id="rId2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7" d="100"/>
          <a:sy n="57" d="100"/>
        </p:scale>
        <p:origin x="948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1">
                <a:solidFill>
                  <a:srgbClr val="22627E"/>
                </a:solidFill>
                <a:latin typeface="Calibri"/>
              </a:defRPr>
            </a:pPr>
            <a:r>
              <a:t>Modulo 4: Tokens y Smart Contracts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1097280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400" b="1">
                <a:solidFill>
                  <a:srgbClr val="22627E"/>
                </a:solidFill>
                <a:latin typeface="Calibri"/>
              </a:defRPr>
            </a:pPr>
            <a:r>
              <a:t>Tokenizacion en</a:t>
            </a:r>
            <a:br/>
            <a:r>
              <a:t>Hyperledger Fabric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0"/>
            <a:ext cx="109728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0">
                <a:solidFill>
                  <a:srgbClr val="333333"/>
                </a:solidFill>
                <a:latin typeface="Calibri"/>
              </a:defRPr>
            </a:pPr>
            <a:r>
              <a:t>De tokens EVM a tokens enterprise en Fabric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De Ethereum a Fabric: cambio de paradigma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Ethereum los tokens son Smart Contracts publicos (ERC-20, ERC-721, ERC-1155)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Cualquiera puede crear, transferir y consultar tokens sin permiso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En Fabric no existen estandares ERC: los tokens se implementan como chaincodes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Fabric es permissioned: solo participantes autorizados operan con tokens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No hay criptomoneda nativa: los tokens representan activos del mundo real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La privacidad es nativa: canales y Private Data Collections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Tokens: Ethereum vs Hyperledger Fabric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371600"/>
          <a:ext cx="10515600" cy="3977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Aspecto</a:t>
                      </a:r>
                    </a:p>
                  </a:txBody>
                  <a:tcPr>
                    <a:solidFill>
                      <a:srgbClr val="22627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Ethereum</a:t>
                      </a:r>
                    </a:p>
                  </a:txBody>
                  <a:tcPr>
                    <a:solidFill>
                      <a:srgbClr val="22627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Hyperledger Fabric</a:t>
                      </a:r>
                    </a:p>
                  </a:txBody>
                  <a:tcPr>
                    <a:solidFill>
                      <a:srgbClr val="2262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Estandar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ERC-20, ERC-721, ERC-1155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hay estandar oficial, se implementa via chaincode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Permiso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Permissionless: cualquiera puede crear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Permissioned: solo participantes autorizados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Visibilidad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Publica: todo el mundo ve los balances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Privada: canales y Private Data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Moneda nativa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ETH para 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hay moneda nativa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Lenguaje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Solidity / Vyper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Go, Node.js, Java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Direccion pseudonima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Certificado X.509 con nombre y org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Interoperabilidad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Cualquier wallet/DEX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Solo participantes de la red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Caso de uso tipico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DeFi, NFTs, especulacion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Supply chain, bonos, fidelizacion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Tres formas de implementar tokens en Fabric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Chaincode custom: escribir tu propia logica de token desde cero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Maximo control y flexibilidad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Requiere implementar mint, transfer, balanceOf, allowance...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Fabric Token SDK: libreria oficial con modelo UTXO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Modelo UTXO similar a Bitcoin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Soporta privacidad con tokens anonimos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Mas complejo de entender pero mas potente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Fabric Samples token-erc20: ejemplo oficial tipo ERC-20 con modelo de cuentas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El mas parecido a un ERC-20 de Ethereum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Buen punto de partida para aprender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Repositorio: fabric-samples/token-erc-20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Flujo de un token en Fabric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D59DBE3F-BD59-64A7-9EA0-2D41F516CB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1090" y="1360448"/>
            <a:ext cx="8266644" cy="54975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Fabric Token SDK: vision general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Libreria oficial de Hyperledger para gestion de tokens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Modelo UTXO: cada token es una 'moneda' indivisible que se gasta completa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Operaciones principales: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Issue: crear nuevos tokens (equivalente a mint)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Transfer: enviar tokens a otro participante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Redeem: destruir tokens (equivalente a burn)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List: consultar tokens propios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Soporta tokens fungibles y no fungibles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Permite anonimato: el emisor no sabe quien tiene los tokens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Integracion con Fabric CA para identidades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UTXO vs Account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2627E"/>
                </a:solidFill>
                <a:latin typeface="Calibri"/>
              </a:defRPr>
            </a:pPr>
            <a:r>
              <a:t>Modelo UTXO (Token SDK)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Cada token es un 'billete' unico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Para pagar, se 'gasta' el billete entero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Si sobra, se crea un 'cambio'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Mejor privacidad (no hay balance visible)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Mas complejo de consultar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Ejemplo: tienes un token de 100.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Pagas 30 -&gt; se destruye el de 100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Se crean dos: uno de 30 (destino)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y otro de 70 (tu cambio).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280160"/>
            <a:ext cx="27432" cy="50292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0" y="1280160"/>
            <a:ext cx="5029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22627E"/>
                </a:solidFill>
                <a:latin typeface="Calibri"/>
              </a:defRPr>
            </a:pPr>
            <a:r>
              <a:t>Modelo de Cuentas (ERC-20 like)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Cada usuario tiene un balance numerico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Transferir = restar de uno, sumar a otro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Mas intuitivo y facil de consultar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Menos privado (balances visibles)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Similar a una cuenta bancaria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endParaRPr/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Ejemplo: tienes balance = 100.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Pagas 30 -&gt; tu balance = 70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Destino: su balance += 30</a:t>
            </a:r>
          </a:p>
          <a:p>
            <a:pPr>
              <a:spcAft>
                <a:spcPts val="600"/>
              </a:spcAft>
              <a:defRPr sz="1800">
                <a:solidFill>
                  <a:srgbClr val="333333"/>
                </a:solidFill>
                <a:latin typeface="Calibri"/>
              </a:defRPr>
            </a:pPr>
            <a:r>
              <a:t>Simple, directo.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Modelo UTXO visualizado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7B63A9F1-61A6-9182-E61C-E8A166EF9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834" y="1626268"/>
            <a:ext cx="6835156" cy="454216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Casos de uso: tokens enterprise en Fabric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Fidelizacion: puntos de un consorcio de empresas (aeroloineas, retail)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Bonos tokenizados: emision, custodia y liquidacion entre bancos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Supply chain: tokens que representan lotes de producto en transito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Carbon credits: tokens que representan derechos de emision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Pagos interbancarios: settlement instantaneo entre participantes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Propiedad inmobiliaria: fracciones de un activo tokenizado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Ejemplo: Token de fidelizacion entre empresas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Escenario: tres empresas (hotel, aerolinea, tienda) comparten puntos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Cada empresa es una organizacion en Fabric con su propio peer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Un canal compartido con un chaincode de token fungible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hotel emite puntos al cliente por cada estancia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cliente gasta puntos en la tienda o en vuelos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chaincode valida: saldo suficiente, org autorizada, limites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Liquidacion mensual entre empresas via el ledger compartido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Ejemplo: Bonos tokenizados en Fabric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Escenario: emision de un bono entre emisor, agente y custodios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Cada participante es una org en Fabric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Private Data: solo el emisor y el custodio ven los detalles del inversor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Token no fungible: cada bono tiene numero serie, nominal, cupon, vencimiento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Chaincode gestiona: emision, transferencia, pago de cupones, amortizacion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Comparar con el bono Santander 2019 y EIB 2021 vistos en la sesion anterior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Auditores acceden via canal separado con vista de solo lectura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Fabric Samples: token-erc-20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Repositorio oficial: fabric-samples/token-erc-20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Implementacion tipo ERC-20 adaptada a Fabric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Funciones disponibles: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Mint(amount) - crear tokens (solo minter autorizado)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Transfer(to, amount) - transferir tokens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BalanceOf(account) - consultar saldo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Approve(spender, amount) + TransferFrom - delegacion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TotalSupply() - supply total emitido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Usa certificados X.509 para identificar al propietario (no direcciones)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El minter se define por atributo en el certificado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Ideal como punto de partida para tokens fungibles en Fabric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800" b="1">
                <a:solidFill>
                  <a:srgbClr val="22627E"/>
                </a:solidFill>
                <a:latin typeface="Calibri"/>
              </a:defRPr>
            </a:pPr>
            <a:r>
              <a:t>Token ERC-20 en Fabric: snippet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Funcion Transfer del token-erc-20 oficial de Fabric Samples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0" y="320040"/>
            <a:ext cx="1188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512064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4754880"/>
          </a:xfrm>
          <a:prstGeom prst="rect">
            <a:avLst/>
          </a:prstGeom>
          <a:noFill/>
        </p:spPr>
        <p:txBody>
          <a:bodyPr wrap="square"/>
          <a:lstStyle/>
          <a:p>
            <a:br>
              <a:rPr sz="1400"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// Transfer moves tokens from caller to recipient</a:t>
            </a:r>
            <a:br>
              <a:rPr sz="1400" dirty="0">
                <a:solidFill>
                  <a:schemeClr val="bg1"/>
                </a:solidFill>
              </a:rPr>
            </a:br>
            <a:r>
              <a:rPr sz="1400" dirty="0" err="1">
                <a:solidFill>
                  <a:schemeClr val="bg1"/>
                </a:solidFill>
              </a:rPr>
              <a:t>func</a:t>
            </a:r>
            <a:r>
              <a:rPr sz="1400" dirty="0">
                <a:solidFill>
                  <a:schemeClr val="bg1"/>
                </a:solidFill>
              </a:rPr>
              <a:t> (s *</a:t>
            </a:r>
            <a:r>
              <a:rPr sz="1400" dirty="0" err="1">
                <a:solidFill>
                  <a:schemeClr val="bg1"/>
                </a:solidFill>
              </a:rPr>
              <a:t>SmartContract</a:t>
            </a:r>
            <a:r>
              <a:rPr sz="1400" dirty="0">
                <a:solidFill>
                  <a:schemeClr val="bg1"/>
                </a:solidFill>
              </a:rPr>
              <a:t>) Transfer(</a:t>
            </a:r>
            <a:r>
              <a:rPr sz="1400" dirty="0" err="1">
                <a:solidFill>
                  <a:schemeClr val="bg1"/>
                </a:solidFill>
              </a:rPr>
              <a:t>ctx</a:t>
            </a:r>
            <a:r>
              <a:rPr sz="1400" dirty="0">
                <a:solidFill>
                  <a:schemeClr val="bg1"/>
                </a:solidFill>
              </a:rPr>
              <a:t> </a:t>
            </a:r>
            <a:r>
              <a:rPr sz="1400" dirty="0" err="1">
                <a:solidFill>
                  <a:schemeClr val="bg1"/>
                </a:solidFill>
              </a:rPr>
              <a:t>contractapi.TransactionContextInterface</a:t>
            </a:r>
            <a:r>
              <a:rPr sz="1400" dirty="0">
                <a:solidFill>
                  <a:schemeClr val="bg1"/>
                </a:solidFill>
              </a:rPr>
              <a:t>,</a:t>
            </a:r>
            <a:br>
              <a:rPr sz="1400"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    recipient string, amount int) error {</a:t>
            </a:r>
            <a:br>
              <a:rPr sz="1400" dirty="0">
                <a:solidFill>
                  <a:schemeClr val="bg1"/>
                </a:solidFill>
              </a:rPr>
            </a:br>
            <a:br>
              <a:rPr sz="1400"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    </a:t>
            </a:r>
            <a:r>
              <a:rPr sz="1400" dirty="0" err="1">
                <a:solidFill>
                  <a:schemeClr val="bg1"/>
                </a:solidFill>
              </a:rPr>
              <a:t>clientID</a:t>
            </a:r>
            <a:r>
              <a:rPr sz="1400" dirty="0">
                <a:solidFill>
                  <a:schemeClr val="bg1"/>
                </a:solidFill>
              </a:rPr>
              <a:t>, err := </a:t>
            </a:r>
            <a:r>
              <a:rPr sz="1400" dirty="0" err="1">
                <a:solidFill>
                  <a:schemeClr val="bg1"/>
                </a:solidFill>
              </a:rPr>
              <a:t>ctx.GetClientIdentity</a:t>
            </a:r>
            <a:r>
              <a:rPr sz="1400" dirty="0">
                <a:solidFill>
                  <a:schemeClr val="bg1"/>
                </a:solidFill>
              </a:rPr>
              <a:t>().GetID()</a:t>
            </a:r>
            <a:br>
              <a:rPr sz="1400"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    if err != nil {</a:t>
            </a:r>
            <a:br>
              <a:rPr sz="1400"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        return </a:t>
            </a:r>
            <a:r>
              <a:rPr sz="1400" dirty="0" err="1">
                <a:solidFill>
                  <a:schemeClr val="bg1"/>
                </a:solidFill>
              </a:rPr>
              <a:t>fmt.Errorf</a:t>
            </a:r>
            <a:r>
              <a:rPr sz="1400" dirty="0">
                <a:solidFill>
                  <a:schemeClr val="bg1"/>
                </a:solidFill>
              </a:rPr>
              <a:t>("failed to get client identity: %v", err)</a:t>
            </a:r>
            <a:br>
              <a:rPr sz="1400"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    }</a:t>
            </a:r>
            <a:br>
              <a:rPr sz="1400" dirty="0">
                <a:solidFill>
                  <a:schemeClr val="bg1"/>
                </a:solidFill>
              </a:rPr>
            </a:br>
            <a:br>
              <a:rPr sz="1400"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    err = </a:t>
            </a:r>
            <a:r>
              <a:rPr sz="1400" dirty="0" err="1">
                <a:solidFill>
                  <a:schemeClr val="bg1"/>
                </a:solidFill>
              </a:rPr>
              <a:t>transferHelper</a:t>
            </a:r>
            <a:r>
              <a:rPr sz="1400" dirty="0">
                <a:solidFill>
                  <a:schemeClr val="bg1"/>
                </a:solidFill>
              </a:rPr>
              <a:t>(</a:t>
            </a:r>
            <a:r>
              <a:rPr sz="1400" dirty="0" err="1">
                <a:solidFill>
                  <a:schemeClr val="bg1"/>
                </a:solidFill>
              </a:rPr>
              <a:t>ctx</a:t>
            </a:r>
            <a:r>
              <a:rPr sz="1400" dirty="0">
                <a:solidFill>
                  <a:schemeClr val="bg1"/>
                </a:solidFill>
              </a:rPr>
              <a:t>, </a:t>
            </a:r>
            <a:r>
              <a:rPr sz="1400" dirty="0" err="1">
                <a:solidFill>
                  <a:schemeClr val="bg1"/>
                </a:solidFill>
              </a:rPr>
              <a:t>clientID</a:t>
            </a:r>
            <a:r>
              <a:rPr sz="1400" dirty="0">
                <a:solidFill>
                  <a:schemeClr val="bg1"/>
                </a:solidFill>
              </a:rPr>
              <a:t>, recipient, amount)</a:t>
            </a:r>
            <a:br>
              <a:rPr sz="1400"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    if err != nil {</a:t>
            </a:r>
            <a:br>
              <a:rPr sz="1400"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        return </a:t>
            </a:r>
            <a:r>
              <a:rPr sz="1400" dirty="0" err="1">
                <a:solidFill>
                  <a:schemeClr val="bg1"/>
                </a:solidFill>
              </a:rPr>
              <a:t>fmt.Errorf</a:t>
            </a:r>
            <a:r>
              <a:rPr sz="1400" dirty="0">
                <a:solidFill>
                  <a:schemeClr val="bg1"/>
                </a:solidFill>
              </a:rPr>
              <a:t>("failed to transfer: %v", err)</a:t>
            </a:r>
            <a:br>
              <a:rPr sz="1400"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    }</a:t>
            </a:r>
            <a:br>
              <a:rPr sz="1400" dirty="0">
                <a:solidFill>
                  <a:schemeClr val="bg1"/>
                </a:solidFill>
              </a:rPr>
            </a:br>
            <a:br>
              <a:rPr sz="1400"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    // Emit Transfer event</a:t>
            </a:r>
            <a:br>
              <a:rPr sz="1400"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    </a:t>
            </a:r>
            <a:r>
              <a:rPr sz="1400" dirty="0" err="1">
                <a:solidFill>
                  <a:schemeClr val="bg1"/>
                </a:solidFill>
              </a:rPr>
              <a:t>transferEvent</a:t>
            </a:r>
            <a:r>
              <a:rPr sz="1400" dirty="0">
                <a:solidFill>
                  <a:schemeClr val="bg1"/>
                </a:solidFill>
              </a:rPr>
              <a:t> := </a:t>
            </a:r>
            <a:r>
              <a:rPr sz="1400" dirty="0" err="1">
                <a:solidFill>
                  <a:schemeClr val="bg1"/>
                </a:solidFill>
              </a:rPr>
              <a:t>TransferEvent</a:t>
            </a:r>
            <a:r>
              <a:rPr sz="1400" dirty="0">
                <a:solidFill>
                  <a:schemeClr val="bg1"/>
                </a:solidFill>
              </a:rPr>
              <a:t>{From: </a:t>
            </a:r>
            <a:r>
              <a:rPr sz="1400" dirty="0" err="1">
                <a:solidFill>
                  <a:schemeClr val="bg1"/>
                </a:solidFill>
              </a:rPr>
              <a:t>clientID</a:t>
            </a:r>
            <a:r>
              <a:rPr sz="1400" dirty="0">
                <a:solidFill>
                  <a:schemeClr val="bg1"/>
                </a:solidFill>
              </a:rPr>
              <a:t>, To: recipient, Value: amount}</a:t>
            </a:r>
            <a:br>
              <a:rPr sz="1400"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    </a:t>
            </a:r>
            <a:r>
              <a:rPr sz="1400" dirty="0" err="1">
                <a:solidFill>
                  <a:schemeClr val="bg1"/>
                </a:solidFill>
              </a:rPr>
              <a:t>eventJSON</a:t>
            </a:r>
            <a:r>
              <a:rPr sz="1400" dirty="0">
                <a:solidFill>
                  <a:schemeClr val="bg1"/>
                </a:solidFill>
              </a:rPr>
              <a:t>, _ := </a:t>
            </a:r>
            <a:r>
              <a:rPr sz="1400" dirty="0" err="1">
                <a:solidFill>
                  <a:schemeClr val="bg1"/>
                </a:solidFill>
              </a:rPr>
              <a:t>json.Marshal</a:t>
            </a:r>
            <a:r>
              <a:rPr sz="1400" dirty="0">
                <a:solidFill>
                  <a:schemeClr val="bg1"/>
                </a:solidFill>
              </a:rPr>
              <a:t>(</a:t>
            </a:r>
            <a:r>
              <a:rPr sz="1400" dirty="0" err="1">
                <a:solidFill>
                  <a:schemeClr val="bg1"/>
                </a:solidFill>
              </a:rPr>
              <a:t>transferEvent</a:t>
            </a:r>
            <a:r>
              <a:rPr sz="1400" dirty="0">
                <a:solidFill>
                  <a:schemeClr val="bg1"/>
                </a:solidFill>
              </a:rPr>
              <a:t>)</a:t>
            </a:r>
            <a:br>
              <a:rPr sz="1400"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    </a:t>
            </a:r>
            <a:r>
              <a:rPr sz="1400" dirty="0" err="1">
                <a:solidFill>
                  <a:schemeClr val="bg1"/>
                </a:solidFill>
              </a:rPr>
              <a:t>ctx.GetStub</a:t>
            </a:r>
            <a:r>
              <a:rPr sz="1400" dirty="0">
                <a:solidFill>
                  <a:schemeClr val="bg1"/>
                </a:solidFill>
              </a:rPr>
              <a:t>().</a:t>
            </a:r>
            <a:r>
              <a:rPr sz="1400" dirty="0" err="1">
                <a:solidFill>
                  <a:schemeClr val="bg1"/>
                </a:solidFill>
              </a:rPr>
              <a:t>SetEvent</a:t>
            </a:r>
            <a:r>
              <a:rPr sz="1400" dirty="0">
                <a:solidFill>
                  <a:schemeClr val="bg1"/>
                </a:solidFill>
              </a:rPr>
              <a:t>("Transfer", </a:t>
            </a:r>
            <a:r>
              <a:rPr sz="1400" dirty="0" err="1">
                <a:solidFill>
                  <a:schemeClr val="bg1"/>
                </a:solidFill>
              </a:rPr>
              <a:t>eventJSON</a:t>
            </a:r>
            <a:r>
              <a:rPr sz="1400" dirty="0">
                <a:solidFill>
                  <a:schemeClr val="bg1"/>
                </a:solidFill>
              </a:rPr>
              <a:t>)</a:t>
            </a:r>
            <a:br>
              <a:rPr dirty="0">
                <a:solidFill>
                  <a:schemeClr val="bg1"/>
                </a:solidFill>
              </a:rPr>
            </a:br>
            <a:br>
              <a:rPr dirty="0">
                <a:solidFill>
                  <a:schemeClr val="bg1"/>
                </a:solidFill>
              </a:rPr>
            </a:br>
            <a:r>
              <a:rPr sz="1400" dirty="0">
                <a:solidFill>
                  <a:schemeClr val="bg1"/>
                </a:solidFill>
              </a:rPr>
              <a:t>    return nil</a:t>
            </a:r>
            <a:br>
              <a:rPr dirty="0">
                <a:solidFill>
                  <a:schemeClr val="bg1"/>
                </a:solidFill>
              </a:rPr>
            </a:br>
            <a:r>
              <a:rPr dirty="0"/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64592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DEBATE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274320"/>
            <a:ext cx="91440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000" b="1">
                <a:solidFill>
                  <a:srgbClr val="333333"/>
                </a:solidFill>
                <a:latin typeface="Calibri"/>
              </a:defRPr>
            </a:pPr>
            <a:r>
              <a:t>Tokenizacion en Fabric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E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515600" cy="42986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1. En Ethereum </a:t>
            </a:r>
            <a:r>
              <a:rPr dirty="0" err="1"/>
              <a:t>cualquiera</a:t>
            </a:r>
            <a:r>
              <a:rPr dirty="0"/>
              <a:t> </a:t>
            </a:r>
            <a:r>
              <a:rPr dirty="0" err="1"/>
              <a:t>puede</a:t>
            </a:r>
            <a:r>
              <a:rPr dirty="0"/>
              <a:t> </a:t>
            </a:r>
            <a:r>
              <a:rPr dirty="0" err="1"/>
              <a:t>crear</a:t>
            </a:r>
            <a:r>
              <a:rPr dirty="0"/>
              <a:t> un token. En Fabric solo </a:t>
            </a:r>
            <a:r>
              <a:rPr dirty="0" err="1"/>
              <a:t>los</a:t>
            </a:r>
            <a:r>
              <a:rPr dirty="0"/>
              <a:t> </a:t>
            </a:r>
            <a:r>
              <a:rPr dirty="0" err="1"/>
              <a:t>autorizados</a:t>
            </a:r>
            <a:r>
              <a:rPr dirty="0"/>
              <a:t>. ¿Es </a:t>
            </a:r>
            <a:r>
              <a:rPr dirty="0" err="1"/>
              <a:t>esto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ventaja</a:t>
            </a:r>
            <a:r>
              <a:rPr dirty="0"/>
              <a:t> o </a:t>
            </a:r>
            <a:r>
              <a:rPr dirty="0" err="1"/>
              <a:t>una</a:t>
            </a:r>
            <a:r>
              <a:rPr dirty="0"/>
              <a:t> </a:t>
            </a:r>
            <a:r>
              <a:rPr dirty="0" err="1"/>
              <a:t>limitacion</a:t>
            </a:r>
            <a:r>
              <a:rPr dirty="0"/>
              <a:t>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2. ¿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tipo</a:t>
            </a:r>
            <a:r>
              <a:rPr dirty="0"/>
              <a:t> de </a:t>
            </a:r>
            <a:r>
              <a:rPr dirty="0" err="1"/>
              <a:t>activos</a:t>
            </a:r>
            <a:r>
              <a:rPr lang="es-ES" dirty="0"/>
              <a:t>, según vuestra experiencia, </a:t>
            </a:r>
            <a:r>
              <a:rPr dirty="0"/>
              <a:t>se </a:t>
            </a:r>
            <a:r>
              <a:rPr dirty="0" err="1"/>
              <a:t>beneficiarian</a:t>
            </a:r>
            <a:r>
              <a:rPr dirty="0"/>
              <a:t> de la </a:t>
            </a:r>
            <a:r>
              <a:rPr dirty="0" err="1"/>
              <a:t>tokenizacion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una</a:t>
            </a:r>
            <a:r>
              <a:rPr dirty="0"/>
              <a:t> red permissioned?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3. ¿Modelo UTXO o </a:t>
            </a:r>
            <a:r>
              <a:rPr dirty="0" err="1"/>
              <a:t>modelo</a:t>
            </a:r>
            <a:r>
              <a:rPr dirty="0"/>
              <a:t> de </a:t>
            </a:r>
            <a:r>
              <a:rPr dirty="0" err="1"/>
              <a:t>cuentas</a:t>
            </a:r>
            <a:r>
              <a:rPr dirty="0"/>
              <a:t>? ¿</a:t>
            </a:r>
            <a:r>
              <a:rPr dirty="0" err="1"/>
              <a:t>Cual</a:t>
            </a:r>
            <a:r>
              <a:rPr dirty="0"/>
              <a:t> </a:t>
            </a:r>
            <a:r>
              <a:rPr dirty="0" err="1"/>
              <a:t>elegiriais</a:t>
            </a:r>
            <a:r>
              <a:rPr dirty="0"/>
              <a:t> para </a:t>
            </a:r>
            <a:r>
              <a:rPr dirty="0" err="1"/>
              <a:t>vuestro</a:t>
            </a:r>
            <a:r>
              <a:rPr dirty="0"/>
              <a:t> </a:t>
            </a:r>
            <a:r>
              <a:rPr dirty="0" err="1"/>
              <a:t>caso</a:t>
            </a:r>
            <a:r>
              <a:rPr dirty="0"/>
              <a:t> de </a:t>
            </a:r>
            <a:r>
              <a:rPr dirty="0" err="1"/>
              <a:t>uso</a:t>
            </a:r>
            <a:r>
              <a:rPr dirty="0"/>
              <a:t> y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4. Los tokens </a:t>
            </a:r>
            <a:r>
              <a:rPr dirty="0" err="1"/>
              <a:t>en</a:t>
            </a:r>
            <a:r>
              <a:rPr dirty="0"/>
              <a:t> Fabric no </a:t>
            </a:r>
            <a:r>
              <a:rPr dirty="0" err="1"/>
              <a:t>cotizan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exchanges. ¿</a:t>
            </a:r>
            <a:r>
              <a:rPr dirty="0" err="1"/>
              <a:t>Pierde</a:t>
            </a:r>
            <a:r>
              <a:rPr dirty="0"/>
              <a:t> </a:t>
            </a:r>
            <a:r>
              <a:rPr dirty="0" err="1"/>
              <a:t>sentido</a:t>
            </a:r>
            <a:r>
              <a:rPr dirty="0"/>
              <a:t> la </a:t>
            </a:r>
            <a:r>
              <a:rPr dirty="0" err="1"/>
              <a:t>tokenizacion</a:t>
            </a:r>
            <a:r>
              <a:rPr dirty="0"/>
              <a:t> sin mercado </a:t>
            </a:r>
            <a:r>
              <a:rPr dirty="0" err="1"/>
              <a:t>secundario</a:t>
            </a:r>
            <a:r>
              <a:rPr dirty="0"/>
              <a:t>?</a:t>
            </a:r>
          </a:p>
          <a:p>
            <a:pPr>
              <a:spcAft>
                <a:spcPts val="16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rPr dirty="0"/>
              <a:t>5. ¿Como </a:t>
            </a:r>
            <a:r>
              <a:rPr dirty="0" err="1"/>
              <a:t>afecta</a:t>
            </a:r>
            <a:r>
              <a:rPr dirty="0"/>
              <a:t> la </a:t>
            </a:r>
            <a:r>
              <a:rPr dirty="0" err="1"/>
              <a:t>privacidad</a:t>
            </a:r>
            <a:r>
              <a:rPr dirty="0"/>
              <a:t> de Fabric (canales, Private Data) al </a:t>
            </a:r>
            <a:r>
              <a:rPr dirty="0" err="1"/>
              <a:t>dise</a:t>
            </a:r>
            <a:r>
              <a:rPr lang="es-ES" dirty="0"/>
              <a:t>ñ</a:t>
            </a:r>
            <a:r>
              <a:rPr dirty="0"/>
              <a:t>o de un token enterprise?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debate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Permisionado vs libre creacion: ¿ventaja o limitacion?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Depende del caso: en un consorcio empresarial es VENTAJA (evita spam y estafas).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En un ecosistema abierto y con innovacion rapida es LIMITACION (frena la creatividad).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Fabric esta pensado para entornos regulados donde se exige control y responsabilidad.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El 99% de ICO fraudulentas de 2017-2018 no podrian haber ocurrido en Fabric.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Activos que se benefician de tokenizacion permissioned: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Titulos de propiedad inmobiliaria (registros oficiales con multiples partes).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Bonos y valores tokenizados entre bancos.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Certificados de origen (vinos, diamantes, commodities).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Puntos de fidelizacion entre empresas del mismo consorcio.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Creditos de carbono con auditoria regulatoria.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Cualquier activo con valor y necesidad de trazabilidad y auditoria.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UTXO o modelo de cuentas: ¿cual elegir?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Cuentas (ERC-20 like): mas simple, mas intuitivo, consulta de saldo directa.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UTXO (Token SDK): mejor privacidad (tokens anonimos), mas complejo.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Cuentas para: puntos de fidelizacion, creditos, casos con balances consultables.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UTXO para: monedas corporativas con privacidad, tokens de valor sensible.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Regla practica: empezar con cuentas (mas simple); migrar a UTXO si la privacidad es critica.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debate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4. ¿Pierde sentido la tokenizacion sin mercado secundario?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Depende del caso de uso. Hay tres tipos: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  a) Token que representa valor transferible libremente (SI necesita mercado).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  b) Token que representa algo trazable (trazabilidad, certificaciones) — NO necesita mercado.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  c) Token que representa un derecho (acceso, fidelizacion, voto) — NO necesita mercado.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Muchas aplicaciones enterprise encajan en b) y c): el valor esta en la trazabilidad/control,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  no en la especulacion o el trading.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Ademas, nada impide crear mercados secundarios INTERNOS al consorcio (OTC, subastas).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5. ¿Como afecta la privacidad de Fabric al diseño de un token enterprise?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Canales: permiten separar tokens por grupo de orgs (no todos ven todos los tokens).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Private Data Collections: ocultar importes y detalles entre partes del contrato.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Zero-Knowledge Proofs (via Token SDK): probar propiedad sin revelar cantidad.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Efecto practico: puedes tener un token cuyo propietario es publico pero el balance es privado.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Tradeoff: mas privacidad = mas complejidad operativa.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Regla: empezar simple (todo publico en el canal), anadir privacidad solo cuando sea critico.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Repaso del dia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1. ¿Cual es la principal diferencia entre tokens en Ethereum y en Fabric?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2. Nombra tres formas de implementar tokens en Fabric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3. ¿Que es el modelo UTXO y en que se diferencia del modelo de cuentas?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4. ¿Que operaciones soporta el Fabric Token SDK?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5. ¿Por que Fabric no tiene moneda nativa como ETH?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6. Da un ejemplo de token enterprise que tenga sentido en Fabric</a:t>
            </a:r>
          </a:p>
          <a:p>
            <a:pPr>
              <a:spcAft>
                <a:spcPts val="1000"/>
              </a:spcAft>
              <a:defRPr sz="2000">
                <a:solidFill>
                  <a:srgbClr val="FFFFFF"/>
                </a:solidFill>
                <a:latin typeface="Calibri"/>
              </a:defRPr>
            </a:pPr>
            <a:r>
              <a:t>7. ¿Que ventaja ofrece la privacidad de Fabric para tokens enterprise?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repaso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1. Diferencia principal entre tokens Ethereum y Fabric: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Ethereum: cualquiera despliega tokens (ERC-20/721/1155), permissionless, identidad pseudonima.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Fabric: solo entidades autorizadas (permissioned), identidad real con certificado X.509,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  sin moneda nativa, flexibilidad total en el diseño del token.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2. Tres formas de implementar tokens en Fabric: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Chaincode custom desde cero (maximo control, mas trabajo).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Fabric Token SDK (modelo UTXO, privacidad avanzada, curva de aprendizaje).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Fabric Samples token-erc-20 (modelo de cuentas tipo ERC-20, mas didactico).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3. Modelo UTXO vs modelo de cuentas: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UTXO: cada token es un 'billete' unico e indivisible. Transferir = consumir unos y crear otros.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  Ejemplo: Bitcoin — la privacidad es mayor porque no hay balance visible publico.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Cuentas: balance numerico por usuario. Transferir = restar de uno, sumar a otro.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  Ejemplo: Ethereum — mas intuitivo pero el balance queda expuesto.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4. Operaciones del Fabric Token SDK: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Issue (crear): emitir nuevos tokens, equivalente al Mint.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Transfer: enviar tokens de un propietario a otro.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Redeem (destruir): equivalente al Burn.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List: consultar los tokens propios.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Soporta tokens fungibles y no fungibles con la misma infraestructura.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200" b="1">
                <a:solidFill>
                  <a:srgbClr val="22627E"/>
                </a:solidFill>
                <a:latin typeface="Calibri"/>
              </a:defRPr>
            </a:pPr>
            <a:r>
              <a:t>Respuestas al repaso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51560"/>
            <a:ext cx="10972800" cy="27432"/>
          </a:xfrm>
          <a:prstGeom prst="rect">
            <a:avLst/>
          </a:prstGeom>
          <a:solidFill>
            <a:srgbClr val="226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5. ¿Por que Fabric no tiene moneda nativa?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Fabric es una plataforma permissioned: ya conoces a todos los participantes.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No hace falta incentivar a mineros desconocidos (como ETH incentiva a los mineros Ethereum).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Los costes operativos los asumen las orgs del consorcio directamente.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Sin gas = sin mercado especulativo sobre la capacidad de red.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Ventaja: las transacciones no tienen coste por-operacion para los usuarios.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6. Ejemplo de token enterprise con sentido en Fabric: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Hotel + Cafeteria compartiendo puntos de fidelizacion (caso del Modulo 6).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Bancos europeos tokenizando bonos corporativos (Santander, EIB).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Trazabilidad de lotes alimentarios (Walmart Food Trust).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Certificados de formacion entre universidades y empresas.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Creditos de carbono verificables entre emisores y auditores.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  <a:latin typeface="Calibri"/>
              </a:defRPr>
            </a:pPr>
            <a:r>
              <a:t>7. Ventaja de la privacidad de Fabric para tokens enterprise: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Canales: segregar mercados internos (p.ej., tokens de fidelizacion por region).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Private Data Collections: importes y terminos comerciales visibles solo entre partes.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Cumplimiento GDPR: datos personales off-chain, solo hashes on-chain.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Confidencialidad competitiva: los competidores en la red no ven los datos sensibles.</a:t>
            </a:r>
          </a:p>
          <a:p>
            <a:pPr lvl="1">
              <a:spcAft>
                <a:spcPts val="400"/>
              </a:spcAft>
              <a:defRPr sz="1700">
                <a:solidFill>
                  <a:srgbClr val="666666"/>
                </a:solidFill>
                <a:latin typeface="Calibri"/>
              </a:defRPr>
            </a:pPr>
            <a:r>
              <a:t>    Respeto a secretos comerciales: tarifas, margenes, clientes finales no expuestos.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2250</Words>
  <Application>Microsoft Office PowerPoint</Application>
  <PresentationFormat>Personalizado</PresentationFormat>
  <Paragraphs>214</Paragraphs>
  <Slides>19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Javier Nieto</cp:lastModifiedBy>
  <cp:revision>5</cp:revision>
  <dcterms:created xsi:type="dcterms:W3CDTF">2013-01-27T09:14:16Z</dcterms:created>
  <dcterms:modified xsi:type="dcterms:W3CDTF">2026-04-23T11:37:44Z</dcterms:modified>
  <cp:category/>
</cp:coreProperties>
</file>