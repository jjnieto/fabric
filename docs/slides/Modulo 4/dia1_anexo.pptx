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Tokenizacion en</a:t>
            </a:r>
            <a:br/>
            <a:r>
              <a:t>Hyperledger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De tokens EVM a tokens enterprise en Fabric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De Ethereum a Fabric: cambio de paradigma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Ethereum los tokens son Smart Contracts publicos (ERC-20, ERC-721, ERC-1155)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Cualquiera puede crear, transferir y consultar tokens sin permiso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Fabric no existen estandares ERC: los tokens se implementan como chaincodes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Fabric es permissioned: solo participantes autorizados operan con tokens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hay criptomoneda nativa: los tokens representan activos del mundo real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 privacidad es nativa: canales y Private Data Collections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Tokens: Ethereum vs Hyperledger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371600"/>
          <a:ext cx="105156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Aspecto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Ethereum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Hyperledger Fabric</a:t>
                      </a:r>
                    </a:p>
                  </a:txBody>
                  <a:tcPr>
                    <a:solidFill>
                      <a:srgbClr val="2262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Estandar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ERC-20, ERC-721, ERC-1155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hay estandar oficial, se implementa via chaincode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Permiso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Permissionless: cualquiera puede crear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Permissioned: solo participantes autorizados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Visibilidad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Publica: todo el mundo ve los balances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Privada: canales y Private Data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Moneda nativa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ETH para gas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 hay moneda nativa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Lenguaje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Solidity / Vyper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Go, Node.js, Java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Identidad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Direccion pseudonima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Certificado X.509 con nombre y org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Interoperabilidad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Cualquier wallet/DEX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Solo participantes de la red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Caso de uso tipico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DeFi, NFTs, especulacion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Supply chain, bonos, fidelizacion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Tres formas de implementar tokens en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Chaincode custom: escribir tu propia logica de token desde cero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Maximo control y flexibilidad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Requiere implementar mint, transfer, balanceOf, allowance...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Fabric Token SDK: libreria oficial con modelo UTXO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Modelo UTXO similar a Bitcoin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Soporta privacidad con tokens anonimos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Mas complejo de entender pero mas potente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Fabric Samples token-erc20: ejemplo oficial tipo ERC-20 con modelo de cuentas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mas parecido a un ERC-20 de Ethereum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Buen punto de partida para aprender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Repositorio: fabric-samples/token-erc-20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Flujo de un token en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D59DBE3F-BD59-64A7-9EA0-2D41F516C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090" y="1360448"/>
            <a:ext cx="8266644" cy="5497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Fabric Token SDK: vision general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Libreria oficial de Hyperledger para gestion de tokens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Modelo UTXO: cada token es una 'moneda' indivisible que se gasta completa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Operaciones principales: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Issue: crear nuevos tokens (equivalente a mint)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Transfer: enviar tokens a otro participante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Redeem: destruir tokens (equivalente a burn)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List: consultar tokens propios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Soporta tokens fungibles y no fungibles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Permite anonimato: el emisor no sabe quien tiene los tokens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Integracion con Fabric CA para identidades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UTXO vs Account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Modelo UTXO (Token SDK)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Cada token es un 'billete' unico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Para pagar, se 'gasta' el billete entero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Si sobra, se crea un 'cambio'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Mejor privacidad (no hay balance visible)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Mas complejo de consultar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Ejemplo: tienes un token de 100.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Pagas 30 -&gt; se destruye el de 100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Se crean dos: uno de 30 (destino)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y otro de 70 (tu cambio).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280160"/>
            <a:ext cx="27432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22627E"/>
                </a:solidFill>
                <a:latin typeface="Calibri"/>
              </a:defRPr>
            </a:pPr>
            <a:r>
              <a:t>Modelo de Cuentas (ERC-20 like)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Cada usuario tiene un balance numerico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Transferir = restar de uno, sumar a otro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Mas intuitivo y facil de consultar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Menos privado (balances visibles)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Similar a una cuenta bancaria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Ejemplo: tienes balance = 100.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Pagas 30 -&gt; tu balance = 70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Destino: su balance += 30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Simple, directo.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Modelo UTXO visualizado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B63A9F1-61A6-9182-E61C-E8A166EF9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834" y="1626268"/>
            <a:ext cx="6835156" cy="45421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Casos de uso: tokens enterprise en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Fidelizacion: puntos de un consorcio de empresas (aeroloineas, retail)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Bonos tokenizados: emision, custodia y liquidacion entre bancos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Supply chain: tokens que representan lotes de producto en transito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Carbon credits: tokens que representan derechos de emision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Pagos interbancarios: settlement instantaneo entre participantes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Propiedad inmobiliaria: fracciones de un activo tokenizado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Ejemplo: Token de fidelizacion entre empresas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Escenario: tres empresas (hotel, aerolinea, tienda) comparten puntos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empresa es una organizacion en Fabric con su propio peer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canal compartido con un chaincode de token fungible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hotel emite puntos al cliente por cada estancia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cliente gasta puntos en la tienda o en vuelos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chaincode valida: saldo suficiente, org autorizada, limites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Liquidacion mensual entre empresas via el ledger compartido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Ejemplo: Bonos tokenizados en Fabric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Escenario: emision de un bono entre emisor, agente y custodios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participante es una org en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Private Data: solo el emisor y el custodio ven los detalles del inversor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Token no fungible: cada bono tiene numero serie, nominal, cupon, vencimiento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Chaincode gestiona: emision, transferencia, pago de cupones, amortizacion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Comparar con el bono Santander 2019 y EIB 2021 vistos en la sesion anterior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Auditores acceden via canal separado con vista de solo lectura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Fabric Samples: token-erc-20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Repositorio oficial: fabric-samples/token-erc-20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Implementacion tipo ERC-20 adaptada a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Funciones disponibles: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Mint(amount) - crear tokens (solo minter autorizado)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Transfer(to, amount) - transferir tokens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BalanceOf(account) - consultar saldo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Approve(spender, amount) + TransferFrom - delegacion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TotalSupply() - supply total emitido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Usa certificados X.509 para identificar al propietario (no direcciones)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minter se define por atributo en el certificado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Ideal como punto de partida para tokens fungibles en Fabric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Token ERC-20 en Fabric: snippet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Funcion Transfer del token-erc-20 oficial de Fabric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// Transfer moves tokens from caller to recipient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 err="1">
                <a:solidFill>
                  <a:schemeClr val="bg1"/>
                </a:solidFill>
              </a:rPr>
              <a:t>func</a:t>
            </a:r>
            <a:r>
              <a:rPr sz="1400" dirty="0">
                <a:solidFill>
                  <a:schemeClr val="bg1"/>
                </a:solidFill>
              </a:rPr>
              <a:t> (s *</a:t>
            </a:r>
            <a:r>
              <a:rPr sz="1400" dirty="0" err="1">
                <a:solidFill>
                  <a:schemeClr val="bg1"/>
                </a:solidFill>
              </a:rPr>
              <a:t>SmartContract</a:t>
            </a:r>
            <a:r>
              <a:rPr sz="1400" dirty="0">
                <a:solidFill>
                  <a:schemeClr val="bg1"/>
                </a:solidFill>
              </a:rPr>
              <a:t>) Transfer(</a:t>
            </a:r>
            <a:r>
              <a:rPr sz="1400" dirty="0" err="1">
                <a:solidFill>
                  <a:schemeClr val="bg1"/>
                </a:solidFill>
              </a:rPr>
              <a:t>ctx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contractapi.TransactionContextInterface</a:t>
            </a:r>
            <a:r>
              <a:rPr sz="1400" dirty="0">
                <a:solidFill>
                  <a:schemeClr val="bg1"/>
                </a:solidFill>
              </a:rPr>
              <a:t>,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recipient string, amount int) error {</a:t>
            </a:r>
            <a:br>
              <a:rPr sz="1400" dirty="0">
                <a:solidFill>
                  <a:schemeClr val="bg1"/>
                </a:solidFill>
              </a:rPr>
            </a:b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</a:t>
            </a:r>
            <a:r>
              <a:rPr sz="1400" dirty="0" err="1">
                <a:solidFill>
                  <a:schemeClr val="bg1"/>
                </a:solidFill>
              </a:rPr>
              <a:t>clientID</a:t>
            </a:r>
            <a:r>
              <a:rPr sz="1400" dirty="0">
                <a:solidFill>
                  <a:schemeClr val="bg1"/>
                </a:solidFill>
              </a:rPr>
              <a:t>, err := </a:t>
            </a:r>
            <a:r>
              <a:rPr sz="1400" dirty="0" err="1">
                <a:solidFill>
                  <a:schemeClr val="bg1"/>
                </a:solidFill>
              </a:rPr>
              <a:t>ctx.GetClientIdentity</a:t>
            </a:r>
            <a:r>
              <a:rPr sz="1400" dirty="0">
                <a:solidFill>
                  <a:schemeClr val="bg1"/>
                </a:solidFill>
              </a:rPr>
              <a:t>().GetID()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if err != nil {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    return </a:t>
            </a:r>
            <a:r>
              <a:rPr sz="1400" dirty="0" err="1">
                <a:solidFill>
                  <a:schemeClr val="bg1"/>
                </a:solidFill>
              </a:rPr>
              <a:t>fmt.Errorf</a:t>
            </a:r>
            <a:r>
              <a:rPr sz="1400" dirty="0">
                <a:solidFill>
                  <a:schemeClr val="bg1"/>
                </a:solidFill>
              </a:rPr>
              <a:t>("failed to get client identity: %v", err)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}</a:t>
            </a:r>
            <a:br>
              <a:rPr sz="1400" dirty="0">
                <a:solidFill>
                  <a:schemeClr val="bg1"/>
                </a:solidFill>
              </a:rPr>
            </a:b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err = </a:t>
            </a:r>
            <a:r>
              <a:rPr sz="1400" dirty="0" err="1">
                <a:solidFill>
                  <a:schemeClr val="bg1"/>
                </a:solidFill>
              </a:rPr>
              <a:t>transferHelper</a:t>
            </a:r>
            <a:r>
              <a:rPr sz="1400" dirty="0">
                <a:solidFill>
                  <a:schemeClr val="bg1"/>
                </a:solidFill>
              </a:rPr>
              <a:t>(</a:t>
            </a:r>
            <a:r>
              <a:rPr sz="1400" dirty="0" err="1">
                <a:solidFill>
                  <a:schemeClr val="bg1"/>
                </a:solidFill>
              </a:rPr>
              <a:t>ctx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clientID</a:t>
            </a:r>
            <a:r>
              <a:rPr sz="1400" dirty="0">
                <a:solidFill>
                  <a:schemeClr val="bg1"/>
                </a:solidFill>
              </a:rPr>
              <a:t>, recipient, amount)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if err != nil {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    return </a:t>
            </a:r>
            <a:r>
              <a:rPr sz="1400" dirty="0" err="1">
                <a:solidFill>
                  <a:schemeClr val="bg1"/>
                </a:solidFill>
              </a:rPr>
              <a:t>fmt.Errorf</a:t>
            </a:r>
            <a:r>
              <a:rPr sz="1400" dirty="0">
                <a:solidFill>
                  <a:schemeClr val="bg1"/>
                </a:solidFill>
              </a:rPr>
              <a:t>("failed to transfer: %v", err)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}</a:t>
            </a:r>
            <a:br>
              <a:rPr sz="1400" dirty="0">
                <a:solidFill>
                  <a:schemeClr val="bg1"/>
                </a:solidFill>
              </a:rPr>
            </a:b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// Emit Transfer event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</a:t>
            </a:r>
            <a:r>
              <a:rPr sz="1400" dirty="0" err="1">
                <a:solidFill>
                  <a:schemeClr val="bg1"/>
                </a:solidFill>
              </a:rPr>
              <a:t>transferEvent</a:t>
            </a:r>
            <a:r>
              <a:rPr sz="1400" dirty="0">
                <a:solidFill>
                  <a:schemeClr val="bg1"/>
                </a:solidFill>
              </a:rPr>
              <a:t> := </a:t>
            </a:r>
            <a:r>
              <a:rPr sz="1400" dirty="0" err="1">
                <a:solidFill>
                  <a:schemeClr val="bg1"/>
                </a:solidFill>
              </a:rPr>
              <a:t>TransferEvent</a:t>
            </a:r>
            <a:r>
              <a:rPr sz="1400" dirty="0">
                <a:solidFill>
                  <a:schemeClr val="bg1"/>
                </a:solidFill>
              </a:rPr>
              <a:t>{From: </a:t>
            </a:r>
            <a:r>
              <a:rPr sz="1400" dirty="0" err="1">
                <a:solidFill>
                  <a:schemeClr val="bg1"/>
                </a:solidFill>
              </a:rPr>
              <a:t>clientID</a:t>
            </a:r>
            <a:r>
              <a:rPr sz="1400" dirty="0">
                <a:solidFill>
                  <a:schemeClr val="bg1"/>
                </a:solidFill>
              </a:rPr>
              <a:t>, To: recipient, Value: amount}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</a:t>
            </a:r>
            <a:r>
              <a:rPr sz="1400" dirty="0" err="1">
                <a:solidFill>
                  <a:schemeClr val="bg1"/>
                </a:solidFill>
              </a:rPr>
              <a:t>eventJSON</a:t>
            </a:r>
            <a:r>
              <a:rPr sz="1400" dirty="0">
                <a:solidFill>
                  <a:schemeClr val="bg1"/>
                </a:solidFill>
              </a:rPr>
              <a:t>, _ := </a:t>
            </a:r>
            <a:r>
              <a:rPr sz="1400" dirty="0" err="1">
                <a:solidFill>
                  <a:schemeClr val="bg1"/>
                </a:solidFill>
              </a:rPr>
              <a:t>json.Marshal</a:t>
            </a:r>
            <a:r>
              <a:rPr sz="1400" dirty="0">
                <a:solidFill>
                  <a:schemeClr val="bg1"/>
                </a:solidFill>
              </a:rPr>
              <a:t>(</a:t>
            </a:r>
            <a:r>
              <a:rPr sz="1400" dirty="0" err="1">
                <a:solidFill>
                  <a:schemeClr val="bg1"/>
                </a:solidFill>
              </a:rPr>
              <a:t>transferEvent</a:t>
            </a:r>
            <a:r>
              <a:rPr sz="1400" dirty="0">
                <a:solidFill>
                  <a:schemeClr val="bg1"/>
                </a:solidFill>
              </a:rPr>
              <a:t>)</a:t>
            </a:r>
            <a:br>
              <a:rPr sz="1400"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</a:t>
            </a:r>
            <a:r>
              <a:rPr sz="1400" dirty="0" err="1">
                <a:solidFill>
                  <a:schemeClr val="bg1"/>
                </a:solidFill>
              </a:rPr>
              <a:t>ctx.GetStub</a:t>
            </a:r>
            <a:r>
              <a:rPr sz="1400" dirty="0">
                <a:solidFill>
                  <a:schemeClr val="bg1"/>
                </a:solidFill>
              </a:rPr>
              <a:t>().</a:t>
            </a:r>
            <a:r>
              <a:rPr sz="1400" dirty="0" err="1">
                <a:solidFill>
                  <a:schemeClr val="bg1"/>
                </a:solidFill>
              </a:rPr>
              <a:t>SetEvent</a:t>
            </a:r>
            <a:r>
              <a:rPr sz="1400" dirty="0">
                <a:solidFill>
                  <a:schemeClr val="bg1"/>
                </a:solidFill>
              </a:rPr>
              <a:t>("Transfer", </a:t>
            </a:r>
            <a:r>
              <a:rPr sz="1400" dirty="0" err="1">
                <a:solidFill>
                  <a:schemeClr val="bg1"/>
                </a:solidFill>
              </a:rPr>
              <a:t>eventJSON</a:t>
            </a:r>
            <a:r>
              <a:rPr sz="1400" dirty="0">
                <a:solidFill>
                  <a:schemeClr val="bg1"/>
                </a:solidFill>
              </a:rPr>
              <a:t>)</a:t>
            </a:r>
            <a:br>
              <a:rPr dirty="0">
                <a:solidFill>
                  <a:schemeClr val="bg1"/>
                </a:solidFill>
              </a:rPr>
            </a:br>
            <a:br>
              <a:rPr dirty="0">
                <a:solidFill>
                  <a:schemeClr val="bg1"/>
                </a:solidFill>
              </a:rPr>
            </a:br>
            <a:r>
              <a:rPr sz="1400" dirty="0">
                <a:solidFill>
                  <a:schemeClr val="bg1"/>
                </a:solidFill>
              </a:rPr>
              <a:t>    return nil</a:t>
            </a:r>
            <a:br>
              <a:rPr dirty="0">
                <a:solidFill>
                  <a:schemeClr val="bg1"/>
                </a:solidFill>
              </a:rPr>
            </a:b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Tokenizacion en Fabric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4298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1. En Ethereum </a:t>
            </a:r>
            <a:r>
              <a:rPr dirty="0" err="1"/>
              <a:t>cualquiera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crear</a:t>
            </a:r>
            <a:r>
              <a:rPr dirty="0"/>
              <a:t> un token. En Fabric solo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autorizados</a:t>
            </a:r>
            <a:r>
              <a:rPr dirty="0"/>
              <a:t>. ¿Es </a:t>
            </a:r>
            <a:r>
              <a:rPr dirty="0" err="1"/>
              <a:t>esto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ventaja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limitacion</a:t>
            </a:r>
            <a:r>
              <a:rPr dirty="0"/>
              <a:t>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2. ¿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activos</a:t>
            </a:r>
            <a:r>
              <a:rPr lang="es-ES" dirty="0"/>
              <a:t>, según vuestra experiencia, </a:t>
            </a:r>
            <a:r>
              <a:rPr dirty="0"/>
              <a:t>se </a:t>
            </a:r>
            <a:r>
              <a:rPr dirty="0" err="1"/>
              <a:t>beneficiarian</a:t>
            </a:r>
            <a:r>
              <a:rPr dirty="0"/>
              <a:t> de la </a:t>
            </a:r>
            <a:r>
              <a:rPr dirty="0" err="1"/>
              <a:t>tokenizacion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red permissioned?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3. ¿Modelo UTXO o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cuentas</a:t>
            </a:r>
            <a:r>
              <a:rPr dirty="0"/>
              <a:t>? ¿</a:t>
            </a:r>
            <a:r>
              <a:rPr dirty="0" err="1"/>
              <a:t>Cual</a:t>
            </a:r>
            <a:r>
              <a:rPr dirty="0"/>
              <a:t> </a:t>
            </a:r>
            <a:r>
              <a:rPr dirty="0" err="1"/>
              <a:t>elegiriais</a:t>
            </a:r>
            <a:r>
              <a:rPr dirty="0"/>
              <a:t> para </a:t>
            </a:r>
            <a:r>
              <a:rPr dirty="0" err="1"/>
              <a:t>vuestro</a:t>
            </a:r>
            <a:r>
              <a:rPr dirty="0"/>
              <a:t> </a:t>
            </a:r>
            <a:r>
              <a:rPr dirty="0" err="1"/>
              <a:t>caso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4. Los tokens </a:t>
            </a:r>
            <a:r>
              <a:rPr dirty="0" err="1"/>
              <a:t>en</a:t>
            </a:r>
            <a:r>
              <a:rPr dirty="0"/>
              <a:t> Fabric no </a:t>
            </a:r>
            <a:r>
              <a:rPr dirty="0" err="1"/>
              <a:t>cotizan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exchanges. ¿</a:t>
            </a:r>
            <a:r>
              <a:rPr dirty="0" err="1"/>
              <a:t>Pierde</a:t>
            </a:r>
            <a:r>
              <a:rPr dirty="0"/>
              <a:t> </a:t>
            </a:r>
            <a:r>
              <a:rPr dirty="0" err="1"/>
              <a:t>sentido</a:t>
            </a:r>
            <a:r>
              <a:rPr dirty="0"/>
              <a:t> la </a:t>
            </a:r>
            <a:r>
              <a:rPr dirty="0" err="1"/>
              <a:t>tokenizacion</a:t>
            </a:r>
            <a:r>
              <a:rPr dirty="0"/>
              <a:t> sin mercado </a:t>
            </a:r>
            <a:r>
              <a:rPr dirty="0" err="1"/>
              <a:t>secundario</a:t>
            </a:r>
            <a:r>
              <a:rPr dirty="0"/>
              <a:t>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rPr dirty="0"/>
              <a:t>5. ¿Como </a:t>
            </a:r>
            <a:r>
              <a:rPr dirty="0" err="1"/>
              <a:t>afecta</a:t>
            </a:r>
            <a:r>
              <a:rPr dirty="0"/>
              <a:t> la </a:t>
            </a:r>
            <a:r>
              <a:rPr dirty="0" err="1"/>
              <a:t>privacidad</a:t>
            </a:r>
            <a:r>
              <a:rPr dirty="0"/>
              <a:t> de Fabric (canales, Private Data) al </a:t>
            </a:r>
            <a:r>
              <a:rPr dirty="0" err="1"/>
              <a:t>dise</a:t>
            </a:r>
            <a:r>
              <a:rPr lang="es-ES" dirty="0"/>
              <a:t>ñ</a:t>
            </a:r>
            <a:r>
              <a:rPr dirty="0"/>
              <a:t>o de un token enterprise?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¿Cual es la principal diferencia entre tokens en Ethereum y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Nombra tres formas de implementar tokens en Fabric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¿Que es el modelo UTXO y en que se diferencia del modelo de cuentas?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operaciones soporta el Fabric Token SDK?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¿Por que Fabric no tiene moneda nativa como ETH?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Da un ejemplo de token enterprise que tenga sentido en Fabric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¿Que ventaja ofrece la privacidad de Fabric para tokens enterprise?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1286</Words>
  <Application>Microsoft Office PowerPoint</Application>
  <PresentationFormat>Personalizado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4</cp:revision>
  <dcterms:created xsi:type="dcterms:W3CDTF">2013-01-27T09:14:16Z</dcterms:created>
  <dcterms:modified xsi:type="dcterms:W3CDTF">2026-04-23T10:26:23Z</dcterms:modified>
  <cp:category/>
</cp:coreProperties>
</file>