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Seguridad y Buenas Practicas</a:t>
            </a:r>
            <a:br/>
            <a:r>
              <a:t>en Chaincodes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5 - Endorsement avanzado, determinismo, ABAC y auditoria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 anterior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implementa un token fungible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una composite key y para que se usa en NFTs?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Describe el flujo de trazabilidad de un lote alimentario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¿Quien puede hacer recall de un lote?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TREASURE HUNT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The DAO Hack y como Fabric lo previene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junio de 2016, 'The DAO' era el mayor crowdfunding de la historia: 150M USD en ETH.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atacante exploto un bug de re-entrancy en el smart contract y robo 60M USD.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comunidad Ethereum hizo un hard fork para revertir el robo -&gt; nacio Ethereum Classic.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Mision: Investigar y responder: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¿Que es un ataque de re-entrancy? ¿Como funciona paso a paso?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¿Es posible un ataque de re-entrancy en Hyperledger Fabric? ¿Por que si o por que no?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¿Que mecanismo de Fabric impide que un chaincode 'llame a si mismo' de forma recursiva?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Pista: piensa en las diferencias entre el modelo execute-order de EVM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y el modelo execute-order-validate de Fabric.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Politicas de Endorsement</a:t>
            </a:r>
            <a:br/>
            <a:r>
              <a:t>Avanzadas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Quien debe aprobar cada transaccion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Politicas de endorsement: repaso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Una politica de endorsement define que organizaciones deben ejecutar y firmar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define al desplegar el chaincode (lifecycle) o por key (state-based)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Expresiones de politica: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AND('Org1MSP.peer', 'Org2MSP.peer') - ambas deben aprobar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OR('Org1MSP.peer', 'Org2MSP.peer') - basta con una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OutOf(2, 'Org1MSP.peer', 'Org2MSP.peer', 'Org3MSP.peer') - al menos 2 de 3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MAJORITY - mayoria de las organizaciones del canal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politica por defecto se aplica a todas las keys del chaincode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se puede cambiar por key individual (state-based endorsement)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State-Based Endorsement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cambiar la politica de endorsement para una key especifica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Util cuando diferentes activos requieren diferentes aprobaciones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Ejemplo: una propiedad de alto valor requiere 3 orgs, una normal solo 2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gestiona desde el chaincode con: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SetStateValidationParameter(key, policy) - establecer politica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GetStateValidationParameter(key) - leer politica actual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politica se almacena junto con el state en el World State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State-Based Endorsement: 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Politica dinamica segun el valor del activo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568919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import (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"github.com/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hyperledger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/fabric-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chaincode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-go/pkg/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statebased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SetHighValueEndorsement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propertyID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Leer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propiedad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property, _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s.ReadProperty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propertyID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Si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valor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supera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1M,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requerir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endorsement de 3 orgs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property.AppraisalValue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&gt; 1000000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policy,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statebased.NewStateEP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(nil)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return err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5756808-E31F-AF67-0797-B40894E524B3}"/>
              </a:ext>
            </a:extLst>
          </p:cNvPr>
          <p:cNvSpPr txBox="1"/>
          <p:nvPr/>
        </p:nvSpPr>
        <p:spPr>
          <a:xfrm>
            <a:off x="6531827" y="1645920"/>
            <a:ext cx="613874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// Requiere las tres organizaciones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policy.AddOrgs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statebased.RoleTypePeer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"Org1MSP", "Org2MSP", "Org3MSP")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policyBytes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policy.Policy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SetStateValidationParameter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propertyID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policyBytes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323D0E1-B9F3-634F-6985-4684ECE9D515}"/>
              </a:ext>
            </a:extLst>
          </p:cNvPr>
          <p:cNvSpPr/>
          <p:nvPr/>
        </p:nvSpPr>
        <p:spPr>
          <a:xfrm>
            <a:off x="6094412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ABAC: Attribute-Based Access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ABAC permite control de acceso granular basado en atributos del certificado X.509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Los atributos se anaden al certificado durante el enrollment con Fabric CA: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fabric-ca-client register --id.attrs 'role=admin,department=legal'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fabric-ca-client enroll --enrollment.attrs 'role,department'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el chaincode se verifican con: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ctx.GetClientIdentity().GetAttributeValue('role')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ctx.GetClientIdentity().AssertAttributeValue('role', 'admin')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Ventajas sobre verificar solo MSPID: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Multiples roles dentro de la misma organizacion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Permisos granulares: admin, auditor, operador, registrador...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necesitas crear una org por cada rol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atributos viajan en el cert, no se pueden falsificar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ABAC: ejemplo con multiples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Helper reutilizable para verificar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5546617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checkRole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contractapi.TransactionContextInterface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requiredRole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string)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role, found, err :=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ctx.GetClientIdentity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GetAttributeValue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("role")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err != nil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("error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leyendo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atributo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role: %v", err)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!found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certificado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no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tiene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atributo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'role'")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if role !=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requiredRole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return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fmt.Errorf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rol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requerido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%s,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rol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actual: %s",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requiredRole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, role)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return nil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597AE08-AF36-10CA-6D70-63C0F22F7FDE}"/>
              </a:ext>
            </a:extLst>
          </p:cNvPr>
          <p:cNvSpPr txBox="1"/>
          <p:nvPr/>
        </p:nvSpPr>
        <p:spPr>
          <a:xfrm>
            <a:off x="6902574" y="1472121"/>
            <a:ext cx="4554731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Uso en funciones del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chaincode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ApproveTransfer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s.checkRole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"registrador");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!=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...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logica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de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aprobacion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FreezeProperty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s.checkRole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autoridad_judicial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");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!=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err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...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logica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de bloqueo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6925EF-EACF-A227-736E-F9CACAEDFF90}"/>
              </a:ext>
            </a:extLst>
          </p:cNvPr>
          <p:cNvSpPr/>
          <p:nvPr/>
        </p:nvSpPr>
        <p:spPr>
          <a:xfrm>
            <a:off x="6278137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Determinismo en Chaincodes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Errores que parecen inocentes pero rompen la red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¿Por que importa el determinismo?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Fabric, los endorsing peers ejecutan el chaincode ANTES de que se ordene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Todos los endorsers deben obtener el MISMO resultado (read/write set)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los resultados difieren, la transaccion se invalida (MVCC conflict)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Por tanto: el chaincode debe ser DETERMINISTA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Esto significa: misma entrada -&gt; siempre mismo resultado, en cualquier peer, en cualquier momento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Errores de determinismo: los 5 pecados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Usar timestamps del sistema: time.Now() varia entre peers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usar ctx.GetStub().GetTxTimestamp() (viene del orderer)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Iterar mapas (Go): el orden de iteracion en Go maps es aleatorio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usar slices ordenados o sort.Strings() antes de iterar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Llamadas externas: HTTP, gRPC, filesystem... cada peer obtendria distinto resultado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los datos externos deben entrar como parametro de la transaccion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Numeros aleatorios: math/rand genera valores distintos en cada peer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si necesitas aleatoriedad, generala fuera y pasala como parametro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Variables globales mutables: estado compartido entre invocaciones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Solucion: todo el estado debe ir en el World State, nunca en memoria global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Determinismo: ejemplos de codigo incorrecto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Estos errores causan transacciones invalidas silenciosamente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4955602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ERROR 1: Timestamp del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sistema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BadCreate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asset.CreatedAt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time.Now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().String()  // DIFERENTE EN CADA PEER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Correcto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asset.CreatedAt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GetTxTimestamp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ERROR 2: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Iterar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un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mapa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en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Go 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orden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aleatorio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BadTotals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totals := map[string]int{"a": 1, "b": 2, "c": 3}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result := ""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for k, v := range totals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    result +=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("%s:%d,", k, v)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// result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puede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ser "a:1,b:2,c:3" o "c:3,a:1,b:2" -&gt; NO DETERMINISTA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B175AA5-AADD-093C-57DB-8632DE85DBDB}"/>
              </a:ext>
            </a:extLst>
          </p:cNvPr>
          <p:cNvSpPr txBox="1"/>
          <p:nvPr/>
        </p:nvSpPr>
        <p:spPr>
          <a:xfrm>
            <a:off x="6663396" y="1645920"/>
            <a:ext cx="495560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ERROR 3: Llamada HTTP externa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BadPrice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resp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http.Get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("https://api.prices.com/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gold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Cada peer puede obtener un precio diferente -&gt; INVALIDA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ERROR 4: Numero aleatorio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BadRandom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...) error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id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fmt.Sprintf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("ASSET-%d",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rand.Intn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(99999))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ID diferente en cada peer -&gt; INVALIDA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C860317-7AAA-B1EE-04AB-37A143FF2697}"/>
              </a:ext>
            </a:extLst>
          </p:cNvPr>
          <p:cNvSpPr/>
          <p:nvPr/>
        </p:nvSpPr>
        <p:spPr>
          <a:xfrm>
            <a:off x="6094412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Phantom Reads y conflictos MVCC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MVCC: Multi-Version Concurrency Control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usa un read/write set para validar transacciones: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endorse: se registra que keys se leyeron y sus versiones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el commit: se verifica que esas versiones no cambiaron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cambiaron -&gt; transaccion MVCC_READ_CONFLICT -&gt; se descarta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Phantom read: cuando una query devuelve resultados diferentes entre endorse y commit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Causa tipica: dos transacciones concurrentes modifican keys del mismo rango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Solucion: disenar el key space para minimizar colisiones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Evitar GetStateByRange amplio en transacciones de escritura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Usar keys especificas en vez de queries amplias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necesitas leer muchos datos, hacerlo en query (solo lectura)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Gestion de Upgrades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Versionado, migracion y compatibilidad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Actualizacion de chaincodes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 diferencia de Ethereum, los chaincodes en Fabric SE PUEDEN actualizar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lifecycle de Fabric permite desplegar nuevas versiones: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1. Empaquetar nueva version del chaincode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2. Instalar en todos los peers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3. Cada org aprueba la nueva definicion (approveformyorg)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4. Commit de la nueva definicion (commit)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Consideraciones al actualizar: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World State se mantiene: los datos NO se borran al actualizar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datos antiguos deben ser compatibles con el nuevo codigo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Estrategia: leer dato -&gt; si falta campo nuevo, aplicar default -&gt; guardar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Nunca cambiar el formato de las keys existentes sin migracion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Migracion de datos: compatibilidad hacia atras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Migracion lazy: migrar datos al leerlos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4944451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Version 1 del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modelo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type PropertyV1 struct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ID  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:"id"`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Owner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:"owner"`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Address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:"address"`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// Version 2: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nuevos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campos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type PropertyV2 struct {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ID         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:"id"`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Owner      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:"owner"`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Address     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:"address"`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PropertyType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string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propertyType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   // NUEVO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AppraisalValue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int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appraisalValue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"` // NUEVO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    Version        int    `</a:t>
            </a:r>
            <a:r>
              <a:rPr sz="1600" dirty="0" err="1">
                <a:solidFill>
                  <a:schemeClr val="bg1">
                    <a:lumMod val="95000"/>
                  </a:schemeClr>
                </a:solidFill>
              </a:rPr>
              <a:t>json</a:t>
            </a: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:"version"`        // NUEVO: control de version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br>
              <a:rPr sz="1600" dirty="0">
                <a:solidFill>
                  <a:schemeClr val="bg1">
                    <a:lumMod val="95000"/>
                  </a:schemeClr>
                </a:solidFill>
              </a:rPr>
            </a:br>
            <a:endParaRPr sz="16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9633C8-376A-3DE1-82A7-E7DE4C276564}"/>
              </a:ext>
            </a:extLst>
          </p:cNvPr>
          <p:cNvSpPr txBox="1"/>
          <p:nvPr/>
        </p:nvSpPr>
        <p:spPr>
          <a:xfrm>
            <a:off x="6365659" y="1396133"/>
            <a:ext cx="509164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// Leer con compatibilidad: si faltan campos, aplicar defaults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(s *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SmartContract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ReadProperty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..., id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string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 (*PropertyV2, error)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data, _ :=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ctx.GetStub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().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GetState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(id)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var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PropertyV2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json.Unmarshal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(data, &amp;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//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Migracion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lazy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: si es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version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antigua, aplicar defaults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prop.Version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&lt; 2 {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if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prop.PropertyType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== "" {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prop.PropertyType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"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unknown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"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prop.Version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= 2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    // Guardar migrado (opcional: hacerlo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on-read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o con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funcion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de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migracion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)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}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  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return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 &amp;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prop</a:t>
            </a: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s-ES" sz="1600" dirty="0" err="1">
                <a:solidFill>
                  <a:schemeClr val="bg1">
                    <a:lumMod val="95000"/>
                  </a:schemeClr>
                </a:solidFill>
              </a:rPr>
              <a:t>nil</a:t>
            </a:r>
            <a:br>
              <a:rPr lang="es-ES" sz="16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s-ES" sz="1600" dirty="0">
                <a:solidFill>
                  <a:schemeClr val="bg1">
                    <a:lumMod val="95000"/>
                  </a:schemeClr>
                </a:solidFill>
              </a:rPr>
              <a:t>}</a:t>
            </a:r>
            <a:endParaRPr lang="es-ES" sz="160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EF529DB-AD16-4D45-E2A2-21D5DD93D4F0}"/>
              </a:ext>
            </a:extLst>
          </p:cNvPr>
          <p:cNvSpPr/>
          <p:nvPr/>
        </p:nvSpPr>
        <p:spPr>
          <a:xfrm>
            <a:off x="5943600" y="1417320"/>
            <a:ext cx="45719" cy="5120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Checklist de seguridad para chaincodes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identidad: ¿quien invoca? (GetMSPID, GetID, ABAC)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existencia: ¿el activo existe/no existe antes de operar?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Verificar estado: ¿la transicion de estado es valida?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Determinismo: ¿no uso time.Now, rand, http, map iteration?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Validar inputs: ¿los parametros son validos (tipos, rangos, longitud)?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loguear datos sensibles: precios, datos personales, claves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Private Data: ¿los datos confidenciales van por transient data?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Eventos: ¿no incluyo datos sensibles en los payloads de eventos?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Endorsement: ¿la politica es suficiente para el valor del activo?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Paginacion: ¿limito los resultados de las queries?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PRACTICA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74320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Auditar un chaincode con fallos de seguridad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0D9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Objetivo: encontrar y corregir los fallos de seguridad en un chaincode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 os proporcionara un chaincode con 8 fallos de seguridad intencionados: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Falta de verificacion de identidad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Uso de time.Now() (no determinista)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Iteracion de mapa sin ordenar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Datos sensibles en logs y eventos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Falta de validacion de inputs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Query sin paginacion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Transiciones de estado no validadas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- Acceso a Private Data sin verificar coleccion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Trabajar en parejas: encontrar los 8 fallos, explicar el riesgo,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y proponer la correccion. Tiempo: 60 minutos.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Puesta en comun: cada pareja presenta 2 fallos.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Generar chaincode con fallos para auditar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Genera un chaincode de Hyperledger Fabric en Go que tenga</a:t>
            </a:r>
            <a:br/>
            <a:r>
              <a:t>8 fallos de seguridad intencionados para un ejercicio de</a:t>
            </a:r>
            <a:br/>
            <a:r>
              <a:t>auditoria en un curso de formacion.</a:t>
            </a:r>
            <a:br/>
            <a:br/>
            <a:r>
              <a:t>El chaincode debe ser un sistema de gestion de propiedades</a:t>
            </a:r>
            <a:br/>
            <a:r>
              <a:t>con funciones Create, Read, Transfer y Query.</a:t>
            </a:r>
            <a:br/>
            <a:br/>
            <a:r>
              <a:t>Fallos a incluir (pero sin comentarios que los senalen):</a:t>
            </a:r>
            <a:br/>
            <a:r>
              <a:t>1. Una funcion sin verificacion de MSPID ni rol</a:t>
            </a:r>
            <a:br/>
            <a:r>
              <a:t>2. Uso de time.Now() en vez de GetTxTimestamp()</a:t>
            </a:r>
            <a:br/>
            <a:r>
              <a:t>3. Iteracion de un mapa de Go sin ordenar antes de escribir</a:t>
            </a:r>
            <a:br/>
            <a:r>
              <a:t>4. Un fmt.Println que loguea el precio de venta</a:t>
            </a:r>
            <a:br/>
            <a:r>
              <a:t>5. Falta de validacion en un parametro numerico (acepta negativos)</a:t>
            </a:r>
            <a:br/>
            <a:r>
              <a:t>6. GetQueryResult sin paginacion</a:t>
            </a:r>
            <a:br/>
            <a:r>
              <a:t>7. Transicion de estado invalida no verificada</a:t>
            </a:r>
            <a:br/>
            <a:r>
              <a:t>8. PutPrivateData sin verificar que el caller pertenece</a:t>
            </a:r>
            <a:br/>
            <a:r>
              <a:t>   a la coleccion</a:t>
            </a:r>
            <a:br/>
            <a:br/>
            <a:r>
              <a:t>El codigo debe parecer plausible y funcional, solo con errores</a:t>
            </a:r>
            <a:br/>
            <a:r>
              <a:t>sutiles. Anade un comentario al final del fichero con la lista</a:t>
            </a:r>
            <a:br/>
            <a:r>
              <a:t>de fallos (para el instructor).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Prompt IA: Auditar un chaincode existente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PROMPT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11247120" cy="4114800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374903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333333"/>
                </a:solidFill>
                <a:latin typeface="Consolas"/>
              </a:defRPr>
            </a:pPr>
            <a:r>
              <a:t>Actua como auditor de seguridad de Hyperledger Fabric.</a:t>
            </a:r>
            <a:br/>
            <a:r>
              <a:t>Revisa el siguiente chaincode y genera un informe con:</a:t>
            </a:r>
            <a:br/>
            <a:br/>
            <a:r>
              <a:t>1. Lista de vulnerabilidades encontradas, clasificadas por</a:t>
            </a:r>
            <a:br/>
            <a:r>
              <a:t>   severidad (critica, alta, media, baja)</a:t>
            </a:r>
            <a:br/>
            <a:r>
              <a:t>2. Para cada vulnerabilidad:</a:t>
            </a:r>
            <a:br/>
            <a:r>
              <a:t>   - Descripcion del problema</a:t>
            </a:r>
            <a:br/>
            <a:r>
              <a:t>   - Linea o funcion afectada</a:t>
            </a:r>
            <a:br/>
            <a:r>
              <a:t>   - Impacto potencial</a:t>
            </a:r>
            <a:br/>
            <a:r>
              <a:t>   - Codigo corregido</a:t>
            </a:r>
            <a:br/>
            <a:r>
              <a:t>3. Verificacion de determinismo</a:t>
            </a:r>
            <a:br/>
            <a:r>
              <a:t>4. Verificacion de control de acceso</a:t>
            </a:r>
            <a:br/>
            <a:r>
              <a:t>5. Verificacion de validacion de inputs</a:t>
            </a:r>
            <a:br/>
            <a:r>
              <a:t>6. Recomendaciones generales</a:t>
            </a:r>
            <a:br/>
            <a:br/>
            <a:r>
              <a:t>[Pegar aqui el codigo del chaincode a auditar]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Este prompt se puede usar para auditar cualquier chaincode, no solo el del ejercicio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Seguridad en chaincodes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¿Quien deberia auditar los chaincodes en un consorcio? ¿Cada org por separado o un auditor externo?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Un chaincode con un bug de determinismo no falla visiblemente: las transacciones simplemente se invalidan. ¿Como detectarias este problema en produccion?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¿Es ABAC suficiente o necesitariamos algo como RBAC con una tabla de permisos en el World State?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Si un endorsing peer es comprometido, ¿que protecciones tiene Fabric?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¿Como gestionariais la rotacion de certificados sin perder el acceso a los datos del World State?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una politica de endorsement y como se define?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¿Que es state-based endorsement?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ABAC y como se implementa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Nombra los 5 errores de determinismo mas comunes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es un conflicto MVCC y cuando ocurre?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¿Como se actualiza un chaincode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estrategia usarias para migrar datos entre versiones?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8. Di 3 items del checklist de seguridad de chaincodes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2863</Words>
  <Application>Microsoft Office PowerPoint</Application>
  <PresentationFormat>Personalizado</PresentationFormat>
  <Paragraphs>169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2</cp:revision>
  <dcterms:created xsi:type="dcterms:W3CDTF">2013-01-27T09:14:16Z</dcterms:created>
  <dcterms:modified xsi:type="dcterms:W3CDTF">2026-04-23T11:07:18Z</dcterms:modified>
  <cp:category/>
</cp:coreProperties>
</file>