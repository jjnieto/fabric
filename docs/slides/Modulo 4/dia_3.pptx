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371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12188952" cy="1371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760"/>
            <a:ext cx="10972800" cy="457200"/>
          </a:xfrm>
          <a:prstGeom prst="rect">
            <a:avLst/>
          </a:prstGeom>
          <a:noFill/>
        </p:spPr>
        <p:txBody>
          <a:bodyPr wrap="square"/>
          <a:lstStyle/>
          <a:p>
            <a:pPr algn="l">
              <a:defRPr sz="1600" b="1">
                <a:solidFill>
                  <a:srgbClr val="22627E"/>
                </a:solidFill>
                <a:latin typeface="Calibri"/>
              </a:defRPr>
            </a:pPr>
            <a:r>
              <a:t>Modulo 4: Tokens y Smart Contracts</a:t>
            </a:r>
          </a:p>
        </p:txBody>
      </p:sp>
      <p:sp>
        <p:nvSpPr>
          <p:cNvPr id="5" name="TextBox 4"/>
          <p:cNvSpPr txBox="1"/>
          <p:nvPr/>
        </p:nvSpPr>
        <p:spPr>
          <a:xfrm>
            <a:off x="457200" y="1828800"/>
            <a:ext cx="10972800" cy="2286000"/>
          </a:xfrm>
          <a:prstGeom prst="rect">
            <a:avLst/>
          </a:prstGeom>
          <a:noFill/>
        </p:spPr>
        <p:txBody>
          <a:bodyPr wrap="square"/>
          <a:lstStyle/>
          <a:p>
            <a:pPr algn="l">
              <a:defRPr sz="5400" b="1">
                <a:solidFill>
                  <a:srgbClr val="22627E"/>
                </a:solidFill>
                <a:latin typeface="Calibri"/>
              </a:defRPr>
            </a:pPr>
            <a:r>
              <a:t>Desarrollo de Chaincodes:</a:t>
            </a:r>
            <a:br/>
            <a:r>
              <a:t>Logica de Negocio</a:t>
            </a:r>
          </a:p>
        </p:txBody>
      </p:sp>
      <p:sp>
        <p:nvSpPr>
          <p:cNvPr id="6" name="TextBox 5"/>
          <p:cNvSpPr txBox="1"/>
          <p:nvPr/>
        </p:nvSpPr>
        <p:spPr>
          <a:xfrm>
            <a:off x="457200" y="4114800"/>
            <a:ext cx="10972800" cy="1371600"/>
          </a:xfrm>
          <a:prstGeom prst="rect">
            <a:avLst/>
          </a:prstGeom>
          <a:noFill/>
        </p:spPr>
        <p:txBody>
          <a:bodyPr wrap="square"/>
          <a:lstStyle/>
          <a:p>
            <a:pPr algn="l">
              <a:defRPr sz="2400" b="0">
                <a:solidFill>
                  <a:srgbClr val="333333"/>
                </a:solidFill>
                <a:latin typeface="Calibri"/>
              </a:defRPr>
            </a:pPr>
            <a:r>
              <a:t>Dia 3 - Validaciones, control de acceso, Private Data y eventos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600" b="1">
                <a:solidFill>
                  <a:srgbClr val="FFFFFF"/>
                </a:solidFill>
                <a:latin typeface="Calibri"/>
              </a:defRPr>
            </a:pPr>
            <a:r>
              <a:t>Repaso del dia anterior</a:t>
            </a:r>
          </a:p>
        </p:txBody>
      </p:sp>
      <p:sp>
        <p:nvSpPr>
          <p:cNvPr id="4" name="Rectangle 3"/>
          <p:cNvSpPr/>
          <p:nvPr/>
        </p:nvSpPr>
        <p:spPr>
          <a:xfrm>
            <a:off x="457200" y="1051560"/>
            <a:ext cx="10972800" cy="274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FFFFFF"/>
                </a:solidFill>
                <a:latin typeface="Calibri"/>
              </a:defRPr>
            </a:pPr>
            <a:r>
              <a:t>1. ¿Que operaciones ofrece la Stub API?</a:t>
            </a:r>
          </a:p>
          <a:p>
            <a:pPr>
              <a:spcAft>
                <a:spcPts val="1000"/>
              </a:spcAft>
              <a:defRPr sz="2000">
                <a:solidFill>
                  <a:srgbClr val="FFFFFF"/>
                </a:solidFill>
                <a:latin typeface="Calibri"/>
              </a:defRPr>
            </a:pPr>
            <a:r>
              <a:t>2. ¿Para que sirven las Composite Keys?</a:t>
            </a:r>
          </a:p>
          <a:p>
            <a:pPr>
              <a:spcAft>
                <a:spcPts val="1000"/>
              </a:spcAft>
              <a:defRPr sz="2000">
                <a:solidFill>
                  <a:srgbClr val="FFFFFF"/>
                </a:solidFill>
                <a:latin typeface="Calibri"/>
              </a:defRPr>
            </a:pPr>
            <a:r>
              <a:t>3. ¿Cuando usarias CouchDB en vez de LevelDB?</a:t>
            </a:r>
          </a:p>
          <a:p>
            <a:pPr>
              <a:spcAft>
                <a:spcPts val="1000"/>
              </a:spcAft>
              <a:defRPr sz="2000">
                <a:solidFill>
                  <a:srgbClr val="FFFFFF"/>
                </a:solidFill>
                <a:latin typeface="Calibri"/>
              </a:defRPr>
            </a:pPr>
            <a:r>
              <a:t>4. ¿Que es una rich query?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B45D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74320"/>
            <a:ext cx="3200400" cy="457200"/>
          </a:xfrm>
          <a:prstGeom prst="rect">
            <a:avLst/>
          </a:prstGeom>
          <a:solidFill>
            <a:srgbClr val="B45D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3200400" cy="457200"/>
          </a:xfrm>
          <a:prstGeom prst="rect">
            <a:avLst/>
          </a:prstGeom>
          <a:noFill/>
        </p:spPr>
        <p:txBody>
          <a:bodyPr wrap="square"/>
          <a:lstStyle/>
          <a:p>
            <a:pPr algn="ctr">
              <a:defRPr sz="1800" b="1">
                <a:solidFill>
                  <a:srgbClr val="FFFFFF"/>
                </a:solidFill>
                <a:latin typeface="Calibri"/>
              </a:defRPr>
            </a:pPr>
            <a:r>
              <a:t>TREASURE HUNT</a:t>
            </a:r>
          </a:p>
        </p:txBody>
      </p:sp>
      <p:sp>
        <p:nvSpPr>
          <p:cNvPr id="5" name="TextBox 4"/>
          <p:cNvSpPr txBox="1"/>
          <p:nvPr/>
        </p:nvSpPr>
        <p:spPr>
          <a:xfrm>
            <a:off x="3931920" y="228600"/>
            <a:ext cx="7772400" cy="731520"/>
          </a:xfrm>
          <a:prstGeom prst="rect">
            <a:avLst/>
          </a:prstGeom>
          <a:noFill/>
        </p:spPr>
        <p:txBody>
          <a:bodyPr wrap="square"/>
          <a:lstStyle/>
          <a:p>
            <a:pPr algn="l">
              <a:defRPr sz="2800" b="1">
                <a:solidFill>
                  <a:srgbClr val="333333"/>
                </a:solidFill>
                <a:latin typeface="Calibri"/>
              </a:defRPr>
            </a:pPr>
            <a:r>
              <a:t>Walmart y la trazabilidad alimentaria</a:t>
            </a:r>
          </a:p>
        </p:txBody>
      </p:sp>
      <p:sp>
        <p:nvSpPr>
          <p:cNvPr id="6" name="Rectangle 5"/>
          <p:cNvSpPr/>
          <p:nvPr/>
        </p:nvSpPr>
        <p:spPr>
          <a:xfrm>
            <a:off x="457200" y="1051560"/>
            <a:ext cx="10972800" cy="27432"/>
          </a:xfrm>
          <a:prstGeom prst="rect">
            <a:avLst/>
          </a:prstGeom>
          <a:solidFill>
            <a:srgbClr val="B45D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333333"/>
                </a:solidFill>
                <a:latin typeface="Calibri"/>
              </a:defRPr>
            </a:pPr>
            <a:r>
              <a:t>En 2018, Walmart implemento un sistema de trazabilidad basado en Hyperledger Fabric.</a:t>
            </a:r>
          </a:p>
          <a:p>
            <a:pPr>
              <a:spcAft>
                <a:spcPts val="1000"/>
              </a:spcAft>
              <a:defRPr sz="2000">
                <a:solidFill>
                  <a:srgbClr val="333333"/>
                </a:solidFill>
                <a:latin typeface="Calibri"/>
              </a:defRPr>
            </a:pPr>
            <a:r>
              <a:t>El objetivo: rastrear el origen de productos frescos (especialmente mangos y cerdo).</a:t>
            </a:r>
          </a:p>
          <a:p>
            <a:pPr>
              <a:spcAft>
                <a:spcPts val="1000"/>
              </a:spcAft>
              <a:defRPr sz="2000">
                <a:solidFill>
                  <a:srgbClr val="333333"/>
                </a:solidFill>
                <a:latin typeface="Calibri"/>
              </a:defRPr>
            </a:pPr>
            <a:r>
              <a:t>Antes: rastrear un mango desde la tienda hasta la granja tardaba 7 dias.</a:t>
            </a:r>
          </a:p>
          <a:p>
            <a:pPr>
              <a:spcAft>
                <a:spcPts val="1000"/>
              </a:spcAft>
              <a:defRPr sz="2000">
                <a:solidFill>
                  <a:srgbClr val="333333"/>
                </a:solidFill>
                <a:latin typeface="Calibri"/>
              </a:defRPr>
            </a:pPr>
            <a:r>
              <a:t>Con Fabric: el mismo rastreo tardo 2.2 segundos.</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Mision: Investigar y responder:</a:t>
            </a:r>
          </a:p>
          <a:p>
            <a:pPr>
              <a:spcAft>
                <a:spcPts val="1000"/>
              </a:spcAft>
              <a:defRPr sz="2000">
                <a:solidFill>
                  <a:srgbClr val="333333"/>
                </a:solidFill>
                <a:latin typeface="Calibri"/>
              </a:defRPr>
            </a:pPr>
            <a:r>
              <a:t>  1. ¿Que empresa de tecnologia colaboro con Walmart en este proyecto?</a:t>
            </a:r>
          </a:p>
          <a:p>
            <a:pPr>
              <a:spcAft>
                <a:spcPts val="1000"/>
              </a:spcAft>
              <a:defRPr sz="2000">
                <a:solidFill>
                  <a:srgbClr val="333333"/>
                </a:solidFill>
                <a:latin typeface="Calibri"/>
              </a:defRPr>
            </a:pPr>
            <a:r>
              <a:t>  2. ¿Cuantos proveedores de hoja verde tiene Walmart en este sistema?</a:t>
            </a:r>
          </a:p>
          <a:p>
            <a:pPr>
              <a:spcAft>
                <a:spcPts val="1000"/>
              </a:spcAft>
              <a:defRPr sz="2000">
                <a:solidFill>
                  <a:srgbClr val="333333"/>
                </a:solidFill>
                <a:latin typeface="Calibri"/>
              </a:defRPr>
            </a:pPr>
            <a:r>
              <a:t>  3. ¿Por que eligieron Fabric y no Ethereum para este caso?</a:t>
            </a:r>
          </a:p>
          <a:p>
            <a:pPr>
              <a:spcAft>
                <a:spcPts val="1000"/>
              </a:spcAft>
              <a:defRPr sz="2000">
                <a:solidFill>
                  <a:srgbClr val="333333"/>
                </a:solidFill>
                <a:latin typeface="Calibri"/>
              </a:defRPr>
            </a:pPr>
            <a:r>
              <a:t>  Pista: La empresa colaboradora creo una plataforma que se llamaba 'Food Trust'.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Validaciones en el chaincode</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El chaincode es la ultima linea de defensa antes de escribir en el ledger</a:t>
            </a:r>
          </a:p>
          <a:p>
            <a:pPr>
              <a:spcAft>
                <a:spcPts val="800"/>
              </a:spcAft>
              <a:defRPr sz="2000">
                <a:solidFill>
                  <a:srgbClr val="333333"/>
                </a:solidFill>
                <a:latin typeface="Calibri"/>
              </a:defRPr>
            </a:pPr>
            <a:r>
              <a:t>Toda validacion critica debe estar en el chaincode, no solo en la app cliente</a:t>
            </a:r>
          </a:p>
          <a:p>
            <a:pPr>
              <a:spcAft>
                <a:spcPts val="800"/>
              </a:spcAft>
              <a:defRPr sz="2000">
                <a:solidFill>
                  <a:srgbClr val="333333"/>
                </a:solidFill>
                <a:latin typeface="Calibri"/>
              </a:defRPr>
            </a:pPr>
            <a:r>
              <a:t>Tipos de validaciones:</a:t>
            </a:r>
          </a:p>
          <a:p>
            <a:pPr lvl="1">
              <a:spcAft>
                <a:spcPts val="400"/>
              </a:spcAft>
              <a:defRPr sz="1700">
                <a:solidFill>
                  <a:srgbClr val="666666"/>
                </a:solidFill>
                <a:latin typeface="Calibri"/>
              </a:defRPr>
            </a:pPr>
            <a:r>
              <a:t>    Existencia: ¿el activo existe o no antes de operar?</a:t>
            </a:r>
          </a:p>
          <a:p>
            <a:pPr lvl="1">
              <a:spcAft>
                <a:spcPts val="400"/>
              </a:spcAft>
              <a:defRPr sz="1700">
                <a:solidFill>
                  <a:srgbClr val="666666"/>
                </a:solidFill>
                <a:latin typeface="Calibri"/>
              </a:defRPr>
            </a:pPr>
            <a:r>
              <a:t>    Permisos: ¿quien invoca tiene derecho a hacer esta operacion?</a:t>
            </a:r>
          </a:p>
          <a:p>
            <a:pPr lvl="1">
              <a:spcAft>
                <a:spcPts val="400"/>
              </a:spcAft>
              <a:defRPr sz="1700">
                <a:solidFill>
                  <a:srgbClr val="666666"/>
                </a:solidFill>
                <a:latin typeface="Calibri"/>
              </a:defRPr>
            </a:pPr>
            <a:r>
              <a:t>    Estado: ¿el activo esta en un estado valido para esta transicion?</a:t>
            </a:r>
          </a:p>
          <a:p>
            <a:pPr lvl="1">
              <a:spcAft>
                <a:spcPts val="400"/>
              </a:spcAft>
              <a:defRPr sz="1700">
                <a:solidFill>
                  <a:srgbClr val="666666"/>
                </a:solidFill>
                <a:latin typeface="Calibri"/>
              </a:defRPr>
            </a:pPr>
            <a:r>
              <a:t>    Formato: ¿los datos de entrada son validos (tipos, rangos, longitud)?</a:t>
            </a:r>
          </a:p>
          <a:p>
            <a:pPr lvl="1">
              <a:spcAft>
                <a:spcPts val="400"/>
              </a:spcAft>
              <a:defRPr sz="1700">
                <a:solidFill>
                  <a:srgbClr val="666666"/>
                </a:solidFill>
                <a:latin typeface="Calibri"/>
              </a:defRPr>
            </a:pPr>
            <a:r>
              <a:t>    Reglas de negocio: ¿se cumplen las condiciones de la logica de negocio?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Control de acceso: GetClientIdentity</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Cada invocacion lleva la identidad X.509 del cliente</a:t>
            </a:r>
          </a:p>
          <a:p>
            <a:pPr>
              <a:spcAft>
                <a:spcPts val="800"/>
              </a:spcAft>
              <a:defRPr sz="2000">
                <a:solidFill>
                  <a:srgbClr val="333333"/>
                </a:solidFill>
                <a:latin typeface="Calibri"/>
              </a:defRPr>
            </a:pPr>
            <a:r>
              <a:t>ctx.GetClientIdentity() expone:</a:t>
            </a:r>
          </a:p>
          <a:p>
            <a:pPr lvl="1">
              <a:spcAft>
                <a:spcPts val="400"/>
              </a:spcAft>
              <a:defRPr sz="1700">
                <a:solidFill>
                  <a:srgbClr val="666666"/>
                </a:solidFill>
                <a:latin typeface="Calibri"/>
              </a:defRPr>
            </a:pPr>
            <a:r>
              <a:t>    GetID() - identidad completa (CN + emisor del cert)</a:t>
            </a:r>
          </a:p>
          <a:p>
            <a:pPr lvl="1">
              <a:spcAft>
                <a:spcPts val="400"/>
              </a:spcAft>
              <a:defRPr sz="1700">
                <a:solidFill>
                  <a:srgbClr val="666666"/>
                </a:solidFill>
                <a:latin typeface="Calibri"/>
              </a:defRPr>
            </a:pPr>
            <a:r>
              <a:t>    GetMSPID() - organizacion a la que pertenece (Org1MSP, Org2MSP...)</a:t>
            </a:r>
          </a:p>
          <a:p>
            <a:pPr lvl="1">
              <a:spcAft>
                <a:spcPts val="400"/>
              </a:spcAft>
              <a:defRPr sz="1700">
                <a:solidFill>
                  <a:srgbClr val="666666"/>
                </a:solidFill>
                <a:latin typeface="Calibri"/>
              </a:defRPr>
            </a:pPr>
            <a:r>
              <a:t>    GetAttributeValue(attrName) - atributos custom del cert X.509</a:t>
            </a:r>
          </a:p>
          <a:p>
            <a:pPr lvl="1">
              <a:spcAft>
                <a:spcPts val="400"/>
              </a:spcAft>
              <a:defRPr sz="1700">
                <a:solidFill>
                  <a:srgbClr val="666666"/>
                </a:solidFill>
                <a:latin typeface="Calibri"/>
              </a:defRPr>
            </a:pPr>
            <a:r>
              <a:t>    AssertAttributeValue(attrName, value) - verificar atributo directamente</a:t>
            </a:r>
          </a:p>
          <a:p>
            <a:pPr>
              <a:spcAft>
                <a:spcPts val="800"/>
              </a:spcAft>
              <a:defRPr sz="2000">
                <a:solidFill>
                  <a:srgbClr val="333333"/>
                </a:solidFill>
                <a:latin typeface="Calibri"/>
              </a:defRPr>
            </a:pPr>
            <a:r>
              <a:t>Patron comun: verificar MSPID al inicio de cada funcion</a:t>
            </a:r>
          </a:p>
          <a:p>
            <a:pPr>
              <a:spcAft>
                <a:spcPts val="800"/>
              </a:spcAft>
              <a:defRPr sz="2000">
                <a:solidFill>
                  <a:srgbClr val="333333"/>
                </a:solidFill>
                <a:latin typeface="Calibri"/>
              </a:defRPr>
            </a:pPr>
            <a:r>
              <a:t>Mas granular: verificar atributos custom del certificado (ABAC)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Control de acceso por organizacion</a:t>
            </a:r>
          </a:p>
        </p:txBody>
      </p:sp>
      <p:sp>
        <p:nvSpPr>
          <p:cNvPr id="4" name="TextBox 3"/>
          <p:cNvSpPr txBox="1"/>
          <p:nvPr/>
        </p:nvSpPr>
        <p:spPr>
          <a:xfrm>
            <a:off x="457200" y="868680"/>
            <a:ext cx="9144000" cy="365760"/>
          </a:xfrm>
          <a:prstGeom prst="rect">
            <a:avLst/>
          </a:prstGeom>
          <a:noFill/>
        </p:spPr>
        <p:txBody>
          <a:bodyPr wrap="square"/>
          <a:lstStyle/>
          <a:p>
            <a:pPr algn="l">
              <a:defRPr sz="1600" b="0">
                <a:solidFill>
                  <a:srgbClr val="333333"/>
                </a:solidFill>
                <a:latin typeface="Calibri"/>
              </a:defRPr>
            </a:pPr>
            <a:r>
              <a:t>Verificar MSPID y estado antes de operar</a:t>
            </a:r>
          </a:p>
        </p:txBody>
      </p:sp>
      <p:sp>
        <p:nvSpPr>
          <p:cNvPr id="5" name="Rectangle 4"/>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7" name="Rectangle 6"/>
          <p:cNvSpPr/>
          <p:nvPr/>
        </p:nvSpPr>
        <p:spPr>
          <a:xfrm>
            <a:off x="457200" y="141732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00200"/>
            <a:ext cx="10698480" cy="4754880"/>
          </a:xfrm>
          <a:prstGeom prst="rect">
            <a:avLst/>
          </a:prstGeom>
          <a:noFill/>
        </p:spPr>
        <p:txBody>
          <a:bodyPr wrap="square"/>
          <a:lstStyle/>
          <a:p>
            <a:br/>
            <a:pPr algn="l">
              <a:defRPr sz="1500" b="0">
                <a:solidFill>
                  <a:srgbClr val="D4D4D4"/>
                </a:solidFill>
                <a:latin typeface="Consolas"/>
              </a:defRPr>
            </a:pPr>
            <a:r>
              <a:t>func (s *SmartContract) TransferProperty(ctx contractapi.TransactionContextInterface,</a:t>
            </a:r>
            <a:br/>
            <a:r>
              <a:t>    id string, newOwner string) error {</a:t>
            </a:r>
            <a:br/>
            <a:br/>
            <a:r>
              <a:t>    // Leer propiedad</a:t>
            </a:r>
            <a:br/>
            <a:r>
              <a:t>    property, err := s.ReadProperty(ctx, id)</a:t>
            </a:r>
            <a:br/>
            <a:r>
              <a:t>    if err != nil {</a:t>
            </a:r>
            <a:br/>
            <a:r>
              <a:t>        return err</a:t>
            </a:r>
            <a:br/>
            <a:r>
              <a:t>    }</a:t>
            </a:r>
            <a:br/>
            <a:br/>
            <a:r>
              <a:t>    // Verificar: solo el propietario actual puede transferir</a:t>
            </a:r>
            <a:br/>
            <a:r>
              <a:t>    clientMSP, _ := ctx.GetClientIdentity().GetMSPID()</a:t>
            </a:r>
            <a:br/>
            <a:r>
              <a:t>    if property.Owner != clientMSP {</a:t>
            </a:r>
            <a:br/>
            <a:r>
              <a:t>        return fmt.Errorf("solo el propietario actual (%s) puede transferir",</a:t>
            </a:r>
            <a:br/>
            <a:r>
              <a:t>            property.Owner)</a:t>
            </a:r>
            <a:br/>
            <a:r>
              <a:t>    }</a:t>
            </a:r>
            <a:br/>
            <a:br/>
            <a:r>
              <a:t>    // Verificar: la propiedad debe estar en estado 'active'</a:t>
            </a:r>
            <a:br/>
            <a:r>
              <a:t>    if property.Status != "active" {</a:t>
            </a:r>
            <a:br/>
            <a:r>
              <a:t>        return fmt.Errorf("la propiedad esta en estado '%s', no se puede transferir",</a:t>
            </a:r>
            <a:br/>
            <a:r>
              <a:t>            property.Status)</a:t>
            </a:r>
            <a:br/>
            <a:r>
              <a:t>    }</a:t>
            </a:r>
            <a:br/>
            <a:br/>
            <a:r>
              <a:t>    // Transferir</a:t>
            </a:r>
            <a:br/>
            <a:r>
              <a:t>    property.Owner = newOwner</a:t>
            </a:r>
            <a:br/>
            <a:r>
              <a:t>    property.Status = "active"</a:t>
            </a:r>
            <a:br/>
            <a:r>
              <a:t>    propertyJSON, _ := json.Marshal(property)</a:t>
            </a:r>
            <a:br/>
            <a:r>
              <a:t>    return ctx.GetStub().PutState(id, propertyJSON)</a:t>
            </a:r>
            <a:br/>
            <a: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Control de acceso por atributo (ABAC)</a:t>
            </a:r>
          </a:p>
        </p:txBody>
      </p:sp>
      <p:sp>
        <p:nvSpPr>
          <p:cNvPr id="4" name="TextBox 3"/>
          <p:cNvSpPr txBox="1"/>
          <p:nvPr/>
        </p:nvSpPr>
        <p:spPr>
          <a:xfrm>
            <a:off x="457200" y="868680"/>
            <a:ext cx="9144000" cy="365760"/>
          </a:xfrm>
          <a:prstGeom prst="rect">
            <a:avLst/>
          </a:prstGeom>
          <a:noFill/>
        </p:spPr>
        <p:txBody>
          <a:bodyPr wrap="square"/>
          <a:lstStyle/>
          <a:p>
            <a:pPr algn="l">
              <a:defRPr sz="1600" b="0">
                <a:solidFill>
                  <a:srgbClr val="333333"/>
                </a:solidFill>
                <a:latin typeface="Calibri"/>
              </a:defRPr>
            </a:pPr>
            <a:r>
              <a:t>Atributos custom en certificados X.509</a:t>
            </a:r>
          </a:p>
        </p:txBody>
      </p:sp>
      <p:sp>
        <p:nvSpPr>
          <p:cNvPr id="5" name="Rectangle 4"/>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7" name="Rectangle 6"/>
          <p:cNvSpPr/>
          <p:nvPr/>
        </p:nvSpPr>
        <p:spPr>
          <a:xfrm>
            <a:off x="457200" y="141732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00200"/>
            <a:ext cx="10698480" cy="4754880"/>
          </a:xfrm>
          <a:prstGeom prst="rect">
            <a:avLst/>
          </a:prstGeom>
          <a:noFill/>
        </p:spPr>
        <p:txBody>
          <a:bodyPr wrap="square"/>
          <a:lstStyle/>
          <a:p>
            <a:br/>
            <a:pPr algn="l">
              <a:defRPr sz="1500" b="0">
                <a:solidFill>
                  <a:srgbClr val="D4D4D4"/>
                </a:solidFill>
                <a:latin typeface="Consolas"/>
              </a:defRPr>
            </a:pPr>
            <a:r>
              <a:t>// Solo un usuario con rol "registrador" puede registrar propiedades</a:t>
            </a:r>
            <a:br/>
            <a:r>
              <a:t>func (s *SmartContract) RegisterProperty(ctx contractapi.TransactionContextInterface,</a:t>
            </a:r>
            <a:br/>
            <a:r>
              <a:t>    id string, address string, owner string) error {</a:t>
            </a:r>
            <a:br/>
            <a:br/>
            <a:r>
              <a:t>    // Verificar atributo "role" en el certificado X.509</a:t>
            </a:r>
            <a:br/>
            <a:r>
              <a:t>    err := ctx.GetClientIdentity().AssertAttributeValue("role", "registrador")</a:t>
            </a:r>
            <a:br/>
            <a:r>
              <a:t>    if err != nil {</a:t>
            </a:r>
            <a:br/>
            <a:r>
              <a:t>        return fmt.Errorf("solo registradores pueden crear propiedades: %v", err)</a:t>
            </a:r>
            <a:br/>
            <a:r>
              <a:t>    }</a:t>
            </a:r>
            <a:br/>
            <a:br/>
            <a:r>
              <a:t>    // El atributo se anade al certificado durante el enrollment con Fabric CA:</a:t>
            </a:r>
            <a:br/>
            <a:r>
              <a:t>    //   fabric-ca-client enroll ... --enrollment.attrs "role=registrador"</a:t>
            </a:r>
            <a:br/>
            <a:br/>
            <a:r>
              <a:t>    property := Property{</a:t>
            </a:r>
            <a:br/>
            <a:r>
              <a:t>        DocType: "property", ID: id, Address: address,</a:t>
            </a:r>
            <a:br/>
            <a:r>
              <a:t>        Owner: owner, Status: "active",</a:t>
            </a:r>
            <a:br/>
            <a:r>
              <a:t>    }</a:t>
            </a:r>
            <a:br/>
            <a:r>
              <a:t>    propertyJSON, _ := json.Marshal(property)</a:t>
            </a:r>
            <a:br/>
            <a:r>
              <a:t>    return ctx.GetStub().PutState(id, propertyJSON)</a:t>
            </a:r>
            <a:br/>
            <a: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Logica de negocio: maquina de estados</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Muchos activos del mundo real siguen un ciclo de vida con estados</a:t>
            </a:r>
          </a:p>
          <a:p>
            <a:pPr>
              <a:spcAft>
                <a:spcPts val="800"/>
              </a:spcAft>
              <a:defRPr sz="2000">
                <a:solidFill>
                  <a:srgbClr val="333333"/>
                </a:solidFill>
                <a:latin typeface="Calibri"/>
              </a:defRPr>
            </a:pPr>
            <a:r>
              <a:t>El chaincode debe validar que las transiciones son correctas</a:t>
            </a:r>
          </a:p>
          <a:p>
            <a:pPr>
              <a:spcAft>
                <a:spcPts val="800"/>
              </a:spcAft>
              <a:defRPr sz="2000">
                <a:solidFill>
                  <a:srgbClr val="333333"/>
                </a:solidFill>
                <a:latin typeface="Calibri"/>
              </a:defRPr>
            </a:pPr>
            <a:r>
              <a:t>Ejemplo: estados de una propiedad inmobiliaria</a:t>
            </a:r>
          </a:p>
          <a:p>
            <a:pPr lvl="1">
              <a:spcAft>
                <a:spcPts val="400"/>
              </a:spcAft>
              <a:defRPr sz="1700">
                <a:solidFill>
                  <a:srgbClr val="666666"/>
                </a:solidFill>
                <a:latin typeface="Calibri"/>
              </a:defRPr>
            </a:pPr>
            <a:r>
              <a:t>    active -&gt; transferring (propietario inicia transferencia)</a:t>
            </a:r>
          </a:p>
          <a:p>
            <a:pPr lvl="1">
              <a:spcAft>
                <a:spcPts val="400"/>
              </a:spcAft>
              <a:defRPr sz="1700">
                <a:solidFill>
                  <a:srgbClr val="666666"/>
                </a:solidFill>
                <a:latin typeface="Calibri"/>
              </a:defRPr>
            </a:pPr>
            <a:r>
              <a:t>    transferring -&gt; active (registrador confirma la transferencia)</a:t>
            </a:r>
          </a:p>
          <a:p>
            <a:pPr lvl="1">
              <a:spcAft>
                <a:spcPts val="400"/>
              </a:spcAft>
              <a:defRPr sz="1700">
                <a:solidFill>
                  <a:srgbClr val="666666"/>
                </a:solidFill>
                <a:latin typeface="Calibri"/>
              </a:defRPr>
            </a:pPr>
            <a:r>
              <a:t>    transferring -&gt; active (propietario cancela la transferencia)</a:t>
            </a:r>
          </a:p>
          <a:p>
            <a:pPr lvl="1">
              <a:spcAft>
                <a:spcPts val="400"/>
              </a:spcAft>
              <a:defRPr sz="1700">
                <a:solidFill>
                  <a:srgbClr val="666666"/>
                </a:solidFill>
                <a:latin typeface="Calibri"/>
              </a:defRPr>
            </a:pPr>
            <a:r>
              <a:t>    active -&gt; blocked (autoridad judicial bloquea)</a:t>
            </a:r>
          </a:p>
          <a:p>
            <a:pPr lvl="1">
              <a:spcAft>
                <a:spcPts val="400"/>
              </a:spcAft>
              <a:defRPr sz="1700">
                <a:solidFill>
                  <a:srgbClr val="666666"/>
                </a:solidFill>
                <a:latin typeface="Calibri"/>
              </a:defRPr>
            </a:pPr>
            <a:r>
              <a:t>    blocked -&gt; active (autoridad judicial desbloquea)</a:t>
            </a:r>
          </a:p>
          <a:p>
            <a:pPr>
              <a:spcAft>
                <a:spcPts val="800"/>
              </a:spcAft>
              <a:defRPr sz="2000">
                <a:solidFill>
                  <a:srgbClr val="333333"/>
                </a:solidFill>
                <a:latin typeface="Calibri"/>
              </a:defRPr>
            </a:pPr>
            <a:r>
              <a:t>Cada transicion requiere permisos distintos:</a:t>
            </a:r>
          </a:p>
          <a:p>
            <a:pPr lvl="1">
              <a:spcAft>
                <a:spcPts val="400"/>
              </a:spcAft>
              <a:defRPr sz="1700">
                <a:solidFill>
                  <a:srgbClr val="666666"/>
                </a:solidFill>
                <a:latin typeface="Calibri"/>
              </a:defRPr>
            </a:pPr>
            <a:r>
              <a:t>    active -&gt; transferring: requiere Owner</a:t>
            </a:r>
          </a:p>
          <a:p>
            <a:pPr lvl="1">
              <a:spcAft>
                <a:spcPts val="400"/>
              </a:spcAft>
              <a:defRPr sz="1700">
                <a:solidFill>
                  <a:srgbClr val="666666"/>
                </a:solidFill>
                <a:latin typeface="Calibri"/>
              </a:defRPr>
            </a:pPr>
            <a:r>
              <a:t>    transferring -&gt; active (confirmar): requiere role=registrador</a:t>
            </a:r>
          </a:p>
          <a:p>
            <a:pPr lvl="1">
              <a:spcAft>
                <a:spcPts val="400"/>
              </a:spcAft>
              <a:defRPr sz="1700">
                <a:solidFill>
                  <a:srgbClr val="666666"/>
                </a:solidFill>
                <a:latin typeface="Calibri"/>
              </a:defRPr>
            </a:pPr>
            <a:r>
              <a:t>    active -&gt; blocked: requiere role=autoridad_judicial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Diagrama: estados de una propiedad</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71600" y="1371600"/>
            <a:ext cx="9418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2286000"/>
            <a:ext cx="8503920" cy="1371600"/>
          </a:xfrm>
          <a:prstGeom prst="rect">
            <a:avLst/>
          </a:prstGeom>
          <a:noFill/>
        </p:spPr>
        <p:txBody>
          <a:bodyPr wrap="square"/>
          <a:lstStyle/>
          <a:p>
            <a:pPr algn="ctr">
              <a:defRPr sz="2400" b="0">
                <a:solidFill>
                  <a:srgbClr val="999999"/>
                </a:solidFill>
                <a:latin typeface="Calibri"/>
              </a:defRPr>
            </a:pPr>
            <a:r>
              <a:t>[Diagrama de estados: active &lt;-&gt; transferring, active &lt;-&gt; blocked]</a:t>
            </a:r>
          </a:p>
        </p:txBody>
      </p:sp>
      <p:sp>
        <p:nvSpPr>
          <p:cNvPr id="7" name="Rectangle 6"/>
          <p:cNvSpPr/>
          <p:nvPr/>
        </p:nvSpPr>
        <p:spPr>
          <a:xfrm>
            <a:off x="1371600" y="3840480"/>
            <a:ext cx="9418320"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3840480"/>
            <a:ext cx="9418320" cy="320040"/>
          </a:xfrm>
          <a:prstGeom prst="rect">
            <a:avLst/>
          </a:prstGeom>
          <a:noFill/>
        </p:spPr>
        <p:txBody>
          <a:bodyPr wrap="square"/>
          <a:lstStyle/>
          <a:p>
            <a:pPr algn="ctr">
              <a:defRPr sz="1300" b="1">
                <a:solidFill>
                  <a:srgbClr val="FFFFFF"/>
                </a:solidFill>
                <a:latin typeface="Calibri"/>
              </a:defRPr>
            </a:pPr>
            <a:r>
              <a:t>Prompt para IA generativa:</a:t>
            </a:r>
          </a:p>
        </p:txBody>
      </p:sp>
      <p:sp>
        <p:nvSpPr>
          <p:cNvPr id="9" name="TextBox 8"/>
          <p:cNvSpPr txBox="1"/>
          <p:nvPr/>
        </p:nvSpPr>
        <p:spPr>
          <a:xfrm>
            <a:off x="1645920" y="4297680"/>
            <a:ext cx="8869680" cy="914400"/>
          </a:xfrm>
          <a:prstGeom prst="rect">
            <a:avLst/>
          </a:prstGeom>
          <a:noFill/>
        </p:spPr>
        <p:txBody>
          <a:bodyPr wrap="square"/>
          <a:lstStyle/>
          <a:p>
            <a:pPr algn="l">
              <a:defRPr sz="1400" b="0">
                <a:solidFill>
                  <a:srgbClr val="7C3AED"/>
                </a:solidFill>
                <a:latin typeface="Consolas"/>
              </a:defRPr>
            </a:pPr>
            <a:r>
              <a:t>State machine diagram for a property asset: three states (active in green, transferring in yellow, blocked in red) connected by labeled arrows showing transitions and required roles. Clean flat design, teal and white color scheme, clear labels on each transition.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Maquina de estados en codigo</a:t>
            </a:r>
          </a:p>
        </p:txBody>
      </p:sp>
      <p:sp>
        <p:nvSpPr>
          <p:cNvPr id="4" name="Rectangle 3"/>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6" name="Rectangle 5"/>
          <p:cNvSpPr/>
          <p:nvPr/>
        </p:nvSpPr>
        <p:spPr>
          <a:xfrm>
            <a:off x="457200" y="123444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10698480" cy="4754880"/>
          </a:xfrm>
          <a:prstGeom prst="rect">
            <a:avLst/>
          </a:prstGeom>
          <a:noFill/>
        </p:spPr>
        <p:txBody>
          <a:bodyPr wrap="square"/>
          <a:lstStyle/>
          <a:p>
            <a:br/>
            <a:pPr algn="l">
              <a:defRPr sz="1500" b="0">
                <a:solidFill>
                  <a:srgbClr val="D4D4D4"/>
                </a:solidFill>
                <a:latin typeface="Consolas"/>
              </a:defRPr>
            </a:pPr>
            <a:r>
              <a:t>// Mapa de transiciones validas</a:t>
            </a:r>
            <a:br/>
            <a:r>
              <a:t>var validTransitions = map[string][]string{</a:t>
            </a:r>
            <a:br/>
            <a:r>
              <a:t>    "active":       {"transferring", "blocked"},</a:t>
            </a:r>
            <a:br/>
            <a:r>
              <a:t>    "transferring": {"active"},</a:t>
            </a:r>
            <a:br/>
            <a:r>
              <a:t>    "blocked":      {"active"},</a:t>
            </a:r>
            <a:br/>
            <a:r>
              <a:t>}</a:t>
            </a:r>
            <a:br/>
            <a:br/>
            <a:r>
              <a:t>func isValidTransition(currentStatus, newStatus string) bool {</a:t>
            </a:r>
            <a:br/>
            <a:r>
              <a:t>    allowed, exists := validTransitions[currentStatus]</a:t>
            </a:r>
            <a:br/>
            <a:r>
              <a:t>    if !exists {</a:t>
            </a:r>
            <a:br/>
            <a:r>
              <a:t>        return false</a:t>
            </a:r>
            <a:br/>
            <a:r>
              <a:t>    }</a:t>
            </a:r>
            <a:br/>
            <a:r>
              <a:t>    for _, s := range allowed {</a:t>
            </a:r>
            <a:br/>
            <a:r>
              <a:t>        if s == newStatus {</a:t>
            </a:r>
            <a:br/>
            <a:r>
              <a:t>            return true</a:t>
            </a:r>
            <a:br/>
            <a:r>
              <a:t>        }</a:t>
            </a:r>
            <a:br/>
            <a:r>
              <a:t>    }</a:t>
            </a:r>
            <a:br/>
            <a:r>
              <a:t>    return false</a:t>
            </a:r>
            <a:br/>
            <a:r>
              <a:t>}</a:t>
            </a:r>
            <a:br/>
            <a:br/>
            <a:r>
              <a:t>// Uso en una funcion del chaincode:</a:t>
            </a:r>
            <a:br/>
            <a:r>
              <a:t>if !isValidTransition(property.Status, newStatus) {</a:t>
            </a:r>
            <a:br/>
            <a:r>
              <a:t>    return fmt.Errorf("transicion no permitida: %s -&gt; %s",</a:t>
            </a:r>
            <a:br/>
            <a:r>
              <a:t>        property.Status, newStatus)</a:t>
            </a:r>
            <a:br/>
            <a: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1828800"/>
          </a:xfrm>
          <a:prstGeom prst="rect">
            <a:avLst/>
          </a:prstGeom>
          <a:noFill/>
        </p:spPr>
        <p:txBody>
          <a:bodyPr wrap="square"/>
          <a:lstStyle/>
          <a:p>
            <a:pPr algn="l">
              <a:defRPr sz="4800" b="1">
                <a:solidFill>
                  <a:srgbClr val="FFFFFF"/>
                </a:solidFill>
                <a:latin typeface="Calibri"/>
              </a:defRPr>
            </a:pPr>
            <a:r>
              <a:t>Private Data Collections</a:t>
            </a:r>
          </a:p>
        </p:txBody>
      </p:sp>
      <p:sp>
        <p:nvSpPr>
          <p:cNvPr id="4" name="TextBox 3"/>
          <p:cNvSpPr txBox="1"/>
          <p:nvPr/>
        </p:nvSpPr>
        <p:spPr>
          <a:xfrm>
            <a:off x="914400" y="4114800"/>
            <a:ext cx="10058400" cy="1371600"/>
          </a:xfrm>
          <a:prstGeom prst="rect">
            <a:avLst/>
          </a:prstGeom>
          <a:noFill/>
        </p:spPr>
        <p:txBody>
          <a:bodyPr wrap="square"/>
          <a:lstStyle/>
          <a:p>
            <a:pPr algn="l">
              <a:defRPr sz="2400" b="0">
                <a:solidFill>
                  <a:srgbClr val="FFFFFF"/>
                </a:solidFill>
                <a:latin typeface="Calibri"/>
              </a:defRPr>
            </a:pPr>
            <a:r>
              <a:t>Datos confidenciales entre subconjuntos de organizaciones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Private Data Collections: concepto</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No todos los datos deben ser visibles para todas las organizaciones del canal</a:t>
            </a:r>
          </a:p>
          <a:p>
            <a:pPr>
              <a:spcAft>
                <a:spcPts val="800"/>
              </a:spcAft>
              <a:defRPr sz="2000">
                <a:solidFill>
                  <a:srgbClr val="333333"/>
                </a:solidFill>
                <a:latin typeface="Calibri"/>
              </a:defRPr>
            </a:pPr>
            <a:r>
              <a:t>Private Data Collections permiten compartir datos solo entre orgs seleccionadas</a:t>
            </a:r>
          </a:p>
          <a:p>
            <a:pPr>
              <a:spcAft>
                <a:spcPts val="800"/>
              </a:spcAft>
              <a:defRPr sz="2000">
                <a:solidFill>
                  <a:srgbClr val="333333"/>
                </a:solidFill>
                <a:latin typeface="Calibri"/>
              </a:defRPr>
            </a:pPr>
            <a:r>
              <a:t>En el ledger publico solo se guarda un hash de los datos privados</a:t>
            </a:r>
          </a:p>
          <a:p>
            <a:pPr>
              <a:spcAft>
                <a:spcPts val="800"/>
              </a:spcAft>
              <a:defRPr sz="2000">
                <a:solidFill>
                  <a:srgbClr val="333333"/>
                </a:solidFill>
                <a:latin typeface="Calibri"/>
              </a:defRPr>
            </a:pPr>
            <a:r>
              <a:t>Los datos reales se almacenan en una base de datos privada en los peers autorizados</a:t>
            </a:r>
          </a:p>
          <a:p>
            <a:pPr>
              <a:spcAft>
                <a:spcPts val="800"/>
              </a:spcAft>
              <a:defRPr sz="2000">
                <a:solidFill>
                  <a:srgbClr val="333333"/>
                </a:solidFill>
                <a:latin typeface="Calibri"/>
              </a:defRPr>
            </a:pPr>
            <a:r>
              <a:t>Ejemplo: en una transferencia de propiedad,</a:t>
            </a:r>
          </a:p>
          <a:p>
            <a:pPr lvl="1">
              <a:spcAft>
                <a:spcPts val="400"/>
              </a:spcAft>
              <a:defRPr sz="1700">
                <a:solidFill>
                  <a:srgbClr val="666666"/>
                </a:solidFill>
                <a:latin typeface="Calibri"/>
              </a:defRPr>
            </a:pPr>
            <a:r>
              <a:t>    El precio de venta solo lo ven comprador y vendedor</a:t>
            </a:r>
          </a:p>
          <a:p>
            <a:pPr lvl="1">
              <a:spcAft>
                <a:spcPts val="400"/>
              </a:spcAft>
              <a:defRPr sz="1700">
                <a:solidFill>
                  <a:srgbClr val="666666"/>
                </a:solidFill>
                <a:latin typeface="Calibri"/>
              </a:defRPr>
            </a:pPr>
            <a:r>
              <a:t>    El resto de organizaciones ven que hubo una transferencia, pero no el precio</a:t>
            </a:r>
          </a:p>
          <a:p>
            <a:pPr lvl="1">
              <a:spcAft>
                <a:spcPts val="400"/>
              </a:spcAft>
              <a:defRPr sz="1700">
                <a:solidFill>
                  <a:srgbClr val="666666"/>
                </a:solidFill>
                <a:latin typeface="Calibri"/>
              </a:defRPr>
            </a:pPr>
            <a:r>
              <a:t>    El hash en el ledger publico garantiza la integridad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Private Data: configuracion</a:t>
            </a:r>
          </a:p>
        </p:txBody>
      </p:sp>
      <p:sp>
        <p:nvSpPr>
          <p:cNvPr id="4" name="TextBox 3"/>
          <p:cNvSpPr txBox="1"/>
          <p:nvPr/>
        </p:nvSpPr>
        <p:spPr>
          <a:xfrm>
            <a:off x="457200" y="868680"/>
            <a:ext cx="9144000" cy="365760"/>
          </a:xfrm>
          <a:prstGeom prst="rect">
            <a:avLst/>
          </a:prstGeom>
          <a:noFill/>
        </p:spPr>
        <p:txBody>
          <a:bodyPr wrap="square"/>
          <a:lstStyle/>
          <a:p>
            <a:pPr algn="l">
              <a:defRPr sz="1600" b="0">
                <a:solidFill>
                  <a:srgbClr val="333333"/>
                </a:solidFill>
                <a:latin typeface="Calibri"/>
              </a:defRPr>
            </a:pPr>
            <a:r>
              <a:t>Definir quien puede leer/escribir cada coleccion</a:t>
            </a:r>
          </a:p>
        </p:txBody>
      </p:sp>
      <p:sp>
        <p:nvSpPr>
          <p:cNvPr id="5" name="Rectangle 4"/>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JSON</a:t>
            </a:r>
          </a:p>
        </p:txBody>
      </p:sp>
      <p:sp>
        <p:nvSpPr>
          <p:cNvPr id="7" name="Rectangle 6"/>
          <p:cNvSpPr/>
          <p:nvPr/>
        </p:nvSpPr>
        <p:spPr>
          <a:xfrm>
            <a:off x="457200" y="141732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00200"/>
            <a:ext cx="10698480" cy="4754880"/>
          </a:xfrm>
          <a:prstGeom prst="rect">
            <a:avLst/>
          </a:prstGeom>
          <a:noFill/>
        </p:spPr>
        <p:txBody>
          <a:bodyPr wrap="square"/>
          <a:lstStyle/>
          <a:p>
            <a:br/>
            <a:pPr algn="l">
              <a:defRPr sz="1500" b="0">
                <a:solidFill>
                  <a:srgbClr val="D4D4D4"/>
                </a:solidFill>
                <a:latin typeface="Consolas"/>
              </a:defRPr>
            </a:pPr>
            <a:r>
              <a:t>// collections_config.json - se pasa al desplegar el chaincode</a:t>
            </a:r>
            <a:br/>
            <a:r>
              <a:t>[</a:t>
            </a:r>
            <a:br/>
            <a:r>
              <a:t>    {</a:t>
            </a:r>
            <a:br/>
            <a:r>
              <a:t>        "name": "privatePropertyDetails",</a:t>
            </a:r>
            <a:br/>
            <a:r>
              <a:t>        "policy": "OR('Org1MSP.member', 'Org2MSP.member')",</a:t>
            </a:r>
            <a:br/>
            <a:r>
              <a:t>        "requiredPeerCount": 1,</a:t>
            </a:r>
            <a:br/>
            <a:r>
              <a:t>        "maxPeerCount": 2,</a:t>
            </a:r>
            <a:br/>
            <a:r>
              <a:t>        "blockToLive": 0,</a:t>
            </a:r>
            <a:br/>
            <a:r>
              <a:t>        "memberOnlyRead": true,</a:t>
            </a:r>
            <a:br/>
            <a:r>
              <a:t>        "memberOnlyWrite": true</a:t>
            </a:r>
            <a:br/>
            <a:r>
              <a:t>    },</a:t>
            </a:r>
            <a:br/>
            <a:r>
              <a:t>    {</a:t>
            </a:r>
            <a:br/>
            <a:r>
              <a:t>        "name": "priceAgreement",</a:t>
            </a:r>
            <a:br/>
            <a:r>
              <a:t>        "policy": "AND('Org1MSP.member', 'Org2MSP.member')",</a:t>
            </a:r>
            <a:br/>
            <a:r>
              <a:t>        "requiredPeerCount": 1,</a:t>
            </a:r>
            <a:br/>
            <a:r>
              <a:t>        "maxPeerCount": 2,</a:t>
            </a:r>
            <a:br/>
            <a:r>
              <a:t>        "blockToLive": 100,</a:t>
            </a:r>
            <a:br/>
            <a:r>
              <a:t>        "memberOnlyRead": true</a:t>
            </a:r>
            <a:br/>
            <a:r>
              <a:t>    }</a:t>
            </a:r>
            <a:b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Private Data: leer y escribir</a:t>
            </a:r>
          </a:p>
        </p:txBody>
      </p:sp>
      <p:sp>
        <p:nvSpPr>
          <p:cNvPr id="4" name="TextBox 3"/>
          <p:cNvSpPr txBox="1"/>
          <p:nvPr/>
        </p:nvSpPr>
        <p:spPr>
          <a:xfrm>
            <a:off x="457200" y="868680"/>
            <a:ext cx="9144000" cy="365760"/>
          </a:xfrm>
          <a:prstGeom prst="rect">
            <a:avLst/>
          </a:prstGeom>
          <a:noFill/>
        </p:spPr>
        <p:txBody>
          <a:bodyPr wrap="square"/>
          <a:lstStyle/>
          <a:p>
            <a:pPr algn="l">
              <a:defRPr sz="1600" b="0">
                <a:solidFill>
                  <a:srgbClr val="333333"/>
                </a:solidFill>
                <a:latin typeface="Calibri"/>
              </a:defRPr>
            </a:pPr>
            <a:r>
              <a:t>Transient data + PutPrivateData / GetPrivateData</a:t>
            </a:r>
          </a:p>
        </p:txBody>
      </p:sp>
      <p:sp>
        <p:nvSpPr>
          <p:cNvPr id="5" name="Rectangle 4"/>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7" name="Rectangle 6"/>
          <p:cNvSpPr/>
          <p:nvPr/>
        </p:nvSpPr>
        <p:spPr>
          <a:xfrm>
            <a:off x="457200" y="141732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00200"/>
            <a:ext cx="10698480" cy="4754880"/>
          </a:xfrm>
          <a:prstGeom prst="rect">
            <a:avLst/>
          </a:prstGeom>
          <a:noFill/>
        </p:spPr>
        <p:txBody>
          <a:bodyPr wrap="square"/>
          <a:lstStyle/>
          <a:p>
            <a:br/>
            <a:pPr algn="l">
              <a:defRPr sz="1500" b="0">
                <a:solidFill>
                  <a:srgbClr val="D4D4D4"/>
                </a:solidFill>
                <a:latin typeface="Consolas"/>
              </a:defRPr>
            </a:pPr>
            <a:r>
              <a:t>// Escribir en una Private Data Collection</a:t>
            </a:r>
            <a:br/>
            <a:r>
              <a:t>func (s *SmartContract) SetPrivatePrice(ctx contractapi.TransactionContextInterface,</a:t>
            </a:r>
            <a:br/>
            <a:r>
              <a:t>    propertyID string) error {</a:t>
            </a:r>
            <a:br/>
            <a:br/>
            <a:r>
              <a:t>    // Los datos privados vienen en transient data (no en el ledger)</a:t>
            </a:r>
            <a:br/>
            <a:r>
              <a:t>    transientMap, err := ctx.GetStub().GetTransient()</a:t>
            </a:r>
            <a:br/>
            <a:r>
              <a:t>    if err != nil {</a:t>
            </a:r>
            <a:br/>
            <a:r>
              <a:t>        return err</a:t>
            </a:r>
            <a:br/>
            <a:r>
              <a:t>    }</a:t>
            </a:r>
            <a:br/>
            <a:r>
              <a:t>    priceData := transientMap["price"]</a:t>
            </a:r>
            <a:br/>
            <a:br/>
            <a:r>
              <a:t>    // Guardar en la coleccion privada</a:t>
            </a:r>
            <a:br/>
            <a:r>
              <a:t>    return ctx.GetStub().PutPrivateData("priceAgreement",</a:t>
            </a:r>
            <a:br/>
            <a:r>
              <a:t>        propertyID, priceData)</a:t>
            </a:r>
            <a:br/>
            <a:r>
              <a:t>}</a:t>
            </a:r>
            <a:br/>
            <a:br/>
            <a:r>
              <a:t>// Leer de una Private Data Collection</a:t>
            </a:r>
            <a:br/>
            <a:r>
              <a:t>func (s *SmartContract) GetPrivatePrice(ctx contractapi.TransactionContextInterface,</a:t>
            </a:r>
            <a:br/>
            <a:r>
              <a:t>    propertyID string) (string, error) {</a:t>
            </a:r>
            <a:br/>
            <a:br/>
            <a:r>
              <a:t>    priceData, err := ctx.GetStub().GetPrivateData("priceAgreement",</a:t>
            </a:r>
            <a:br/>
            <a:r>
              <a:t>        propertyID)</a:t>
            </a:r>
            <a:br/>
            <a:r>
              <a:t>    if err != nil {</a:t>
            </a:r>
            <a:br/>
            <a:r>
              <a:t>        return "", err</a:t>
            </a:r>
            <a:br/>
            <a:r>
              <a:t>    }</a:t>
            </a:r>
            <a:br/>
            <a:r>
              <a:t>    return string(priceData), nil</a:t>
            </a:r>
            <a:br/>
            <a: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200" b="1">
                <a:solidFill>
                  <a:srgbClr val="22627E"/>
                </a:solidFill>
                <a:latin typeface="Calibri"/>
              </a:defRPr>
            </a:pPr>
            <a:r>
              <a:t>Eventos de chaincode</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280160"/>
            <a:ext cx="10515600" cy="5029200"/>
          </a:xfrm>
          <a:prstGeom prst="rect">
            <a:avLst/>
          </a:prstGeom>
          <a:noFill/>
        </p:spPr>
        <p:txBody>
          <a:bodyPr wrap="square">
            <a:spAutoFit/>
          </a:bodyPr>
          <a:lstStyle/>
          <a:p>
            <a:pPr>
              <a:spcAft>
                <a:spcPts val="800"/>
              </a:spcAft>
              <a:defRPr sz="2000">
                <a:solidFill>
                  <a:srgbClr val="333333"/>
                </a:solidFill>
                <a:latin typeface="Calibri"/>
              </a:defRPr>
            </a:pPr>
            <a:r>
              <a:t>Los chaincodes pueden emitir eventos que las aplicaciones cliente reciben</a:t>
            </a:r>
          </a:p>
          <a:p>
            <a:pPr>
              <a:spcAft>
                <a:spcPts val="800"/>
              </a:spcAft>
              <a:defRPr sz="2000">
                <a:solidFill>
                  <a:srgbClr val="333333"/>
                </a:solidFill>
                <a:latin typeface="Calibri"/>
              </a:defRPr>
            </a:pPr>
            <a:r>
              <a:t>Utiles para: notificaciones, integraciones, audit logs</a:t>
            </a:r>
          </a:p>
          <a:p>
            <a:pPr>
              <a:spcAft>
                <a:spcPts val="800"/>
              </a:spcAft>
              <a:defRPr sz="2000">
                <a:solidFill>
                  <a:srgbClr val="333333"/>
                </a:solidFill>
                <a:latin typeface="Calibri"/>
              </a:defRPr>
            </a:pPr>
            <a:r>
              <a:t>Se emiten con ctx.GetStub().SetEvent(name, payload)</a:t>
            </a:r>
          </a:p>
          <a:p>
            <a:pPr>
              <a:spcAft>
                <a:spcPts val="800"/>
              </a:spcAft>
              <a:defRPr sz="2000">
                <a:solidFill>
                  <a:srgbClr val="333333"/>
                </a:solidFill>
                <a:latin typeface="Calibri"/>
              </a:defRPr>
            </a:pPr>
            <a:r>
              <a:t>Solo se emite UN evento por transaccion (el ultimo SetEvent gana)</a:t>
            </a:r>
          </a:p>
          <a:p>
            <a:pPr>
              <a:spcAft>
                <a:spcPts val="800"/>
              </a:spcAft>
              <a:defRPr sz="2000">
                <a:solidFill>
                  <a:srgbClr val="333333"/>
                </a:solidFill>
                <a:latin typeface="Calibri"/>
              </a:defRPr>
            </a:pPr>
            <a:r>
              <a:t>El cliente se suscribe con el Gateway SDK:</a:t>
            </a:r>
          </a:p>
          <a:p>
            <a:pPr lvl="1">
              <a:spcAft>
                <a:spcPts val="400"/>
              </a:spcAft>
              <a:defRPr sz="1700">
                <a:solidFill>
                  <a:srgbClr val="666666"/>
                </a:solidFill>
                <a:latin typeface="Calibri"/>
              </a:defRPr>
            </a:pPr>
            <a:r>
              <a:t>    contract.RegisterEvent() en Go</a:t>
            </a:r>
          </a:p>
          <a:p>
            <a:pPr lvl="1">
              <a:spcAft>
                <a:spcPts val="400"/>
              </a:spcAft>
              <a:defRPr sz="1700">
                <a:solidFill>
                  <a:srgbClr val="666666"/>
                </a:solidFill>
                <a:latin typeface="Calibri"/>
              </a:defRPr>
            </a:pPr>
            <a:r>
              <a:t>    network.addBlockListener() / contract.addContractListener() en Node.js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9144000" cy="731520"/>
          </a:xfrm>
          <a:prstGeom prst="rect">
            <a:avLst/>
          </a:prstGeom>
          <a:noFill/>
        </p:spPr>
        <p:txBody>
          <a:bodyPr wrap="square"/>
          <a:lstStyle/>
          <a:p>
            <a:pPr algn="l">
              <a:defRPr sz="2800" b="1">
                <a:solidFill>
                  <a:srgbClr val="22627E"/>
                </a:solidFill>
                <a:latin typeface="Calibri"/>
              </a:defRPr>
            </a:pPr>
            <a:r>
              <a:t>Eventos: ejemplo completo</a:t>
            </a:r>
          </a:p>
        </p:txBody>
      </p:sp>
      <p:sp>
        <p:nvSpPr>
          <p:cNvPr id="4" name="Rectangle 3"/>
          <p:cNvSpPr/>
          <p:nvPr/>
        </p:nvSpPr>
        <p:spPr>
          <a:xfrm>
            <a:off x="10515600" y="320040"/>
            <a:ext cx="1188720" cy="36576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0" y="320040"/>
            <a:ext cx="1188720" cy="365760"/>
          </a:xfrm>
          <a:prstGeom prst="rect">
            <a:avLst/>
          </a:prstGeom>
          <a:noFill/>
        </p:spPr>
        <p:txBody>
          <a:bodyPr wrap="square"/>
          <a:lstStyle/>
          <a:p>
            <a:pPr algn="ctr">
              <a:defRPr sz="1400" b="1">
                <a:solidFill>
                  <a:srgbClr val="FFFFFF"/>
                </a:solidFill>
                <a:latin typeface="Calibri"/>
              </a:defRPr>
            </a:pPr>
            <a:r>
              <a:t>GO</a:t>
            </a:r>
          </a:p>
        </p:txBody>
      </p:sp>
      <p:sp>
        <p:nvSpPr>
          <p:cNvPr id="6" name="Rectangle 5"/>
          <p:cNvSpPr/>
          <p:nvPr/>
        </p:nvSpPr>
        <p:spPr>
          <a:xfrm>
            <a:off x="457200" y="1234440"/>
            <a:ext cx="11247120" cy="512064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10698480" cy="4754880"/>
          </a:xfrm>
          <a:prstGeom prst="rect">
            <a:avLst/>
          </a:prstGeom>
          <a:noFill/>
        </p:spPr>
        <p:txBody>
          <a:bodyPr wrap="square"/>
          <a:lstStyle/>
          <a:p>
            <a:br/>
            <a:pPr algn="l">
              <a:defRPr sz="1500" b="0">
                <a:solidFill>
                  <a:srgbClr val="D4D4D4"/>
                </a:solidFill>
                <a:latin typeface="Consolas"/>
              </a:defRPr>
            </a:pPr>
            <a:r>
              <a:t>// En el chaincode: emitir evento al transferir</a:t>
            </a:r>
            <a:br/>
            <a:r>
              <a:t>type TransferEvent struct {</a:t>
            </a:r>
            <a:br/>
            <a:r>
              <a:t>    PropertyID string `json:"propertyID"`</a:t>
            </a:r>
            <a:br/>
            <a:r>
              <a:t>    From       string `json:"from"`</a:t>
            </a:r>
            <a:br/>
            <a:r>
              <a:t>    To         string `json:"to"`</a:t>
            </a:r>
            <a:br/>
            <a:r>
              <a:t>    Timestamp  string `json:"timestamp"`</a:t>
            </a:r>
            <a:br/>
            <a:r>
              <a:t>}</a:t>
            </a:r>
            <a:br/>
            <a:br/>
            <a:r>
              <a:t>func (s *SmartContract) TransferProperty(ctx contractapi.TransactionContextInterface,</a:t>
            </a:r>
            <a:br/>
            <a:r>
              <a:t>    id string, newOwner string) error {</a:t>
            </a:r>
            <a:br/>
            <a:r>
              <a:t>    // ... logica de transferencia ...</a:t>
            </a:r>
            <a:br/>
            <a:br/>
            <a:r>
              <a:t>    event := TransferEvent{</a:t>
            </a:r>
            <a:br/>
            <a:r>
              <a:t>        PropertyID: id,</a:t>
            </a:r>
            <a:br/>
            <a:r>
              <a:t>        From:       property.Owner,</a:t>
            </a:r>
            <a:br/>
            <a:r>
              <a:t>        To:         newOwner,</a:t>
            </a:r>
            <a:br/>
            <a:r>
              <a:t>    }</a:t>
            </a:r>
            <a:br/>
            <a:r>
              <a:t>    eventJSON, _ := json.Marshal(event)</a:t>
            </a:r>
            <a:br/>
            <a:r>
              <a:t>    ctx.GetStub().SetEvent("PropertyTransferred", eventJSON)</a:t>
            </a:r>
            <a:br/>
            <a:r>
              <a:t>    return nil</a:t>
            </a:r>
            <a:br/>
            <a:r>
              <a:t>}</a:t>
            </a:r>
            <a:br/>
            <a:br/>
            <a:r>
              <a:t>// En el cliente Node.js: escuchar eventos</a:t>
            </a:r>
            <a:br/>
            <a:r>
              <a:t>// const listener = async (event) =&gt; {</a:t>
            </a:r>
            <a:br/>
            <a:r>
              <a:t>//     const payload = JSON.parse(event.payload.toString());</a:t>
            </a:r>
            <a:br/>
            <a:r>
              <a:t>//     console.log('Transferencia:', payload.propertyID);</a:t>
            </a:r>
            <a:br/>
            <a:r>
              <a:t>// };</a:t>
            </a:r>
            <a:br/>
            <a:r>
              <a:t>// contract.addContractListener(listener);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0D94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74320"/>
            <a:ext cx="2286000" cy="457200"/>
          </a:xfrm>
          <a:prstGeom prst="rect">
            <a:avLst/>
          </a:prstGeom>
          <a:solidFill>
            <a:srgbClr val="0D94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2286000" cy="457200"/>
          </a:xfrm>
          <a:prstGeom prst="rect">
            <a:avLst/>
          </a:prstGeom>
          <a:noFill/>
        </p:spPr>
        <p:txBody>
          <a:bodyPr wrap="square"/>
          <a:lstStyle/>
          <a:p>
            <a:pPr algn="ctr">
              <a:defRPr sz="1800" b="1">
                <a:solidFill>
                  <a:srgbClr val="FFFFFF"/>
                </a:solidFill>
                <a:latin typeface="Calibri"/>
              </a:defRPr>
            </a:pPr>
            <a:r>
              <a:t>PRACTICA</a:t>
            </a:r>
          </a:p>
        </p:txBody>
      </p:sp>
      <p:sp>
        <p:nvSpPr>
          <p:cNvPr id="5" name="TextBox 4"/>
          <p:cNvSpPr txBox="1"/>
          <p:nvPr/>
        </p:nvSpPr>
        <p:spPr>
          <a:xfrm>
            <a:off x="3017520" y="274320"/>
            <a:ext cx="8686800" cy="731520"/>
          </a:xfrm>
          <a:prstGeom prst="rect">
            <a:avLst/>
          </a:prstGeom>
          <a:noFill/>
        </p:spPr>
        <p:txBody>
          <a:bodyPr wrap="square"/>
          <a:lstStyle/>
          <a:p>
            <a:pPr algn="l">
              <a:defRPr sz="3000" b="1">
                <a:solidFill>
                  <a:srgbClr val="333333"/>
                </a:solidFill>
                <a:latin typeface="Calibri"/>
              </a:defRPr>
            </a:pPr>
            <a:r>
              <a:t>Chaincode de Registro de Propiedad</a:t>
            </a:r>
          </a:p>
        </p:txBody>
      </p:sp>
      <p:sp>
        <p:nvSpPr>
          <p:cNvPr id="6" name="Rectangle 5"/>
          <p:cNvSpPr/>
          <p:nvPr/>
        </p:nvSpPr>
        <p:spPr>
          <a:xfrm>
            <a:off x="457200" y="1051560"/>
            <a:ext cx="10972800" cy="27432"/>
          </a:xfrm>
          <a:prstGeom prst="rect">
            <a:avLst/>
          </a:prstGeom>
          <a:solidFill>
            <a:srgbClr val="0D94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333333"/>
                </a:solidFill>
                <a:latin typeface="Calibri"/>
              </a:defRPr>
            </a:pPr>
            <a:r>
              <a:t>Objetivo: implementar un chaincode completo con logica de negocio</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Requisitos del chaincode:</a:t>
            </a:r>
          </a:p>
          <a:p>
            <a:pPr>
              <a:spcAft>
                <a:spcPts val="1000"/>
              </a:spcAft>
              <a:defRPr sz="2000">
                <a:solidFill>
                  <a:srgbClr val="333333"/>
                </a:solidFill>
                <a:latin typeface="Calibri"/>
              </a:defRPr>
            </a:pPr>
            <a:r>
              <a:t>  1. CRUD de propiedades (reutilizar el modelo del dia anterior)</a:t>
            </a:r>
          </a:p>
          <a:p>
            <a:pPr>
              <a:spcAft>
                <a:spcPts val="1000"/>
              </a:spcAft>
              <a:defRPr sz="2000">
                <a:solidFill>
                  <a:srgbClr val="333333"/>
                </a:solidFill>
                <a:latin typeface="Calibri"/>
              </a:defRPr>
            </a:pPr>
            <a:r>
              <a:t>  2. Maquina de estados: active / transferring / blocked</a:t>
            </a:r>
          </a:p>
          <a:p>
            <a:pPr>
              <a:spcAft>
                <a:spcPts val="1000"/>
              </a:spcAft>
              <a:defRPr sz="2000">
                <a:solidFill>
                  <a:srgbClr val="333333"/>
                </a:solidFill>
                <a:latin typeface="Calibri"/>
              </a:defRPr>
            </a:pPr>
            <a:r>
              <a:t>  3. Control de acceso: solo el owner puede iniciar transferencia</a:t>
            </a:r>
          </a:p>
          <a:p>
            <a:pPr>
              <a:spcAft>
                <a:spcPts val="1000"/>
              </a:spcAft>
              <a:defRPr sz="2000">
                <a:solidFill>
                  <a:srgbClr val="333333"/>
                </a:solidFill>
                <a:latin typeface="Calibri"/>
              </a:defRPr>
            </a:pPr>
            <a:r>
              <a:t>  4. Rol registrador (ABAC) para confirmar transferencias</a:t>
            </a:r>
          </a:p>
          <a:p>
            <a:pPr>
              <a:spcAft>
                <a:spcPts val="1000"/>
              </a:spcAft>
              <a:defRPr sz="2000">
                <a:solidFill>
                  <a:srgbClr val="333333"/>
                </a:solidFill>
                <a:latin typeface="Calibri"/>
              </a:defRPr>
            </a:pPr>
            <a:r>
              <a:t>  5. Private Data: precio de venta solo visible para comprador y vendedor</a:t>
            </a:r>
          </a:p>
          <a:p>
            <a:pPr>
              <a:spcAft>
                <a:spcPts val="1000"/>
              </a:spcAft>
              <a:defRPr sz="2000">
                <a:solidFill>
                  <a:srgbClr val="333333"/>
                </a:solidFill>
                <a:latin typeface="Calibri"/>
              </a:defRPr>
            </a:pPr>
            <a:r>
              <a:t>  6. Evento PropertyTransferred al completar una transferencia</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  Usar el prompt de IA para generar la base y luego adaptar.</a:t>
            </a:r>
          </a:p>
          <a:p>
            <a:pPr>
              <a:spcAft>
                <a:spcPts val="1000"/>
              </a:spcAft>
              <a:defRPr sz="2000">
                <a:solidFill>
                  <a:srgbClr val="333333"/>
                </a:solidFill>
                <a:latin typeface="Calibri"/>
              </a:defRPr>
            </a:pPr>
            <a:r>
              <a:t>  Desplegar en la test-network y probar todos los flujos.</a:t>
            </a:r>
          </a:p>
          <a:p>
            <a:pPr>
              <a:spcAft>
                <a:spcPts val="1000"/>
              </a:spcAft>
              <a:defRPr sz="2000">
                <a:solidFill>
                  <a:srgbClr val="333333"/>
                </a:solidFill>
                <a:latin typeface="Calibri"/>
              </a:defRPr>
            </a:pPr>
          </a:p>
          <a:p>
            <a:pPr>
              <a:spcAft>
                <a:spcPts val="1000"/>
              </a:spcAft>
              <a:defRPr sz="2000">
                <a:solidFill>
                  <a:srgbClr val="333333"/>
                </a:solidFill>
                <a:latin typeface="Calibri"/>
              </a:defRPr>
            </a:pPr>
            <a:r>
              <a:t>Trabajar en parejas. Tiempo estimado: 90 minutos.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2800" b="1">
                <a:solidFill>
                  <a:srgbClr val="22627E"/>
                </a:solidFill>
                <a:latin typeface="Calibri"/>
              </a:defRPr>
            </a:pPr>
            <a:r>
              <a:t>Prompt IA: Chaincode con logica de negocio</a:t>
            </a:r>
          </a:p>
        </p:txBody>
      </p:sp>
      <p:sp>
        <p:nvSpPr>
          <p:cNvPr id="4" name="Rectangle 3"/>
          <p:cNvSpPr/>
          <p:nvPr/>
        </p:nvSpPr>
        <p:spPr>
          <a:xfrm>
            <a:off x="457200" y="1051560"/>
            <a:ext cx="10972800" cy="27432"/>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2011680" cy="4114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71600"/>
            <a:ext cx="2011680" cy="411480"/>
          </a:xfrm>
          <a:prstGeom prst="rect">
            <a:avLst/>
          </a:prstGeom>
          <a:noFill/>
        </p:spPr>
        <p:txBody>
          <a:bodyPr wrap="square"/>
          <a:lstStyle/>
          <a:p>
            <a:pPr algn="ctr">
              <a:defRPr sz="1600" b="1">
                <a:solidFill>
                  <a:srgbClr val="FFFFFF"/>
                </a:solidFill>
                <a:latin typeface="Calibri"/>
              </a:defRPr>
            </a:pPr>
            <a:r>
              <a:t>PROMPT IA</a:t>
            </a:r>
          </a:p>
        </p:txBody>
      </p:sp>
      <p:sp>
        <p:nvSpPr>
          <p:cNvPr id="7" name="Rectangle 6"/>
          <p:cNvSpPr/>
          <p:nvPr/>
        </p:nvSpPr>
        <p:spPr>
          <a:xfrm>
            <a:off x="457200" y="2011680"/>
            <a:ext cx="11247120" cy="4114800"/>
          </a:xfrm>
          <a:prstGeom prst="rect">
            <a:avLst/>
          </a:prstGeom>
          <a:solidFill>
            <a:srgbClr val="F8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194560"/>
            <a:ext cx="10698480" cy="3749039"/>
          </a:xfrm>
          <a:prstGeom prst="rect">
            <a:avLst/>
          </a:prstGeom>
          <a:noFill/>
        </p:spPr>
        <p:txBody>
          <a:bodyPr wrap="square"/>
          <a:lstStyle/>
          <a:p>
            <a:pPr algn="l">
              <a:defRPr sz="1700" b="0">
                <a:solidFill>
                  <a:srgbClr val="333333"/>
                </a:solidFill>
                <a:latin typeface="Consolas"/>
              </a:defRPr>
            </a:pPr>
            <a:r>
              <a:t>Genera un chaincode de Hyperledger Fabric en [Go/Node.js]</a:t>
            </a:r>
            <a:br/>
            <a:r>
              <a:t>para un Registro de Propiedad con estas funcionalidades:</a:t>
            </a:r>
            <a:br/>
            <a:br/>
            <a:r>
              <a:t>1. CRUD completo de Property (id, address, owner, area,</a:t>
            </a:r>
            <a:br/>
            <a:r>
              <a:t>   propertyType, status, appraisalValue)</a:t>
            </a:r>
            <a:br/>
            <a:r>
              <a:t>2. Maquina de estados con transiciones validadas:</a:t>
            </a:r>
            <a:br/>
            <a:r>
              <a:t>   active &lt;-&gt; transferring, active &lt;-&gt; blocked</a:t>
            </a:r>
            <a:br/>
            <a:r>
              <a:t>3. Control de acceso por MSPID (solo el owner opera)</a:t>
            </a:r>
            <a:br/>
            <a:r>
              <a:t>   y por atributo "role=registrador" para confirmar</a:t>
            </a:r>
            <a:br/>
            <a:r>
              <a:t>4. Private Data Collection "priceAgreement" para el</a:t>
            </a:r>
            <a:br/>
            <a:r>
              <a:t>   precio de venta (solo comprador y vendedor)</a:t>
            </a:r>
            <a:br/>
            <a:r>
              <a:t>5. Eventos: PropertyCreated, PropertyTransferred</a:t>
            </a:r>
            <a:br/>
            <a:r>
              <a:t>6. Rich queries con CouchDB: buscar por tipo, por owner</a:t>
            </a:r>
            <a:br/>
            <a:br/>
            <a:r>
              <a:t>Incluye el collections_config.json y comentarios en espanol.</a:t>
            </a:r>
            <a:br/>
            <a:r>
              <a:t>Fabric 2.5.x con Contract API.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7315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74320"/>
            <a:ext cx="1645920" cy="457200"/>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645920" cy="457200"/>
          </a:xfrm>
          <a:prstGeom prst="rect">
            <a:avLst/>
          </a:prstGeom>
          <a:noFill/>
        </p:spPr>
        <p:txBody>
          <a:bodyPr wrap="square"/>
          <a:lstStyle/>
          <a:p>
            <a:pPr algn="ctr">
              <a:defRPr sz="1800" b="1">
                <a:solidFill>
                  <a:srgbClr val="FFFFFF"/>
                </a:solidFill>
                <a:latin typeface="Calibri"/>
              </a:defRPr>
            </a:pPr>
            <a:r>
              <a:t>DEBATE</a:t>
            </a:r>
          </a:p>
        </p:txBody>
      </p:sp>
      <p:sp>
        <p:nvSpPr>
          <p:cNvPr id="5" name="TextBox 4"/>
          <p:cNvSpPr txBox="1"/>
          <p:nvPr/>
        </p:nvSpPr>
        <p:spPr>
          <a:xfrm>
            <a:off x="2377440" y="274320"/>
            <a:ext cx="9144000" cy="731520"/>
          </a:xfrm>
          <a:prstGeom prst="rect">
            <a:avLst/>
          </a:prstGeom>
          <a:noFill/>
        </p:spPr>
        <p:txBody>
          <a:bodyPr wrap="square"/>
          <a:lstStyle/>
          <a:p>
            <a:pPr algn="l">
              <a:defRPr sz="3000" b="1">
                <a:solidFill>
                  <a:srgbClr val="333333"/>
                </a:solidFill>
                <a:latin typeface="Calibri"/>
              </a:defRPr>
            </a:pPr>
            <a:r>
              <a:t>Logica de negocio en chaincodes</a:t>
            </a:r>
          </a:p>
        </p:txBody>
      </p:sp>
      <p:sp>
        <p:nvSpPr>
          <p:cNvPr id="6" name="Rectangle 5"/>
          <p:cNvSpPr/>
          <p:nvPr/>
        </p:nvSpPr>
        <p:spPr>
          <a:xfrm>
            <a:off x="457200" y="1051560"/>
            <a:ext cx="10972800" cy="27432"/>
          </a:xfrm>
          <a:prstGeom prst="rect">
            <a:avLst/>
          </a:prstGeom>
          <a:solidFill>
            <a:srgbClr val="E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515600" cy="5029200"/>
          </a:xfrm>
          <a:prstGeom prst="rect">
            <a:avLst/>
          </a:prstGeom>
          <a:noFill/>
        </p:spPr>
        <p:txBody>
          <a:bodyPr wrap="square">
            <a:spAutoFit/>
          </a:bodyPr>
          <a:lstStyle/>
          <a:p>
            <a:pPr>
              <a:spcAft>
                <a:spcPts val="1600"/>
              </a:spcAft>
              <a:defRPr sz="2200">
                <a:solidFill>
                  <a:srgbClr val="333333"/>
                </a:solidFill>
                <a:latin typeface="Calibri"/>
              </a:defRPr>
            </a:pPr>
            <a:r>
              <a:t>1. ¿Cuanta logica debe ir en el chaincode vs en la app cliente?</a:t>
            </a:r>
          </a:p>
          <a:p>
            <a:pPr>
              <a:spcAft>
                <a:spcPts val="1600"/>
              </a:spcAft>
              <a:defRPr sz="2200">
                <a:solidFill>
                  <a:srgbClr val="333333"/>
                </a:solidFill>
                <a:latin typeface="Calibri"/>
              </a:defRPr>
            </a:pPr>
            <a:r>
              <a:t>2. ¿Que pasa si necesitas cambiar la maquina de estados despues del despliegue?</a:t>
            </a:r>
          </a:p>
          <a:p>
            <a:pPr>
              <a:spcAft>
                <a:spcPts val="1600"/>
              </a:spcAft>
              <a:defRPr sz="2200">
                <a:solidFill>
                  <a:srgbClr val="333333"/>
                </a:solidFill>
                <a:latin typeface="Calibri"/>
              </a:defRPr>
            </a:pPr>
            <a:r>
              <a:t>3. Private Data: ¿es suficiente para cumplir GDPR? ¿Que limitaciones tiene?</a:t>
            </a:r>
          </a:p>
          <a:p>
            <a:pPr>
              <a:spcAft>
                <a:spcPts val="1600"/>
              </a:spcAft>
              <a:defRPr sz="2200">
                <a:solidFill>
                  <a:srgbClr val="333333"/>
                </a:solidFill>
                <a:latin typeface="Calibri"/>
              </a:defRPr>
            </a:pPr>
            <a:r>
              <a:t>4. ¿Que ocurre si un registrador malicioso confirma transferencias falsas?</a:t>
            </a:r>
          </a:p>
          <a:p>
            <a:pPr>
              <a:spcAft>
                <a:spcPts val="1600"/>
              </a:spcAft>
              <a:defRPr sz="2200">
                <a:solidFill>
                  <a:srgbClr val="333333"/>
                </a:solidFill>
                <a:latin typeface="Calibri"/>
              </a:defRPr>
            </a:pPr>
            <a:r>
              <a:t>5. ¿Como gestionariais los roles (registrador, autoridad) en un consorcio real?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2262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0972800" cy="731520"/>
          </a:xfrm>
          <a:prstGeom prst="rect">
            <a:avLst/>
          </a:prstGeom>
          <a:noFill/>
        </p:spPr>
        <p:txBody>
          <a:bodyPr wrap="square"/>
          <a:lstStyle/>
          <a:p>
            <a:pPr algn="l">
              <a:defRPr sz="3600" b="1">
                <a:solidFill>
                  <a:srgbClr val="FFFFFF"/>
                </a:solidFill>
                <a:latin typeface="Calibri"/>
              </a:defRPr>
            </a:pPr>
            <a:r>
              <a:t>Repaso del dia</a:t>
            </a:r>
          </a:p>
        </p:txBody>
      </p:sp>
      <p:sp>
        <p:nvSpPr>
          <p:cNvPr id="4" name="Rectangle 3"/>
          <p:cNvSpPr/>
          <p:nvPr/>
        </p:nvSpPr>
        <p:spPr>
          <a:xfrm>
            <a:off x="457200" y="1051560"/>
            <a:ext cx="10972800" cy="274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10515600" cy="5029200"/>
          </a:xfrm>
          <a:prstGeom prst="rect">
            <a:avLst/>
          </a:prstGeom>
          <a:noFill/>
        </p:spPr>
        <p:txBody>
          <a:bodyPr wrap="square">
            <a:spAutoFit/>
          </a:bodyPr>
          <a:lstStyle/>
          <a:p>
            <a:pPr>
              <a:spcAft>
                <a:spcPts val="1000"/>
              </a:spcAft>
              <a:defRPr sz="2000">
                <a:solidFill>
                  <a:srgbClr val="FFFFFF"/>
                </a:solidFill>
                <a:latin typeface="Calibri"/>
              </a:defRPr>
            </a:pPr>
            <a:r>
              <a:t>1. ¿Como se verifica la identidad del cliente en un chaincode?</a:t>
            </a:r>
          </a:p>
          <a:p>
            <a:pPr>
              <a:spcAft>
                <a:spcPts val="1000"/>
              </a:spcAft>
              <a:defRPr sz="2000">
                <a:solidFill>
                  <a:srgbClr val="FFFFFF"/>
                </a:solidFill>
                <a:latin typeface="Calibri"/>
              </a:defRPr>
            </a:pPr>
            <a:r>
              <a:t>2. ¿Que diferencia hay entre GetMSPID() y AssertAttributeValue()?</a:t>
            </a:r>
          </a:p>
          <a:p>
            <a:pPr>
              <a:spcAft>
                <a:spcPts val="1000"/>
              </a:spcAft>
              <a:defRPr sz="2000">
                <a:solidFill>
                  <a:srgbClr val="FFFFFF"/>
                </a:solidFill>
                <a:latin typeface="Calibri"/>
              </a:defRPr>
            </a:pPr>
            <a:r>
              <a:t>3. ¿Que es una maquina de estados y por que es util en chaincodes?</a:t>
            </a:r>
          </a:p>
          <a:p>
            <a:pPr>
              <a:spcAft>
                <a:spcPts val="1000"/>
              </a:spcAft>
              <a:defRPr sz="2000">
                <a:solidFill>
                  <a:srgbClr val="FFFFFF"/>
                </a:solidFill>
                <a:latin typeface="Calibri"/>
              </a:defRPr>
            </a:pPr>
            <a:r>
              <a:t>4. ¿Que son las Private Data Collections?</a:t>
            </a:r>
          </a:p>
          <a:p>
            <a:pPr>
              <a:spcAft>
                <a:spcPts val="1000"/>
              </a:spcAft>
              <a:defRPr sz="2000">
                <a:solidFill>
                  <a:srgbClr val="FFFFFF"/>
                </a:solidFill>
                <a:latin typeface="Calibri"/>
              </a:defRPr>
            </a:pPr>
            <a:r>
              <a:t>5. ¿Donde se almacenan los datos privados vs el hash?</a:t>
            </a:r>
          </a:p>
          <a:p>
            <a:pPr>
              <a:spcAft>
                <a:spcPts val="1000"/>
              </a:spcAft>
              <a:defRPr sz="2000">
                <a:solidFill>
                  <a:srgbClr val="FFFFFF"/>
                </a:solidFill>
                <a:latin typeface="Calibri"/>
              </a:defRPr>
            </a:pPr>
            <a:r>
              <a:t>6. ¿Como se emite un evento desde un chaincode?</a:t>
            </a:r>
          </a:p>
          <a:p>
            <a:pPr>
              <a:spcAft>
                <a:spcPts val="1000"/>
              </a:spcAft>
              <a:defRPr sz="2000">
                <a:solidFill>
                  <a:srgbClr val="FFFFFF"/>
                </a:solidFill>
                <a:latin typeface="Calibri"/>
              </a:defRPr>
            </a:pPr>
            <a:r>
              <a:t>7. ¿Cuantos eventos se pueden emitir por transaccion?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