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7" d="100"/>
          <a:sy n="57" d="100"/>
        </p:scale>
        <p:origin x="948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22627E"/>
                </a:solidFill>
                <a:latin typeface="Calibri"/>
              </a:defRPr>
            </a:pPr>
            <a:r>
              <a:t>Modulo 4: Tokens y Smart Contracts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09728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5400" b="1">
                <a:solidFill>
                  <a:srgbClr val="22627E"/>
                </a:solidFill>
                <a:latin typeface="Calibri"/>
              </a:defRPr>
            </a:pPr>
            <a:r>
              <a:t>Desarrollo de Chaincodes:</a:t>
            </a:r>
            <a:br/>
            <a:r>
              <a:t>Logica de Negocio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109728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0">
                <a:solidFill>
                  <a:srgbClr val="333333"/>
                </a:solidFill>
                <a:latin typeface="Calibri"/>
              </a:defRPr>
            </a:pPr>
            <a:r>
              <a:t>Dia 3 - Validaciones, control de acceso, Private Data y eventos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Repaso del dia anterior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1. ¿Que operaciones ofrece la Stub API?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2. ¿Para que sirven las Composite Keys?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3. ¿Cuando usarias CouchDB en vez de LevelDB?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4. ¿Que es una rich query?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B45D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200400" cy="457200"/>
          </a:xfrm>
          <a:prstGeom prst="rect">
            <a:avLst/>
          </a:prstGeom>
          <a:solidFill>
            <a:srgbClr val="B45D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TREASURE HUNT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31920" y="228600"/>
            <a:ext cx="7772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333333"/>
                </a:solidFill>
                <a:latin typeface="Calibri"/>
              </a:defRPr>
            </a:pPr>
            <a:r>
              <a:t>Walmart y la trazabilidad alimentaria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B45D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En 2018, Walmart implemento un sistema de trazabilidad basado en Hyperledger Fabric.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El objetivo: rastrear el origen de productos frescos (especialmente mangos y cerdo).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Antes: rastrear un mango desde la tienda hasta la granja tardaba 7 dias.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Con Fabric: el mismo rastreo tardo 2.2 segundos.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Mision: Investigar y responder: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1. ¿Que empresa de tecnologia colaboro con Walmart en este proyecto?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2. ¿Cuantos proveedores de hoja verde tiene Walmart en este sistema?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3. ¿Por que eligieron Fabric y no Ethereum para este caso?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Pista: La empresa colaboradora creo una plataforma que se llamaba 'Food Trust'.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Validaciones en el chaincode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El chaincode es la ultima linea de defensa antes de escribir en el ledger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Toda validacion critica debe estar en el chaincode, no solo en la app cliente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Tipos de validaciones: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Existencia: ¿el activo existe o no antes de operar?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Permisos: ¿quien invoca tiene derecho a hacer esta operacion?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Estado: ¿el activo esta en un estado valido para esta transicion?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Formato: ¿los datos de entrada son validos (tipos, rangos, longitud)?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Reglas de negocio: ¿se cumplen las condiciones de la logica de negocio?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Control de acceso: GetClientIdentity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Cada invocacion lleva la identidad X.509 del cliente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ctx.GetClientIdentity() expone: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GetID() - identidad completa (CN + emisor del cert)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GetMSPID() - organizacion a la que pertenece (Org1MSP, Org2MSP...)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GetAttributeValue(attrName) - atributos custom del cert X.509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AssertAttributeValue(attrName, value) - verificar atributo directamente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Patron comun: verificar MSPID al inicio de cada funcion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Mas granular: verificar atributos custom del certificado (ABAC)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22627E"/>
                </a:solidFill>
                <a:latin typeface="Calibri"/>
              </a:defRPr>
            </a:pPr>
            <a:r>
              <a:t>Control de acceso por organizacion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Verificar MSPID y estado antes de operar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15600" y="320040"/>
            <a:ext cx="1188720" cy="36576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0" y="320040"/>
            <a:ext cx="1188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NODE.JS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11247120" cy="51206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1" y="1600200"/>
            <a:ext cx="5108374" cy="475488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async TransferProperty(ctx, id, newOwner) {</a:t>
            </a:r>
          </a:p>
          <a:p>
            <a:pPr/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    // Leer propiedad</a:t>
            </a:r>
          </a:p>
          <a:p>
            <a:pPr/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    const property = await this.ReadProperty(ctx, id);</a:t>
            </a:r>
          </a:p>
          <a:p>
            <a:pPr/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/>
            </a:r>
          </a:p>
          <a:p>
            <a:pPr/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    // Verificar: solo el propietario actual puede transferir</a:t>
            </a:r>
          </a:p>
          <a:p>
            <a:pPr/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    const clientMSP = ctx.clientIdentity.getMSPID();</a:t>
            </a:r>
          </a:p>
          <a:p>
            <a:pPr/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    if (property.owner !== clientMSP) {</a:t>
            </a:r>
          </a:p>
          <a:p>
            <a:pPr/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        throw new Error(</a:t>
            </a:r>
          </a:p>
          <a:p>
            <a:pPr/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            `solo el propietario actual (${property.owner}) ` +</a:t>
            </a:r>
          </a:p>
          <a:p>
            <a:pPr/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            `puede transferir`);</a:t>
            </a:r>
          </a:p>
          <a:p>
            <a:pPr/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    }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ACD0E9AC-BC2A-3ABF-0CB3-11A5CA240ED6}"/>
              </a:ext>
            </a:extLst>
          </p:cNvPr>
          <p:cNvSpPr txBox="1"/>
          <p:nvPr/>
        </p:nvSpPr>
        <p:spPr>
          <a:xfrm>
            <a:off x="6469364" y="1452073"/>
            <a:ext cx="498794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// Verificar: la propiedad debe estar en estado 'active'</a:t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if (property.status !== 'active') {</a:t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    throw new Error(</a:t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        `la propiedad esta en estado '${property.status}', ` +</a:t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        `no se puede transferir`);</a:t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}</a:t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/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// Transferir</a:t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property.owner = newOwner;</a:t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property.status = 'active';</a:t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await ctx.stub.putState(id,</a:t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    Buffer.from(JSON.stringify(property)));</a:t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}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3888477C-D4CA-1CD7-8954-FE59EB972FD1}"/>
              </a:ext>
            </a:extLst>
          </p:cNvPr>
          <p:cNvSpPr/>
          <p:nvPr/>
        </p:nvSpPr>
        <p:spPr>
          <a:xfrm>
            <a:off x="6080760" y="1417320"/>
            <a:ext cx="45719" cy="51206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22627E"/>
                </a:solidFill>
                <a:latin typeface="Calibri"/>
              </a:defRPr>
            </a:pPr>
            <a:r>
              <a:t>Control de acceso por atributo (ABAC)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Atributos custom en certificados X.509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15600" y="320040"/>
            <a:ext cx="1188720" cy="36576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0" y="320040"/>
            <a:ext cx="1188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NODE.JS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11247120" cy="51206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10698480" cy="475488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// Solo un usuario con rol "registrador" puede registrar propiedades</a:t>
            </a:r>
          </a:p>
          <a:p>
            <a:pPr/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async RegisterProperty(ctx, id, address, owner) {</a:t>
            </a:r>
          </a:p>
          <a:p>
            <a:pPr/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// Verificar atributo "role" en el certificado X.509</a:t>
            </a:r>
          </a:p>
          <a:p>
            <a:pPr/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const ok = ctx.clientIdentity</a:t>
            </a:r>
          </a:p>
          <a:p>
            <a:pPr/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    .assertAttributeValue('role', 'registrador');</a:t>
            </a:r>
          </a:p>
          <a:p>
            <a:pPr/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if (!ok) {</a:t>
            </a:r>
          </a:p>
          <a:p>
            <a:pPr/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    throw new Error(</a:t>
            </a:r>
          </a:p>
          <a:p>
            <a:pPr/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        'solo registradores pueden crear propiedades');</a:t>
            </a:r>
          </a:p>
          <a:p>
            <a:pPr/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}</a:t>
            </a:r>
          </a:p>
          <a:p>
            <a:pPr/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/>
            </a:r>
          </a:p>
          <a:p>
            <a:pPr/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// El atributo se anade al certificado durante el enrollment con Fabric CA:</a:t>
            </a:r>
          </a:p>
          <a:p>
            <a:pPr/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//   fabric-ca-client enroll ... --enrollment.attrs "role=registrador"</a:t>
            </a:r>
          </a:p>
          <a:p>
            <a:pPr/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/>
            </a:r>
          </a:p>
          <a:p>
            <a:pPr/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const property = {</a:t>
            </a:r>
          </a:p>
          <a:p>
            <a:pPr/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    docType: 'property',</a:t>
            </a:r>
          </a:p>
          <a:p>
            <a:pPr/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    id,</a:t>
            </a:r>
          </a:p>
          <a:p>
            <a:pPr/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    address,</a:t>
            </a:r>
          </a:p>
          <a:p>
            <a:pPr/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    owner,</a:t>
            </a:r>
          </a:p>
          <a:p>
            <a:pPr/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    status: 'active'</a:t>
            </a:r>
          </a:p>
          <a:p>
            <a:pPr/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};</a:t>
            </a:r>
          </a:p>
          <a:p>
            <a:pPr/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/>
            </a:r>
          </a:p>
          <a:p>
            <a:pPr/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await ctx.stub.putState(id,</a:t>
            </a:r>
          </a:p>
          <a:p>
            <a:pPr/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    Buffer.from(JSON.stringify(property)));</a:t>
            </a:r>
          </a:p>
          <a:p>
            <a:pPr/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Logica de negocio: maquina de estados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Muchos activos del mundo real siguen un ciclo de vida con estados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El chaincode debe validar que las transiciones son correctas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Ejemplo: estados de una propiedad inmobiliaria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active -&gt; transferring (propietario inicia transferencia)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transferring -&gt; active (registrador confirma la transferencia)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transferring -&gt; active (propietario cancela la transferencia)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active -&gt; blocked (autoridad judicial bloquea)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blocked -&gt; active (autoridad judicial desbloquea)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Cada transicion requiere permisos distintos: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active -&gt; transferring: requiere Owner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transferring -&gt; active (confirmar): requiere role=registrador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active -&gt; blocked: requiere role=autoridad_judicial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Diagrama: estados de una propiedad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D84278AF-9B56-2D00-6A6F-EB35F7BD61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044" y="1304692"/>
            <a:ext cx="7808736" cy="509610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22627E"/>
                </a:solidFill>
                <a:latin typeface="Calibri"/>
              </a:defRPr>
            </a:pPr>
            <a:r>
              <a:t>Maquina de estados en codigo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0" y="320040"/>
            <a:ext cx="1188720" cy="36576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0" y="320040"/>
            <a:ext cx="1188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NODE.JS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1247120" cy="51206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5362892" cy="475488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// Mapa de transiciones validas</a:t>
            </a:r>
          </a:p>
          <a:p>
            <a:pPr/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const validTransitions = {</a:t>
            </a:r>
          </a:p>
          <a:p>
            <a:pPr/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active:       ['transferring', 'blocked'],</a:t>
            </a:r>
          </a:p>
          <a:p>
            <a:pPr/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transferring: ['active'],</a:t>
            </a:r>
          </a:p>
          <a:p>
            <a:pPr/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blocked:      ['active'],</a:t>
            </a:r>
          </a:p>
          <a:p>
            <a:pPr/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};</a:t>
            </a:r>
          </a:p>
          <a:p>
            <a:pPr/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/>
            </a:r>
          </a:p>
          <a:p>
            <a:pPr/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function isValidTransition(currentStatus, newStatus) {</a:t>
            </a:r>
          </a:p>
          <a:p>
            <a:pPr/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const allowed = validTransitions[currentStatus];</a:t>
            </a:r>
          </a:p>
          <a:p>
            <a:pPr/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if (!allowed) {</a:t>
            </a:r>
          </a:p>
          <a:p>
            <a:pPr/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    return false;</a:t>
            </a:r>
          </a:p>
          <a:p>
            <a:pPr/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}</a:t>
            </a:r>
          </a:p>
          <a:p>
            <a:pPr/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return allowed.includes(newStatus);</a:t>
            </a:r>
          </a:p>
          <a:p>
            <a:pPr/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}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0B77118-14D9-FA2D-4342-90141A0785F8}"/>
              </a:ext>
            </a:extLst>
          </p:cNvPr>
          <p:cNvSpPr txBox="1"/>
          <p:nvPr/>
        </p:nvSpPr>
        <p:spPr>
          <a:xfrm>
            <a:off x="6536399" y="1418435"/>
            <a:ext cx="516792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// Uso en una funcion del chaincode:</a:t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if (!isValidTransition(property.status, newStatus)) {</a:t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throw new Error(</a:t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    `transicion no permitida: ` +</a:t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    `${property.status} -&gt; ${newStatus}`);</a:t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}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2A41D08A-86A5-927B-352A-44D7B85BB922}"/>
              </a:ext>
            </a:extLst>
          </p:cNvPr>
          <p:cNvSpPr/>
          <p:nvPr/>
        </p:nvSpPr>
        <p:spPr>
          <a:xfrm>
            <a:off x="6094412" y="1234440"/>
            <a:ext cx="45719" cy="51206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Private Data Collections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0">
                <a:solidFill>
                  <a:srgbClr val="FFFFFF"/>
                </a:solidFill>
                <a:latin typeface="Calibri"/>
              </a:defRPr>
            </a:pPr>
            <a:r>
              <a:t>Datos confidenciales entre subconjuntos de organizaciones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Private Data Collections: concepto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No todos los datos deben ser visibles para todas las organizaciones del canal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Private Data Collections permiten compartir datos solo entre orgs seleccionadas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En el ledger publico solo se guarda un hash de los datos privados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Los datos reales se almacenan en una base de datos privada en los peers autorizados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Ejemplo: en una transferencia de propiedad,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El precio de venta solo lo ven comprador y vendedor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El resto de organizaciones ven que hubo una transferencia, pero no el precio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El hash en el ledger publico garantiza la integridad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22627E"/>
                </a:solidFill>
                <a:latin typeface="Calibri"/>
              </a:defRPr>
            </a:pPr>
            <a:r>
              <a:t>Private Data: configuracion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Definir quien puede leer/escribir cada coleccion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15600" y="320040"/>
            <a:ext cx="1188720" cy="36576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0" y="320040"/>
            <a:ext cx="1188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JSON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11247120" cy="51206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533294"/>
            <a:ext cx="10698480" cy="475488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//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collections_config.json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- se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pasa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al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desplegar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el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chaincode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[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{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    "name": "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privatePropertyDetails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",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    "policy": "OR('Org1MSP.member', 'Org2MSP.member')",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    "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requiredPeerCount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": 1,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    "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maxPeerCount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": 2,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    "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blockToLive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": 0,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    "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memberOnlyRead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": true,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    "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memberOnlyWrite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": true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},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{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    "name": "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priceAgreement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",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    "policy": "AND('Org1MSP.member', 'Org2MSP.member')",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    "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requiredPeerCount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": 1,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    "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maxPeerCount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": 2,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    "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blockToLive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": 100,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    "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memberOnlyRead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": true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}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22627E"/>
                </a:solidFill>
                <a:latin typeface="Calibri"/>
              </a:defRPr>
            </a:pPr>
            <a:r>
              <a:t>Private Data: leer y escribir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Transient data + PutPrivateData / GetPrivateData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15600" y="320040"/>
            <a:ext cx="1188720" cy="36576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0" y="320040"/>
            <a:ext cx="1188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NODE.JS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11247120" cy="51206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6695192" cy="475488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// Escribir en una Private Data Collection</a:t>
            </a:r>
          </a:p>
          <a:p>
            <a:pPr/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async SetPrivatePrice(ctx, propertyID) {</a:t>
            </a:r>
          </a:p>
          <a:p>
            <a:pPr/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// Los datos privados vienen en transient data (no en el ledger)</a:t>
            </a:r>
          </a:p>
          <a:p>
            <a:pPr/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const transientMap = ctx.stub.getTransient();</a:t>
            </a:r>
          </a:p>
          <a:p>
            <a:pPr/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const priceData = transientMap.get('price');</a:t>
            </a:r>
          </a:p>
          <a:p>
            <a:pPr/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if (!priceData) {</a:t>
            </a:r>
          </a:p>
          <a:p>
            <a:pPr/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    throw new Error(</a:t>
            </a:r>
          </a:p>
          <a:p>
            <a:pPr/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        'falta el campo "price" en transient data');</a:t>
            </a:r>
          </a:p>
          <a:p>
            <a:pPr/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}</a:t>
            </a:r>
          </a:p>
          <a:p>
            <a:pPr/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/>
            </a:r>
          </a:p>
          <a:p>
            <a:pPr/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// Guardar en la coleccion privada</a:t>
            </a:r>
          </a:p>
          <a:p>
            <a:pPr/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await ctx.stub.putPrivateData(</a:t>
            </a:r>
          </a:p>
          <a:p>
            <a:pPr/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    'priceAgreement', propertyID, priceData);</a:t>
            </a:r>
          </a:p>
          <a:p>
            <a:pPr/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}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FC13C727-17AD-106A-629E-303C3CFBA2E2}"/>
              </a:ext>
            </a:extLst>
          </p:cNvPr>
          <p:cNvSpPr txBox="1"/>
          <p:nvPr/>
        </p:nvSpPr>
        <p:spPr>
          <a:xfrm>
            <a:off x="6886436" y="1659285"/>
            <a:ext cx="4733135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// Leer de una Private Data Collection</a:t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async GetPrivatePrice(ctx, propertyID) {</a:t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const priceData = await ctx.stub.getPrivateData(</a:t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    'priceAgreement', propertyID);</a:t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/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if (!priceData || priceData.length === 0) {</a:t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    return '';</a:t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}</a:t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return priceData.toString();</a:t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}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2E25086C-CC6A-64A8-F88A-42962B1377D7}"/>
              </a:ext>
            </a:extLst>
          </p:cNvPr>
          <p:cNvSpPr/>
          <p:nvPr/>
        </p:nvSpPr>
        <p:spPr>
          <a:xfrm>
            <a:off x="6467707" y="1417320"/>
            <a:ext cx="45719" cy="51206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Eventos de chaincode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Los chaincodes pueden emitir eventos que las aplicaciones cliente reciben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Utiles para: notificaciones, integraciones, audit logs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Se emiten con ctx.GetStub().SetEvent(name, payload)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Solo se emite UN evento por transaccion (el ultimo SetEvent gana)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El cliente se suscribe con el Gateway SDK: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contract.RegisterEvent() en Go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network.addBlockListener() / contract.addContractListener() en Node.js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22627E"/>
                </a:solidFill>
                <a:latin typeface="Calibri"/>
              </a:defRPr>
            </a:pPr>
            <a:r>
              <a:t>Eventos: ejemplo completo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0" y="320040"/>
            <a:ext cx="1188720" cy="36576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0" y="320040"/>
            <a:ext cx="1188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NODE.JS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1247120" cy="51206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5858851" cy="475488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// En el chaincode: emitir evento al transferir</a:t>
            </a:r>
          </a:p>
          <a:p>
            <a:pPr/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// (en JS no hay struct, se construye el objeto directamente)</a:t>
            </a:r>
          </a:p>
          <a:p>
            <a:pPr/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/>
            </a:r>
          </a:p>
          <a:p>
            <a:pPr/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async TransferProperty(ctx, id, newOwner) {</a:t>
            </a:r>
          </a:p>
          <a:p>
            <a:pPr/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// ... logica de transferencia ...</a:t>
            </a:r>
          </a:p>
          <a:p>
            <a:pPr/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/>
            </a:r>
          </a:p>
          <a:p>
            <a:pPr/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const event = {</a:t>
            </a:r>
          </a:p>
          <a:p>
            <a:pPr/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    propertyID: id,</a:t>
            </a:r>
          </a:p>
          <a:p>
            <a:pPr/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    from: property.owner,</a:t>
            </a:r>
          </a:p>
          <a:p>
            <a:pPr/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    to: newOwner,</a:t>
            </a:r>
          </a:p>
          <a:p>
            <a:pPr/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    timestamp: new Date().toISOString()</a:t>
            </a:r>
          </a:p>
          <a:p>
            <a:pPr/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};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73CE29DF-B7AF-A314-786C-6780FE5F9421}"/>
              </a:ext>
            </a:extLst>
          </p:cNvPr>
          <p:cNvSpPr txBox="1"/>
          <p:nvPr/>
        </p:nvSpPr>
        <p:spPr>
          <a:xfrm>
            <a:off x="6462402" y="1417320"/>
            <a:ext cx="4833783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const eventJSON = Buffer.from(JSON.stringify(event));</a:t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ctx.stub.setEvent('PropertyTransferred', eventJSON);</a:t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}</a:t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/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// En el cliente Node.js: escuchar eventos</a:t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// const listener = async (event) =&gt; {</a:t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//     const payload = JSON.parse(</a:t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//         event.payload.toString());</a:t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//     console.log('Transferencia:', payload.propertyID);</a:t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// };</a:t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// contract.addContractListener(listener);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1701B4CE-8B1A-04A5-04FA-81D526FE24DE}"/>
              </a:ext>
            </a:extLst>
          </p:cNvPr>
          <p:cNvSpPr/>
          <p:nvPr/>
        </p:nvSpPr>
        <p:spPr>
          <a:xfrm>
            <a:off x="5876693" y="1234440"/>
            <a:ext cx="45719" cy="51206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D9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2286000" cy="457200"/>
          </a:xfrm>
          <a:prstGeom prst="rect">
            <a:avLst/>
          </a:prstGeom>
          <a:solidFill>
            <a:srgbClr val="0D9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PRACTICA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74320"/>
            <a:ext cx="8686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333333"/>
                </a:solidFill>
                <a:latin typeface="Calibri"/>
              </a:defRPr>
            </a:pPr>
            <a:r>
              <a:t>Chaincode de Registro de Propiedad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0D9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Objetivo: implementar un chaincode completo con logica de negocio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Requisitos del chaincode: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1. CRUD de propiedades (reutilizar el modelo del dia anterior)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2. Maquina de estados: active / transferring / blocked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3. Control de acceso: solo el owner puede iniciar transferencia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4. Rol registrador (ABAC) para confirmar transferencias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5. Private Data: precio de venta solo visible para comprador y vendedor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6. Evento PropertyTransferred al completar una transferencia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Usar el prompt de IA para generar la base y luego adaptar.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Desplegar en la test-network y probar todos los flujos.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Trabajar en parejas. Tiempo estimado: 90 minutos.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22627E"/>
                </a:solidFill>
                <a:latin typeface="Calibri"/>
              </a:defRPr>
            </a:pPr>
            <a:r>
              <a:t>Prompt IA: Chaincode con logica de negocio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011680" cy="411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20116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PROMPT IA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11680"/>
            <a:ext cx="11247120" cy="4114800"/>
          </a:xfrm>
          <a:prstGeom prst="rect">
            <a:avLst/>
          </a:prstGeom>
          <a:solidFill>
            <a:srgbClr val="F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0698480" cy="374903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0">
                <a:solidFill>
                  <a:srgbClr val="333333"/>
                </a:solidFill>
                <a:latin typeface="Consolas"/>
              </a:defRPr>
            </a:pPr>
            <a:r>
              <a:t>Genera un chaincode de Hyperledger Fabric en [Go/Node.js]</a:t>
            </a:r>
            <a:br/>
            <a:r>
              <a:t>para un Registro de Propiedad con estas funcionalidades:</a:t>
            </a:r>
            <a:br/>
            <a:br/>
            <a:r>
              <a:t>1. CRUD completo de Property (id, address, owner, area,</a:t>
            </a:r>
            <a:br/>
            <a:r>
              <a:t>   propertyType, status, appraisalValue)</a:t>
            </a:r>
            <a:br/>
            <a:r>
              <a:t>2. Maquina de estados con transiciones validadas:</a:t>
            </a:r>
            <a:br/>
            <a:r>
              <a:t>   active &lt;-&gt; transferring, active &lt;-&gt; blocked</a:t>
            </a:r>
            <a:br/>
            <a:r>
              <a:t>3. Control de acceso por MSPID (solo el owner opera)</a:t>
            </a:r>
            <a:br/>
            <a:r>
              <a:t>   y por atributo "role=registrador" para confirmar</a:t>
            </a:r>
            <a:br/>
            <a:r>
              <a:t>4. Private Data Collection "priceAgreement" para el</a:t>
            </a:r>
            <a:br/>
            <a:r>
              <a:t>   precio de venta (solo comprador y vendedor)</a:t>
            </a:r>
            <a:br/>
            <a:r>
              <a:t>5. Eventos: PropertyCreated, PropertyTransferred</a:t>
            </a:r>
            <a:br/>
            <a:r>
              <a:t>6. Rich queries con CouchDB: buscar por tipo, por owner</a:t>
            </a:r>
            <a:br/>
            <a:br/>
            <a:r>
              <a:t>Incluye el collections_config.json y comentarios en espanol.</a:t>
            </a:r>
            <a:br/>
            <a:r>
              <a:t>Fabric 2.5.x con Contract API.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1645920" cy="457200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645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DEBATE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27432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333333"/>
                </a:solidFill>
                <a:latin typeface="Calibri"/>
              </a:defRPr>
            </a:pPr>
            <a:r>
              <a:t>Logica de negocio en chaincodes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1. ¿Cuanta logica debe ir en el chaincode vs en la app cliente?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2. ¿Que pasa si necesitas cambiar la maquina de estados despues del despliegue?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3. Private Data: ¿es suficiente para cumplir GDPR? ¿Que limitaciones tiene?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4. ¿Que ocurre si un registrador malicioso confirma transferencias falsas?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5. ¿Como gestionariais los roles (registrador, autoridad) en un consorcio real?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Respuestas al debate (1/2)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652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rPr dirty="0"/>
              <a:t>1. Logica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chaincode</a:t>
            </a:r>
            <a:r>
              <a:rPr dirty="0"/>
              <a:t> vs app </a:t>
            </a:r>
            <a:r>
              <a:rPr dirty="0" err="1"/>
              <a:t>cliente</a:t>
            </a:r>
            <a:r>
              <a:rPr dirty="0"/>
              <a:t>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sz="1600" dirty="0"/>
              <a:t>    En </a:t>
            </a:r>
            <a:r>
              <a:rPr sz="1600" dirty="0" err="1"/>
              <a:t>el</a:t>
            </a:r>
            <a:r>
              <a:rPr sz="1600" dirty="0"/>
              <a:t> </a:t>
            </a:r>
            <a:r>
              <a:rPr sz="1600" dirty="0" err="1"/>
              <a:t>chaincode</a:t>
            </a:r>
            <a:r>
              <a:rPr sz="1600" dirty="0"/>
              <a:t>: </a:t>
            </a:r>
            <a:r>
              <a:rPr sz="1600" dirty="0" err="1"/>
              <a:t>reglas</a:t>
            </a:r>
            <a:r>
              <a:rPr sz="1600" dirty="0"/>
              <a:t> de </a:t>
            </a:r>
            <a:r>
              <a:rPr sz="1600" dirty="0" err="1"/>
              <a:t>negocio</a:t>
            </a:r>
            <a:r>
              <a:rPr sz="1600" dirty="0"/>
              <a:t> </a:t>
            </a:r>
            <a:r>
              <a:rPr sz="1600" dirty="0" err="1"/>
              <a:t>inmutables</a:t>
            </a:r>
            <a:r>
              <a:rPr sz="1600" dirty="0"/>
              <a:t> (</a:t>
            </a:r>
            <a:r>
              <a:rPr sz="1600" dirty="0" err="1"/>
              <a:t>saldos</a:t>
            </a:r>
            <a:r>
              <a:rPr sz="1600" dirty="0"/>
              <a:t>, </a:t>
            </a:r>
            <a:r>
              <a:rPr sz="1600" dirty="0" err="1"/>
              <a:t>permisos</a:t>
            </a:r>
            <a:r>
              <a:rPr sz="1600" dirty="0"/>
              <a:t>, </a:t>
            </a:r>
            <a:r>
              <a:rPr sz="1600" dirty="0" err="1"/>
              <a:t>transiciones</a:t>
            </a:r>
            <a:r>
              <a:rPr sz="1600" dirty="0"/>
              <a:t> </a:t>
            </a:r>
            <a:r>
              <a:rPr sz="1600" dirty="0" err="1"/>
              <a:t>validas</a:t>
            </a:r>
            <a:r>
              <a:rPr sz="1600" dirty="0"/>
              <a:t>).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sz="1600" dirty="0"/>
              <a:t>    En </a:t>
            </a:r>
            <a:r>
              <a:rPr sz="1600" dirty="0" err="1"/>
              <a:t>el</a:t>
            </a:r>
            <a:r>
              <a:rPr sz="1600" dirty="0"/>
              <a:t> </a:t>
            </a:r>
            <a:r>
              <a:rPr sz="1600" dirty="0" err="1"/>
              <a:t>cliente</a:t>
            </a:r>
            <a:r>
              <a:rPr sz="1600" dirty="0"/>
              <a:t>: UI, </a:t>
            </a:r>
            <a:r>
              <a:rPr sz="1600" dirty="0" err="1"/>
              <a:t>orquestacion</a:t>
            </a:r>
            <a:r>
              <a:rPr sz="1600" dirty="0"/>
              <a:t>, </a:t>
            </a:r>
            <a:r>
              <a:rPr sz="1600" dirty="0" err="1"/>
              <a:t>validaciones</a:t>
            </a:r>
            <a:r>
              <a:rPr sz="1600" dirty="0"/>
              <a:t> de </a:t>
            </a:r>
            <a:r>
              <a:rPr sz="1600" dirty="0" err="1"/>
              <a:t>formato</a:t>
            </a:r>
            <a:r>
              <a:rPr sz="1600" dirty="0"/>
              <a:t>, UX.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sz="1600" dirty="0"/>
              <a:t>    Regla: </a:t>
            </a:r>
            <a:r>
              <a:rPr sz="1600" dirty="0" err="1"/>
              <a:t>si</a:t>
            </a:r>
            <a:r>
              <a:rPr sz="1600" dirty="0"/>
              <a:t> se </a:t>
            </a:r>
            <a:r>
              <a:rPr sz="1600" dirty="0" err="1"/>
              <a:t>puede</a:t>
            </a:r>
            <a:r>
              <a:rPr sz="1600" dirty="0"/>
              <a:t> </a:t>
            </a:r>
            <a:r>
              <a:rPr sz="1600" dirty="0" err="1"/>
              <a:t>saltar</a:t>
            </a:r>
            <a:r>
              <a:rPr sz="1600" dirty="0"/>
              <a:t> </a:t>
            </a:r>
            <a:r>
              <a:rPr sz="1600" dirty="0" err="1"/>
              <a:t>desde</a:t>
            </a:r>
            <a:r>
              <a:rPr sz="1600" dirty="0"/>
              <a:t> </a:t>
            </a:r>
            <a:r>
              <a:rPr sz="1600" dirty="0" err="1"/>
              <a:t>otro</a:t>
            </a:r>
            <a:r>
              <a:rPr sz="1600" dirty="0"/>
              <a:t> </a:t>
            </a:r>
            <a:r>
              <a:rPr sz="1600" dirty="0" err="1"/>
              <a:t>cliente</a:t>
            </a:r>
            <a:r>
              <a:rPr sz="1600" dirty="0"/>
              <a:t>, NO es </a:t>
            </a:r>
            <a:r>
              <a:rPr sz="1600" dirty="0" err="1"/>
              <a:t>regla</a:t>
            </a:r>
            <a:r>
              <a:rPr sz="1600" dirty="0"/>
              <a:t> de </a:t>
            </a:r>
            <a:r>
              <a:rPr sz="1600" dirty="0" err="1"/>
              <a:t>negocio</a:t>
            </a:r>
            <a:r>
              <a:rPr sz="1600" dirty="0"/>
              <a:t> real.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sz="1600" dirty="0"/>
              <a:t>    Si la </a:t>
            </a:r>
            <a:r>
              <a:rPr sz="1600" dirty="0" err="1"/>
              <a:t>regla</a:t>
            </a:r>
            <a:r>
              <a:rPr sz="1600" dirty="0"/>
              <a:t> </a:t>
            </a:r>
            <a:r>
              <a:rPr sz="1600" dirty="0" err="1"/>
              <a:t>afecta</a:t>
            </a:r>
            <a:r>
              <a:rPr sz="1600" dirty="0"/>
              <a:t> al ledger (</a:t>
            </a:r>
            <a:r>
              <a:rPr sz="1600" dirty="0" err="1"/>
              <a:t>consistencia</a:t>
            </a:r>
            <a:r>
              <a:rPr sz="1600" dirty="0"/>
              <a:t> entre </a:t>
            </a:r>
            <a:r>
              <a:rPr sz="1600" dirty="0" err="1"/>
              <a:t>todos</a:t>
            </a:r>
            <a:r>
              <a:rPr sz="1600" dirty="0"/>
              <a:t> </a:t>
            </a:r>
            <a:r>
              <a:rPr sz="1600" dirty="0" err="1"/>
              <a:t>los</a:t>
            </a:r>
            <a:r>
              <a:rPr sz="1600" dirty="0"/>
              <a:t> peers) -&gt; </a:t>
            </a:r>
            <a:r>
              <a:rPr sz="1600" dirty="0" err="1"/>
              <a:t>chaincode</a:t>
            </a:r>
            <a:r>
              <a:rPr sz="1600" dirty="0"/>
              <a:t>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rPr dirty="0"/>
              <a:t>2. Cambiar la </a:t>
            </a:r>
            <a:r>
              <a:rPr dirty="0" err="1"/>
              <a:t>maquina</a:t>
            </a:r>
            <a:r>
              <a:rPr dirty="0"/>
              <a:t> de </a:t>
            </a:r>
            <a:r>
              <a:rPr dirty="0" err="1"/>
              <a:t>estados</a:t>
            </a:r>
            <a:r>
              <a:rPr dirty="0"/>
              <a:t> </a:t>
            </a:r>
            <a:r>
              <a:rPr dirty="0" err="1"/>
              <a:t>despues</a:t>
            </a:r>
            <a:r>
              <a:rPr dirty="0"/>
              <a:t> del </a:t>
            </a:r>
            <a:r>
              <a:rPr dirty="0" err="1"/>
              <a:t>despliegue</a:t>
            </a:r>
            <a:r>
              <a:rPr dirty="0"/>
              <a:t>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sz="1600" dirty="0"/>
              <a:t>    Se </a:t>
            </a:r>
            <a:r>
              <a:rPr sz="1600" dirty="0" err="1"/>
              <a:t>despliega</a:t>
            </a:r>
            <a:r>
              <a:rPr sz="1600" dirty="0"/>
              <a:t> </a:t>
            </a:r>
            <a:r>
              <a:rPr sz="1600" dirty="0" err="1"/>
              <a:t>una</a:t>
            </a:r>
            <a:r>
              <a:rPr sz="1600" dirty="0"/>
              <a:t> </a:t>
            </a:r>
            <a:r>
              <a:rPr sz="1600" dirty="0" err="1"/>
              <a:t>nueva</a:t>
            </a:r>
            <a:r>
              <a:rPr sz="1600" dirty="0"/>
              <a:t> version del </a:t>
            </a:r>
            <a:r>
              <a:rPr sz="1600" dirty="0" err="1"/>
              <a:t>chaincode</a:t>
            </a:r>
            <a:r>
              <a:rPr sz="1600" dirty="0"/>
              <a:t> con sequence </a:t>
            </a:r>
            <a:r>
              <a:rPr sz="1600" dirty="0" err="1"/>
              <a:t>incrementado</a:t>
            </a:r>
            <a:r>
              <a:rPr sz="1600" dirty="0"/>
              <a:t>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sz="1600" dirty="0"/>
              <a:t>    El World State se </a:t>
            </a:r>
            <a:r>
              <a:rPr sz="1600" dirty="0" err="1"/>
              <a:t>preserva</a:t>
            </a:r>
            <a:r>
              <a:rPr sz="1600" dirty="0"/>
              <a:t> — </a:t>
            </a:r>
            <a:r>
              <a:rPr sz="1600" dirty="0" err="1"/>
              <a:t>los</a:t>
            </a:r>
            <a:r>
              <a:rPr sz="1600" dirty="0"/>
              <a:t> </a:t>
            </a:r>
            <a:r>
              <a:rPr sz="1600" dirty="0" err="1"/>
              <a:t>datos</a:t>
            </a:r>
            <a:r>
              <a:rPr sz="1600" dirty="0"/>
              <a:t> </a:t>
            </a:r>
            <a:r>
              <a:rPr sz="1600" dirty="0" err="1"/>
              <a:t>antiguos</a:t>
            </a:r>
            <a:r>
              <a:rPr sz="1600" dirty="0"/>
              <a:t> </a:t>
            </a:r>
            <a:r>
              <a:rPr sz="1600" dirty="0" err="1"/>
              <a:t>siguen</a:t>
            </a:r>
            <a:r>
              <a:rPr sz="1600" dirty="0"/>
              <a:t> ahi.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sz="1600" dirty="0"/>
              <a:t>    </a:t>
            </a:r>
            <a:r>
              <a:rPr sz="1600" dirty="0" err="1"/>
              <a:t>Estrategias</a:t>
            </a:r>
            <a:r>
              <a:rPr sz="1600" dirty="0"/>
              <a:t>: </a:t>
            </a:r>
            <a:r>
              <a:rPr sz="1600" dirty="0" err="1"/>
              <a:t>anadir</a:t>
            </a:r>
            <a:r>
              <a:rPr sz="1600" dirty="0"/>
              <a:t> </a:t>
            </a:r>
            <a:r>
              <a:rPr sz="1600" dirty="0" err="1"/>
              <a:t>estados</a:t>
            </a:r>
            <a:r>
              <a:rPr sz="1600" dirty="0"/>
              <a:t> </a:t>
            </a:r>
            <a:r>
              <a:rPr sz="1600" dirty="0" err="1"/>
              <a:t>nuevos</a:t>
            </a:r>
            <a:r>
              <a:rPr sz="1600" dirty="0"/>
              <a:t> sin romper </a:t>
            </a:r>
            <a:r>
              <a:rPr sz="1600" dirty="0" err="1"/>
              <a:t>los</a:t>
            </a:r>
            <a:r>
              <a:rPr sz="1600" dirty="0"/>
              <a:t> </a:t>
            </a:r>
            <a:r>
              <a:rPr sz="1600" dirty="0" err="1"/>
              <a:t>antiguos</a:t>
            </a:r>
            <a:r>
              <a:rPr sz="1600" dirty="0"/>
              <a:t> (</a:t>
            </a:r>
            <a:r>
              <a:rPr sz="1600" dirty="0" err="1"/>
              <a:t>retrocompatibilidad</a:t>
            </a:r>
            <a:r>
              <a:rPr sz="1600" dirty="0"/>
              <a:t>).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sz="1600" dirty="0"/>
              <a:t>    Si la </a:t>
            </a:r>
            <a:r>
              <a:rPr sz="1600" dirty="0" err="1"/>
              <a:t>transicion</a:t>
            </a:r>
            <a:r>
              <a:rPr sz="1600" dirty="0"/>
              <a:t> cambia </a:t>
            </a:r>
            <a:r>
              <a:rPr sz="1600" dirty="0" err="1"/>
              <a:t>radicalmente</a:t>
            </a:r>
            <a:r>
              <a:rPr sz="1600" dirty="0"/>
              <a:t>: </a:t>
            </a:r>
            <a:r>
              <a:rPr sz="1600" dirty="0" err="1"/>
              <a:t>migracion</a:t>
            </a:r>
            <a:r>
              <a:rPr sz="1600" dirty="0"/>
              <a:t> </a:t>
            </a:r>
            <a:r>
              <a:rPr sz="1600" dirty="0" err="1"/>
              <a:t>perezosa</a:t>
            </a:r>
            <a:r>
              <a:rPr sz="1600" dirty="0"/>
              <a:t> </a:t>
            </a:r>
            <a:r>
              <a:rPr sz="1600" dirty="0" err="1"/>
              <a:t>en</a:t>
            </a:r>
            <a:r>
              <a:rPr sz="1600" dirty="0"/>
              <a:t> </a:t>
            </a:r>
            <a:r>
              <a:rPr sz="1600" dirty="0" err="1"/>
              <a:t>cada</a:t>
            </a:r>
            <a:r>
              <a:rPr sz="1600" dirty="0"/>
              <a:t> </a:t>
            </a:r>
            <a:r>
              <a:rPr sz="1600" dirty="0" err="1"/>
              <a:t>lectura</a:t>
            </a:r>
            <a:r>
              <a:rPr sz="1600" dirty="0"/>
              <a:t>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sz="1600" dirty="0"/>
              <a:t>    Cuidado: </a:t>
            </a:r>
            <a:r>
              <a:rPr sz="1600" dirty="0" err="1"/>
              <a:t>nunca</a:t>
            </a:r>
            <a:r>
              <a:rPr sz="1600" dirty="0"/>
              <a:t> </a:t>
            </a:r>
            <a:r>
              <a:rPr sz="1600" dirty="0" err="1"/>
              <a:t>cambies</a:t>
            </a:r>
            <a:r>
              <a:rPr sz="1600" dirty="0"/>
              <a:t> </a:t>
            </a:r>
            <a:r>
              <a:rPr sz="1600" dirty="0" err="1"/>
              <a:t>el</a:t>
            </a:r>
            <a:r>
              <a:rPr sz="1600" dirty="0"/>
              <a:t> </a:t>
            </a:r>
            <a:r>
              <a:rPr sz="1600" dirty="0" err="1"/>
              <a:t>significado</a:t>
            </a:r>
            <a:r>
              <a:rPr sz="1600" dirty="0"/>
              <a:t> de un </a:t>
            </a:r>
            <a:r>
              <a:rPr sz="1600" dirty="0" err="1"/>
              <a:t>estado</a:t>
            </a:r>
            <a:r>
              <a:rPr sz="1600" dirty="0"/>
              <a:t> </a:t>
            </a:r>
            <a:r>
              <a:rPr sz="1600" dirty="0" err="1"/>
              <a:t>existente</a:t>
            </a:r>
            <a:r>
              <a:rPr sz="1600" dirty="0"/>
              <a:t>, </a:t>
            </a:r>
            <a:r>
              <a:rPr sz="1600" dirty="0" err="1"/>
              <a:t>crea</a:t>
            </a:r>
            <a:r>
              <a:rPr sz="1600" dirty="0"/>
              <a:t> uno nuevo.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rPr dirty="0"/>
              <a:t>3. Private Data y GDPR: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sz="1600" dirty="0"/>
              <a:t>    Private Data </a:t>
            </a:r>
            <a:r>
              <a:rPr sz="1600" dirty="0" err="1"/>
              <a:t>ayuda</a:t>
            </a:r>
            <a:r>
              <a:rPr sz="1600" dirty="0"/>
              <a:t> </a:t>
            </a:r>
            <a:r>
              <a:rPr sz="1600" dirty="0" err="1"/>
              <a:t>pero</a:t>
            </a:r>
            <a:r>
              <a:rPr sz="1600" dirty="0"/>
              <a:t> NO </a:t>
            </a:r>
            <a:r>
              <a:rPr sz="1600" dirty="0" err="1"/>
              <a:t>cumple</a:t>
            </a:r>
            <a:r>
              <a:rPr sz="1600" dirty="0"/>
              <a:t> GDPR </a:t>
            </a:r>
            <a:r>
              <a:rPr sz="1600" dirty="0" err="1"/>
              <a:t>por</a:t>
            </a:r>
            <a:r>
              <a:rPr sz="1600" dirty="0"/>
              <a:t> </a:t>
            </a:r>
            <a:r>
              <a:rPr sz="1600" dirty="0" err="1"/>
              <a:t>si</a:t>
            </a:r>
            <a:r>
              <a:rPr sz="1600" dirty="0"/>
              <a:t> solo.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sz="1600" dirty="0"/>
              <a:t>    El hash </a:t>
            </a:r>
            <a:r>
              <a:rPr sz="1600" dirty="0" err="1"/>
              <a:t>queda</a:t>
            </a:r>
            <a:r>
              <a:rPr sz="1600" dirty="0"/>
              <a:t> on-chain para </a:t>
            </a:r>
            <a:r>
              <a:rPr sz="1600" dirty="0" err="1"/>
              <a:t>siempre</a:t>
            </a:r>
            <a:r>
              <a:rPr sz="1600" dirty="0"/>
              <a:t> (</a:t>
            </a:r>
            <a:r>
              <a:rPr sz="1600" dirty="0" err="1"/>
              <a:t>inmutable</a:t>
            </a:r>
            <a:r>
              <a:rPr sz="1600" dirty="0"/>
              <a:t>) — </a:t>
            </a:r>
            <a:r>
              <a:rPr sz="1600" dirty="0" err="1"/>
              <a:t>potencialmente</a:t>
            </a:r>
            <a:r>
              <a:rPr sz="1600" dirty="0"/>
              <a:t> </a:t>
            </a:r>
            <a:r>
              <a:rPr sz="1600" dirty="0" err="1"/>
              <a:t>trazable</a:t>
            </a:r>
            <a:r>
              <a:rPr sz="1600" dirty="0"/>
              <a:t>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sz="1600" dirty="0"/>
              <a:t>    </a:t>
            </a:r>
            <a:r>
              <a:rPr sz="1600" dirty="0" err="1"/>
              <a:t>blockToLive</a:t>
            </a:r>
            <a:r>
              <a:rPr sz="1600" dirty="0"/>
              <a:t> </a:t>
            </a:r>
            <a:r>
              <a:rPr sz="1600" dirty="0" err="1"/>
              <a:t>permite</a:t>
            </a:r>
            <a:r>
              <a:rPr sz="1600" dirty="0"/>
              <a:t> </a:t>
            </a:r>
            <a:r>
              <a:rPr sz="1600" dirty="0" err="1"/>
              <a:t>caducar</a:t>
            </a:r>
            <a:r>
              <a:rPr sz="1600" dirty="0"/>
              <a:t> </a:t>
            </a:r>
            <a:r>
              <a:rPr sz="1600" dirty="0" err="1"/>
              <a:t>datos</a:t>
            </a:r>
            <a:r>
              <a:rPr sz="1600" dirty="0"/>
              <a:t> privados, </a:t>
            </a:r>
            <a:r>
              <a:rPr sz="1600" dirty="0" err="1"/>
              <a:t>pero</a:t>
            </a:r>
            <a:r>
              <a:rPr sz="1600" dirty="0"/>
              <a:t> </a:t>
            </a:r>
            <a:r>
              <a:rPr sz="1600" dirty="0" err="1"/>
              <a:t>el</a:t>
            </a:r>
            <a:r>
              <a:rPr sz="1600" dirty="0"/>
              <a:t> hash </a:t>
            </a:r>
            <a:r>
              <a:rPr sz="1600" dirty="0" err="1"/>
              <a:t>sigue</a:t>
            </a:r>
            <a:r>
              <a:rPr sz="1600" dirty="0"/>
              <a:t>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sz="1600" dirty="0"/>
              <a:t>    Mejor practica: </a:t>
            </a:r>
            <a:r>
              <a:rPr sz="1600" dirty="0" err="1"/>
              <a:t>datos</a:t>
            </a:r>
            <a:r>
              <a:rPr sz="1600" dirty="0"/>
              <a:t> </a:t>
            </a:r>
            <a:r>
              <a:rPr sz="1600" dirty="0" err="1"/>
              <a:t>personales</a:t>
            </a:r>
            <a:r>
              <a:rPr sz="1600" dirty="0"/>
              <a:t> OFF-CHAIN, solo hash/</a:t>
            </a:r>
            <a:r>
              <a:rPr sz="1600" dirty="0" err="1"/>
              <a:t>referencia</a:t>
            </a:r>
            <a:r>
              <a:rPr sz="1600" dirty="0"/>
              <a:t> on-chain.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sz="1600" dirty="0"/>
              <a:t>    Cuando borras </a:t>
            </a:r>
            <a:r>
              <a:rPr sz="1600" dirty="0" err="1"/>
              <a:t>el</a:t>
            </a:r>
            <a:r>
              <a:rPr sz="1600" dirty="0"/>
              <a:t> </a:t>
            </a:r>
            <a:r>
              <a:rPr sz="1600" dirty="0" err="1"/>
              <a:t>dato</a:t>
            </a:r>
            <a:r>
              <a:rPr sz="1600" dirty="0"/>
              <a:t> off-chain, </a:t>
            </a:r>
            <a:r>
              <a:rPr sz="1600" dirty="0" err="1"/>
              <a:t>el</a:t>
            </a:r>
            <a:r>
              <a:rPr sz="1600" dirty="0"/>
              <a:t> hash on-chain </a:t>
            </a:r>
            <a:r>
              <a:rPr sz="1600" dirty="0" err="1"/>
              <a:t>queda</a:t>
            </a:r>
            <a:r>
              <a:rPr sz="1600" dirty="0"/>
              <a:t> </a:t>
            </a:r>
            <a:r>
              <a:rPr sz="1600" dirty="0" err="1"/>
              <a:t>huerfano</a:t>
            </a:r>
            <a:r>
              <a:rPr sz="1600" dirty="0"/>
              <a:t> (</a:t>
            </a:r>
            <a:r>
              <a:rPr sz="1600" dirty="0" err="1"/>
              <a:t>pseudonimizacion</a:t>
            </a:r>
            <a:r>
              <a:rPr sz="1600" dirty="0"/>
              <a:t> </a:t>
            </a:r>
            <a:r>
              <a:rPr sz="1600" dirty="0" err="1"/>
              <a:t>efectiva</a:t>
            </a:r>
            <a:r>
              <a:rPr sz="1600" dirty="0"/>
              <a:t>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Respuestas al debate (2/2)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4. Registrador malicioso confirma transferencias falsas: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El chaincode por si solo no lo evita — solo valida que tiene el atributo 'role=registrador'.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Mitigaciones en capas: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  a) Multi-firma: transferencias criticas requieren N de M registradores (endorsement policy).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  b) Auditoria externa: un rol 'auditor' revisa transacciones periodicamente.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  c) Jurisdiccion legal: el certificado identifica a la persona, responsabilidad penal.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  d) Revocacion rapida del certificado si se detecta fraude + CRL actualizada.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Ningun sistema es 100% a prueba de insider malicioso; blockchain reduce pero no elimina.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5. Gestion de roles (registrador, autoridad) en un consorcio real: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Registrar los roles como atributos del certificado X.509 via Fabric CA.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Separacion de funciones: quien otorga el rol NO puede usarlo.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Rotacion de roles: no dejar eternamente al mismo usuario con privilegios.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Gobernanza clara: documento del consorcio define quien puede asignar cada rol.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Logs de auditoria: cada emisin/revocacion de rol queda registrada en Fabric CA.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Reglas en el chaincode: un rol solo puede hacer ciertas operaciones (ABAC).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Repaso del dia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1. ¿Como se verifica la identidad del cliente en un chaincode?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2. ¿Que diferencia hay entre GetMSPID() y AssertAttributeValue()?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3. ¿Que es una maquina de estados y por que es util en chaincodes?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4. ¿Que son las Private Data Collections?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5. ¿Donde se almacenan los datos privados vs el hash?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6. ¿Como se emite un evento desde un chaincode?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7. ¿Cuantos eventos se pueden emitir por transaccion?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Respuestas al repaso (1/2)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1. Verificacion de identidad en un chaincode: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A traves de ctx.GetClientIdentity(), que devuelve datos del certificado X.509 del caller.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Metodos principales: GetID, GetMSPID, GetAttributeValue, AssertAttributeValue.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El peer YA ha validado el certificado antes de llamar al chaincode (no tienes que validarlo tu).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Tu trabajo es decidir si ese cert autenticado puede hacer lo que pide (autorizacion).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2. GetMSPID() vs AssertAttributeValue():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GetMSPID(): devuelve la organizacion del caller ('Org1MSP', 'HotelMSP'...).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AssertAttributeValue(attr, value): comprueba un atributo custom del cert (devuelve error si no coincide).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GetMSPID: para controlar QUE ORG llama (Hotel vs Cafeteria).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AssertAttributeValue: para controlar QUE ROL tiene (registrador, auditor, admin).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3. Maquina de estados en chaincodes: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Conjunto de estados validos y transiciones permitidas entre ellos.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Ejemplo propiedad: active -&gt; transferring -&gt; active | blocked.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Util para: evitar estados imposibles, forzar orden correcto, claridad del dominio.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Implementacion: validar en cada funcion 'if currentStatus != X return error'.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Respuestas al repaso (2/2)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4. Private Data Collections: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Mecanismo para compartir datos solo entre un subconjunto de orgs del canal.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Se definen en collections_config.json: nombre, policy, blockToLive, miembros.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Ejemplo: priceAgreement visible solo entre comprador y vendedor, no otras orgs.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5. Donde se almacenan datos privados vs hash: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Datos privados: base de datos privada de cada peer autorizado (LevelDB/CouchDB del peer).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Hash: en el ledger publico del canal, visible para TODAS las orgs.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El hash garantiza integridad sin revelar el contenido.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6. Emitir un evento desde chaincode: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ctx.GetStub().SetEvent(nombreEvento, payloadBytes).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Ejemplo: ctx.GetStub().SetEvent('PropertyTransferred', eventJSON).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Los clientes se suscriben con contract.addContractListener() o peer channel events.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7. Cuantos eventos por transaccion: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SOLO UNO por transaccion. Si llamas SetEvent dos veces, solo el ultimo prevalece.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Si necesitas notificar varias cosas, usa un JSON con multiples campos en el payload.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Alternativa: emitir un evento generico con 'type' dentro que indique que ha pasado.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3244</Words>
  <Application>Microsoft Office PowerPoint</Application>
  <PresentationFormat>Personalizado</PresentationFormat>
  <Paragraphs>198</Paragraphs>
  <Slides>24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Javier Nieto</cp:lastModifiedBy>
  <cp:revision>3</cp:revision>
  <dcterms:created xsi:type="dcterms:W3CDTF">2013-01-27T09:14:16Z</dcterms:created>
  <dcterms:modified xsi:type="dcterms:W3CDTF">2026-04-23T11:04:30Z</dcterms:modified>
  <cp:category/>
</cp:coreProperties>
</file>