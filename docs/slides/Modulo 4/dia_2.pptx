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94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Diseno de Chaincodes:</a:t>
            </a:r>
            <a:br/>
            <a:r>
              <a:t>Patrones y Arquitectura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2 - Anatomia, modelado de datos y patrones CRUD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¿Cual es la principal diferencia entre tokens en Ethereum y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Nombra las tres formas de implementar tokens en Fabric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¿Que es el modelo UTXO?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¿Por que Fabric no tiene moneda nativa?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Grace Hopper: la madre del debugging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Grace Hopper (1906-1992) fue una pionera de la informatica y contraalmirante de la US Navy.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Desarrollo el primer compilador (A-0) y contribuyo al lenguaje COBOL.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1947, su equipo encontro una polilla atrapada en un rele del Mark II.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Pego la polilla en el cuaderno de bitacora con la nota: 'First actual case of bug being found'.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Aunque el termino 'bug' ya existia, este incidente lo popularizo en informatica.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Leccion para el curso: cuando un chaincode no funciona... puede que sea un bug literal.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¿Sabiais que el USS Hopper (DDG-70), un destructor de la US Navy, lleva su nombre?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¿Que es un chaincode en Fabric?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chaincode es un programa que se ejecuta en los peers de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Equivalente a un Smart Contract, pero con diferencias importantes: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Se despliega a traves del lifecycle (no con una transaccion como en EVM)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paga gas: el coste es operativo, no transaccional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Accede al World State via Stub API, no a storage slots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chaincode puede contener MULTIPLES contratos (clases)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empaqueta como un contenedor Docker independiente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ejecuta en un entorno aislado del peer (sandbox)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Lenguajes soportados: Go, Node.js, Java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Chaincode vs Smart Contract: terminologia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En 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 Smart Contract = 1 direccion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Escrito en Solidity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Desplegado con una transaccion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Ejecutado por todos los nodos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Estado en storage slots (mapping)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Inmutable una vez desplegado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(salvo patron proxy)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280160"/>
            <a:ext cx="27432" cy="5029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En Fabric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 Chaincode = N contratos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Escrito en Go / Node.js / Java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Desplegado via lifecycle (approve + commit)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Ejecutado solo por endorsing peers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Estado en World State (key-value)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Actualizable via lifecycle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(nueva version, misma politica)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Anatomia de un chaincode en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Estructura basica: clase que extiende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6472168" cy="475488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'use strict';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const { Contract } = require('fabric-contract-api');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SmartContract proporciona las funciones del chaincode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class SmartContract extends Contract {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InitLedger inicializa el ledger con datos de ejemplo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async InitLedger(ctx) {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// Logica de inicializacion aqui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A21C1A2-05E3-2D06-636D-7790CB8DCE1D}"/>
              </a:ext>
            </a:extLst>
          </p:cNvPr>
          <p:cNvSpPr txBox="1"/>
          <p:nvPr/>
        </p:nvSpPr>
        <p:spPr>
          <a:xfrm>
            <a:off x="6705212" y="1640344"/>
            <a:ext cx="5026413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// Exportar para que Fabric cargue el chaincode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module.exports = SmartContract;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// package.json: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// {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//   "main": "index.js",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//   "dependencies": {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//     "fabric-contract-api": "^2.2"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//   }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// }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4A94A50F-0BA7-54F7-F35E-735DB726FACC}"/>
              </a:ext>
            </a:extLst>
          </p:cNvPr>
          <p:cNvSpPr/>
          <p:nvPr/>
        </p:nvSpPr>
        <p:spPr>
          <a:xfrm>
            <a:off x="6244683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Anatomia de un chaincode en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Estructura basica: clase que extiende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4888695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'use strict';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const { Contract } = require('fabric-contract-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api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class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AssetContract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extends Contract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async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InitLedger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// Logica de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inicializacion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aqui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const assets = [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{ ID: 'asset1', Owner: 'Alice', Value: 100 },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{ ID: 'asset2', Owner: 'Bob',   Value: 200 },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];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for (const asset of assets)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await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ctx.stub.putState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(asset.ID,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Buffer.from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JSON.stringify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(asset)));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};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EE83585-9487-4925-588B-EEFB09F21988}"/>
              </a:ext>
            </a:extLst>
          </p:cNvPr>
          <p:cNvSpPr txBox="1"/>
          <p:nvPr/>
        </p:nvSpPr>
        <p:spPr>
          <a:xfrm>
            <a:off x="6434796" y="1599292"/>
            <a:ext cx="502250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async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ReadAsset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id)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const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assetJSON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await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ctx.stub.getState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(id);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if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(!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assetJSON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||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assetJSON.length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=== 0)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throw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new Error(`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Asset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${id}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does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exist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`);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assetJSON.toString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module.exports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AssetContract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4122CFD-EE1B-E856-024A-BD4E605A7142}"/>
              </a:ext>
            </a:extLst>
          </p:cNvPr>
          <p:cNvSpPr/>
          <p:nvPr/>
        </p:nvSpPr>
        <p:spPr>
          <a:xfrm>
            <a:off x="5854390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El contexto de transaccion (ctx)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funcion del chaincode recibe un ctx (TransactionContext)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 traves de ctx accedes 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 - la Stub API para leer/escribir el World State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ctx.GetClientIdentity() - identidad del cliente que invoca (cert X.509)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ctx.GetStub().GetTxID() - ID unico de la transaccion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ctx.GetStub().GetTxTimestamp() - timestamp de la transaccion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ctx.GetStub().SetEvent() - emitir eventos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ctx es tu puerta de entrada a todo el estado de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Nunca accedas al filesystem o a la red desde un chaincode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Stub API: operaciones sobre el World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GetState(key) - Leer un valor por su clave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PutState(key, value) - Escribir o actualizar un valor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DelState(key) - Eliminar una clave (borrado logico del state)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GetStateByRange(startKey, endKey) - Rango de claves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GetQueryResult(query) - Rich query (solo CouchDB)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GetStateByPartialCompositeKey(objectType, attrs) - Buscar por clave compuesta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GetHistoryForKey(key) - Historial de cambios de una clave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Importante: PutState no escribe inmediatamente. Los cambios se aplican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solo si la transaccion es validada y committeada por los peers.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Composite Keys: claves compuestas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Permiten crear claves estructuradas para busquedas eficientes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construyen con CreateCompositeKey(objectType, attributes[])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objectType actua como 'tabla' y los attributes como indices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Ejemplo: clave para un activo de un propietario: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CreateCompositeKey("asset", []string{"org1", "warehouse", "LOT-001"})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Resultado: \x00asset\x00org1\x00warehouse\x00LOT-001\x00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pueden buscar por prefijo con GetStateByPartialCompositeKey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Muy utiles para relaciones 1:N (propietario -&gt; activos)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Composite Keys: ejemplo practico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535465" cy="475488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Crear una clave compuesta para un activo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async CreateAsset(ctx, owner, assetType, id, value) {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Clave compuesta: permite buscar por owner o por type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key = ctx.stub.createCompositeKey('asset',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[owner, assetType, id]);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asset = { ID: id, Owner: owner,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        Type: assetType, Value: value };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await ctx.stub.putState(key,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Buffer.from(JSON.stringify(asset)));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7CB0E69-26FD-4B0C-DA82-2297C0B36B83}"/>
              </a:ext>
            </a:extLst>
          </p:cNvPr>
          <p:cNvSpPr txBox="1"/>
          <p:nvPr/>
        </p:nvSpPr>
        <p:spPr>
          <a:xfrm>
            <a:off x="6691273" y="1396133"/>
            <a:ext cx="4777183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Buscar todos los activos de un propietario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async GetAssetsByOwner(ctx, owner) {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const iterator = await ctx.stub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.getStateByPartialCompositeKey('asset', [owner]);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... iterar sobre resultados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E47BD2F-56F2-0839-882A-BC720B67BA11}"/>
              </a:ext>
            </a:extLst>
          </p:cNvPr>
          <p:cNvSpPr/>
          <p:nvPr/>
        </p:nvSpPr>
        <p:spPr>
          <a:xfrm>
            <a:off x="6266985" y="123444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Modelado de datos: JSON en el World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World State almacena pares clave-valor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valor tipicamente es un JSON serializado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Disena tus structs/objetos pensando en las queries que necesitaras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Reglas de diseno: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Incluye siempre un campo 'docType' para filtrar en CouchDB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Usa IDs deterministas (no UUIDs generados en el chaincode)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Evita objetos anidados profundos: complican las queries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Piensa en el key space: ¿como vas a buscar este dato?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Desnormaliza si es necesario: no hay JOINs en el World State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Modelo de datos: Registro de Propiedad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Caso de uso: Registro de Propiedad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Propiedad inmobiliaria (JSDoc describe los campos)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/**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 @typedef {Object} Property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 @property {string} docType        - siempre "property"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 @property {string} id             - referencia catastral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 @property {string} address        - direccion fisica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 @property {string} owner          - ID del propietario (MSP)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 @property {string} ownerName      - nombre del propietario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 @property {number} area           - metros cuadrados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 @property {string} propertyType   - "apartment"|"house"|"land"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 @property {string} status         - "active"|"transferring"|"blocked"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 @property {string} registeredAt   - fecha de registro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 @property {number} appraisalValue - valor de tasacion (euros)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*/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Key design: "property" + comunidad + municipio + referencia_catastral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Permite buscar por comunidad, por municipio, o por referencia exacta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World State: LevelDB vs CouchDB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LevelDB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Base de datos key-value embebida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Solo soporta queries por clave exacta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y por rango de claves (startKey-endKey)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Mas rapido y ligero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No requiere contenedor adicional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Ideal para: lookups por clave,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modelos simples, alto rendimiento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280160"/>
            <a:ext cx="27432" cy="5029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CouchDB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Base de datos documental (JSON)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Soporta rich queries (consultas JSON)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Indices configurables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Requiere contenedor Docker adicional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Algo mas lento pero mucho mas flexible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Ideal para: queries complejas,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reportes, busquedas por atributo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Rich Queries con CouchDB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Consultas JSON estilo MongoDB sobre el World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5257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29912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Buscar propiedades por tipo y rango de valor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async QueryProperties(ctx, propertyType, minValue) {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Mango query (sintaxis CouchDB)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queryString = JSON.stringify({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selector: {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docType: 'property',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propertyType: propertyType,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appraisalValue: { $gte: parseInt(minValue) }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},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sort: [{ appraisalValue: 'desc' }],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use_index: 'indexPropertyType'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});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iterator = await ctx.stub.getQueryResult(queryString);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Iterar y deserializar resultados...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Paginacion de 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Cuando hay muchos resultados, paginar es esencial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GetStateByRangeWithPagination(startKey, endKey, pageSize, bookmark)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GetQueryResultWithPagination(query, pageSize, bookmark)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bookmark es un token opaco que identifica la siguiente pagina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Primera llamada: bookmark vacio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Siguientes: usar el bookmark devuelto en la respuesta anterior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Consejo: limita siempre los resultados. Una query sin limite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puede devolver miles de registros y degradar el rendimiento.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Create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Verificar existencia antes de crear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6037270" cy="475488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async CreateProperty(ctx, id, address, owner,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area, propType, value) {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// Verificar que no existe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const existing = await ctx.stub.getState(id);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if (existing &amp;&amp; existing.length &gt; 0) {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    throw new Error(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        `property ${id} already exists`);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}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377DCD6-9653-DA2E-E80D-57704F3EBB9D}"/>
              </a:ext>
            </a:extLst>
          </p:cNvPr>
          <p:cNvSpPr txBox="1"/>
          <p:nvPr/>
        </p:nvSpPr>
        <p:spPr>
          <a:xfrm>
            <a:off x="6430893" y="1781966"/>
            <a:ext cx="502641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const property = {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    docType: 'property',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    id,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    address,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    owner,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    area: parseInt(area),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    propertyType: propType,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    status: 'active',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    appraisalValue: parseInt(value)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};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await ctx.stub.putState(id,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        Buffer.from(JSON.stringify(property)));</a:t>
            </a:r>
          </a:p>
          <a:p>
            <a:pPr/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F365A7D-C265-BB2B-9B27-D179FCAC2D09}"/>
              </a:ext>
            </a:extLst>
          </p:cNvPr>
          <p:cNvSpPr/>
          <p:nvPr/>
        </p:nvSpPr>
        <p:spPr>
          <a:xfrm>
            <a:off x="5876693" y="1417320"/>
            <a:ext cx="45719" cy="51663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Leer y deserializar desde el World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66747"/>
            <a:ext cx="6795553" cy="475488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async ReadProperty(ctx, id) {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const propertyJSON = await ctx.stub.getState(id);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if (!propertyJSON || propertyJSON.length === 0) {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    throw new Error(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        `property ${id} does not exist`);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}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const property = JSON.parse(propertyJSON.toString());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return property;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8171822-0A3B-B609-9BA7-8C06EB422764}"/>
              </a:ext>
            </a:extLst>
          </p:cNvPr>
          <p:cNvSpPr txBox="1"/>
          <p:nvPr/>
        </p:nvSpPr>
        <p:spPr>
          <a:xfrm>
            <a:off x="6505637" y="1586819"/>
            <a:ext cx="51986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En Go seria: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func (s *SmartContract) ReadProperty(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    ctx ..., id string) (*Property, error) {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    data, err := ctx.GetStub().GetState(id)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    if err != nil { return nil, err }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    if data == nil {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        return nil, errors.New("not found")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    }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    var p Property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    json.Unmarshal(data, &amp;p)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    return &amp;p, nil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}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A98F116-2742-E170-908E-2EFC7E1394FD}"/>
              </a:ext>
            </a:extLst>
          </p:cNvPr>
          <p:cNvSpPr/>
          <p:nvPr/>
        </p:nvSpPr>
        <p:spPr>
          <a:xfrm>
            <a:off x="6080760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Leer, verificar permisos, modificar, guardar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490860" cy="475488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async UpdatePropertyValue(ctx, id, newValue) {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// Leer el activo existente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const property = await this.ReadProperty(ctx, id);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// Verificar permisos: solo el owner puede actualizar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const clientMSP = ctx.clientIdentity.getMSPID();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if (property.owner !== clientMSP) {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    throw new Error(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        'only the owner can update this property');</a:t>
            </a:r>
          </a:p>
          <a:p>
            <a:pPr/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    }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D1ED292-07F8-3380-C0B8-C4D8EA008CCC}"/>
              </a:ext>
            </a:extLst>
          </p:cNvPr>
          <p:cNvSpPr txBox="1"/>
          <p:nvPr/>
        </p:nvSpPr>
        <p:spPr>
          <a:xfrm>
            <a:off x="6678743" y="1600200"/>
            <a:ext cx="456921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Actualizar campo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property.appraisalValue = parseInt(newValue);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Guardar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await ctx.stub.putState(id,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Buffer.from(JSON.stringify(property)));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B42A9E0-3EC6-4325-F523-C93852D0D1FE}"/>
              </a:ext>
            </a:extLst>
          </p:cNvPr>
          <p:cNvSpPr/>
          <p:nvPr/>
        </p:nvSpPr>
        <p:spPr>
          <a:xfrm>
            <a:off x="6080760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Delete y GetAll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Borrado logico vs fisico + paginacion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44812" cy="4754880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Delete: borrado logico (cambiar status)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        vs fisico (deleteState)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async DeactivateProperty(ctx, id) {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property = await this.ReadProperty(ctx, id);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borrado logico: mantiene historial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property.status = 'inactive';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/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await ctx.stub.putState(id,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Buffer.from(JSON.stringify(property)));</a:t>
            </a:r>
          </a:p>
          <a:p>
            <a:pPr/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CBE806C-EFD0-1380-C2CC-DE668CA42E15}"/>
              </a:ext>
            </a:extLst>
          </p:cNvPr>
          <p:cNvSpPr txBox="1"/>
          <p:nvPr/>
        </p:nvSpPr>
        <p:spPr>
          <a:xfrm>
            <a:off x="6050079" y="1574552"/>
            <a:ext cx="565424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GetAll con paginacion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async GetAllProperties(ctx, pageSize, bookmark) {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const { iterator, metadata } = await ctx.stub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.getStateByRangeWithPagination('', '',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    parseInt(pageSize), bookmark);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... iterar y construir resultado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    con metadata.bookmark</a:t>
            </a:r>
          </a:p>
          <a:p>
            <a:pPr/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C70B61F-EE59-B24D-19A0-D0313597B608}"/>
              </a:ext>
            </a:extLst>
          </p:cNvPr>
          <p:cNvSpPr/>
          <p:nvPr/>
        </p:nvSpPr>
        <p:spPr>
          <a:xfrm>
            <a:off x="5876691" y="1417320"/>
            <a:ext cx="45719" cy="503923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Generar chaincode CRUD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 chaincode de Hyperledger Fabric en [Go/Node.js]</a:t>
            </a:r>
            <a:br/>
            <a:r>
              <a:t>para un sistema de Registro de Propiedad con las siguientes</a:t>
            </a:r>
            <a:br/>
            <a:r>
              <a:t>especificaciones:</a:t>
            </a:r>
            <a:br/>
            <a:br/>
            <a:r>
              <a:t>- Struct/modelo: Property con campos id, address, owner,</a:t>
            </a:r>
            <a:br/>
            <a:r>
              <a:t>  ownerName, area (int), propertyType (apartment|house|land),</a:t>
            </a:r>
            <a:br/>
            <a:r>
              <a:t>  status (active|transferring|blocked), appraisalValue (int)</a:t>
            </a:r>
            <a:br/>
            <a:r>
              <a:t>- Incluye campo docType="property" para queries CouchDB</a:t>
            </a:r>
            <a:br/>
            <a:r>
              <a:t>- Operaciones CRUD: Create, Read, Update, Delete (logico),</a:t>
            </a:r>
            <a:br/>
            <a:r>
              <a:t>  GetAll con paginacion</a:t>
            </a:r>
            <a:br/>
            <a:r>
              <a:t>- Validaciones: verificar existencia, permisos por MSPID</a:t>
            </a:r>
            <a:br/>
            <a:r>
              <a:t>- Rich query: buscar por propertyType y rango de valor</a:t>
            </a:r>
            <a:br/>
            <a:r>
              <a:t>- Usa la Contract API oficial de Fabric</a:t>
            </a:r>
            <a:br/>
            <a:r>
              <a:t>- Incluye eventos para Create y Transfer</a:t>
            </a:r>
            <a:br/>
            <a:r>
              <a:t>- Anade comentarios explicativos en espanol</a:t>
            </a:r>
            <a:br/>
            <a:br/>
            <a:r>
              <a:t>Contexto: es para un curso de formacion, debe ser claro</a:t>
            </a:r>
            <a:br/>
            <a:r>
              <a:t>y didactico. Usa Fabric 2.5.x.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Adapta el prompt segun el lenguaje (Go o Node.js) y anade campos extra si lo necesitas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Disenar modelo de datos: Registro de Propiedad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disenar el modelo de datos y las claves para un Registro de Propiedad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Definir la estructura de datos (Property) con todos los campos necesarios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Disenar el key space: ¿que clave usareis? ¿composite keys?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Identificar las queries que necesitareis (por propietario, por zona, por tipo...)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Decidir: ¿LevelDB o CouchDB? Justificar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Crear el chaincode CRUD completo usando el prompt de IA como base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Desplegar en la test-network y probar las operaciones basicas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Trabajar en parejas. Tiempo estimado: 70 minutos.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Puesta en comun al final: cada pareja explica sus decisiones de diseno.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Decisiones de diseno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¿LevelDB o CouchDB para un Registro de Propiedad? ¿Y para un sistema de pagos?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¿Borrado fisico (DelState) o logico (status=inactive)? ¿Cuando usar cada uno?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¿Composite keys o rich queries? ¿Se pueden combinar?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¿Cuanta logica de negocio debe ir en el chaincode vs en la aplicacion cliente?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¿Que pasa si el modelo de datos necesita cambiar despues del despliegue?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LevelDB o CouchDB?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Registro de Propiedad: CouchDB. Necesitas filtrar por dueno, zona, tipo, valor.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Sistema de pagos: LevelDB. Solo lookup por ID de transaccion, maximo rendimiento.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Regla: si solo buscas por clave exacta, LevelDB. Si necesitas rich queries, CouchDB.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Borrado fisico vs logico?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Borrado fisico (DelState): cuando el dato ya no tiene valor ni legal ni historico.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Borrado logico (status=inactive): para regulacion, auditoria, trazabilidad.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blockchain se recomienda logico: el historial queda intacto y es mas seguro.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DelState marca la key como borrada pero la historia sigue en GetHistoryForKey.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Composite keys vs rich queries?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son excluyentes. Se usan juntas en muchos casos reales.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Composite keys: indexacion estructurada por prefijo (eficiente, determinista).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Rich queries: flexibilidad para filtrar por cualquier campo (requiere CouchDB).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Combinacion habitual: composite keys para lookups frecuentes + rich queries para reportes.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Logica de negocio: chaincode vs aplicacion cliente?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el chaincode: reglas de negocio CRITICAS e INMUTABLES. Las que deben cumplirse siempre.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la aplicacion cliente: UI, orquestacion, validaciones de formato, preferencias del usuario.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Regla: si se puede saltar desde otro cliente, NO es una regla de negocio real.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Ejemplo: validar saldo suficiente -&gt; chaincode. Mostrar mensaje bonito de error -&gt; app.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¿Que pasa si el modelo de datos cambia despues del despliegue?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 permite actualizar chaincodes con nuevas versiones (secuencia incrementada).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World State se preserva — los datos antiguos siguen ahi con el formato viejo.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Estrategias para cambiar el modelo: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a) Campos nuevos opcionales: los datos viejos siguen funcionando (recomendado).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b) Migracion perezosa: la primera vez que lees un registro, lo actualizas al formato nuevo.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c) Migracion en bloque: funcion admin que recorre todos los datos y los actualiza.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Nunca: borrar campos en uso sin migrar antes. Nunca: cambiar el significado de un campo.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¿Que diferencia hay entre un chaincode y un Smart Contract de Ethereum?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la Stub API y que operaciones principales ofrece?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¿Para que sirven las Composite Keys?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¿Cual es la diferencia entre LevelDB y CouchDB?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¿Que es una rich query y cuando la usarias?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¿Por que es importante incluir un campo docType en los datos?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¿Que ventaja tiene el borrado logico sobre DelState?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652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1. </a:t>
            </a:r>
            <a:r>
              <a:rPr dirty="0" err="1"/>
              <a:t>Chaincode</a:t>
            </a:r>
            <a:r>
              <a:rPr dirty="0"/>
              <a:t> vs Smart Contract de Ethereum: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Lenguajes</a:t>
            </a:r>
            <a:r>
              <a:rPr sz="1600" dirty="0"/>
              <a:t>: Fabric </a:t>
            </a:r>
            <a:r>
              <a:rPr sz="1600" dirty="0" err="1"/>
              <a:t>usa</a:t>
            </a:r>
            <a:r>
              <a:rPr sz="1600" dirty="0"/>
              <a:t> Go, Node.js, Java; Ethereum </a:t>
            </a:r>
            <a:r>
              <a:rPr sz="1600" dirty="0" err="1"/>
              <a:t>usa</a:t>
            </a:r>
            <a:r>
              <a:rPr sz="1600" dirty="0"/>
              <a:t> Solidity o </a:t>
            </a:r>
            <a:r>
              <a:rPr sz="1600" dirty="0" err="1"/>
              <a:t>Vyper</a:t>
            </a:r>
            <a:r>
              <a:rPr sz="16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Fabric es permissioned (</a:t>
            </a:r>
            <a:r>
              <a:rPr sz="1600" dirty="0" err="1"/>
              <a:t>identidades</a:t>
            </a:r>
            <a:r>
              <a:rPr sz="1600" dirty="0"/>
              <a:t> </a:t>
            </a:r>
            <a:r>
              <a:rPr sz="1600" dirty="0" err="1"/>
              <a:t>conocidas</a:t>
            </a:r>
            <a:r>
              <a:rPr sz="1600" dirty="0"/>
              <a:t>); Ethereum es permissionless.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Fabric </a:t>
            </a:r>
            <a:r>
              <a:rPr sz="1600" dirty="0" err="1"/>
              <a:t>separa</a:t>
            </a:r>
            <a:r>
              <a:rPr sz="1600" dirty="0"/>
              <a:t> endorse-order-validate; Ethereum </a:t>
            </a:r>
            <a:r>
              <a:rPr sz="1600" dirty="0" err="1"/>
              <a:t>ejecuta</a:t>
            </a:r>
            <a:r>
              <a:rPr sz="1600" dirty="0"/>
              <a:t> </a:t>
            </a:r>
            <a:r>
              <a:rPr sz="1600" dirty="0" err="1"/>
              <a:t>todo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el</a:t>
            </a:r>
            <a:r>
              <a:rPr sz="1600" dirty="0"/>
              <a:t> </a:t>
            </a:r>
            <a:r>
              <a:rPr sz="1600" dirty="0" err="1"/>
              <a:t>bloque</a:t>
            </a:r>
            <a:r>
              <a:rPr sz="16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Fabric no </a:t>
            </a:r>
            <a:r>
              <a:rPr sz="1600" dirty="0" err="1"/>
              <a:t>tiene</a:t>
            </a:r>
            <a:r>
              <a:rPr sz="1600" dirty="0"/>
              <a:t> gas </a:t>
            </a:r>
            <a:r>
              <a:rPr sz="1600" dirty="0" err="1"/>
              <a:t>nativo</a:t>
            </a:r>
            <a:r>
              <a:rPr sz="1600" dirty="0"/>
              <a:t>; Ethereum </a:t>
            </a:r>
            <a:r>
              <a:rPr sz="1600" dirty="0" err="1"/>
              <a:t>requiere</a:t>
            </a:r>
            <a:r>
              <a:rPr sz="1600" dirty="0"/>
              <a:t> </a:t>
            </a:r>
            <a:r>
              <a:rPr sz="1600" dirty="0" err="1"/>
              <a:t>pagar</a:t>
            </a:r>
            <a:r>
              <a:rPr sz="1600" dirty="0"/>
              <a:t> ETH </a:t>
            </a:r>
            <a:r>
              <a:rPr sz="1600" dirty="0" err="1"/>
              <a:t>por</a:t>
            </a:r>
            <a:r>
              <a:rPr sz="1600" dirty="0"/>
              <a:t> </a:t>
            </a:r>
            <a:r>
              <a:rPr sz="1600" dirty="0" err="1"/>
              <a:t>cada</a:t>
            </a:r>
            <a:r>
              <a:rPr sz="1600" dirty="0"/>
              <a:t> </a:t>
            </a:r>
            <a:r>
              <a:rPr sz="1600" dirty="0" err="1"/>
              <a:t>transaccion</a:t>
            </a:r>
            <a:r>
              <a:rPr sz="1600"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2. </a:t>
            </a:r>
            <a:r>
              <a:rPr dirty="0" err="1"/>
              <a:t>Que</a:t>
            </a:r>
            <a:r>
              <a:rPr dirty="0"/>
              <a:t> es la Stub API y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ofrece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Stub API es la </a:t>
            </a:r>
            <a:r>
              <a:rPr sz="1600" dirty="0" err="1"/>
              <a:t>interfaz</a:t>
            </a:r>
            <a:r>
              <a:rPr sz="1600" dirty="0"/>
              <a:t> del </a:t>
            </a:r>
            <a:r>
              <a:rPr sz="1600" dirty="0" err="1"/>
              <a:t>chaincode</a:t>
            </a:r>
            <a:r>
              <a:rPr sz="1600" dirty="0"/>
              <a:t> con </a:t>
            </a:r>
            <a:r>
              <a:rPr sz="1600" dirty="0" err="1"/>
              <a:t>el</a:t>
            </a:r>
            <a:r>
              <a:rPr sz="1600" dirty="0"/>
              <a:t> ledger (</a:t>
            </a:r>
            <a:r>
              <a:rPr sz="1600" dirty="0" err="1"/>
              <a:t>ctx.GetStub</a:t>
            </a:r>
            <a:r>
              <a:rPr sz="1600" dirty="0"/>
              <a:t>()).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Operaciones</a:t>
            </a:r>
            <a:r>
              <a:rPr sz="1600" dirty="0"/>
              <a:t> clave: </a:t>
            </a:r>
            <a:r>
              <a:rPr sz="1600" dirty="0" err="1"/>
              <a:t>GetState</a:t>
            </a:r>
            <a:r>
              <a:rPr sz="1600" dirty="0"/>
              <a:t>, </a:t>
            </a:r>
            <a:r>
              <a:rPr sz="1600" dirty="0" err="1"/>
              <a:t>PutState</a:t>
            </a:r>
            <a:r>
              <a:rPr sz="1600" dirty="0"/>
              <a:t>, </a:t>
            </a:r>
            <a:r>
              <a:rPr sz="1600" dirty="0" err="1"/>
              <a:t>DelState</a:t>
            </a:r>
            <a:r>
              <a:rPr sz="1600" dirty="0"/>
              <a:t> (CRUD </a:t>
            </a:r>
            <a:r>
              <a:rPr sz="1600" dirty="0" err="1"/>
              <a:t>basico</a:t>
            </a:r>
            <a:r>
              <a:rPr sz="1600" dirty="0"/>
              <a:t>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GetStateByRange</a:t>
            </a:r>
            <a:r>
              <a:rPr sz="1600" dirty="0"/>
              <a:t>, </a:t>
            </a:r>
            <a:r>
              <a:rPr sz="1600" dirty="0" err="1"/>
              <a:t>GetQueryResult</a:t>
            </a:r>
            <a:r>
              <a:rPr sz="1600" dirty="0"/>
              <a:t>, </a:t>
            </a:r>
            <a:r>
              <a:rPr sz="1600" dirty="0" err="1"/>
              <a:t>GetHistoryForKey</a:t>
            </a:r>
            <a:r>
              <a:rPr sz="1600" dirty="0"/>
              <a:t> (</a:t>
            </a:r>
            <a:r>
              <a:rPr sz="1600" dirty="0" err="1"/>
              <a:t>consultas</a:t>
            </a:r>
            <a:r>
              <a:rPr sz="1600" dirty="0"/>
              <a:t> </a:t>
            </a:r>
            <a:r>
              <a:rPr sz="1600" dirty="0" err="1"/>
              <a:t>avanzadas</a:t>
            </a:r>
            <a:r>
              <a:rPr sz="1600" dirty="0"/>
              <a:t>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CreateCompositeKey</a:t>
            </a:r>
            <a:r>
              <a:rPr sz="1600" dirty="0"/>
              <a:t>, </a:t>
            </a:r>
            <a:r>
              <a:rPr sz="1600" dirty="0" err="1"/>
              <a:t>SplitCompositeKey</a:t>
            </a:r>
            <a:r>
              <a:rPr sz="1600" dirty="0"/>
              <a:t> (gestion de claves </a:t>
            </a:r>
            <a:r>
              <a:rPr sz="1600" dirty="0" err="1"/>
              <a:t>compuestas</a:t>
            </a:r>
            <a:r>
              <a:rPr sz="1600" dirty="0"/>
              <a:t>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SetEvent</a:t>
            </a:r>
            <a:r>
              <a:rPr sz="1600" dirty="0"/>
              <a:t> (</a:t>
            </a:r>
            <a:r>
              <a:rPr sz="1600" dirty="0" err="1"/>
              <a:t>eventos</a:t>
            </a:r>
            <a:r>
              <a:rPr sz="1600" dirty="0"/>
              <a:t>), </a:t>
            </a:r>
            <a:r>
              <a:rPr sz="1600" dirty="0" err="1"/>
              <a:t>GetTxTimestamp</a:t>
            </a:r>
            <a:r>
              <a:rPr sz="1600" dirty="0"/>
              <a:t>, </a:t>
            </a:r>
            <a:r>
              <a:rPr sz="1600" dirty="0" err="1"/>
              <a:t>GetTxID</a:t>
            </a:r>
            <a:r>
              <a:rPr sz="1600" dirty="0"/>
              <a:t> (</a:t>
            </a:r>
            <a:r>
              <a:rPr sz="1600" dirty="0" err="1"/>
              <a:t>metadatos</a:t>
            </a:r>
            <a:r>
              <a:rPr sz="1600" dirty="0"/>
              <a:t> de la </a:t>
            </a:r>
            <a:r>
              <a:rPr sz="1600" dirty="0" err="1"/>
              <a:t>transaccion</a:t>
            </a:r>
            <a:r>
              <a:rPr sz="1600" dirty="0"/>
              <a:t>).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3. Para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sirven</a:t>
            </a:r>
            <a:r>
              <a:rPr dirty="0"/>
              <a:t> las Composite Keys: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Son claves </a:t>
            </a:r>
            <a:r>
              <a:rPr sz="1600" dirty="0" err="1"/>
              <a:t>estructuradas</a:t>
            </a:r>
            <a:r>
              <a:rPr sz="1600" dirty="0"/>
              <a:t> </a:t>
            </a:r>
            <a:r>
              <a:rPr sz="1600" dirty="0" err="1"/>
              <a:t>que</a:t>
            </a:r>
            <a:r>
              <a:rPr sz="1600" dirty="0"/>
              <a:t> </a:t>
            </a:r>
            <a:r>
              <a:rPr sz="1600" dirty="0" err="1"/>
              <a:t>combinan</a:t>
            </a:r>
            <a:r>
              <a:rPr sz="1600" dirty="0"/>
              <a:t> un </a:t>
            </a:r>
            <a:r>
              <a:rPr sz="1600" dirty="0" err="1"/>
              <a:t>objectType</a:t>
            </a:r>
            <a:r>
              <a:rPr sz="1600" dirty="0"/>
              <a:t> con </a:t>
            </a:r>
            <a:r>
              <a:rPr sz="1600" dirty="0" err="1"/>
              <a:t>varios</a:t>
            </a:r>
            <a:r>
              <a:rPr sz="1600" dirty="0"/>
              <a:t> </a:t>
            </a:r>
            <a:r>
              <a:rPr sz="1600" dirty="0" err="1"/>
              <a:t>atributos</a:t>
            </a:r>
            <a:r>
              <a:rPr sz="16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Ejemplo</a:t>
            </a:r>
            <a:r>
              <a:rPr sz="1600" dirty="0"/>
              <a:t>: '</a:t>
            </a:r>
            <a:r>
              <a:rPr sz="1600" dirty="0" err="1"/>
              <a:t>property~region~municipality~id</a:t>
            </a:r>
            <a:r>
              <a:rPr sz="1600" dirty="0"/>
              <a:t>' </a:t>
            </a:r>
            <a:r>
              <a:rPr sz="1600" dirty="0" err="1"/>
              <a:t>permite</a:t>
            </a:r>
            <a:r>
              <a:rPr sz="1600" dirty="0"/>
              <a:t> </a:t>
            </a:r>
            <a:r>
              <a:rPr sz="1600" dirty="0" err="1"/>
              <a:t>buscar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</a:t>
            </a:r>
            <a:r>
              <a:rPr sz="1600" dirty="0" err="1"/>
              <a:t>prefijo</a:t>
            </a:r>
            <a:r>
              <a:rPr sz="16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Sirven</a:t>
            </a:r>
            <a:r>
              <a:rPr sz="1600" dirty="0"/>
              <a:t> para </a:t>
            </a:r>
            <a:r>
              <a:rPr sz="1600" dirty="0" err="1"/>
              <a:t>crear</a:t>
            </a:r>
            <a:r>
              <a:rPr sz="1600" dirty="0"/>
              <a:t> indices </a:t>
            </a:r>
            <a:r>
              <a:rPr sz="1600" dirty="0" err="1"/>
              <a:t>secundarios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LevelDB</a:t>
            </a:r>
            <a:r>
              <a:rPr sz="1600" dirty="0"/>
              <a:t> (sin CouchDB).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</a:t>
            </a:r>
            <a:r>
              <a:rPr sz="1600" dirty="0" err="1"/>
              <a:t>Permiten</a:t>
            </a:r>
            <a:r>
              <a:rPr sz="1600" dirty="0"/>
              <a:t> lookups </a:t>
            </a:r>
            <a:r>
              <a:rPr sz="1600" dirty="0" err="1"/>
              <a:t>eficientes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'primer </a:t>
            </a:r>
            <a:r>
              <a:rPr sz="1600" dirty="0" err="1"/>
              <a:t>atributo</a:t>
            </a:r>
            <a:r>
              <a:rPr sz="1600" dirty="0"/>
              <a:t>' sin </a:t>
            </a:r>
            <a:r>
              <a:rPr sz="1600" dirty="0" err="1"/>
              <a:t>escanear</a:t>
            </a:r>
            <a:r>
              <a:rPr sz="1600" dirty="0"/>
              <a:t> </a:t>
            </a:r>
            <a:r>
              <a:rPr sz="1600" dirty="0" err="1"/>
              <a:t>todo</a:t>
            </a:r>
            <a:r>
              <a:rPr sz="16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600" dirty="0"/>
              <a:t>    Alternativa a las rich queries </a:t>
            </a:r>
            <a:r>
              <a:rPr sz="1600" dirty="0" err="1"/>
              <a:t>cuando</a:t>
            </a:r>
            <a:r>
              <a:rPr sz="1600" dirty="0"/>
              <a:t> </a:t>
            </a:r>
            <a:r>
              <a:rPr sz="1600" dirty="0" err="1"/>
              <a:t>necesitas</a:t>
            </a:r>
            <a:r>
              <a:rPr sz="1600" dirty="0"/>
              <a:t> </a:t>
            </a:r>
            <a:r>
              <a:rPr sz="1600" dirty="0" err="1"/>
              <a:t>rendimiento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168650"/>
            <a:ext cx="10515600" cy="5806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4. </a:t>
            </a:r>
            <a:r>
              <a:rPr dirty="0" err="1"/>
              <a:t>Diferencia</a:t>
            </a:r>
            <a:r>
              <a:rPr dirty="0"/>
              <a:t> entre </a:t>
            </a:r>
            <a:r>
              <a:rPr dirty="0" err="1"/>
              <a:t>LevelDB</a:t>
            </a:r>
            <a:r>
              <a:rPr dirty="0"/>
              <a:t> y CouchDB: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</a:t>
            </a:r>
            <a:r>
              <a:rPr sz="1400" dirty="0" err="1"/>
              <a:t>LevelDB</a:t>
            </a:r>
            <a:r>
              <a:rPr sz="1400" dirty="0"/>
              <a:t>: key-value simple, </a:t>
            </a:r>
            <a:r>
              <a:rPr sz="1400" dirty="0" err="1"/>
              <a:t>rapido</a:t>
            </a:r>
            <a:r>
              <a:rPr sz="1400" dirty="0"/>
              <a:t>, </a:t>
            </a:r>
            <a:r>
              <a:rPr sz="1400" dirty="0" err="1"/>
              <a:t>embebido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</a:t>
            </a:r>
            <a:r>
              <a:rPr sz="1400" dirty="0" err="1"/>
              <a:t>el</a:t>
            </a:r>
            <a:r>
              <a:rPr sz="1400" dirty="0"/>
              <a:t> peer.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CouchDB: base de </a:t>
            </a:r>
            <a:r>
              <a:rPr sz="1400" dirty="0" err="1"/>
              <a:t>datos</a:t>
            </a:r>
            <a:r>
              <a:rPr sz="1400" dirty="0"/>
              <a:t> documental JSON, </a:t>
            </a:r>
            <a:r>
              <a:rPr sz="1400" dirty="0" err="1"/>
              <a:t>soporta</a:t>
            </a:r>
            <a:r>
              <a:rPr sz="1400" dirty="0"/>
              <a:t> rich queries.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</a:t>
            </a:r>
            <a:r>
              <a:rPr sz="1400" dirty="0" err="1"/>
              <a:t>LevelDB</a:t>
            </a:r>
            <a:r>
              <a:rPr sz="1400" dirty="0"/>
              <a:t>: solo </a:t>
            </a:r>
            <a:r>
              <a:rPr sz="1400" dirty="0" err="1"/>
              <a:t>busqueda</a:t>
            </a:r>
            <a:r>
              <a:rPr sz="1400" dirty="0"/>
              <a:t> </a:t>
            </a:r>
            <a:r>
              <a:rPr sz="1400" dirty="0" err="1"/>
              <a:t>por</a:t>
            </a:r>
            <a:r>
              <a:rPr sz="1400" dirty="0"/>
              <a:t> clave o </a:t>
            </a:r>
            <a:r>
              <a:rPr sz="1400" dirty="0" err="1"/>
              <a:t>rango</a:t>
            </a:r>
            <a:r>
              <a:rPr sz="1400" dirty="0"/>
              <a:t>. CouchDB: </a:t>
            </a:r>
            <a:r>
              <a:rPr sz="1400" dirty="0" err="1"/>
              <a:t>por</a:t>
            </a:r>
            <a:r>
              <a:rPr sz="1400" dirty="0"/>
              <a:t> </a:t>
            </a:r>
            <a:r>
              <a:rPr sz="1400" dirty="0" err="1"/>
              <a:t>cualquier</a:t>
            </a:r>
            <a:r>
              <a:rPr sz="1400" dirty="0"/>
              <a:t> campo.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5. </a:t>
            </a:r>
            <a:r>
              <a:rPr dirty="0" err="1"/>
              <a:t>Que</a:t>
            </a:r>
            <a:r>
              <a:rPr dirty="0"/>
              <a:t> es </a:t>
            </a:r>
            <a:r>
              <a:rPr dirty="0" err="1"/>
              <a:t>una</a:t>
            </a:r>
            <a:r>
              <a:rPr dirty="0"/>
              <a:t> rich query y </a:t>
            </a:r>
            <a:r>
              <a:rPr dirty="0" err="1"/>
              <a:t>cuando</a:t>
            </a:r>
            <a:r>
              <a:rPr dirty="0"/>
              <a:t> </a:t>
            </a:r>
            <a:r>
              <a:rPr dirty="0" err="1"/>
              <a:t>usarla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Consulta JSON </a:t>
            </a:r>
            <a:r>
              <a:rPr sz="1400" dirty="0" err="1"/>
              <a:t>estilo</a:t>
            </a:r>
            <a:r>
              <a:rPr sz="1400" dirty="0"/>
              <a:t> MongoDB </a:t>
            </a:r>
            <a:r>
              <a:rPr sz="1400" dirty="0" err="1"/>
              <a:t>sobre</a:t>
            </a:r>
            <a:r>
              <a:rPr sz="1400" dirty="0"/>
              <a:t> </a:t>
            </a:r>
            <a:r>
              <a:rPr sz="1400" dirty="0" err="1"/>
              <a:t>el</a:t>
            </a:r>
            <a:r>
              <a:rPr sz="1400" dirty="0"/>
              <a:t> </a:t>
            </a:r>
            <a:r>
              <a:rPr sz="1400" dirty="0" err="1"/>
              <a:t>contenido</a:t>
            </a:r>
            <a:r>
              <a:rPr sz="1400" dirty="0"/>
              <a:t> de </a:t>
            </a:r>
            <a:r>
              <a:rPr sz="1400" dirty="0" err="1"/>
              <a:t>los</a:t>
            </a:r>
            <a:r>
              <a:rPr sz="1400" dirty="0"/>
              <a:t> </a:t>
            </a:r>
            <a:r>
              <a:rPr sz="1400" dirty="0" err="1"/>
              <a:t>documentos</a:t>
            </a:r>
            <a:r>
              <a:rPr sz="1400" dirty="0"/>
              <a:t> (Mango).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</a:t>
            </a:r>
            <a:r>
              <a:rPr sz="1400" dirty="0" err="1"/>
              <a:t>Ejemplo</a:t>
            </a:r>
            <a:r>
              <a:rPr sz="1400" dirty="0"/>
              <a:t>: {'selector':{'</a:t>
            </a:r>
            <a:r>
              <a:rPr sz="1400" dirty="0" err="1"/>
              <a:t>docType</a:t>
            </a:r>
            <a:r>
              <a:rPr sz="1400" dirty="0"/>
              <a:t>':'</a:t>
            </a:r>
            <a:r>
              <a:rPr sz="1400" dirty="0" err="1"/>
              <a:t>property','region':'Madrid</a:t>
            </a:r>
            <a:r>
              <a:rPr sz="1400" dirty="0"/>
              <a:t>'}}.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Usar </a:t>
            </a:r>
            <a:r>
              <a:rPr sz="1400" dirty="0" err="1"/>
              <a:t>cuando</a:t>
            </a:r>
            <a:r>
              <a:rPr sz="1400" dirty="0"/>
              <a:t>: </a:t>
            </a:r>
            <a:r>
              <a:rPr sz="1400" dirty="0" err="1"/>
              <a:t>necesitas</a:t>
            </a:r>
            <a:r>
              <a:rPr sz="1400" dirty="0"/>
              <a:t> </a:t>
            </a:r>
            <a:r>
              <a:rPr sz="1400" dirty="0" err="1"/>
              <a:t>filtrar</a:t>
            </a:r>
            <a:r>
              <a:rPr sz="1400" dirty="0"/>
              <a:t> </a:t>
            </a:r>
            <a:r>
              <a:rPr sz="1400" dirty="0" err="1"/>
              <a:t>por</a:t>
            </a:r>
            <a:r>
              <a:rPr sz="1400" dirty="0"/>
              <a:t> campos, </a:t>
            </a:r>
            <a:r>
              <a:rPr sz="1400" dirty="0" err="1"/>
              <a:t>ordenar</a:t>
            </a:r>
            <a:r>
              <a:rPr sz="1400" dirty="0"/>
              <a:t>, </a:t>
            </a:r>
            <a:r>
              <a:rPr sz="1400" dirty="0" err="1"/>
              <a:t>paginar</a:t>
            </a:r>
            <a:r>
              <a:rPr sz="1400" dirty="0"/>
              <a:t> </a:t>
            </a:r>
            <a:r>
              <a:rPr sz="1400" dirty="0" err="1"/>
              <a:t>reportes</a:t>
            </a:r>
            <a:r>
              <a:rPr sz="14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No usar </a:t>
            </a:r>
            <a:r>
              <a:rPr sz="1400" dirty="0" err="1"/>
              <a:t>en</a:t>
            </a:r>
            <a:r>
              <a:rPr sz="1400" dirty="0"/>
              <a:t> </a:t>
            </a:r>
            <a:r>
              <a:rPr sz="1400" dirty="0" err="1"/>
              <a:t>transacciones</a:t>
            </a:r>
            <a:r>
              <a:rPr sz="1400" dirty="0"/>
              <a:t> de </a:t>
            </a:r>
            <a:r>
              <a:rPr sz="1400" dirty="0" err="1"/>
              <a:t>escritura</a:t>
            </a:r>
            <a:r>
              <a:rPr sz="1400" dirty="0"/>
              <a:t> (causa phantom reads y </a:t>
            </a:r>
            <a:r>
              <a:rPr sz="1400" dirty="0" err="1"/>
              <a:t>conflictos</a:t>
            </a:r>
            <a:r>
              <a:rPr sz="1400" dirty="0"/>
              <a:t> MVCC).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6. Por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incluir</a:t>
            </a:r>
            <a:r>
              <a:rPr dirty="0"/>
              <a:t> </a:t>
            </a:r>
            <a:r>
              <a:rPr dirty="0" err="1"/>
              <a:t>docType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Sin </a:t>
            </a:r>
            <a:r>
              <a:rPr sz="1400" dirty="0" err="1"/>
              <a:t>docType</a:t>
            </a:r>
            <a:r>
              <a:rPr sz="1400" dirty="0"/>
              <a:t>, no </a:t>
            </a:r>
            <a:r>
              <a:rPr sz="1400" dirty="0" err="1"/>
              <a:t>puedes</a:t>
            </a:r>
            <a:r>
              <a:rPr sz="1400" dirty="0"/>
              <a:t> </a:t>
            </a:r>
            <a:r>
              <a:rPr sz="1400" dirty="0" err="1"/>
              <a:t>distinguir</a:t>
            </a:r>
            <a:r>
              <a:rPr sz="1400" dirty="0"/>
              <a:t> </a:t>
            </a:r>
            <a:r>
              <a:rPr sz="1400" dirty="0" err="1"/>
              <a:t>tipos</a:t>
            </a:r>
            <a:r>
              <a:rPr sz="1400" dirty="0"/>
              <a:t> de </a:t>
            </a:r>
            <a:r>
              <a:rPr sz="1400" dirty="0" err="1"/>
              <a:t>documentos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rich queries.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Con </a:t>
            </a:r>
            <a:r>
              <a:rPr sz="1400" dirty="0" err="1"/>
              <a:t>docType</a:t>
            </a:r>
            <a:r>
              <a:rPr sz="1400" dirty="0"/>
              <a:t> </a:t>
            </a:r>
            <a:r>
              <a:rPr sz="1400" dirty="0" err="1"/>
              <a:t>puedes</a:t>
            </a:r>
            <a:r>
              <a:rPr sz="1400" dirty="0"/>
              <a:t> </a:t>
            </a:r>
            <a:r>
              <a:rPr sz="1400" dirty="0" err="1"/>
              <a:t>crear</a:t>
            </a:r>
            <a:r>
              <a:rPr sz="1400" dirty="0"/>
              <a:t> indices CouchDB </a:t>
            </a:r>
            <a:r>
              <a:rPr sz="1400" dirty="0" err="1"/>
              <a:t>eficientes</a:t>
            </a:r>
            <a:r>
              <a:rPr sz="14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</a:t>
            </a:r>
            <a:r>
              <a:rPr sz="1400" dirty="0" err="1"/>
              <a:t>Convencion</a:t>
            </a:r>
            <a:r>
              <a:rPr sz="1400" dirty="0"/>
              <a:t> universal </a:t>
            </a:r>
            <a:r>
              <a:rPr sz="1400" dirty="0" err="1"/>
              <a:t>en</a:t>
            </a:r>
            <a:r>
              <a:rPr sz="1400" dirty="0"/>
              <a:t> Hyperledger: </a:t>
            </a:r>
            <a:r>
              <a:rPr sz="1400" dirty="0" err="1"/>
              <a:t>todos</a:t>
            </a:r>
            <a:r>
              <a:rPr sz="1400" dirty="0"/>
              <a:t> </a:t>
            </a:r>
            <a:r>
              <a:rPr sz="1400" dirty="0" err="1"/>
              <a:t>los</a:t>
            </a:r>
            <a:r>
              <a:rPr sz="1400" dirty="0"/>
              <a:t> </a:t>
            </a:r>
            <a:r>
              <a:rPr sz="1400" dirty="0" err="1"/>
              <a:t>ejemplos</a:t>
            </a:r>
            <a:r>
              <a:rPr sz="1400" dirty="0"/>
              <a:t> </a:t>
            </a:r>
            <a:r>
              <a:rPr sz="1400" dirty="0" err="1"/>
              <a:t>oficiales</a:t>
            </a:r>
            <a:r>
              <a:rPr sz="1400" dirty="0"/>
              <a:t> lo </a:t>
            </a:r>
            <a:r>
              <a:rPr sz="1400" dirty="0" err="1"/>
              <a:t>usan</a:t>
            </a:r>
            <a:r>
              <a:rPr sz="1400" dirty="0"/>
              <a:t>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</a:t>
            </a:r>
            <a:r>
              <a:rPr sz="1400" dirty="0" err="1"/>
              <a:t>Inutil</a:t>
            </a:r>
            <a:r>
              <a:rPr sz="1400" dirty="0"/>
              <a:t> con </a:t>
            </a:r>
            <a:r>
              <a:rPr sz="1400" dirty="0" err="1"/>
              <a:t>LevelDB</a:t>
            </a:r>
            <a:r>
              <a:rPr sz="1400" dirty="0"/>
              <a:t>, </a:t>
            </a:r>
            <a:r>
              <a:rPr sz="1400" dirty="0" err="1"/>
              <a:t>pero</a:t>
            </a:r>
            <a:r>
              <a:rPr sz="1400" dirty="0"/>
              <a:t> es </a:t>
            </a:r>
            <a:r>
              <a:rPr sz="1400" dirty="0" err="1"/>
              <a:t>buena</a:t>
            </a:r>
            <a:r>
              <a:rPr sz="1400" dirty="0"/>
              <a:t> practica </a:t>
            </a:r>
            <a:r>
              <a:rPr sz="1400" dirty="0" err="1"/>
              <a:t>por</a:t>
            </a:r>
            <a:r>
              <a:rPr sz="1400" dirty="0"/>
              <a:t> </a:t>
            </a:r>
            <a:r>
              <a:rPr sz="1400" dirty="0" err="1"/>
              <a:t>si</a:t>
            </a:r>
            <a:r>
              <a:rPr sz="1400" dirty="0"/>
              <a:t> </a:t>
            </a:r>
            <a:r>
              <a:rPr sz="1400" dirty="0" err="1"/>
              <a:t>migras</a:t>
            </a:r>
            <a:r>
              <a:rPr sz="1400" dirty="0"/>
              <a:t> a CouchDB.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7. </a:t>
            </a:r>
            <a:r>
              <a:rPr dirty="0" err="1"/>
              <a:t>Ventaja</a:t>
            </a:r>
            <a:r>
              <a:rPr dirty="0"/>
              <a:t> del </a:t>
            </a:r>
            <a:r>
              <a:rPr dirty="0" err="1"/>
              <a:t>borrado</a:t>
            </a:r>
            <a:r>
              <a:rPr dirty="0"/>
              <a:t> </a:t>
            </a:r>
            <a:r>
              <a:rPr dirty="0" err="1"/>
              <a:t>logico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DelState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</a:t>
            </a:r>
            <a:r>
              <a:rPr sz="1400" dirty="0" err="1"/>
              <a:t>Mantiene</a:t>
            </a:r>
            <a:r>
              <a:rPr sz="1400" dirty="0"/>
              <a:t> </a:t>
            </a:r>
            <a:r>
              <a:rPr sz="1400" dirty="0" err="1"/>
              <a:t>el</a:t>
            </a:r>
            <a:r>
              <a:rPr sz="1400" dirty="0"/>
              <a:t> </a:t>
            </a:r>
            <a:r>
              <a:rPr sz="1400" dirty="0" err="1"/>
              <a:t>historial</a:t>
            </a:r>
            <a:r>
              <a:rPr sz="1400" dirty="0"/>
              <a:t> </a:t>
            </a:r>
            <a:r>
              <a:rPr sz="1400" dirty="0" err="1"/>
              <a:t>completo</a:t>
            </a:r>
            <a:r>
              <a:rPr sz="1400" dirty="0"/>
              <a:t> del </a:t>
            </a:r>
            <a:r>
              <a:rPr sz="1400" dirty="0" err="1"/>
              <a:t>activo</a:t>
            </a:r>
            <a:r>
              <a:rPr sz="1400" dirty="0"/>
              <a:t> (compliance, auditoria).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</a:t>
            </a:r>
            <a:r>
              <a:rPr sz="1400" dirty="0" err="1"/>
              <a:t>Permite</a:t>
            </a:r>
            <a:r>
              <a:rPr sz="1400" dirty="0"/>
              <a:t> '</a:t>
            </a:r>
            <a:r>
              <a:rPr sz="1400" dirty="0" err="1"/>
              <a:t>reactivar</a:t>
            </a:r>
            <a:r>
              <a:rPr sz="1400" dirty="0"/>
              <a:t>' un </a:t>
            </a:r>
            <a:r>
              <a:rPr sz="1400" dirty="0" err="1"/>
              <a:t>registro</a:t>
            </a:r>
            <a:r>
              <a:rPr sz="1400" dirty="0"/>
              <a:t> </a:t>
            </a:r>
            <a:r>
              <a:rPr sz="1400" dirty="0" err="1"/>
              <a:t>si</a:t>
            </a:r>
            <a:r>
              <a:rPr sz="1400" dirty="0"/>
              <a:t> </a:t>
            </a:r>
            <a:r>
              <a:rPr sz="1400" dirty="0" err="1"/>
              <a:t>fue</a:t>
            </a:r>
            <a:r>
              <a:rPr sz="1400" dirty="0"/>
              <a:t> un error.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Mejor para </a:t>
            </a:r>
            <a:r>
              <a:rPr sz="1400" dirty="0" err="1"/>
              <a:t>regulacion</a:t>
            </a:r>
            <a:r>
              <a:rPr sz="1400" dirty="0"/>
              <a:t> (GDPR </a:t>
            </a:r>
            <a:r>
              <a:rPr sz="1400" dirty="0" err="1"/>
              <a:t>excepto</a:t>
            </a:r>
            <a:r>
              <a:rPr sz="1400" dirty="0"/>
              <a:t> 'derecho al </a:t>
            </a:r>
            <a:r>
              <a:rPr sz="1400" dirty="0" err="1"/>
              <a:t>olvido</a:t>
            </a:r>
            <a:r>
              <a:rPr sz="1400" dirty="0"/>
              <a:t>').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rPr sz="1400" dirty="0"/>
              <a:t>    </a:t>
            </a:r>
            <a:r>
              <a:rPr sz="1400" dirty="0" err="1"/>
              <a:t>DelState</a:t>
            </a:r>
            <a:r>
              <a:rPr sz="1400" dirty="0"/>
              <a:t> es irreversible; con </a:t>
            </a:r>
            <a:r>
              <a:rPr sz="1400" dirty="0" err="1"/>
              <a:t>logico</a:t>
            </a:r>
            <a:r>
              <a:rPr sz="1400" dirty="0"/>
              <a:t> </a:t>
            </a:r>
            <a:r>
              <a:rPr sz="1400" dirty="0" err="1"/>
              <a:t>siempre</a:t>
            </a:r>
            <a:r>
              <a:rPr sz="1400" dirty="0"/>
              <a:t> </a:t>
            </a:r>
            <a:r>
              <a:rPr sz="1400" dirty="0" err="1"/>
              <a:t>puedes</a:t>
            </a:r>
            <a:r>
              <a:rPr sz="1400" dirty="0"/>
              <a:t> </a:t>
            </a:r>
            <a:r>
              <a:rPr sz="1400" dirty="0" err="1"/>
              <a:t>volver</a:t>
            </a:r>
            <a:r>
              <a:rPr sz="1400" dirty="0"/>
              <a:t> </a:t>
            </a:r>
            <a:r>
              <a:rPr sz="1400" dirty="0" err="1"/>
              <a:t>atras</a:t>
            </a:r>
            <a:r>
              <a:rPr sz="1400"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4134</Words>
  <Application>Microsoft Office PowerPoint</Application>
  <PresentationFormat>Personalizado</PresentationFormat>
  <Paragraphs>253</Paragraphs>
  <Slides>28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Nieto</cp:lastModifiedBy>
  <cp:revision>4</cp:revision>
  <dcterms:created xsi:type="dcterms:W3CDTF">2013-01-27T09:14:16Z</dcterms:created>
  <dcterms:modified xsi:type="dcterms:W3CDTF">2026-04-23T10:46:16Z</dcterms:modified>
  <cp:category/>
</cp:coreProperties>
</file>