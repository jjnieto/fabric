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5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Diseno de Chaincodes:</a:t>
            </a:r>
            <a:br/>
            <a:r>
              <a:t>Patrones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2 - Anatomia, modelado de datos y patrones CRUD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¿Cual es la principal diferencia entre tokens en Ethereum y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las tres formas de implementar tokens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el modelo UTXO?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¿Por que Fabric no tiene moneda nativa?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chaincode en Fabric?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chaincode es un programa que se ejecuta en los peers de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Equivalente a un Smart Contract, pero con diferencias importantes: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despliega a traves del lifecycle (no con una transaccion como en EVM)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paga gas: el coste es operativo, no transaccional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Accede al World State via Stub API, no a storage slots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chaincode puede contener MULTIPLES contratos (clases)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empaqueta como un contenedor Docker independiente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ejecuta en un entorno aislado del peer (sandbox)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Lenguajes soportados: Go, Node.js, 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Chaincode vs Smart Contract: terminologia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En Ethereum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 Smart Contract = 1 direccion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Escrito en Solidity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Desplegado con una transaccion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Ejecutado por todos los nodos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Estado en storage slots (mapping)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Inmutable una vez desplegado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(salvo patron proxy)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7432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En Fabric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 Chaincode = N contratos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Escrito en Go / Node.js / Java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Desplegado via lifecycle (approve + commit)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Ejecutado solo por endorsing peers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Estado en World State (key-value)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Actualizable via lifecycle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(nueva version, misma politica)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Anatomia de un chaincode en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Estructura basica: struct + Contract API + main()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58007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/>
                </a:solidFill>
              </a:rPr>
              <a:t>package main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import (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"github.com/</a:t>
            </a:r>
            <a:r>
              <a:rPr sz="1600" dirty="0" err="1">
                <a:solidFill>
                  <a:schemeClr val="bg1"/>
                </a:solidFill>
              </a:rPr>
              <a:t>hyperledger</a:t>
            </a:r>
            <a:r>
              <a:rPr sz="1600" dirty="0">
                <a:solidFill>
                  <a:schemeClr val="bg1"/>
                </a:solidFill>
              </a:rPr>
              <a:t>/fabric-contract-</a:t>
            </a:r>
            <a:r>
              <a:rPr sz="1600" dirty="0" err="1">
                <a:solidFill>
                  <a:schemeClr val="bg1"/>
                </a:solidFill>
              </a:rPr>
              <a:t>api</a:t>
            </a:r>
            <a:r>
              <a:rPr sz="1600" dirty="0">
                <a:solidFill>
                  <a:schemeClr val="bg1"/>
                </a:solidFill>
              </a:rPr>
              <a:t>-go/</a:t>
            </a:r>
            <a:r>
              <a:rPr sz="1600" dirty="0" err="1">
                <a:solidFill>
                  <a:schemeClr val="bg1"/>
                </a:solidFill>
              </a:rPr>
              <a:t>contractapi</a:t>
            </a:r>
            <a:r>
              <a:rPr sz="1600" dirty="0">
                <a:solidFill>
                  <a:schemeClr val="bg1"/>
                </a:solidFill>
              </a:rPr>
              <a:t>"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)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// 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proporciona</a:t>
            </a:r>
            <a:r>
              <a:rPr sz="1600" dirty="0">
                <a:solidFill>
                  <a:schemeClr val="bg1"/>
                </a:solidFill>
              </a:rPr>
              <a:t> las </a:t>
            </a:r>
            <a:r>
              <a:rPr sz="1600" dirty="0" err="1">
                <a:solidFill>
                  <a:schemeClr val="bg1"/>
                </a:solidFill>
              </a:rPr>
              <a:t>funciones</a:t>
            </a:r>
            <a:r>
              <a:rPr sz="1600" dirty="0">
                <a:solidFill>
                  <a:schemeClr val="bg1"/>
                </a:solidFill>
              </a:rPr>
              <a:t> del </a:t>
            </a:r>
            <a:r>
              <a:rPr sz="1600" dirty="0" err="1">
                <a:solidFill>
                  <a:schemeClr val="bg1"/>
                </a:solidFill>
              </a:rPr>
              <a:t>chaincode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type 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 struct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contractapi.Contract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// </a:t>
            </a:r>
            <a:r>
              <a:rPr sz="1600" dirty="0" err="1">
                <a:solidFill>
                  <a:schemeClr val="bg1"/>
                </a:solidFill>
              </a:rPr>
              <a:t>InitLedger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inicializa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el</a:t>
            </a:r>
            <a:r>
              <a:rPr sz="1600" dirty="0">
                <a:solidFill>
                  <a:schemeClr val="bg1"/>
                </a:solidFill>
              </a:rPr>
              <a:t> ledger con </a:t>
            </a:r>
            <a:r>
              <a:rPr sz="1600" dirty="0" err="1">
                <a:solidFill>
                  <a:schemeClr val="bg1"/>
                </a:solidFill>
              </a:rPr>
              <a:t>datos</a:t>
            </a:r>
            <a:r>
              <a:rPr sz="1600" dirty="0">
                <a:solidFill>
                  <a:schemeClr val="bg1"/>
                </a:solidFill>
              </a:rPr>
              <a:t> de </a:t>
            </a:r>
            <a:r>
              <a:rPr sz="1600" dirty="0" err="1">
                <a:solidFill>
                  <a:schemeClr val="bg1"/>
                </a:solidFill>
              </a:rPr>
              <a:t>ejemplo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InitLedger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) error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Logica de </a:t>
            </a:r>
            <a:r>
              <a:rPr sz="1600" dirty="0" err="1">
                <a:solidFill>
                  <a:schemeClr val="bg1"/>
                </a:solidFill>
              </a:rPr>
              <a:t>inicializacion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aqui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return nil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D732CC-2AD7-8474-C081-783EDC03225D}"/>
              </a:ext>
            </a:extLst>
          </p:cNvPr>
          <p:cNvSpPr txBox="1"/>
          <p:nvPr/>
        </p:nvSpPr>
        <p:spPr>
          <a:xfrm>
            <a:off x="6961148" y="2232014"/>
            <a:ext cx="47431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bg1"/>
                </a:solidFill>
              </a:rPr>
              <a:t>func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main</a:t>
            </a:r>
            <a:r>
              <a:rPr lang="es-ES" sz="1600" dirty="0">
                <a:solidFill>
                  <a:schemeClr val="bg1"/>
                </a:solidFill>
              </a:rPr>
              <a:t>()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chaincode</a:t>
            </a:r>
            <a:r>
              <a:rPr lang="es-ES" sz="1600" dirty="0">
                <a:solidFill>
                  <a:schemeClr val="bg1"/>
                </a:solidFill>
              </a:rPr>
              <a:t>, 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 := </a:t>
            </a:r>
            <a:r>
              <a:rPr lang="es-ES" sz="1600" dirty="0" err="1">
                <a:solidFill>
                  <a:schemeClr val="bg1"/>
                </a:solidFill>
              </a:rPr>
              <a:t>contractapi.NewChaincode</a:t>
            </a:r>
            <a:r>
              <a:rPr lang="es-ES" sz="1600" dirty="0">
                <a:solidFill>
                  <a:schemeClr val="bg1"/>
                </a:solidFill>
              </a:rPr>
              <a:t>(&amp;</a:t>
            </a:r>
            <a:r>
              <a:rPr lang="es-ES" sz="1600" dirty="0" err="1">
                <a:solidFill>
                  <a:schemeClr val="bg1"/>
                </a:solidFill>
              </a:rPr>
              <a:t>SmartContract</a:t>
            </a:r>
            <a:r>
              <a:rPr lang="es-ES" sz="1600" dirty="0">
                <a:solidFill>
                  <a:schemeClr val="bg1"/>
                </a:solidFill>
              </a:rPr>
              <a:t>{})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 != </a:t>
            </a:r>
            <a:r>
              <a:rPr lang="es-ES" sz="1600" dirty="0" err="1">
                <a:solidFill>
                  <a:schemeClr val="bg1"/>
                </a:solidFill>
              </a:rPr>
              <a:t>nil</a:t>
            </a:r>
            <a:r>
              <a:rPr lang="es-ES" sz="1600" dirty="0">
                <a:solidFill>
                  <a:schemeClr val="bg1"/>
                </a:solidFill>
              </a:rPr>
              <a:t>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</a:t>
            </a:r>
            <a:r>
              <a:rPr lang="es-ES" sz="1600" dirty="0" err="1">
                <a:solidFill>
                  <a:schemeClr val="bg1"/>
                </a:solidFill>
              </a:rPr>
              <a:t>panic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}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 := </a:t>
            </a:r>
            <a:r>
              <a:rPr lang="es-ES" sz="1600" dirty="0" err="1">
                <a:solidFill>
                  <a:schemeClr val="bg1"/>
                </a:solidFill>
              </a:rPr>
              <a:t>chaincode.Start</a:t>
            </a:r>
            <a:r>
              <a:rPr lang="es-ES" sz="1600" dirty="0">
                <a:solidFill>
                  <a:schemeClr val="bg1"/>
                </a:solidFill>
              </a:rPr>
              <a:t>(); 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 != </a:t>
            </a:r>
            <a:r>
              <a:rPr lang="es-ES" sz="1600" dirty="0" err="1">
                <a:solidFill>
                  <a:schemeClr val="bg1"/>
                </a:solidFill>
              </a:rPr>
              <a:t>nil</a:t>
            </a:r>
            <a:r>
              <a:rPr lang="es-ES" sz="1600" dirty="0">
                <a:solidFill>
                  <a:schemeClr val="bg1"/>
                </a:solidFill>
              </a:rPr>
              <a:t>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</a:t>
            </a:r>
            <a:r>
              <a:rPr lang="es-ES" sz="1600" dirty="0" err="1">
                <a:solidFill>
                  <a:schemeClr val="bg1"/>
                </a:solidFill>
              </a:rPr>
              <a:t>panic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}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3A1F12C-69B1-581F-365C-71AD39923D78}"/>
              </a:ext>
            </a:extLst>
          </p:cNvPr>
          <p:cNvSpPr/>
          <p:nvPr/>
        </p:nvSpPr>
        <p:spPr>
          <a:xfrm>
            <a:off x="6311590" y="1417320"/>
            <a:ext cx="45719" cy="50280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Anatomia de un chaincode en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Estructura basica: clase que extiende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446256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dirty="0"/>
            </a:br>
            <a:r>
              <a:rPr sz="1600" dirty="0">
                <a:solidFill>
                  <a:schemeClr val="bg1"/>
                </a:solidFill>
              </a:rPr>
              <a:t>'use strict';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const { Contract } = require('fabric-contract-</a:t>
            </a:r>
            <a:r>
              <a:rPr sz="1600" dirty="0" err="1">
                <a:solidFill>
                  <a:schemeClr val="bg1"/>
                </a:solidFill>
              </a:rPr>
              <a:t>api</a:t>
            </a:r>
            <a:r>
              <a:rPr sz="1600" dirty="0">
                <a:solidFill>
                  <a:schemeClr val="bg1"/>
                </a:solidFill>
              </a:rPr>
              <a:t>');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class </a:t>
            </a:r>
            <a:r>
              <a:rPr sz="1600" dirty="0" err="1">
                <a:solidFill>
                  <a:schemeClr val="bg1"/>
                </a:solidFill>
              </a:rPr>
              <a:t>AssetContract</a:t>
            </a:r>
            <a:r>
              <a:rPr sz="1600" dirty="0">
                <a:solidFill>
                  <a:schemeClr val="bg1"/>
                </a:solidFill>
              </a:rPr>
              <a:t> extends Contract {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async </a:t>
            </a:r>
            <a:r>
              <a:rPr sz="1600" dirty="0" err="1">
                <a:solidFill>
                  <a:schemeClr val="bg1"/>
                </a:solidFill>
              </a:rPr>
              <a:t>InitLedger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)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// Logica de </a:t>
            </a:r>
            <a:r>
              <a:rPr sz="1600" dirty="0" err="1">
                <a:solidFill>
                  <a:schemeClr val="bg1"/>
                </a:solidFill>
              </a:rPr>
              <a:t>inicializacion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aqui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const assets = [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{ ID: 'asset1', Owner: 'Alice', Value: 100 },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{ ID: 'asset2', Owner: 'Bob',   Value: 200 },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];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for (const asset of assets)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await </a:t>
            </a:r>
            <a:r>
              <a:rPr sz="1600" dirty="0" err="1">
                <a:solidFill>
                  <a:schemeClr val="bg1"/>
                </a:solidFill>
              </a:rPr>
              <a:t>ctx.stub.putState</a:t>
            </a:r>
            <a:r>
              <a:rPr sz="1600" dirty="0">
                <a:solidFill>
                  <a:schemeClr val="bg1"/>
                </a:solidFill>
              </a:rPr>
              <a:t>(asset.ID,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    </a:t>
            </a:r>
            <a:r>
              <a:rPr sz="1600" dirty="0" err="1">
                <a:solidFill>
                  <a:schemeClr val="bg1"/>
                </a:solidFill>
              </a:rPr>
              <a:t>Buffer.from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JSON.stringify</a:t>
            </a:r>
            <a:r>
              <a:rPr sz="1600" dirty="0">
                <a:solidFill>
                  <a:schemeClr val="bg1"/>
                </a:solidFill>
              </a:rPr>
              <a:t>(asset)));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;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CA4082-FC7C-4B99-CB20-D772769917C7}"/>
              </a:ext>
            </a:extLst>
          </p:cNvPr>
          <p:cNvSpPr txBox="1"/>
          <p:nvPr/>
        </p:nvSpPr>
        <p:spPr>
          <a:xfrm>
            <a:off x="6280924" y="2143657"/>
            <a:ext cx="49149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bg1"/>
                </a:solidFill>
              </a:rPr>
              <a:t>async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ReadAsset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ctx</a:t>
            </a:r>
            <a:r>
              <a:rPr lang="es-ES" sz="1600" dirty="0">
                <a:solidFill>
                  <a:schemeClr val="bg1"/>
                </a:solidFill>
              </a:rPr>
              <a:t>, id)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</a:t>
            </a:r>
            <a:r>
              <a:rPr lang="es-ES" sz="1600" dirty="0" err="1">
                <a:solidFill>
                  <a:schemeClr val="bg1"/>
                </a:solidFill>
              </a:rPr>
              <a:t>const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assetJSON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await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ctx.stub.getState</a:t>
            </a:r>
            <a:r>
              <a:rPr lang="es-ES" sz="1600" dirty="0">
                <a:solidFill>
                  <a:schemeClr val="bg1"/>
                </a:solidFill>
              </a:rPr>
              <a:t>(id);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(!</a:t>
            </a:r>
            <a:r>
              <a:rPr lang="es-ES" sz="1600" dirty="0" err="1">
                <a:solidFill>
                  <a:schemeClr val="bg1"/>
                </a:solidFill>
              </a:rPr>
              <a:t>assetJSON</a:t>
            </a:r>
            <a:r>
              <a:rPr lang="es-ES" sz="1600" dirty="0">
                <a:solidFill>
                  <a:schemeClr val="bg1"/>
                </a:solidFill>
              </a:rPr>
              <a:t> || </a:t>
            </a:r>
            <a:r>
              <a:rPr lang="es-ES" sz="1600" dirty="0" err="1">
                <a:solidFill>
                  <a:schemeClr val="bg1"/>
                </a:solidFill>
              </a:rPr>
              <a:t>assetJSON.length</a:t>
            </a:r>
            <a:r>
              <a:rPr lang="es-ES" sz="1600" dirty="0">
                <a:solidFill>
                  <a:schemeClr val="bg1"/>
                </a:solidFill>
              </a:rPr>
              <a:t> === 0)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    </a:t>
            </a:r>
            <a:r>
              <a:rPr lang="es-ES" sz="1600" dirty="0" err="1">
                <a:solidFill>
                  <a:schemeClr val="bg1"/>
                </a:solidFill>
              </a:rPr>
              <a:t>throw</a:t>
            </a:r>
            <a:r>
              <a:rPr lang="es-ES" sz="1600" dirty="0">
                <a:solidFill>
                  <a:schemeClr val="bg1"/>
                </a:solidFill>
              </a:rPr>
              <a:t> new Error(`</a:t>
            </a:r>
            <a:r>
              <a:rPr lang="es-ES" sz="1600" dirty="0" err="1">
                <a:solidFill>
                  <a:schemeClr val="bg1"/>
                </a:solidFill>
              </a:rPr>
              <a:t>Asset</a:t>
            </a:r>
            <a:r>
              <a:rPr lang="es-ES" sz="1600" dirty="0">
                <a:solidFill>
                  <a:schemeClr val="bg1"/>
                </a:solidFill>
              </a:rPr>
              <a:t> ${id} </a:t>
            </a:r>
            <a:r>
              <a:rPr lang="es-ES" sz="1600" dirty="0" err="1">
                <a:solidFill>
                  <a:schemeClr val="bg1"/>
                </a:solidFill>
              </a:rPr>
              <a:t>does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not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exist</a:t>
            </a:r>
            <a:r>
              <a:rPr lang="es-ES" sz="1600" dirty="0">
                <a:solidFill>
                  <a:schemeClr val="bg1"/>
                </a:solidFill>
              </a:rPr>
              <a:t>`);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}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</a:t>
            </a:r>
            <a:r>
              <a:rPr lang="es-ES" sz="1600" dirty="0" err="1">
                <a:solidFill>
                  <a:schemeClr val="bg1"/>
                </a:solidFill>
              </a:rPr>
              <a:t>return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assetJSON.toString</a:t>
            </a:r>
            <a:r>
              <a:rPr lang="es-ES" sz="1600" dirty="0">
                <a:solidFill>
                  <a:schemeClr val="bg1"/>
                </a:solidFill>
              </a:rPr>
              <a:t>();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}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}</a:t>
            </a:r>
            <a:br>
              <a:rPr lang="es-ES" sz="1600" dirty="0">
                <a:solidFill>
                  <a:schemeClr val="bg1"/>
                </a:solidFill>
              </a:rPr>
            </a:b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 err="1">
                <a:solidFill>
                  <a:schemeClr val="bg1"/>
                </a:solidFill>
              </a:rPr>
              <a:t>module.exports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AssetContract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B00DC3-DFAF-8CCA-CA7B-4686CC1B635F}"/>
              </a:ext>
            </a:extLst>
          </p:cNvPr>
          <p:cNvSpPr/>
          <p:nvPr/>
        </p:nvSpPr>
        <p:spPr>
          <a:xfrm>
            <a:off x="5596798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contexto de transaccion (ctx)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funcion del chaincode recibe un ctx (TransactionContext)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 traves de ctx accedes 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 - la Stub API para leer/escribir el World State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ctx.GetClientIdentity() - identidad del cliente que invoca (cert X.509)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ctx.GetStub().GetTxID() - ID unico de la transaccion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ctx.GetStub().GetTxTimestamp() - timestamp de la transaccion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ctx.GetStub().SetEvent() - emitir eventos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ctx es tu puerta de entrada a todo el estado de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Nunca accedas al filesystem o a la red desde un chaincode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Stub API: operaciones sobre el World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GetState(key) - Leer un valor por su clave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PutState(key, value) - Escribir o actualizar un valor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DelState(key) - Eliminar una clave (borrado logico del state)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GetStateByRange(startKey, endKey) - Rango de claves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GetQueryResult(query) - Rich query (solo CouchDB)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GetStateByPartialCompositeKey(objectType, attrs) - Buscar por clave compuesta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GetHistoryForKey(key) - Historial de cambios de una clave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Importante: PutState no escribe inmediatamente. Los cambios se aplican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solo si la transaccion es validada y committeada por los peers.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Composite Keys: claves compuestas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Permiten crear claves estructuradas para busquedas eficientes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construyen con CreateCompositeKey(objectType, attributes[])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objectType actua como 'tabla' y los attributes como indices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clave para un activo de un propietario: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CreateCompositeKey("asset", []string{"org1", "warehouse", "LOT-001"})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Resultado: \x00asset\x00org1\x00warehouse\x00LOT-001\x00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pueden buscar por prefijo con GetStateByPartialCompositeKey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Muy utiles para relaciones 1:N (propietario -&gt; activos)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Composite Keys: ejemplo practico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739797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// Crear </a:t>
            </a:r>
            <a:r>
              <a:rPr sz="1600" dirty="0" err="1">
                <a:solidFill>
                  <a:schemeClr val="bg1"/>
                </a:solidFill>
              </a:rPr>
              <a:t>una</a:t>
            </a:r>
            <a:r>
              <a:rPr sz="1600" dirty="0">
                <a:solidFill>
                  <a:schemeClr val="bg1"/>
                </a:solidFill>
              </a:rPr>
              <a:t> clave </a:t>
            </a:r>
            <a:r>
              <a:rPr sz="1600" dirty="0" err="1">
                <a:solidFill>
                  <a:schemeClr val="bg1"/>
                </a:solidFill>
              </a:rPr>
              <a:t>compuesta</a:t>
            </a:r>
            <a:r>
              <a:rPr sz="1600" dirty="0">
                <a:solidFill>
                  <a:schemeClr val="bg1"/>
                </a:solidFill>
              </a:rPr>
              <a:t> para un </a:t>
            </a:r>
            <a:r>
              <a:rPr sz="1600" dirty="0" err="1">
                <a:solidFill>
                  <a:schemeClr val="bg1"/>
                </a:solidFill>
              </a:rPr>
              <a:t>activo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CreateAsset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owner string, </a:t>
            </a:r>
            <a:r>
              <a:rPr sz="1600" dirty="0" err="1">
                <a:solidFill>
                  <a:schemeClr val="bg1"/>
                </a:solidFill>
              </a:rPr>
              <a:t>assetType</a:t>
            </a:r>
            <a:r>
              <a:rPr sz="1600" dirty="0">
                <a:solidFill>
                  <a:schemeClr val="bg1"/>
                </a:solidFill>
              </a:rPr>
              <a:t> string, id string, value int) error {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Clave </a:t>
            </a:r>
            <a:r>
              <a:rPr sz="1600" dirty="0" err="1">
                <a:solidFill>
                  <a:schemeClr val="bg1"/>
                </a:solidFill>
              </a:rPr>
              <a:t>compuesta</a:t>
            </a:r>
            <a:r>
              <a:rPr sz="1600" dirty="0">
                <a:solidFill>
                  <a:schemeClr val="bg1"/>
                </a:solidFill>
              </a:rPr>
              <a:t>: </a:t>
            </a:r>
            <a:r>
              <a:rPr sz="1600" dirty="0" err="1">
                <a:solidFill>
                  <a:schemeClr val="bg1"/>
                </a:solidFill>
              </a:rPr>
              <a:t>permite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buscar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por</a:t>
            </a:r>
            <a:r>
              <a:rPr sz="1600" dirty="0">
                <a:solidFill>
                  <a:schemeClr val="bg1"/>
                </a:solidFill>
              </a:rPr>
              <a:t> owner o </a:t>
            </a:r>
            <a:r>
              <a:rPr sz="1600" dirty="0" err="1">
                <a:solidFill>
                  <a:schemeClr val="bg1"/>
                </a:solidFill>
              </a:rPr>
              <a:t>por</a:t>
            </a:r>
            <a:r>
              <a:rPr sz="1600" dirty="0">
                <a:solidFill>
                  <a:schemeClr val="bg1"/>
                </a:solidFill>
              </a:rPr>
              <a:t> type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key, err := </a:t>
            </a:r>
            <a:r>
              <a:rPr sz="1600" dirty="0" err="1">
                <a:solidFill>
                  <a:schemeClr val="bg1"/>
                </a:solidFill>
              </a:rPr>
              <a:t>ctx.GetStub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CreateCompositeKey</a:t>
            </a:r>
            <a:r>
              <a:rPr sz="1600" dirty="0">
                <a:solidFill>
                  <a:schemeClr val="bg1"/>
                </a:solidFill>
              </a:rPr>
              <a:t>("asset",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[]string{owner, </a:t>
            </a:r>
            <a:r>
              <a:rPr sz="1600" dirty="0" err="1">
                <a:solidFill>
                  <a:schemeClr val="bg1"/>
                </a:solidFill>
              </a:rPr>
              <a:t>assetType</a:t>
            </a:r>
            <a:r>
              <a:rPr sz="1600" dirty="0">
                <a:solidFill>
                  <a:schemeClr val="bg1"/>
                </a:solidFill>
              </a:rPr>
              <a:t>, id})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err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asset := Asset{ID: id, Owner: owner, Type: </a:t>
            </a:r>
            <a:r>
              <a:rPr sz="1600" dirty="0" err="1">
                <a:solidFill>
                  <a:schemeClr val="bg1"/>
                </a:solidFill>
              </a:rPr>
              <a:t>assetType</a:t>
            </a:r>
            <a:r>
              <a:rPr sz="1600" dirty="0">
                <a:solidFill>
                  <a:schemeClr val="bg1"/>
                </a:solidFill>
              </a:rPr>
              <a:t>, Value: value}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assetJSON</a:t>
            </a:r>
            <a:r>
              <a:rPr sz="1600" dirty="0">
                <a:solidFill>
                  <a:schemeClr val="bg1"/>
                </a:solidFill>
              </a:rPr>
              <a:t>, _ := </a:t>
            </a:r>
            <a:r>
              <a:rPr sz="1600" dirty="0" err="1">
                <a:solidFill>
                  <a:schemeClr val="bg1"/>
                </a:solidFill>
              </a:rPr>
              <a:t>json.Marshal</a:t>
            </a:r>
            <a:r>
              <a:rPr sz="1600" dirty="0">
                <a:solidFill>
                  <a:schemeClr val="bg1"/>
                </a:solidFill>
              </a:rPr>
              <a:t>(asset)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return </a:t>
            </a:r>
            <a:r>
              <a:rPr sz="1600" dirty="0" err="1">
                <a:solidFill>
                  <a:schemeClr val="bg1"/>
                </a:solidFill>
              </a:rPr>
              <a:t>ctx.GetStub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PutState</a:t>
            </a:r>
            <a:r>
              <a:rPr sz="1600" dirty="0">
                <a:solidFill>
                  <a:schemeClr val="bg1"/>
                </a:solidFill>
              </a:rPr>
              <a:t>(key, </a:t>
            </a:r>
            <a:r>
              <a:rPr sz="1600" dirty="0" err="1">
                <a:solidFill>
                  <a:schemeClr val="bg1"/>
                </a:solidFill>
              </a:rPr>
              <a:t>assetJSON</a:t>
            </a:r>
            <a:r>
              <a:rPr sz="1600" dirty="0">
                <a:solidFill>
                  <a:schemeClr val="bg1"/>
                </a:solidFill>
              </a:rPr>
              <a:t>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0D73F4-1AB6-CF31-3B46-D29ED4149C90}"/>
              </a:ext>
            </a:extLst>
          </p:cNvPr>
          <p:cNvSpPr txBox="1"/>
          <p:nvPr/>
        </p:nvSpPr>
        <p:spPr>
          <a:xfrm>
            <a:off x="6774645" y="1847088"/>
            <a:ext cx="46974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// Buscar todos los activos de un propietario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 err="1">
                <a:solidFill>
                  <a:schemeClr val="bg1"/>
                </a:solidFill>
              </a:rPr>
              <a:t>func</a:t>
            </a:r>
            <a:r>
              <a:rPr lang="es-ES" sz="1600" dirty="0">
                <a:solidFill>
                  <a:schemeClr val="bg1"/>
                </a:solidFill>
              </a:rPr>
              <a:t> (s *</a:t>
            </a:r>
            <a:r>
              <a:rPr lang="es-ES" sz="1600" dirty="0" err="1">
                <a:solidFill>
                  <a:schemeClr val="bg1"/>
                </a:solidFill>
              </a:rPr>
              <a:t>SmartContract</a:t>
            </a:r>
            <a:r>
              <a:rPr lang="es-ES" sz="1600" dirty="0">
                <a:solidFill>
                  <a:schemeClr val="bg1"/>
                </a:solidFill>
              </a:rPr>
              <a:t>) </a:t>
            </a:r>
            <a:r>
              <a:rPr lang="es-ES" sz="1600" dirty="0" err="1">
                <a:solidFill>
                  <a:schemeClr val="bg1"/>
                </a:solidFill>
              </a:rPr>
              <a:t>GetAssetsByOwner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ctx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lang="es-ES" sz="1600" dirty="0">
                <a:solidFill>
                  <a:schemeClr val="bg1"/>
                </a:solidFill>
              </a:rPr>
              <a:t>,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owner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string</a:t>
            </a:r>
            <a:r>
              <a:rPr lang="es-ES" sz="1600" dirty="0">
                <a:solidFill>
                  <a:schemeClr val="bg1"/>
                </a:solidFill>
              </a:rPr>
              <a:t>) ([]*</a:t>
            </a:r>
            <a:r>
              <a:rPr lang="es-ES" sz="1600" dirty="0" err="1">
                <a:solidFill>
                  <a:schemeClr val="bg1"/>
                </a:solidFill>
              </a:rPr>
              <a:t>Asset</a:t>
            </a:r>
            <a:r>
              <a:rPr lang="es-ES" sz="1600" dirty="0">
                <a:solidFill>
                  <a:schemeClr val="bg1"/>
                </a:solidFill>
              </a:rPr>
              <a:t>, error) {</a:t>
            </a:r>
            <a:br>
              <a:rPr lang="es-ES" sz="1600" dirty="0">
                <a:solidFill>
                  <a:schemeClr val="bg1"/>
                </a:solidFill>
              </a:rPr>
            </a:b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iterator</a:t>
            </a:r>
            <a:r>
              <a:rPr lang="es-ES" sz="1600" dirty="0">
                <a:solidFill>
                  <a:schemeClr val="bg1"/>
                </a:solidFill>
              </a:rPr>
              <a:t>, </a:t>
            </a:r>
            <a:r>
              <a:rPr lang="es-ES" sz="1600" dirty="0" err="1">
                <a:solidFill>
                  <a:schemeClr val="bg1"/>
                </a:solidFill>
              </a:rPr>
              <a:t>err</a:t>
            </a:r>
            <a:r>
              <a:rPr lang="es-ES" sz="1600" dirty="0">
                <a:solidFill>
                  <a:schemeClr val="bg1"/>
                </a:solidFill>
              </a:rPr>
              <a:t> := </a:t>
            </a:r>
            <a:r>
              <a:rPr lang="es-ES" sz="1600" dirty="0" err="1">
                <a:solidFill>
                  <a:schemeClr val="bg1"/>
                </a:solidFill>
              </a:rPr>
              <a:t>ctx.GetStub</a:t>
            </a:r>
            <a:r>
              <a:rPr lang="es-ES" sz="1600" dirty="0">
                <a:solidFill>
                  <a:schemeClr val="bg1"/>
                </a:solidFill>
              </a:rPr>
              <a:t>().</a:t>
            </a:r>
            <a:r>
              <a:rPr lang="es-ES" sz="1600" dirty="0" err="1">
                <a:solidFill>
                  <a:schemeClr val="bg1"/>
                </a:solidFill>
              </a:rPr>
              <a:t>GetStateByPartialCompositeKey</a:t>
            </a:r>
            <a:r>
              <a:rPr lang="es-ES" sz="1600" dirty="0">
                <a:solidFill>
                  <a:schemeClr val="bg1"/>
                </a:solidFill>
              </a:rPr>
              <a:t>("</a:t>
            </a:r>
            <a:r>
              <a:rPr lang="es-ES" sz="1600" dirty="0" err="1">
                <a:solidFill>
                  <a:schemeClr val="bg1"/>
                </a:solidFill>
              </a:rPr>
              <a:t>asset</a:t>
            </a:r>
            <a:r>
              <a:rPr lang="es-ES" sz="1600" dirty="0">
                <a:solidFill>
                  <a:schemeClr val="bg1"/>
                </a:solidFill>
              </a:rPr>
              <a:t>",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    []</a:t>
            </a:r>
            <a:r>
              <a:rPr lang="es-ES" sz="1600" dirty="0" err="1">
                <a:solidFill>
                  <a:schemeClr val="bg1"/>
                </a:solidFill>
              </a:rPr>
              <a:t>string</a:t>
            </a:r>
            <a:r>
              <a:rPr lang="es-ES" sz="1600" dirty="0">
                <a:solidFill>
                  <a:schemeClr val="bg1"/>
                </a:solidFill>
              </a:rPr>
              <a:t>{</a:t>
            </a:r>
            <a:r>
              <a:rPr lang="es-ES" sz="1600" dirty="0" err="1">
                <a:solidFill>
                  <a:schemeClr val="bg1"/>
                </a:solidFill>
              </a:rPr>
              <a:t>owner</a:t>
            </a:r>
            <a:r>
              <a:rPr lang="es-ES" sz="1600" dirty="0">
                <a:solidFill>
                  <a:schemeClr val="bg1"/>
                </a:solidFill>
              </a:rPr>
              <a:t>})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// ... iterar sobre resultados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}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9A7099-A5C0-B10B-736B-C1A866F298C7}"/>
              </a:ext>
            </a:extLst>
          </p:cNvPr>
          <p:cNvSpPr/>
          <p:nvPr/>
        </p:nvSpPr>
        <p:spPr>
          <a:xfrm>
            <a:off x="6622708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Modelado de datos: JSON en el World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World State almacena pares clave-valor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valor tipicamente es un JSON serializado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Disena tus structs/objetos pensando en las queries que necesitaras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Reglas de diseno: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Incluye siempre un campo 'docType' para filtrar en CouchDB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Usa IDs deterministas (no UUIDs generados en el chaincode)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Evita objetos anidados profundos: complican las queries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Piensa en el key space: ¿como vas a buscar este dato?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Desnormaliza si es necesario: no hay JOINs en el World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Grace Hopper: la madre del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Grace Hopper (1906-1992) fue una pionera de la informatica y contraalmirante de la US Navy.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Desarrollo el primer compilador (A-0) y contribuyo al lenguaje COBOL.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1947, su equipo encontro una polilla atrapada en un rele del Mark II.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Pego la polilla en el cuaderno de bitacora con la nota: 'First actual case of bug being found'.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Aunque el termino 'bug' ya existia, este incidente lo popularizo en informatica.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 para el curso: cuando un chaincode no funciona... puede que sea un bug literal.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¿Sabiais que el USS Hopper (DDG-70), un destructor de la US Navy, lleva su nombre?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Modelo de datos: Registro de Propiedad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Caso de uso: Registro de Propiedad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// </a:t>
            </a:r>
            <a:r>
              <a:rPr dirty="0" err="1">
                <a:solidFill>
                  <a:schemeClr val="bg1"/>
                </a:solidFill>
              </a:rPr>
              <a:t>Propiedad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inmobiliaria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type Property struct {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</a:t>
            </a:r>
            <a:r>
              <a:rPr dirty="0" err="1">
                <a:solidFill>
                  <a:schemeClr val="bg1"/>
                </a:solidFill>
              </a:rPr>
              <a:t>DocType</a:t>
            </a:r>
            <a:r>
              <a:rPr dirty="0">
                <a:solidFill>
                  <a:schemeClr val="bg1"/>
                </a:solidFill>
              </a:rPr>
              <a:t>  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</a:t>
            </a:r>
            <a:r>
              <a:rPr dirty="0" err="1">
                <a:solidFill>
                  <a:schemeClr val="bg1"/>
                </a:solidFill>
              </a:rPr>
              <a:t>docType</a:t>
            </a:r>
            <a:r>
              <a:rPr dirty="0">
                <a:solidFill>
                  <a:schemeClr val="bg1"/>
                </a:solidFill>
              </a:rPr>
              <a:t>"`       // </a:t>
            </a:r>
            <a:r>
              <a:rPr dirty="0" err="1">
                <a:solidFill>
                  <a:schemeClr val="bg1"/>
                </a:solidFill>
              </a:rPr>
              <a:t>siempre</a:t>
            </a:r>
            <a:r>
              <a:rPr dirty="0">
                <a:solidFill>
                  <a:schemeClr val="bg1"/>
                </a:solidFill>
              </a:rPr>
              <a:t> "property"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ID       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:"id"`            // </a:t>
            </a:r>
            <a:r>
              <a:rPr dirty="0" err="1">
                <a:solidFill>
                  <a:schemeClr val="bg1"/>
                </a:solidFill>
              </a:rPr>
              <a:t>referencia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catastral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Address  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:"address"`       // </a:t>
            </a:r>
            <a:r>
              <a:rPr dirty="0" err="1">
                <a:solidFill>
                  <a:schemeClr val="bg1"/>
                </a:solidFill>
              </a:rPr>
              <a:t>direccion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fisica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Owner    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:"owner"`         // ID del </a:t>
            </a:r>
            <a:r>
              <a:rPr dirty="0" err="1">
                <a:solidFill>
                  <a:schemeClr val="bg1"/>
                </a:solidFill>
              </a:rPr>
              <a:t>propietario</a:t>
            </a:r>
            <a:r>
              <a:rPr dirty="0">
                <a:solidFill>
                  <a:schemeClr val="bg1"/>
                </a:solidFill>
              </a:rPr>
              <a:t> (MSP)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</a:t>
            </a:r>
            <a:r>
              <a:rPr dirty="0" err="1">
                <a:solidFill>
                  <a:schemeClr val="bg1"/>
                </a:solidFill>
              </a:rPr>
              <a:t>OwnerName</a:t>
            </a:r>
            <a:r>
              <a:rPr dirty="0">
                <a:solidFill>
                  <a:schemeClr val="bg1"/>
                </a:solidFill>
              </a:rPr>
              <a:t>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</a:t>
            </a:r>
            <a:r>
              <a:rPr dirty="0" err="1">
                <a:solidFill>
                  <a:schemeClr val="bg1"/>
                </a:solidFill>
              </a:rPr>
              <a:t>ownerName</a:t>
            </a:r>
            <a:r>
              <a:rPr dirty="0">
                <a:solidFill>
                  <a:schemeClr val="bg1"/>
                </a:solidFill>
              </a:rPr>
              <a:t>"`     // </a:t>
            </a:r>
            <a:r>
              <a:rPr dirty="0" err="1">
                <a:solidFill>
                  <a:schemeClr val="bg1"/>
                </a:solidFill>
              </a:rPr>
              <a:t>nombre</a:t>
            </a:r>
            <a:r>
              <a:rPr dirty="0">
                <a:solidFill>
                  <a:schemeClr val="bg1"/>
                </a:solidFill>
              </a:rPr>
              <a:t> del </a:t>
            </a:r>
            <a:r>
              <a:rPr dirty="0" err="1">
                <a:solidFill>
                  <a:schemeClr val="bg1"/>
                </a:solidFill>
              </a:rPr>
              <a:t>propietario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Area          int   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:"area"`          // metros </a:t>
            </a:r>
            <a:r>
              <a:rPr dirty="0" err="1">
                <a:solidFill>
                  <a:schemeClr val="bg1"/>
                </a:solidFill>
              </a:rPr>
              <a:t>cuadrados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</a:t>
            </a:r>
            <a:r>
              <a:rPr dirty="0" err="1">
                <a:solidFill>
                  <a:schemeClr val="bg1"/>
                </a:solidFill>
              </a:rPr>
              <a:t>PropertyType</a:t>
            </a:r>
            <a:r>
              <a:rPr dirty="0">
                <a:solidFill>
                  <a:schemeClr val="bg1"/>
                </a:solidFill>
              </a:rPr>
              <a:t>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</a:t>
            </a:r>
            <a:r>
              <a:rPr dirty="0" err="1">
                <a:solidFill>
                  <a:schemeClr val="bg1"/>
                </a:solidFill>
              </a:rPr>
              <a:t>propertyType</a:t>
            </a:r>
            <a:r>
              <a:rPr dirty="0">
                <a:solidFill>
                  <a:schemeClr val="bg1"/>
                </a:solidFill>
              </a:rPr>
              <a:t>"`  // "</a:t>
            </a:r>
            <a:r>
              <a:rPr dirty="0" err="1">
                <a:solidFill>
                  <a:schemeClr val="bg1"/>
                </a:solidFill>
              </a:rPr>
              <a:t>apartment"|"house"|"land</a:t>
            </a:r>
            <a:r>
              <a:rPr dirty="0">
                <a:solidFill>
                  <a:schemeClr val="bg1"/>
                </a:solidFill>
              </a:rPr>
              <a:t>"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Status      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:"status"`        // "</a:t>
            </a:r>
            <a:r>
              <a:rPr dirty="0" err="1">
                <a:solidFill>
                  <a:schemeClr val="bg1"/>
                </a:solidFill>
              </a:rPr>
              <a:t>active"|"transferring"|"blocked</a:t>
            </a:r>
            <a:r>
              <a:rPr dirty="0">
                <a:solidFill>
                  <a:schemeClr val="bg1"/>
                </a:solidFill>
              </a:rPr>
              <a:t>"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</a:t>
            </a:r>
            <a:r>
              <a:rPr dirty="0" err="1">
                <a:solidFill>
                  <a:schemeClr val="bg1"/>
                </a:solidFill>
              </a:rPr>
              <a:t>RegisteredAt</a:t>
            </a:r>
            <a:r>
              <a:rPr dirty="0">
                <a:solidFill>
                  <a:schemeClr val="bg1"/>
                </a:solidFill>
              </a:rPr>
              <a:t>  string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</a:t>
            </a:r>
            <a:r>
              <a:rPr dirty="0" err="1">
                <a:solidFill>
                  <a:schemeClr val="bg1"/>
                </a:solidFill>
              </a:rPr>
              <a:t>registeredAt</a:t>
            </a:r>
            <a:r>
              <a:rPr dirty="0">
                <a:solidFill>
                  <a:schemeClr val="bg1"/>
                </a:solidFill>
              </a:rPr>
              <a:t>"`  // </a:t>
            </a:r>
            <a:r>
              <a:rPr dirty="0" err="1">
                <a:solidFill>
                  <a:schemeClr val="bg1"/>
                </a:solidFill>
              </a:rPr>
              <a:t>fecha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registro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</a:t>
            </a:r>
            <a:r>
              <a:rPr dirty="0" err="1">
                <a:solidFill>
                  <a:schemeClr val="bg1"/>
                </a:solidFill>
              </a:rPr>
              <a:t>AppraisalValue</a:t>
            </a:r>
            <a:r>
              <a:rPr dirty="0">
                <a:solidFill>
                  <a:schemeClr val="bg1"/>
                </a:solidFill>
              </a:rPr>
              <a:t> int   `</a:t>
            </a:r>
            <a:r>
              <a:rPr dirty="0" err="1">
                <a:solidFill>
                  <a:schemeClr val="bg1"/>
                </a:solidFill>
              </a:rPr>
              <a:t>json</a:t>
            </a:r>
            <a:r>
              <a:rPr dirty="0">
                <a:solidFill>
                  <a:schemeClr val="bg1"/>
                </a:solidFill>
              </a:rPr>
              <a:t>:"</a:t>
            </a:r>
            <a:r>
              <a:rPr dirty="0" err="1">
                <a:solidFill>
                  <a:schemeClr val="bg1"/>
                </a:solidFill>
              </a:rPr>
              <a:t>appraisalValue</a:t>
            </a:r>
            <a:r>
              <a:rPr dirty="0">
                <a:solidFill>
                  <a:schemeClr val="bg1"/>
                </a:solidFill>
              </a:rPr>
              <a:t>"` // valor de </a:t>
            </a:r>
            <a:r>
              <a:rPr dirty="0" err="1">
                <a:solidFill>
                  <a:schemeClr val="bg1"/>
                </a:solidFill>
              </a:rPr>
              <a:t>tasacion</a:t>
            </a:r>
            <a:r>
              <a:rPr dirty="0">
                <a:solidFill>
                  <a:schemeClr val="bg1"/>
                </a:solidFill>
              </a:rPr>
              <a:t> (euros)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}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// Key design: "property" + comunidad + municipio + </a:t>
            </a:r>
            <a:r>
              <a:rPr dirty="0" err="1">
                <a:solidFill>
                  <a:schemeClr val="bg1"/>
                </a:solidFill>
              </a:rPr>
              <a:t>referencia_catastral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// </a:t>
            </a:r>
            <a:r>
              <a:rPr dirty="0" err="1">
                <a:solidFill>
                  <a:schemeClr val="bg1"/>
                </a:solidFill>
              </a:rPr>
              <a:t>Permite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buscar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comunidad,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municipio, o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referencia</a:t>
            </a:r>
            <a:r>
              <a:rPr dirty="0">
                <a:solidFill>
                  <a:schemeClr val="bg1"/>
                </a:solidFill>
              </a:rPr>
              <a:t> exacta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World State: LevelDB vs CouchDB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LevelDB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Base de datos key-value embebida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Solo soporta queries por clave exacta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y por rango de claves (startKey-endKey)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Mas rapido y ligero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 requiere contenedor adicional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Ideal para: lookups por clave,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modelos simples, alto rendimiento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7432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CouchDB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Base de datos documental (JSON)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Soporta rich queries (consultas JSON)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Indices configurables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Requiere contenedor Docker adicional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Algo mas lento pero mucho mas flexible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Ideal para: queries complejas,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reportes, busquedas por atributo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Rich Queries con CouchDB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Consultas JSON estilo MongoDB sobre el World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/>
                </a:solidFill>
              </a:rPr>
              <a:t>// </a:t>
            </a:r>
            <a:r>
              <a:rPr sz="1600" dirty="0" err="1">
                <a:solidFill>
                  <a:schemeClr val="bg1"/>
                </a:solidFill>
              </a:rPr>
              <a:t>Buscar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propiedades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por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tipo</a:t>
            </a:r>
            <a:r>
              <a:rPr sz="1600" dirty="0">
                <a:solidFill>
                  <a:schemeClr val="bg1"/>
                </a:solidFill>
              </a:rPr>
              <a:t> y </a:t>
            </a:r>
            <a:r>
              <a:rPr sz="1600" dirty="0" err="1">
                <a:solidFill>
                  <a:schemeClr val="bg1"/>
                </a:solidFill>
              </a:rPr>
              <a:t>rango</a:t>
            </a:r>
            <a:r>
              <a:rPr sz="1600" dirty="0">
                <a:solidFill>
                  <a:schemeClr val="bg1"/>
                </a:solidFill>
              </a:rPr>
              <a:t> de valor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QueryProperties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propertyType</a:t>
            </a:r>
            <a:r>
              <a:rPr sz="1600" dirty="0">
                <a:solidFill>
                  <a:schemeClr val="bg1"/>
                </a:solidFill>
              </a:rPr>
              <a:t> string, </a:t>
            </a:r>
            <a:r>
              <a:rPr sz="1600" dirty="0" err="1">
                <a:solidFill>
                  <a:schemeClr val="bg1"/>
                </a:solidFill>
              </a:rPr>
              <a:t>minValue</a:t>
            </a:r>
            <a:r>
              <a:rPr sz="1600" dirty="0">
                <a:solidFill>
                  <a:schemeClr val="bg1"/>
                </a:solidFill>
              </a:rPr>
              <a:t> int) ([]*Property, error)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Mango query (</a:t>
            </a:r>
            <a:r>
              <a:rPr sz="1600" dirty="0" err="1">
                <a:solidFill>
                  <a:schemeClr val="bg1"/>
                </a:solidFill>
              </a:rPr>
              <a:t>sintaxis</a:t>
            </a:r>
            <a:r>
              <a:rPr sz="1600" dirty="0">
                <a:solidFill>
                  <a:schemeClr val="bg1"/>
                </a:solidFill>
              </a:rPr>
              <a:t> CouchDB)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queryString</a:t>
            </a:r>
            <a:r>
              <a:rPr sz="1600" dirty="0">
                <a:solidFill>
                  <a:schemeClr val="bg1"/>
                </a:solidFill>
              </a:rPr>
              <a:t> := </a:t>
            </a:r>
            <a:r>
              <a:rPr sz="1600" dirty="0" err="1">
                <a:solidFill>
                  <a:schemeClr val="bg1"/>
                </a:solidFill>
              </a:rPr>
              <a:t>fmt.Sprintf</a:t>
            </a:r>
            <a:r>
              <a:rPr sz="1600" dirty="0">
                <a:solidFill>
                  <a:schemeClr val="bg1"/>
                </a:solidFill>
              </a:rPr>
              <a:t>(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`{"selector":{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"</a:t>
            </a:r>
            <a:r>
              <a:rPr sz="1600" dirty="0" err="1">
                <a:solidFill>
                  <a:schemeClr val="bg1"/>
                </a:solidFill>
              </a:rPr>
              <a:t>docType</a:t>
            </a:r>
            <a:r>
              <a:rPr sz="1600" dirty="0">
                <a:solidFill>
                  <a:schemeClr val="bg1"/>
                </a:solidFill>
              </a:rPr>
              <a:t>": "property",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"</a:t>
            </a:r>
            <a:r>
              <a:rPr sz="1600" dirty="0" err="1">
                <a:solidFill>
                  <a:schemeClr val="bg1"/>
                </a:solidFill>
              </a:rPr>
              <a:t>propertyType</a:t>
            </a:r>
            <a:r>
              <a:rPr sz="1600" dirty="0">
                <a:solidFill>
                  <a:schemeClr val="bg1"/>
                </a:solidFill>
              </a:rPr>
              <a:t>": "%s",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    "</a:t>
            </a:r>
            <a:r>
              <a:rPr sz="1600" dirty="0" err="1">
                <a:solidFill>
                  <a:schemeClr val="bg1"/>
                </a:solidFill>
              </a:rPr>
              <a:t>appraisalValue</a:t>
            </a:r>
            <a:r>
              <a:rPr sz="1600" dirty="0">
                <a:solidFill>
                  <a:schemeClr val="bg1"/>
                </a:solidFill>
              </a:rPr>
              <a:t>": {"$</a:t>
            </a:r>
            <a:r>
              <a:rPr sz="1600" dirty="0" err="1">
                <a:solidFill>
                  <a:schemeClr val="bg1"/>
                </a:solidFill>
              </a:rPr>
              <a:t>gte</a:t>
            </a:r>
            <a:r>
              <a:rPr sz="1600" dirty="0">
                <a:solidFill>
                  <a:schemeClr val="bg1"/>
                </a:solidFill>
              </a:rPr>
              <a:t>": %d}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},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"sort": [{"</a:t>
            </a:r>
            <a:r>
              <a:rPr sz="1600" dirty="0" err="1">
                <a:solidFill>
                  <a:schemeClr val="bg1"/>
                </a:solidFill>
              </a:rPr>
              <a:t>appraisalValue</a:t>
            </a:r>
            <a:r>
              <a:rPr sz="1600" dirty="0">
                <a:solidFill>
                  <a:schemeClr val="bg1"/>
                </a:solidFill>
              </a:rPr>
              <a:t>": "desc"}],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"</a:t>
            </a:r>
            <a:r>
              <a:rPr sz="1600" dirty="0" err="1">
                <a:solidFill>
                  <a:schemeClr val="bg1"/>
                </a:solidFill>
              </a:rPr>
              <a:t>use_index</a:t>
            </a:r>
            <a:r>
              <a:rPr sz="1600" dirty="0">
                <a:solidFill>
                  <a:schemeClr val="bg1"/>
                </a:solidFill>
              </a:rPr>
              <a:t>": "</a:t>
            </a:r>
            <a:r>
              <a:rPr sz="1600" dirty="0" err="1">
                <a:solidFill>
                  <a:schemeClr val="bg1"/>
                </a:solidFill>
              </a:rPr>
              <a:t>indexPropertyType</a:t>
            </a:r>
            <a:r>
              <a:rPr sz="1600" dirty="0">
                <a:solidFill>
                  <a:schemeClr val="bg1"/>
                </a:solidFill>
              </a:rPr>
              <a:t>"}`,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</a:t>
            </a:r>
            <a:r>
              <a:rPr sz="1600" dirty="0" err="1">
                <a:solidFill>
                  <a:schemeClr val="bg1"/>
                </a:solidFill>
              </a:rPr>
              <a:t>propertyType</a:t>
            </a:r>
            <a:r>
              <a:rPr sz="1600" dirty="0">
                <a:solidFill>
                  <a:schemeClr val="bg1"/>
                </a:solidFill>
              </a:rPr>
              <a:t>, </a:t>
            </a:r>
            <a:r>
              <a:rPr sz="1600" dirty="0" err="1">
                <a:solidFill>
                  <a:schemeClr val="bg1"/>
                </a:solidFill>
              </a:rPr>
              <a:t>minValue</a:t>
            </a:r>
            <a:r>
              <a:rPr sz="1600" dirty="0">
                <a:solidFill>
                  <a:schemeClr val="bg1"/>
                </a:solidFill>
              </a:rPr>
              <a:t>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resultsIterator</a:t>
            </a:r>
            <a:r>
              <a:rPr sz="1600" dirty="0">
                <a:solidFill>
                  <a:schemeClr val="bg1"/>
                </a:solidFill>
              </a:rPr>
              <a:t>, err := </a:t>
            </a:r>
            <a:r>
              <a:rPr sz="1600" dirty="0" err="1">
                <a:solidFill>
                  <a:schemeClr val="bg1"/>
                </a:solidFill>
              </a:rPr>
              <a:t>ctx.GetStub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GetQueryResult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queryString</a:t>
            </a:r>
            <a:r>
              <a:rPr sz="1600" dirty="0">
                <a:solidFill>
                  <a:schemeClr val="bg1"/>
                </a:solidFill>
              </a:rPr>
              <a:t>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nil, err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defer </a:t>
            </a:r>
            <a:r>
              <a:rPr sz="1600" dirty="0" err="1">
                <a:solidFill>
                  <a:schemeClr val="bg1"/>
                </a:solidFill>
              </a:rPr>
              <a:t>resultsIterator.Close</a:t>
            </a:r>
            <a:r>
              <a:rPr sz="1600" dirty="0">
                <a:solidFill>
                  <a:schemeClr val="bg1"/>
                </a:solidFill>
              </a:rPr>
              <a:t>()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</a:t>
            </a:r>
            <a:r>
              <a:rPr sz="1600" dirty="0" err="1">
                <a:solidFill>
                  <a:schemeClr val="bg1"/>
                </a:solidFill>
              </a:rPr>
              <a:t>Iterar</a:t>
            </a:r>
            <a:r>
              <a:rPr sz="1600" dirty="0">
                <a:solidFill>
                  <a:schemeClr val="bg1"/>
                </a:solidFill>
              </a:rPr>
              <a:t> y </a:t>
            </a:r>
            <a:r>
              <a:rPr sz="1600" dirty="0" err="1">
                <a:solidFill>
                  <a:schemeClr val="bg1"/>
                </a:solidFill>
              </a:rPr>
              <a:t>deserializar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resultados</a:t>
            </a:r>
            <a:r>
              <a:rPr sz="1600" dirty="0">
                <a:solidFill>
                  <a:schemeClr val="bg1"/>
                </a:solidFill>
              </a:rPr>
              <a:t>...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Paginacion de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Cuando hay muchos resultados, paginar es esencial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GetStateByRangeWithPagination(startKey, endKey, pageSize, bookmark)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GetQueryResultWithPagination(query, pageSize, bookmark)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bookmark es un token opaco que identifica la siguiente pagina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Primera llamada: bookmark vacio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Siguientes: usar el bookmark devuelto en la respuesta anterior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Consejo: limita siempre los resultados. Una query sin limite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puede devolver miles de registros y degradar el rendimiento.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Verificar existencia antes de crear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30490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CreateProperty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id string, address string, owner string, area int,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propType</a:t>
            </a:r>
            <a:r>
              <a:rPr sz="1600" dirty="0">
                <a:solidFill>
                  <a:schemeClr val="bg1"/>
                </a:solidFill>
              </a:rPr>
              <a:t> string, value int) error {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</a:t>
            </a:r>
            <a:r>
              <a:rPr sz="1600" dirty="0" err="1">
                <a:solidFill>
                  <a:schemeClr val="bg1"/>
                </a:solidFill>
              </a:rPr>
              <a:t>Verificar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que</a:t>
            </a:r>
            <a:r>
              <a:rPr sz="1600" dirty="0">
                <a:solidFill>
                  <a:schemeClr val="bg1"/>
                </a:solidFill>
              </a:rPr>
              <a:t> no </a:t>
            </a:r>
            <a:r>
              <a:rPr sz="1600" dirty="0" err="1">
                <a:solidFill>
                  <a:schemeClr val="bg1"/>
                </a:solidFill>
              </a:rPr>
              <a:t>existe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existing, err := </a:t>
            </a:r>
            <a:r>
              <a:rPr sz="1600" dirty="0" err="1">
                <a:solidFill>
                  <a:schemeClr val="bg1"/>
                </a:solidFill>
              </a:rPr>
              <a:t>ctx.GetStub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GetState</a:t>
            </a:r>
            <a:r>
              <a:rPr sz="1600" dirty="0">
                <a:solidFill>
                  <a:schemeClr val="bg1"/>
                </a:solidFill>
              </a:rPr>
              <a:t>(id)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</a:t>
            </a:r>
            <a:r>
              <a:rPr sz="1600" dirty="0" err="1">
                <a:solidFill>
                  <a:schemeClr val="bg1"/>
                </a:solidFill>
              </a:rPr>
              <a:t>fmt.Errorf</a:t>
            </a:r>
            <a:r>
              <a:rPr sz="1600" dirty="0">
                <a:solidFill>
                  <a:schemeClr val="bg1"/>
                </a:solidFill>
              </a:rPr>
              <a:t>("error reading state: %v", err)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existing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</a:t>
            </a:r>
            <a:r>
              <a:rPr sz="1600" dirty="0" err="1">
                <a:solidFill>
                  <a:schemeClr val="bg1"/>
                </a:solidFill>
              </a:rPr>
              <a:t>fmt.Errorf</a:t>
            </a:r>
            <a:r>
              <a:rPr sz="1600" dirty="0">
                <a:solidFill>
                  <a:schemeClr val="bg1"/>
                </a:solidFill>
              </a:rPr>
              <a:t>("property %s already exists", id)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1927BD-F057-13FE-9014-203872E42793}"/>
              </a:ext>
            </a:extLst>
          </p:cNvPr>
          <p:cNvSpPr txBox="1"/>
          <p:nvPr/>
        </p:nvSpPr>
        <p:spPr>
          <a:xfrm>
            <a:off x="6094412" y="1828800"/>
            <a:ext cx="61387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dirty="0" err="1">
                <a:solidFill>
                  <a:schemeClr val="bg1"/>
                </a:solidFill>
              </a:rPr>
              <a:t>property</a:t>
            </a:r>
            <a:r>
              <a:rPr lang="es-ES" sz="1800" dirty="0">
                <a:solidFill>
                  <a:schemeClr val="bg1"/>
                </a:solidFill>
              </a:rPr>
              <a:t> := </a:t>
            </a:r>
            <a:r>
              <a:rPr lang="es-ES" sz="1800" dirty="0" err="1">
                <a:solidFill>
                  <a:schemeClr val="bg1"/>
                </a:solidFill>
              </a:rPr>
              <a:t>Property</a:t>
            </a:r>
            <a:r>
              <a:rPr lang="es-ES" sz="1800" dirty="0">
                <a:solidFill>
                  <a:schemeClr val="bg1"/>
                </a:solidFill>
              </a:rPr>
              <a:t>{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DocType</a:t>
            </a:r>
            <a:r>
              <a:rPr lang="es-ES" sz="1800" dirty="0">
                <a:solidFill>
                  <a:schemeClr val="bg1"/>
                </a:solidFill>
              </a:rPr>
              <a:t>:        "</a:t>
            </a:r>
            <a:r>
              <a:rPr lang="es-ES" sz="1800" dirty="0" err="1">
                <a:solidFill>
                  <a:schemeClr val="bg1"/>
                </a:solidFill>
              </a:rPr>
              <a:t>property</a:t>
            </a:r>
            <a:r>
              <a:rPr lang="es-ES" sz="1800" dirty="0">
                <a:solidFill>
                  <a:schemeClr val="bg1"/>
                </a:solidFill>
              </a:rPr>
              <a:t>",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ID:             id,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Address</a:t>
            </a:r>
            <a:r>
              <a:rPr lang="es-ES" sz="1800" dirty="0">
                <a:solidFill>
                  <a:schemeClr val="bg1"/>
                </a:solidFill>
              </a:rPr>
              <a:t>:        </a:t>
            </a:r>
            <a:r>
              <a:rPr lang="es-ES" sz="1800" dirty="0" err="1">
                <a:solidFill>
                  <a:schemeClr val="bg1"/>
                </a:solidFill>
              </a:rPr>
              <a:t>address</a:t>
            </a:r>
            <a:r>
              <a:rPr lang="es-ES" sz="1800" dirty="0">
                <a:solidFill>
                  <a:schemeClr val="bg1"/>
                </a:solidFill>
              </a:rPr>
              <a:t>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Owner</a:t>
            </a:r>
            <a:r>
              <a:rPr lang="es-ES" sz="1800" dirty="0">
                <a:solidFill>
                  <a:schemeClr val="bg1"/>
                </a:solidFill>
              </a:rPr>
              <a:t>:          </a:t>
            </a:r>
            <a:r>
              <a:rPr lang="es-ES" sz="1800" dirty="0" err="1">
                <a:solidFill>
                  <a:schemeClr val="bg1"/>
                </a:solidFill>
              </a:rPr>
              <a:t>owner</a:t>
            </a:r>
            <a:r>
              <a:rPr lang="es-ES" sz="1800" dirty="0">
                <a:solidFill>
                  <a:schemeClr val="bg1"/>
                </a:solidFill>
              </a:rPr>
              <a:t>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Area</a:t>
            </a:r>
            <a:r>
              <a:rPr lang="es-ES" sz="1800" dirty="0">
                <a:solidFill>
                  <a:schemeClr val="bg1"/>
                </a:solidFill>
              </a:rPr>
              <a:t>:           </a:t>
            </a:r>
            <a:r>
              <a:rPr lang="es-ES" sz="1800" dirty="0" err="1">
                <a:solidFill>
                  <a:schemeClr val="bg1"/>
                </a:solidFill>
              </a:rPr>
              <a:t>area</a:t>
            </a:r>
            <a:r>
              <a:rPr lang="es-ES" sz="1800" dirty="0">
                <a:solidFill>
                  <a:schemeClr val="bg1"/>
                </a:solidFill>
              </a:rPr>
              <a:t>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PropertyType</a:t>
            </a:r>
            <a:r>
              <a:rPr lang="es-ES" sz="1800" dirty="0">
                <a:solidFill>
                  <a:schemeClr val="bg1"/>
                </a:solidFill>
              </a:rPr>
              <a:t>:   </a:t>
            </a:r>
            <a:r>
              <a:rPr lang="es-ES" sz="1800" dirty="0" err="1">
                <a:solidFill>
                  <a:schemeClr val="bg1"/>
                </a:solidFill>
              </a:rPr>
              <a:t>propType</a:t>
            </a:r>
            <a:r>
              <a:rPr lang="es-ES" sz="1800" dirty="0">
                <a:solidFill>
                  <a:schemeClr val="bg1"/>
                </a:solidFill>
              </a:rPr>
              <a:t>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Status:         "active",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    </a:t>
            </a:r>
            <a:r>
              <a:rPr lang="es-ES" sz="1800" dirty="0" err="1">
                <a:solidFill>
                  <a:schemeClr val="bg1"/>
                </a:solidFill>
              </a:rPr>
              <a:t>AppraisalValue</a:t>
            </a:r>
            <a:r>
              <a:rPr lang="es-ES" sz="1800" dirty="0">
                <a:solidFill>
                  <a:schemeClr val="bg1"/>
                </a:solidFill>
              </a:rPr>
              <a:t>: </a:t>
            </a:r>
            <a:r>
              <a:rPr lang="es-ES" sz="1800" dirty="0" err="1">
                <a:solidFill>
                  <a:schemeClr val="bg1"/>
                </a:solidFill>
              </a:rPr>
              <a:t>value</a:t>
            </a:r>
            <a:r>
              <a:rPr lang="es-ES" sz="1800" dirty="0">
                <a:solidFill>
                  <a:schemeClr val="bg1"/>
                </a:solidFill>
              </a:rPr>
              <a:t>,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}</a:t>
            </a:r>
            <a:br>
              <a:rPr lang="es-ES" sz="1800" dirty="0">
                <a:solidFill>
                  <a:schemeClr val="bg1"/>
                </a:solidFill>
              </a:rPr>
            </a:b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</a:t>
            </a:r>
            <a:r>
              <a:rPr lang="es-ES" sz="1800" dirty="0" err="1">
                <a:solidFill>
                  <a:schemeClr val="bg1"/>
                </a:solidFill>
              </a:rPr>
              <a:t>propertyJSON</a:t>
            </a:r>
            <a:r>
              <a:rPr lang="es-ES" sz="1800" dirty="0">
                <a:solidFill>
                  <a:schemeClr val="bg1"/>
                </a:solidFill>
              </a:rPr>
              <a:t>, _ := </a:t>
            </a:r>
            <a:r>
              <a:rPr lang="es-ES" sz="1800" dirty="0" err="1">
                <a:solidFill>
                  <a:schemeClr val="bg1"/>
                </a:solidFill>
              </a:rPr>
              <a:t>json.Marshal</a:t>
            </a:r>
            <a:r>
              <a:rPr lang="es-ES" sz="1800" dirty="0">
                <a:solidFill>
                  <a:schemeClr val="bg1"/>
                </a:solidFill>
              </a:rPr>
              <a:t>(</a:t>
            </a:r>
            <a:r>
              <a:rPr lang="es-ES" sz="1800" dirty="0" err="1">
                <a:solidFill>
                  <a:schemeClr val="bg1"/>
                </a:solidFill>
              </a:rPr>
              <a:t>property</a:t>
            </a:r>
            <a:r>
              <a:rPr lang="es-ES" sz="1800" dirty="0">
                <a:solidFill>
                  <a:schemeClr val="bg1"/>
                </a:solidFill>
              </a:rPr>
              <a:t>)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    </a:t>
            </a:r>
            <a:r>
              <a:rPr lang="es-ES" sz="1800" dirty="0" err="1">
                <a:solidFill>
                  <a:schemeClr val="bg1"/>
                </a:solidFill>
              </a:rPr>
              <a:t>return</a:t>
            </a:r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dirty="0" err="1">
                <a:solidFill>
                  <a:schemeClr val="bg1"/>
                </a:solidFill>
              </a:rPr>
              <a:t>ctx.GetStub</a:t>
            </a:r>
            <a:r>
              <a:rPr lang="es-ES" sz="1800" dirty="0">
                <a:solidFill>
                  <a:schemeClr val="bg1"/>
                </a:solidFill>
              </a:rPr>
              <a:t>().</a:t>
            </a:r>
            <a:r>
              <a:rPr lang="es-ES" sz="1800" dirty="0" err="1">
                <a:solidFill>
                  <a:schemeClr val="bg1"/>
                </a:solidFill>
              </a:rPr>
              <a:t>PutState</a:t>
            </a:r>
            <a:r>
              <a:rPr lang="es-ES" sz="1800" dirty="0">
                <a:solidFill>
                  <a:schemeClr val="bg1"/>
                </a:solidFill>
              </a:rPr>
              <a:t>(id, </a:t>
            </a:r>
            <a:r>
              <a:rPr lang="es-ES" sz="1800" dirty="0" err="1">
                <a:solidFill>
                  <a:schemeClr val="bg1"/>
                </a:solidFill>
              </a:rPr>
              <a:t>propertyJSON</a:t>
            </a:r>
            <a:r>
              <a:rPr lang="es-ES" sz="1800" dirty="0">
                <a:solidFill>
                  <a:schemeClr val="bg1"/>
                </a:solidFill>
              </a:rPr>
              <a:t>)</a:t>
            </a:r>
            <a:br>
              <a:rPr lang="es-ES" sz="1800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}</a:t>
            </a:r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B3553D2-9A3F-CD83-91C9-144B604D6B87}"/>
              </a:ext>
            </a:extLst>
          </p:cNvPr>
          <p:cNvSpPr/>
          <p:nvPr/>
        </p:nvSpPr>
        <p:spPr>
          <a:xfrm>
            <a:off x="5607949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Leer y deserializar desde el World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483319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ReadProperty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id string) (*Property, error) {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propertyJSON</a:t>
            </a:r>
            <a:r>
              <a:rPr sz="1600" dirty="0">
                <a:solidFill>
                  <a:schemeClr val="bg1"/>
                </a:solidFill>
              </a:rPr>
              <a:t>, err := </a:t>
            </a:r>
            <a:r>
              <a:rPr sz="1600" dirty="0" err="1">
                <a:solidFill>
                  <a:schemeClr val="bg1"/>
                </a:solidFill>
              </a:rPr>
              <a:t>ctx.GetStub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GetState</a:t>
            </a:r>
            <a:r>
              <a:rPr sz="1600" dirty="0">
                <a:solidFill>
                  <a:schemeClr val="bg1"/>
                </a:solidFill>
              </a:rPr>
              <a:t>(id)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nil, </a:t>
            </a:r>
            <a:r>
              <a:rPr sz="1600" dirty="0" err="1">
                <a:solidFill>
                  <a:schemeClr val="bg1"/>
                </a:solidFill>
              </a:rPr>
              <a:t>fmt.Errorf</a:t>
            </a:r>
            <a:r>
              <a:rPr sz="1600" dirty="0">
                <a:solidFill>
                  <a:schemeClr val="bg1"/>
                </a:solidFill>
              </a:rPr>
              <a:t>("failed to read: %v", err)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</a:t>
            </a:r>
            <a:r>
              <a:rPr sz="1600" dirty="0" err="1">
                <a:solidFill>
                  <a:schemeClr val="bg1"/>
                </a:solidFill>
              </a:rPr>
              <a:t>propertyJSON</a:t>
            </a:r>
            <a:r>
              <a:rPr sz="1600" dirty="0">
                <a:solidFill>
                  <a:schemeClr val="bg1"/>
                </a:solidFill>
              </a:rPr>
              <a:t> ==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nil, </a:t>
            </a:r>
            <a:r>
              <a:rPr sz="1600" dirty="0" err="1">
                <a:solidFill>
                  <a:schemeClr val="bg1"/>
                </a:solidFill>
              </a:rPr>
              <a:t>fmt.Errorf</a:t>
            </a:r>
            <a:r>
              <a:rPr sz="1600" dirty="0">
                <a:solidFill>
                  <a:schemeClr val="bg1"/>
                </a:solidFill>
              </a:rPr>
              <a:t>("property %s does not exist", id)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var property </a:t>
            </a:r>
            <a:r>
              <a:rPr sz="1600" dirty="0" err="1">
                <a:solidFill>
                  <a:schemeClr val="bg1"/>
                </a:solidFill>
              </a:rPr>
              <a:t>Property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err = </a:t>
            </a:r>
            <a:r>
              <a:rPr sz="1600" dirty="0" err="1">
                <a:solidFill>
                  <a:schemeClr val="bg1"/>
                </a:solidFill>
              </a:rPr>
              <a:t>json.Unmarshal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propertyJSON</a:t>
            </a:r>
            <a:r>
              <a:rPr sz="1600" dirty="0">
                <a:solidFill>
                  <a:schemeClr val="bg1"/>
                </a:solidFill>
              </a:rPr>
              <a:t>, &amp;property)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nil, err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return &amp;property, nil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AF0E2C-7197-4B61-0F35-9046741F8D90}"/>
              </a:ext>
            </a:extLst>
          </p:cNvPr>
          <p:cNvSpPr txBox="1"/>
          <p:nvPr/>
        </p:nvSpPr>
        <p:spPr>
          <a:xfrm>
            <a:off x="6501719" y="1584354"/>
            <a:ext cx="48725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/>
                </a:solidFill>
              </a:rPr>
            </a:b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En Node.js seria: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</a:t>
            </a:r>
            <a:r>
              <a:rPr lang="es-ES" sz="1600" dirty="0" err="1">
                <a:solidFill>
                  <a:schemeClr val="bg1"/>
                </a:solidFill>
              </a:rPr>
              <a:t>async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ReadProperty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ctx</a:t>
            </a:r>
            <a:r>
              <a:rPr lang="es-ES" sz="1600" dirty="0">
                <a:solidFill>
                  <a:schemeClr val="bg1"/>
                </a:solidFill>
              </a:rPr>
              <a:t>, id) {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    </a:t>
            </a:r>
            <a:r>
              <a:rPr lang="es-ES" sz="1600" dirty="0" err="1">
                <a:solidFill>
                  <a:schemeClr val="bg1"/>
                </a:solidFill>
              </a:rPr>
              <a:t>const</a:t>
            </a:r>
            <a:r>
              <a:rPr lang="es-ES" sz="1600" dirty="0">
                <a:solidFill>
                  <a:schemeClr val="bg1"/>
                </a:solidFill>
              </a:rPr>
              <a:t> data = </a:t>
            </a:r>
            <a:r>
              <a:rPr lang="es-ES" sz="1600" dirty="0" err="1">
                <a:solidFill>
                  <a:schemeClr val="bg1"/>
                </a:solidFill>
              </a:rPr>
              <a:t>await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ctx.stub.getState</a:t>
            </a:r>
            <a:r>
              <a:rPr lang="es-ES" sz="1600" dirty="0">
                <a:solidFill>
                  <a:schemeClr val="bg1"/>
                </a:solidFill>
              </a:rPr>
              <a:t>(id);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   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(!data || </a:t>
            </a:r>
            <a:r>
              <a:rPr lang="es-ES" sz="1600" dirty="0" err="1">
                <a:solidFill>
                  <a:schemeClr val="bg1"/>
                </a:solidFill>
              </a:rPr>
              <a:t>data.length</a:t>
            </a:r>
            <a:r>
              <a:rPr lang="es-ES" sz="1600" dirty="0">
                <a:solidFill>
                  <a:schemeClr val="bg1"/>
                </a:solidFill>
              </a:rPr>
              <a:t> === 0) </a:t>
            </a:r>
            <a:r>
              <a:rPr lang="es-ES" sz="1600" dirty="0" err="1">
                <a:solidFill>
                  <a:schemeClr val="bg1"/>
                </a:solidFill>
              </a:rPr>
              <a:t>throw</a:t>
            </a:r>
            <a:r>
              <a:rPr lang="es-ES" sz="1600" dirty="0">
                <a:solidFill>
                  <a:schemeClr val="bg1"/>
                </a:solidFill>
              </a:rPr>
              <a:t> new Error('</a:t>
            </a:r>
            <a:r>
              <a:rPr lang="es-ES" sz="1600" dirty="0" err="1">
                <a:solidFill>
                  <a:schemeClr val="bg1"/>
                </a:solidFill>
              </a:rPr>
              <a:t>Not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found</a:t>
            </a:r>
            <a:r>
              <a:rPr lang="es-ES" sz="1600" dirty="0">
                <a:solidFill>
                  <a:schemeClr val="bg1"/>
                </a:solidFill>
              </a:rPr>
              <a:t>');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    </a:t>
            </a:r>
            <a:r>
              <a:rPr lang="es-ES" sz="1600" dirty="0" err="1">
                <a:solidFill>
                  <a:schemeClr val="bg1"/>
                </a:solidFill>
              </a:rPr>
              <a:t>return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JSON.parse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data.toString</a:t>
            </a:r>
            <a:r>
              <a:rPr lang="es-ES" sz="1600" dirty="0">
                <a:solidFill>
                  <a:schemeClr val="bg1"/>
                </a:solidFill>
              </a:rPr>
              <a:t>());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// 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91D078-F9E1-1C7D-4E04-BDD6A0D3F611}"/>
              </a:ext>
            </a:extLst>
          </p:cNvPr>
          <p:cNvSpPr/>
          <p:nvPr/>
        </p:nvSpPr>
        <p:spPr>
          <a:xfrm>
            <a:off x="5887844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Leer, verificar permisos, modificar,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92665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 err="1">
                <a:solidFill>
                  <a:schemeClr val="bg1"/>
                </a:solidFill>
              </a:rPr>
              <a:t>func</a:t>
            </a:r>
            <a:r>
              <a:rPr sz="1600" dirty="0">
                <a:solidFill>
                  <a:schemeClr val="bg1"/>
                </a:solidFill>
              </a:rPr>
              <a:t> (s *</a:t>
            </a:r>
            <a:r>
              <a:rPr sz="1600" dirty="0" err="1">
                <a:solidFill>
                  <a:schemeClr val="bg1"/>
                </a:solidFill>
              </a:rPr>
              <a:t>SmartContract</a:t>
            </a:r>
            <a:r>
              <a:rPr sz="1600" dirty="0">
                <a:solidFill>
                  <a:schemeClr val="bg1"/>
                </a:solidFill>
              </a:rPr>
              <a:t>) </a:t>
            </a:r>
            <a:r>
              <a:rPr sz="1600" dirty="0" err="1">
                <a:solidFill>
                  <a:schemeClr val="bg1"/>
                </a:solidFill>
              </a:rPr>
              <a:t>UpdatePropertyValue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contractapi.TransactionContextInterface</a:t>
            </a:r>
            <a:r>
              <a:rPr sz="1600" dirty="0">
                <a:solidFill>
                  <a:schemeClr val="bg1"/>
                </a:solidFill>
              </a:rPr>
              <a:t>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id string, </a:t>
            </a:r>
            <a:r>
              <a:rPr sz="1600" dirty="0" err="1">
                <a:solidFill>
                  <a:schemeClr val="bg1"/>
                </a:solidFill>
              </a:rPr>
              <a:t>newValue</a:t>
            </a:r>
            <a:r>
              <a:rPr sz="1600" dirty="0">
                <a:solidFill>
                  <a:schemeClr val="bg1"/>
                </a:solidFill>
              </a:rPr>
              <a:t> int) error {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Leer </a:t>
            </a:r>
            <a:r>
              <a:rPr sz="1600" dirty="0" err="1">
                <a:solidFill>
                  <a:schemeClr val="bg1"/>
                </a:solidFill>
              </a:rPr>
              <a:t>el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activo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existente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property, err := </a:t>
            </a:r>
            <a:r>
              <a:rPr sz="1600" dirty="0" err="1">
                <a:solidFill>
                  <a:schemeClr val="bg1"/>
                </a:solidFill>
              </a:rPr>
              <a:t>s.ReadProperty</a:t>
            </a:r>
            <a:r>
              <a:rPr sz="1600" dirty="0">
                <a:solidFill>
                  <a:schemeClr val="bg1"/>
                </a:solidFill>
              </a:rPr>
              <a:t>(</a:t>
            </a:r>
            <a:r>
              <a:rPr sz="1600" dirty="0" err="1">
                <a:solidFill>
                  <a:schemeClr val="bg1"/>
                </a:solidFill>
              </a:rPr>
              <a:t>ctx</a:t>
            </a:r>
            <a:r>
              <a:rPr sz="1600" dirty="0">
                <a:solidFill>
                  <a:schemeClr val="bg1"/>
                </a:solidFill>
              </a:rPr>
              <a:t>, id)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err != nil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err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// </a:t>
            </a:r>
            <a:r>
              <a:rPr sz="1600" dirty="0" err="1">
                <a:solidFill>
                  <a:schemeClr val="bg1"/>
                </a:solidFill>
              </a:rPr>
              <a:t>Verificar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permisos</a:t>
            </a:r>
            <a:r>
              <a:rPr sz="1600" dirty="0">
                <a:solidFill>
                  <a:schemeClr val="bg1"/>
                </a:solidFill>
              </a:rPr>
              <a:t>: solo </a:t>
            </a:r>
            <a:r>
              <a:rPr sz="1600" dirty="0" err="1">
                <a:solidFill>
                  <a:schemeClr val="bg1"/>
                </a:solidFill>
              </a:rPr>
              <a:t>el</a:t>
            </a:r>
            <a:r>
              <a:rPr sz="1600" dirty="0">
                <a:solidFill>
                  <a:schemeClr val="bg1"/>
                </a:solidFill>
              </a:rPr>
              <a:t> owner </a:t>
            </a:r>
            <a:r>
              <a:rPr sz="1600" dirty="0" err="1">
                <a:solidFill>
                  <a:schemeClr val="bg1"/>
                </a:solidFill>
              </a:rPr>
              <a:t>puede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actualizar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  <a:r>
              <a:rPr sz="1600" dirty="0" err="1">
                <a:solidFill>
                  <a:schemeClr val="bg1"/>
                </a:solidFill>
              </a:rPr>
              <a:t>clientMSP</a:t>
            </a:r>
            <a:r>
              <a:rPr sz="1600" dirty="0">
                <a:solidFill>
                  <a:schemeClr val="bg1"/>
                </a:solidFill>
              </a:rPr>
              <a:t>, _ := </a:t>
            </a:r>
            <a:r>
              <a:rPr sz="1600" dirty="0" err="1">
                <a:solidFill>
                  <a:schemeClr val="bg1"/>
                </a:solidFill>
              </a:rPr>
              <a:t>ctx.GetClientIdentity</a:t>
            </a:r>
            <a:r>
              <a:rPr sz="1600" dirty="0">
                <a:solidFill>
                  <a:schemeClr val="bg1"/>
                </a:solidFill>
              </a:rPr>
              <a:t>().</a:t>
            </a:r>
            <a:r>
              <a:rPr sz="1600" dirty="0" err="1">
                <a:solidFill>
                  <a:schemeClr val="bg1"/>
                </a:solidFill>
              </a:rPr>
              <a:t>GetMSPID</a:t>
            </a:r>
            <a:r>
              <a:rPr sz="1600" dirty="0">
                <a:solidFill>
                  <a:schemeClr val="bg1"/>
                </a:solidFill>
              </a:rPr>
              <a:t>()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if </a:t>
            </a:r>
            <a:r>
              <a:rPr sz="1600" dirty="0" err="1">
                <a:solidFill>
                  <a:schemeClr val="bg1"/>
                </a:solidFill>
              </a:rPr>
              <a:t>property.Owner</a:t>
            </a:r>
            <a:r>
              <a:rPr sz="1600" dirty="0">
                <a:solidFill>
                  <a:schemeClr val="bg1"/>
                </a:solidFill>
              </a:rPr>
              <a:t> != </a:t>
            </a:r>
            <a:r>
              <a:rPr sz="1600" dirty="0" err="1">
                <a:solidFill>
                  <a:schemeClr val="bg1"/>
                </a:solidFill>
              </a:rPr>
              <a:t>clientMSP</a:t>
            </a:r>
            <a:r>
              <a:rPr sz="1600" dirty="0">
                <a:solidFill>
                  <a:schemeClr val="bg1"/>
                </a:solidFill>
              </a:rPr>
              <a:t> {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    return </a:t>
            </a:r>
            <a:r>
              <a:rPr sz="1600" dirty="0" err="1">
                <a:solidFill>
                  <a:schemeClr val="bg1"/>
                </a:solidFill>
              </a:rPr>
              <a:t>fmt.Errorf</a:t>
            </a:r>
            <a:r>
              <a:rPr sz="1600" dirty="0">
                <a:solidFill>
                  <a:schemeClr val="bg1"/>
                </a:solidFill>
              </a:rPr>
              <a:t>("only the owner can update this property")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}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 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CFBF12-1A0E-2818-655D-81BDA554B60F}"/>
              </a:ext>
            </a:extLst>
          </p:cNvPr>
          <p:cNvSpPr txBox="1"/>
          <p:nvPr/>
        </p:nvSpPr>
        <p:spPr>
          <a:xfrm>
            <a:off x="7097480" y="1828800"/>
            <a:ext cx="5007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// Actualizar campo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property.AppraisalValue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newValue</a:t>
            </a:r>
            <a:br>
              <a:rPr lang="es-ES" sz="1600" dirty="0">
                <a:solidFill>
                  <a:schemeClr val="bg1"/>
                </a:solidFill>
              </a:rPr>
            </a:b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// Guardar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propertyJSON</a:t>
            </a:r>
            <a:r>
              <a:rPr lang="es-ES" sz="1600" dirty="0">
                <a:solidFill>
                  <a:schemeClr val="bg1"/>
                </a:solidFill>
              </a:rPr>
              <a:t>, _ := </a:t>
            </a:r>
            <a:r>
              <a:rPr lang="es-ES" sz="1600" dirty="0" err="1">
                <a:solidFill>
                  <a:schemeClr val="bg1"/>
                </a:solidFill>
              </a:rPr>
              <a:t>json.Marshal</a:t>
            </a:r>
            <a:r>
              <a:rPr lang="es-ES" sz="1600" dirty="0">
                <a:solidFill>
                  <a:schemeClr val="bg1"/>
                </a:solidFill>
              </a:rPr>
              <a:t>(</a:t>
            </a:r>
            <a:r>
              <a:rPr lang="es-ES" sz="1600" dirty="0" err="1">
                <a:solidFill>
                  <a:schemeClr val="bg1"/>
                </a:solidFill>
              </a:rPr>
              <a:t>property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    </a:t>
            </a:r>
            <a:r>
              <a:rPr lang="es-ES" sz="1600" dirty="0" err="1">
                <a:solidFill>
                  <a:schemeClr val="bg1"/>
                </a:solidFill>
              </a:rPr>
              <a:t>return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ctx.GetStub</a:t>
            </a:r>
            <a:r>
              <a:rPr lang="es-ES" sz="1600" dirty="0">
                <a:solidFill>
                  <a:schemeClr val="bg1"/>
                </a:solidFill>
              </a:rPr>
              <a:t>().</a:t>
            </a:r>
            <a:r>
              <a:rPr lang="es-ES" sz="1600" dirty="0" err="1">
                <a:solidFill>
                  <a:schemeClr val="bg1"/>
                </a:solidFill>
              </a:rPr>
              <a:t>PutState</a:t>
            </a:r>
            <a:r>
              <a:rPr lang="es-ES" sz="1600" dirty="0">
                <a:solidFill>
                  <a:schemeClr val="bg1"/>
                </a:solidFill>
              </a:rPr>
              <a:t>(id, </a:t>
            </a:r>
            <a:r>
              <a:rPr lang="es-ES" sz="1600" dirty="0" err="1">
                <a:solidFill>
                  <a:schemeClr val="bg1"/>
                </a:solidFill>
              </a:rPr>
              <a:t>propertyJSON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  <a:br>
              <a:rPr lang="es-ES" sz="1600" dirty="0">
                <a:solidFill>
                  <a:schemeClr val="bg1"/>
                </a:solidFill>
              </a:rPr>
            </a:br>
            <a:r>
              <a:rPr lang="es-ES" sz="1600" dirty="0">
                <a:solidFill>
                  <a:schemeClr val="bg1"/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6E9A3A-55D7-B1DD-284D-798421284CE0}"/>
              </a:ext>
            </a:extLst>
          </p:cNvPr>
          <p:cNvSpPr/>
          <p:nvPr/>
        </p:nvSpPr>
        <p:spPr>
          <a:xfrm>
            <a:off x="640080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Delete y GetAll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Borrado logico vs fisico + paginacion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// Delete: </a:t>
            </a:r>
            <a:r>
              <a:rPr sz="1200" dirty="0" err="1">
                <a:solidFill>
                  <a:schemeClr val="bg1"/>
                </a:solidFill>
              </a:rPr>
              <a:t>borrado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logico</a:t>
            </a:r>
            <a:r>
              <a:rPr sz="1200" dirty="0">
                <a:solidFill>
                  <a:schemeClr val="bg1"/>
                </a:solidFill>
              </a:rPr>
              <a:t> (</a:t>
            </a:r>
            <a:r>
              <a:rPr sz="1200" dirty="0" err="1">
                <a:solidFill>
                  <a:schemeClr val="bg1"/>
                </a:solidFill>
              </a:rPr>
              <a:t>cambiar</a:t>
            </a:r>
            <a:r>
              <a:rPr sz="1200" dirty="0">
                <a:solidFill>
                  <a:schemeClr val="bg1"/>
                </a:solidFill>
              </a:rPr>
              <a:t> status) vs </a:t>
            </a:r>
            <a:r>
              <a:rPr sz="1200" dirty="0" err="1">
                <a:solidFill>
                  <a:schemeClr val="bg1"/>
                </a:solidFill>
              </a:rPr>
              <a:t>fisico</a:t>
            </a:r>
            <a:r>
              <a:rPr sz="1200" dirty="0">
                <a:solidFill>
                  <a:schemeClr val="bg1"/>
                </a:solidFill>
              </a:rPr>
              <a:t> (</a:t>
            </a:r>
            <a:r>
              <a:rPr sz="1200" dirty="0" err="1">
                <a:solidFill>
                  <a:schemeClr val="bg1"/>
                </a:solidFill>
              </a:rPr>
              <a:t>DelState</a:t>
            </a:r>
            <a:r>
              <a:rPr sz="1200" dirty="0">
                <a:solidFill>
                  <a:schemeClr val="bg1"/>
                </a:solidFill>
              </a:rPr>
              <a:t>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 err="1">
                <a:solidFill>
                  <a:schemeClr val="bg1"/>
                </a:solidFill>
              </a:rPr>
              <a:t>func</a:t>
            </a:r>
            <a:r>
              <a:rPr sz="1200" dirty="0">
                <a:solidFill>
                  <a:schemeClr val="bg1"/>
                </a:solidFill>
              </a:rPr>
              <a:t> (s *</a:t>
            </a:r>
            <a:r>
              <a:rPr sz="1200" dirty="0" err="1">
                <a:solidFill>
                  <a:schemeClr val="bg1"/>
                </a:solidFill>
              </a:rPr>
              <a:t>SmartContract</a:t>
            </a:r>
            <a:r>
              <a:rPr sz="1200" dirty="0">
                <a:solidFill>
                  <a:schemeClr val="bg1"/>
                </a:solidFill>
              </a:rPr>
              <a:t>) </a:t>
            </a:r>
            <a:r>
              <a:rPr sz="1200" dirty="0" err="1">
                <a:solidFill>
                  <a:schemeClr val="bg1"/>
                </a:solidFill>
              </a:rPr>
              <a:t>DeactivateProperty</a:t>
            </a:r>
            <a:r>
              <a:rPr sz="1200" dirty="0">
                <a:solidFill>
                  <a:schemeClr val="bg1"/>
                </a:solidFill>
              </a:rPr>
              <a:t>(</a:t>
            </a:r>
            <a:r>
              <a:rPr sz="1200" dirty="0" err="1">
                <a:solidFill>
                  <a:schemeClr val="bg1"/>
                </a:solidFill>
              </a:rPr>
              <a:t>ctx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contractapi.TransactionContextInterface</a:t>
            </a:r>
            <a:r>
              <a:rPr sz="1200" dirty="0">
                <a:solidFill>
                  <a:schemeClr val="bg1"/>
                </a:solidFill>
              </a:rPr>
              <a:t>,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id string) error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property, err := </a:t>
            </a:r>
            <a:r>
              <a:rPr sz="1200" dirty="0" err="1">
                <a:solidFill>
                  <a:schemeClr val="bg1"/>
                </a:solidFill>
              </a:rPr>
              <a:t>s.ReadProperty</a:t>
            </a:r>
            <a:r>
              <a:rPr sz="1200" dirty="0">
                <a:solidFill>
                  <a:schemeClr val="bg1"/>
                </a:solidFill>
              </a:rPr>
              <a:t>(</a:t>
            </a:r>
            <a:r>
              <a:rPr sz="1200" dirty="0" err="1">
                <a:solidFill>
                  <a:schemeClr val="bg1"/>
                </a:solidFill>
              </a:rPr>
              <a:t>ctx</a:t>
            </a:r>
            <a:r>
              <a:rPr sz="1200" dirty="0">
                <a:solidFill>
                  <a:schemeClr val="bg1"/>
                </a:solidFill>
              </a:rPr>
              <a:t>, id)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if err != nil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  return err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}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</a:t>
            </a:r>
            <a:r>
              <a:rPr sz="1200" dirty="0" err="1">
                <a:solidFill>
                  <a:schemeClr val="bg1"/>
                </a:solidFill>
              </a:rPr>
              <a:t>property.Status</a:t>
            </a:r>
            <a:r>
              <a:rPr sz="1200" dirty="0">
                <a:solidFill>
                  <a:schemeClr val="bg1"/>
                </a:solidFill>
              </a:rPr>
              <a:t> = "inactive"  // </a:t>
            </a:r>
            <a:r>
              <a:rPr sz="1200" dirty="0" err="1">
                <a:solidFill>
                  <a:schemeClr val="bg1"/>
                </a:solidFill>
              </a:rPr>
              <a:t>borrado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logico</a:t>
            </a:r>
            <a:r>
              <a:rPr sz="1200" dirty="0">
                <a:solidFill>
                  <a:schemeClr val="bg1"/>
                </a:solidFill>
              </a:rPr>
              <a:t>: </a:t>
            </a:r>
            <a:r>
              <a:rPr sz="1200" dirty="0" err="1">
                <a:solidFill>
                  <a:schemeClr val="bg1"/>
                </a:solidFill>
              </a:rPr>
              <a:t>mantiene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historial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</a:t>
            </a:r>
            <a:r>
              <a:rPr sz="1200" dirty="0" err="1">
                <a:solidFill>
                  <a:schemeClr val="bg1"/>
                </a:solidFill>
              </a:rPr>
              <a:t>propertyJSON</a:t>
            </a:r>
            <a:r>
              <a:rPr sz="1200" dirty="0">
                <a:solidFill>
                  <a:schemeClr val="bg1"/>
                </a:solidFill>
              </a:rPr>
              <a:t>, _ := </a:t>
            </a:r>
            <a:r>
              <a:rPr sz="1200" dirty="0" err="1">
                <a:solidFill>
                  <a:schemeClr val="bg1"/>
                </a:solidFill>
              </a:rPr>
              <a:t>json.Marshal</a:t>
            </a:r>
            <a:r>
              <a:rPr sz="1200" dirty="0">
                <a:solidFill>
                  <a:schemeClr val="bg1"/>
                </a:solidFill>
              </a:rPr>
              <a:t>(property)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return </a:t>
            </a:r>
            <a:r>
              <a:rPr sz="1200" dirty="0" err="1">
                <a:solidFill>
                  <a:schemeClr val="bg1"/>
                </a:solidFill>
              </a:rPr>
              <a:t>ctx.GetStub</a:t>
            </a:r>
            <a:r>
              <a:rPr sz="1200" dirty="0">
                <a:solidFill>
                  <a:schemeClr val="bg1"/>
                </a:solidFill>
              </a:rPr>
              <a:t>().</a:t>
            </a:r>
            <a:r>
              <a:rPr sz="1200" dirty="0" err="1">
                <a:solidFill>
                  <a:schemeClr val="bg1"/>
                </a:solidFill>
              </a:rPr>
              <a:t>PutState</a:t>
            </a:r>
            <a:r>
              <a:rPr sz="1200" dirty="0">
                <a:solidFill>
                  <a:schemeClr val="bg1"/>
                </a:solidFill>
              </a:rPr>
              <a:t>(id, </a:t>
            </a:r>
            <a:r>
              <a:rPr sz="1200" dirty="0" err="1">
                <a:solidFill>
                  <a:schemeClr val="bg1"/>
                </a:solidFill>
              </a:rPr>
              <a:t>propertyJSON</a:t>
            </a:r>
            <a:r>
              <a:rPr sz="1200" dirty="0">
                <a:solidFill>
                  <a:schemeClr val="bg1"/>
                </a:solidFill>
              </a:rPr>
              <a:t>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}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// </a:t>
            </a:r>
            <a:r>
              <a:rPr sz="1200" dirty="0" err="1">
                <a:solidFill>
                  <a:schemeClr val="bg1"/>
                </a:solidFill>
              </a:rPr>
              <a:t>GetAll</a:t>
            </a:r>
            <a:r>
              <a:rPr sz="1200" dirty="0">
                <a:solidFill>
                  <a:schemeClr val="bg1"/>
                </a:solidFill>
              </a:rPr>
              <a:t> con </a:t>
            </a:r>
            <a:r>
              <a:rPr sz="1200" dirty="0" err="1">
                <a:solidFill>
                  <a:schemeClr val="bg1"/>
                </a:solidFill>
              </a:rPr>
              <a:t>paginacion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 err="1">
                <a:solidFill>
                  <a:schemeClr val="bg1"/>
                </a:solidFill>
              </a:rPr>
              <a:t>func</a:t>
            </a:r>
            <a:r>
              <a:rPr sz="1200" dirty="0">
                <a:solidFill>
                  <a:schemeClr val="bg1"/>
                </a:solidFill>
              </a:rPr>
              <a:t> (s *</a:t>
            </a:r>
            <a:r>
              <a:rPr sz="1200" dirty="0" err="1">
                <a:solidFill>
                  <a:schemeClr val="bg1"/>
                </a:solidFill>
              </a:rPr>
              <a:t>SmartContract</a:t>
            </a:r>
            <a:r>
              <a:rPr sz="1200" dirty="0">
                <a:solidFill>
                  <a:schemeClr val="bg1"/>
                </a:solidFill>
              </a:rPr>
              <a:t>) </a:t>
            </a:r>
            <a:r>
              <a:rPr sz="1200" dirty="0" err="1">
                <a:solidFill>
                  <a:schemeClr val="bg1"/>
                </a:solidFill>
              </a:rPr>
              <a:t>GetAllProperties</a:t>
            </a:r>
            <a:r>
              <a:rPr sz="1200" dirty="0">
                <a:solidFill>
                  <a:schemeClr val="bg1"/>
                </a:solidFill>
              </a:rPr>
              <a:t>(</a:t>
            </a:r>
            <a:r>
              <a:rPr sz="1200" dirty="0" err="1">
                <a:solidFill>
                  <a:schemeClr val="bg1"/>
                </a:solidFill>
              </a:rPr>
              <a:t>ctx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contractapi.TransactionContextInterface</a:t>
            </a:r>
            <a:r>
              <a:rPr sz="1200" dirty="0">
                <a:solidFill>
                  <a:schemeClr val="bg1"/>
                </a:solidFill>
              </a:rPr>
              <a:t>,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</a:t>
            </a:r>
            <a:r>
              <a:rPr sz="1200" dirty="0" err="1">
                <a:solidFill>
                  <a:schemeClr val="bg1"/>
                </a:solidFill>
              </a:rPr>
              <a:t>pageSize</a:t>
            </a:r>
            <a:r>
              <a:rPr sz="1200" dirty="0">
                <a:solidFill>
                  <a:schemeClr val="bg1"/>
                </a:solidFill>
              </a:rPr>
              <a:t> int32, bookmark string) (*</a:t>
            </a:r>
            <a:r>
              <a:rPr sz="1200" dirty="0" err="1">
                <a:solidFill>
                  <a:schemeClr val="bg1"/>
                </a:solidFill>
              </a:rPr>
              <a:t>PaginatedResult</a:t>
            </a:r>
            <a:r>
              <a:rPr sz="1200" dirty="0">
                <a:solidFill>
                  <a:schemeClr val="bg1"/>
                </a:solidFill>
              </a:rPr>
              <a:t>, error) {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iterator, metadata, err := </a:t>
            </a:r>
            <a:r>
              <a:rPr sz="1200" dirty="0" err="1">
                <a:solidFill>
                  <a:schemeClr val="bg1"/>
                </a:solidFill>
              </a:rPr>
              <a:t>ctx.GetStub</a:t>
            </a:r>
            <a:r>
              <a:rPr sz="1200" dirty="0">
                <a:solidFill>
                  <a:schemeClr val="bg1"/>
                </a:solidFill>
              </a:rPr>
              <a:t>().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  GetStateByRangeWithPagination("", "", </a:t>
            </a:r>
            <a:r>
              <a:rPr sz="1200" dirty="0" err="1">
                <a:solidFill>
                  <a:schemeClr val="bg1"/>
                </a:solidFill>
              </a:rPr>
              <a:t>pageSize</a:t>
            </a:r>
            <a:r>
              <a:rPr sz="1200" dirty="0">
                <a:solidFill>
                  <a:schemeClr val="bg1"/>
                </a:solidFill>
              </a:rPr>
              <a:t>, bookmark)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if err != nil {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    return nil, err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}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defer </a:t>
            </a:r>
            <a:r>
              <a:rPr sz="1200" dirty="0" err="1">
                <a:solidFill>
                  <a:schemeClr val="bg1"/>
                </a:solidFill>
              </a:rPr>
              <a:t>iterator.Close</a:t>
            </a:r>
            <a:r>
              <a:rPr sz="1200" dirty="0">
                <a:solidFill>
                  <a:schemeClr val="bg1"/>
                </a:solidFill>
              </a:rPr>
              <a:t>()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    // ... </a:t>
            </a:r>
            <a:r>
              <a:rPr sz="1200" dirty="0" err="1">
                <a:solidFill>
                  <a:schemeClr val="bg1"/>
                </a:solidFill>
              </a:rPr>
              <a:t>iterar</a:t>
            </a:r>
            <a:r>
              <a:rPr sz="1200" dirty="0">
                <a:solidFill>
                  <a:schemeClr val="bg1"/>
                </a:solidFill>
              </a:rPr>
              <a:t> y </a:t>
            </a:r>
            <a:r>
              <a:rPr sz="1200" dirty="0" err="1">
                <a:solidFill>
                  <a:schemeClr val="bg1"/>
                </a:solidFill>
              </a:rPr>
              <a:t>construir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resultado</a:t>
            </a:r>
            <a:r>
              <a:rPr sz="1200" dirty="0">
                <a:solidFill>
                  <a:schemeClr val="bg1"/>
                </a:solidFill>
              </a:rPr>
              <a:t> con </a:t>
            </a:r>
            <a:r>
              <a:rPr sz="1200" dirty="0" err="1">
                <a:solidFill>
                  <a:schemeClr val="bg1"/>
                </a:solidFill>
              </a:rPr>
              <a:t>metadata.Bookmark</a:t>
            </a: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Generar chaincode CRUD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rPr sz="1200" dirty="0"/>
              <a:t>Genera un </a:t>
            </a:r>
            <a:r>
              <a:rPr sz="1200" dirty="0" err="1"/>
              <a:t>chaincode</a:t>
            </a:r>
            <a:r>
              <a:rPr sz="1200" dirty="0"/>
              <a:t> de Hyperledger Fabric </a:t>
            </a:r>
            <a:r>
              <a:rPr sz="1200" dirty="0" err="1"/>
              <a:t>en</a:t>
            </a:r>
            <a:r>
              <a:rPr sz="1200" dirty="0"/>
              <a:t> [Go/Node.js]</a:t>
            </a:r>
            <a:br>
              <a:rPr sz="1200" dirty="0"/>
            </a:br>
            <a:r>
              <a:rPr sz="1200" dirty="0"/>
              <a:t>para un </a:t>
            </a:r>
            <a:r>
              <a:rPr sz="1200" dirty="0" err="1"/>
              <a:t>sistema</a:t>
            </a:r>
            <a:r>
              <a:rPr sz="1200" dirty="0"/>
              <a:t> de Registro de </a:t>
            </a:r>
            <a:r>
              <a:rPr sz="1200" dirty="0" err="1"/>
              <a:t>Propiedad</a:t>
            </a:r>
            <a:r>
              <a:rPr sz="1200" dirty="0"/>
              <a:t> con las </a:t>
            </a:r>
            <a:r>
              <a:rPr sz="1200" dirty="0" err="1"/>
              <a:t>siguientes</a:t>
            </a:r>
            <a:br>
              <a:rPr sz="1200" dirty="0"/>
            </a:br>
            <a:r>
              <a:rPr sz="1200" dirty="0" err="1"/>
              <a:t>especificaciones</a:t>
            </a:r>
            <a:r>
              <a:rPr sz="1200" dirty="0"/>
              <a:t>:</a:t>
            </a:r>
            <a:br>
              <a:rPr sz="1200" dirty="0"/>
            </a:br>
            <a:br>
              <a:rPr sz="1200" dirty="0"/>
            </a:br>
            <a:r>
              <a:rPr sz="1200" dirty="0"/>
              <a:t>- Struct/</a:t>
            </a:r>
            <a:r>
              <a:rPr sz="1200" dirty="0" err="1"/>
              <a:t>modelo</a:t>
            </a:r>
            <a:r>
              <a:rPr sz="1200" dirty="0"/>
              <a:t>: Property con campos id, address, owner,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ownerName</a:t>
            </a:r>
            <a:r>
              <a:rPr sz="1200" dirty="0"/>
              <a:t>, area (int), </a:t>
            </a:r>
            <a:r>
              <a:rPr sz="1200" dirty="0" err="1"/>
              <a:t>propertyType</a:t>
            </a:r>
            <a:r>
              <a:rPr sz="1200" dirty="0"/>
              <a:t> (</a:t>
            </a:r>
            <a:r>
              <a:rPr sz="1200" dirty="0" err="1"/>
              <a:t>apartment|house|land</a:t>
            </a:r>
            <a:r>
              <a:rPr sz="1200" dirty="0"/>
              <a:t>),</a:t>
            </a:r>
            <a:br>
              <a:rPr sz="1200" dirty="0"/>
            </a:br>
            <a:r>
              <a:rPr sz="1200" dirty="0"/>
              <a:t>  status (</a:t>
            </a:r>
            <a:r>
              <a:rPr sz="1200" dirty="0" err="1"/>
              <a:t>active|transferring|blocked</a:t>
            </a:r>
            <a:r>
              <a:rPr sz="1200" dirty="0"/>
              <a:t>), </a:t>
            </a:r>
            <a:r>
              <a:rPr sz="1200" dirty="0" err="1"/>
              <a:t>appraisalValue</a:t>
            </a:r>
            <a:r>
              <a:rPr sz="1200" dirty="0"/>
              <a:t> (int)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Incluye</a:t>
            </a:r>
            <a:r>
              <a:rPr sz="1200" dirty="0"/>
              <a:t> campo </a:t>
            </a:r>
            <a:r>
              <a:rPr sz="1200" dirty="0" err="1"/>
              <a:t>docType</a:t>
            </a:r>
            <a:r>
              <a:rPr sz="1200" dirty="0"/>
              <a:t>="property" para queries CouchDB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Operaciones</a:t>
            </a:r>
            <a:r>
              <a:rPr sz="1200" dirty="0"/>
              <a:t> CRUD: Create, Read, Update, Delete (</a:t>
            </a:r>
            <a:r>
              <a:rPr sz="1200" dirty="0" err="1"/>
              <a:t>logico</a:t>
            </a:r>
            <a:r>
              <a:rPr sz="1200" dirty="0"/>
              <a:t>),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GetAll</a:t>
            </a:r>
            <a:r>
              <a:rPr sz="1200" dirty="0"/>
              <a:t> con </a:t>
            </a:r>
            <a:r>
              <a:rPr sz="1200" dirty="0" err="1"/>
              <a:t>paginacion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Validaciones</a:t>
            </a:r>
            <a:r>
              <a:rPr sz="1200" dirty="0"/>
              <a:t>: </a:t>
            </a:r>
            <a:r>
              <a:rPr sz="1200" dirty="0" err="1"/>
              <a:t>verificar</a:t>
            </a:r>
            <a:r>
              <a:rPr sz="1200" dirty="0"/>
              <a:t> </a:t>
            </a:r>
            <a:r>
              <a:rPr sz="1200" dirty="0" err="1"/>
              <a:t>existencia</a:t>
            </a:r>
            <a:r>
              <a:rPr sz="1200" dirty="0"/>
              <a:t>, </a:t>
            </a:r>
            <a:r>
              <a:rPr sz="1200" dirty="0" err="1"/>
              <a:t>permisos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MSPID</a:t>
            </a:r>
            <a:br>
              <a:rPr sz="1200" dirty="0"/>
            </a:br>
            <a:r>
              <a:rPr sz="1200" dirty="0"/>
              <a:t>- Rich query: </a:t>
            </a:r>
            <a:r>
              <a:rPr sz="1200" dirty="0" err="1"/>
              <a:t>buscar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propertyType</a:t>
            </a:r>
            <a:r>
              <a:rPr sz="1200" dirty="0"/>
              <a:t> y </a:t>
            </a:r>
            <a:r>
              <a:rPr sz="1200" dirty="0" err="1"/>
              <a:t>rango</a:t>
            </a:r>
            <a:r>
              <a:rPr sz="1200" dirty="0"/>
              <a:t> de valor</a:t>
            </a:r>
            <a:br>
              <a:rPr sz="1200" dirty="0"/>
            </a:br>
            <a:r>
              <a:rPr sz="1200" dirty="0"/>
              <a:t>- Usa la Contract API </a:t>
            </a:r>
            <a:r>
              <a:rPr sz="1200" dirty="0" err="1"/>
              <a:t>oficial</a:t>
            </a:r>
            <a:r>
              <a:rPr sz="1200" dirty="0"/>
              <a:t> de Fabric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Incluye</a:t>
            </a:r>
            <a:r>
              <a:rPr sz="1200" dirty="0"/>
              <a:t> </a:t>
            </a:r>
            <a:r>
              <a:rPr sz="1200" dirty="0" err="1"/>
              <a:t>eventos</a:t>
            </a:r>
            <a:r>
              <a:rPr sz="1200" dirty="0"/>
              <a:t> para Create y Transfer</a:t>
            </a:r>
            <a:br>
              <a:rPr sz="1200" dirty="0"/>
            </a:br>
            <a:r>
              <a:rPr sz="1200" dirty="0"/>
              <a:t>- </a:t>
            </a:r>
            <a:r>
              <a:rPr sz="1200" dirty="0" err="1"/>
              <a:t>Anade</a:t>
            </a:r>
            <a:r>
              <a:rPr sz="1200" dirty="0"/>
              <a:t> </a:t>
            </a:r>
            <a:r>
              <a:rPr sz="1200" dirty="0" err="1"/>
              <a:t>comentarios</a:t>
            </a:r>
            <a:r>
              <a:rPr sz="1200" dirty="0"/>
              <a:t> </a:t>
            </a:r>
            <a:r>
              <a:rPr sz="1200" dirty="0" err="1"/>
              <a:t>explicativos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espanol</a:t>
            </a:r>
            <a:br>
              <a:rPr sz="1200" dirty="0"/>
            </a:br>
            <a:br>
              <a:rPr sz="1200" dirty="0"/>
            </a:br>
            <a:r>
              <a:rPr sz="1200" dirty="0" err="1"/>
              <a:t>Contexto</a:t>
            </a:r>
            <a:r>
              <a:rPr sz="1200" dirty="0"/>
              <a:t>: es para un </a:t>
            </a:r>
            <a:r>
              <a:rPr sz="1200" dirty="0" err="1"/>
              <a:t>curso</a:t>
            </a:r>
            <a:r>
              <a:rPr sz="1200" dirty="0"/>
              <a:t> de </a:t>
            </a:r>
            <a:r>
              <a:rPr sz="1200" dirty="0" err="1"/>
              <a:t>formacion</a:t>
            </a:r>
            <a:r>
              <a:rPr sz="1200" dirty="0"/>
              <a:t>, </a:t>
            </a:r>
            <a:r>
              <a:rPr sz="1200" dirty="0" err="1"/>
              <a:t>debe</a:t>
            </a:r>
            <a:r>
              <a:rPr sz="1200" dirty="0"/>
              <a:t> ser claro</a:t>
            </a:r>
            <a:br>
              <a:rPr sz="1200" dirty="0"/>
            </a:br>
            <a:r>
              <a:rPr sz="1200" dirty="0"/>
              <a:t>y </a:t>
            </a:r>
            <a:r>
              <a:rPr sz="1200" dirty="0" err="1"/>
              <a:t>didactico</a:t>
            </a:r>
            <a:r>
              <a:rPr sz="1200" dirty="0"/>
              <a:t>. Usa Fabric 2.5.x.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Adapta el prompt segun el lenguaje (Go o Node.js) y anade campos extra si lo necesitas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Disenar modelo de datos: Registro de Propiedad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disenar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y las claves para un Registro de </a:t>
            </a:r>
            <a:r>
              <a:rPr dirty="0" err="1"/>
              <a:t>Propiedad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Definir</a:t>
            </a:r>
            <a:r>
              <a:rPr dirty="0"/>
              <a:t> la </a:t>
            </a:r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(Property) con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campos </a:t>
            </a:r>
            <a:r>
              <a:rPr dirty="0" err="1"/>
              <a:t>necesarios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Disenar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key space: ¿</a:t>
            </a:r>
            <a:r>
              <a:rPr dirty="0" err="1"/>
              <a:t>que</a:t>
            </a:r>
            <a:r>
              <a:rPr dirty="0"/>
              <a:t> clave </a:t>
            </a:r>
            <a:r>
              <a:rPr dirty="0" err="1"/>
              <a:t>usareis</a:t>
            </a:r>
            <a:r>
              <a:rPr dirty="0"/>
              <a:t>? ¿composite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Identificar</a:t>
            </a:r>
            <a:r>
              <a:rPr dirty="0"/>
              <a:t> las queries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necesitareis</a:t>
            </a:r>
            <a:r>
              <a:rPr dirty="0"/>
              <a:t>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propietario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zona,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...)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Decidir</a:t>
            </a:r>
            <a:r>
              <a:rPr dirty="0"/>
              <a:t>: ¿</a:t>
            </a:r>
            <a:r>
              <a:rPr dirty="0" err="1"/>
              <a:t>LevelDB</a:t>
            </a:r>
            <a:r>
              <a:rPr dirty="0"/>
              <a:t> o CouchDB? </a:t>
            </a:r>
            <a:r>
              <a:rPr dirty="0" err="1"/>
              <a:t>Justificar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5. Crear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chaincode</a:t>
            </a:r>
            <a:r>
              <a:rPr dirty="0"/>
              <a:t> CRUD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prompt de IA </a:t>
            </a:r>
            <a:r>
              <a:rPr dirty="0" err="1"/>
              <a:t>como</a:t>
            </a:r>
            <a:r>
              <a:rPr dirty="0"/>
              <a:t> base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6. </a:t>
            </a:r>
            <a:r>
              <a:rPr dirty="0" err="1"/>
              <a:t>Desplegar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test-network y </a:t>
            </a:r>
            <a:r>
              <a:rPr dirty="0" err="1"/>
              <a:t>probar</a:t>
            </a:r>
            <a:r>
              <a:rPr dirty="0"/>
              <a:t> las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basicas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Trabajar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parejas. Tiempo </a:t>
            </a:r>
            <a:r>
              <a:rPr dirty="0" err="1"/>
              <a:t>estimado</a:t>
            </a:r>
            <a:r>
              <a:rPr dirty="0"/>
              <a:t>: 70 </a:t>
            </a:r>
            <a:r>
              <a:rPr dirty="0" err="1"/>
              <a:t>minutos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comun</a:t>
            </a:r>
            <a:r>
              <a:rPr dirty="0"/>
              <a:t> al final: </a:t>
            </a:r>
            <a:r>
              <a:rPr dirty="0" err="1"/>
              <a:t>cada</a:t>
            </a:r>
            <a:r>
              <a:rPr dirty="0"/>
              <a:t> pareja </a:t>
            </a:r>
            <a:r>
              <a:rPr dirty="0" err="1"/>
              <a:t>explica</a:t>
            </a:r>
            <a:r>
              <a:rPr dirty="0"/>
              <a:t> sus </a:t>
            </a:r>
            <a:r>
              <a:rPr dirty="0" err="1"/>
              <a:t>decisiones</a:t>
            </a:r>
            <a:r>
              <a:rPr dirty="0"/>
              <a:t> de </a:t>
            </a:r>
            <a:r>
              <a:rPr dirty="0" err="1"/>
              <a:t>diseno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Decisiones de diseno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¿LevelDB o CouchDB para un Registro de Propiedad? ¿Y para un sistema de pagos?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¿Borrado fisico (DelState) o logico (status=inactive)? ¿Cuando usar cada uno?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¿Composite keys o rich queries? ¿Se pueden combinar?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¿Cuanta logica de negocio debe ir en el chaincode vs en la aplicacion cliente?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¿Que pasa si el modelo de datos necesita cambiar despues del despliegue?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diferencia hay entre un chaincode y un Smart Contract de Ethereum?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la Stub API y que operaciones principales ofrece?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¿Para que sirven las 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¿Cual es la diferencia entre LevelDB y CouchDB?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¿Que es una rich query y cuando la usarias?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¿Por que es importante incluir un campo docType en los datos?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¿Que ventaja tiene el borrado logico sobre DelState?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Microsoft Office PowerPoint</Application>
  <PresentationFormat>Personalizado</PresentationFormat>
  <Paragraphs>185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5</cp:revision>
  <dcterms:created xsi:type="dcterms:W3CDTF">2013-01-27T09:14:16Z</dcterms:created>
  <dcterms:modified xsi:type="dcterms:W3CDTF">2026-04-22T09:29:22Z</dcterms:modified>
  <cp:category/>
</cp:coreProperties>
</file>