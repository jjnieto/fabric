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4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4: Tokens y Smart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Desarrollo de Chaincodes:</a:t>
            </a:r>
            <a:br/>
            <a:r>
              <a:t>Logica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3 - Validaciones, control de acceso, Private Data y eventos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 anterior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¿Que operaciones ofrece la Stub API?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¿Para que sirven las Composite Keys?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¿Cuando usarias CouchDB en vez de LevelDB?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¿Que es una rich query?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TREASURE HUNT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Walmart y la trazabilidad alimentaria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2018, Walmart implemento un sistema de trazabilidad basado en Hyperledger Fabric.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objetivo: rastrear el origen de productos frescos (especialmente mangos y cerdo).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Antes: rastrear un mango desde la tienda hasta la granja tardaba 7 dias.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 Fabric: el mismo rastreo tardo 2.2 segundos.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Mision: Investigar y responder: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¿Que empresa de tecnologia colaboro con Walmart en este proyecto?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¿Cuantos proveedores de hoja verde tiene Walmart en este sistema?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¿Por que eligieron Fabric y no Ethereum para este caso?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Pista: La empresa colaboradora creo una plataforma que se llamaba 'Food Trust'.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Validaciones en el chaincode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chaincode es la ultima linea de defensa antes de escribir en el ledger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Toda validacion critica debe estar en el chaincode, no solo en la app cliente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Tipos de validaciones: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Existencia: ¿el activo existe o no antes de operar?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Permisos: ¿quien invoca tiene derecho a hacer esta operacion?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Estado: ¿el activo esta en un estado valido para esta transicion?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Formato: ¿los datos de entrada son validos (tipos, rangos, longitud)?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Reglas de negocio: ¿se cumplen las condiciones de la logica de negocio?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Control de acceso: GetClientIdentity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invocacion lleva la identidad X.509 del cliente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ctx.GetClientIdentity() expone: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GetID() - identidad completa (CN + emisor del cert)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GetMSPID() - organizacion a la que pertenece (Org1MSP, Org2MSP...)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GetAttributeValue(attrName) - atributos custom del cert X.509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AssertAttributeValue(attrName, value) - verificar atributo directamente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Patron comun: verificar MSPID al inicio de cada funcion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Mas granular: verificar atributos custom del certificado (ABAC)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Control de acceso por organizacion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Verificar MSPID y estado antes de operar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1" y="1600200"/>
            <a:ext cx="5108374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TransferProperty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id string,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newOwner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string) error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Leer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propiedad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property, err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s.ReadProperty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id)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err !=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err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Verificar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solo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propietario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actual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puede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transferir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clientMSP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_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ctx.GetClientIdentity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GetMSPID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property.Owner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!=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clientMSP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fmt.Errorf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("solo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propietario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actual (%s)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puede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transferir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property.Owner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CD0E9AC-BC2A-3ABF-0CB3-11A5CA240ED6}"/>
              </a:ext>
            </a:extLst>
          </p:cNvPr>
          <p:cNvSpPr txBox="1"/>
          <p:nvPr/>
        </p:nvSpPr>
        <p:spPr>
          <a:xfrm>
            <a:off x="6469364" y="1452073"/>
            <a:ext cx="49879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Verificar: la propiedad debe estar en estado 'active'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if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property.Status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!= "active"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return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fmt.Errorf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("la propiedad esta en estado '%s', no se puede transferir",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property.Status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Transferir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property.Owner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newOwner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property.Status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"active"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_ :=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json.Marshal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return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PutState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(id,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888477C-D4CA-1CD7-8954-FE59EB972FD1}"/>
              </a:ext>
            </a:extLst>
          </p:cNvPr>
          <p:cNvSpPr/>
          <p:nvPr/>
        </p:nvSpPr>
        <p:spPr>
          <a:xfrm>
            <a:off x="6080760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Control de acceso por atributo (ABAC)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Atributos custom en certificados X.509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Solo un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usuario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con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rol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registrador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puede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registrar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propiedades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RegisterProperty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id string, address string, owner string) error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Verificar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atributo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"role"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certificado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X.509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err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ctx.GetClientIdentity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().AssertAttributeValue("role",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registrador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err !=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fmt.Errorf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("solo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registradores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pueden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crear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propiedades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%v", err)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El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atributo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anade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al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certificado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durante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enrollment con Fabric CA: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  fabric-ca-client enroll ... --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enrollment.attrs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"role=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registrador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property := Property{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DocType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"property", ID: id, Address: address,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Owner: owner, Status: "active",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_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json.Marshal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(property)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return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PutState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(id,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Logica de negocio: maquina de estados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Muchos activos del mundo real siguen un ciclo de vida con estados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chaincode debe validar que las transiciones son correctas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Ejemplo: estados de una propiedad inmobiliaria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active -&gt; transferring (propietario inicia transferencia)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transferring -&gt; active (registrador confirma la transferencia)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transferring -&gt; active (propietario cancela la transferencia)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active -&gt; blocked (autoridad judicial bloquea)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blocked -&gt; active (autoridad judicial desbloquea)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transicion requiere permisos distintos: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active -&gt; transferring: requiere Owner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transferring -&gt; active (confirmar): requiere role=registrador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active -&gt; blocked: requiere role=autoridad_judicial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Diagrama: estados de una propiedad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84278AF-9B56-2D00-6A6F-EB35F7BD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044" y="1304692"/>
            <a:ext cx="7808736" cy="5096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Maquina de estados en codigo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362892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Mapa de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transiciones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validas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var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validTransitions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 map[string][]string{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"active":       {"transferring", "blocked"},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"transferring": {"active"},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"blocked":      {"active"},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isValidTransition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currentStatus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newStatus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string) bool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allowed, exists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validTransitions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[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currentStatus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]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!exists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false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for _, s := range allowed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if s ==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newStatus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return true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return false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endParaRPr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0B77118-14D9-FA2D-4342-90141A0785F8}"/>
              </a:ext>
            </a:extLst>
          </p:cNvPr>
          <p:cNvSpPr txBox="1"/>
          <p:nvPr/>
        </p:nvSpPr>
        <p:spPr>
          <a:xfrm>
            <a:off x="6536399" y="1418435"/>
            <a:ext cx="51679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Uso en una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funcion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del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chaincode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if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!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isValidTransition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property.Status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newStatus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return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fmt.Errorf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("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transicion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no permitida: %s -&gt; %s",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property.Status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newStatus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endParaRPr lang="es-ES" sz="16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A41D08A-86A5-927B-352A-44D7B85BB922}"/>
              </a:ext>
            </a:extLst>
          </p:cNvPr>
          <p:cNvSpPr/>
          <p:nvPr/>
        </p:nvSpPr>
        <p:spPr>
          <a:xfrm>
            <a:off x="6094412" y="123444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Private Data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Datos confidenciales entre subconjuntos de organizaciones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Private Data Collections: concepto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todos los datos deben ser visibles para todas las organizaciones del canal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Private Data Collections permiten compartir datos solo entre orgs seleccionadas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el ledger publico solo se guarda un hash de los datos privados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Los datos reales se almacenan en una base de datos privada en los peers autorizados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Ejemplo: en una transferencia de propiedad,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precio de venta solo lo ven comprador y vendedor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resto de organizaciones ven que hubo una transferencia, pero no el precio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hash en el ledger publico garantiza la integridad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Private Data: configuracion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Definir quien puede leer/escribir cada coleccion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33294"/>
            <a:ext cx="1069848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collections_config.json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- se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pasa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al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desplegar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chaincode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[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"name":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privatePropertyDetails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"policy": "OR('Org1MSP.member', 'Org2MSP.member')",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requiredPeerCount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1,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maxPeerCount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2,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blockToLive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0,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memberOnlyRead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true,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memberOnlyWrite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true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"name":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priceAgreement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"policy": "AND('Org1MSP.member', 'Org2MSP.member')",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requiredPeerCount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1,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maxPeerCount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2,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blockToLive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100,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memberOnlyRead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true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Private Data: leer y escribir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Transient data + PutPrivateData / GetPrivateData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6695192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Escribir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una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Private Data Collection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SetPrivatePrice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string) error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Los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datos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privados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vienen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transient data (no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ledger)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transientMap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err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GetTransient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err !=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err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priceData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transientMap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["price"]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Guardar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la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coleccion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privada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return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PutPrivateData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priceAgreement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priceData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endParaRPr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C13C727-17AD-106A-629E-303C3CFBA2E2}"/>
              </a:ext>
            </a:extLst>
          </p:cNvPr>
          <p:cNvSpPr txBox="1"/>
          <p:nvPr/>
        </p:nvSpPr>
        <p:spPr>
          <a:xfrm>
            <a:off x="6886436" y="1659285"/>
            <a:ext cx="47331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Leer de una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Private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Data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Collection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GetPrivatePrice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propertyID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 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error)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priceData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:=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GetPrivateData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("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priceAgreement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",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propertyID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if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!=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nil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return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"",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return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priceData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nil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E25086C-CC6A-64A8-F88A-42962B1377D7}"/>
              </a:ext>
            </a:extLst>
          </p:cNvPr>
          <p:cNvSpPr/>
          <p:nvPr/>
        </p:nvSpPr>
        <p:spPr>
          <a:xfrm>
            <a:off x="6467707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Eventos de chaincode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Los chaincodes pueden emitir eventos que las aplicaciones cliente reciben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Utiles para: notificaciones, integraciones, audit logs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emiten con ctx.GetStub().SetEvent(name, payload)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Solo se emite UN evento por transaccion (el ultimo SetEvent gana)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cliente se suscribe con el Gateway SDK: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contract.RegisterEvent() en Go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network.addBlockListener() / contract.addContractListener() en Node.js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Eventos: ejemplo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858851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En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chaincode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emitir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evento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al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transferir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type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TransferEvent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struct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"`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From      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:"from"`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To        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:"to"`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Timestamp 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:"timestamp"`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TransferProperty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id string,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newOwner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string) error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...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logica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de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transferencia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...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event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TransferEvent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id,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From: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property.Owner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To: 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newOwner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 (listener);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CE29DF-B7AF-A314-786C-6780FE5F9421}"/>
              </a:ext>
            </a:extLst>
          </p:cNvPr>
          <p:cNvSpPr txBox="1"/>
          <p:nvPr/>
        </p:nvSpPr>
        <p:spPr>
          <a:xfrm>
            <a:off x="6462402" y="1417320"/>
            <a:ext cx="483378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eventJSON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_ :=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json.Marshal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event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SetEvent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("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PropertyTransferred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",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eventJSON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return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nil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En el cliente Node.js: escuchar eventos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const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listener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async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event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 =&gt;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const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payload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JSON.parse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event.payload.toString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    console.log('Transferencia:',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payload.propertyID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};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contract.addContractListener</a:t>
            </a:r>
            <a:endParaRPr lang="es-ES" sz="16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701B4CE-8B1A-04A5-04FA-81D526FE24DE}"/>
              </a:ext>
            </a:extLst>
          </p:cNvPr>
          <p:cNvSpPr/>
          <p:nvPr/>
        </p:nvSpPr>
        <p:spPr>
          <a:xfrm>
            <a:off x="5876693" y="123444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Chaincode de Registro de Propiedad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implementar un chaincode completo con logica de negocio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Requisitos del chaincode: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CRUD de propiedades (reutilizar el modelo del dia anterior)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Maquina de estados: active / transferring / blocked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Control de acceso: solo el owner puede iniciar transferencia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4. Rol registrador (ABAC) para confirmar transferencias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5. Private Data: precio de venta solo visible para comprador y vendedor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6. Evento PropertyTransferred al completar una transferencia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Usar el prompt de IA para generar la base y luego adaptar.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Desplegar en la test-network y probar todos los flujos.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Trabajar en parejas. Tiempo estimado: 90 minutos.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Prompt IA: Chaincode con logica de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41148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Consolas"/>
              </a:defRPr>
            </a:pPr>
            <a:r>
              <a:t>Genera un chaincode de Hyperledger Fabric en [Go/Node.js]</a:t>
            </a:r>
            <a:br/>
            <a:r>
              <a:t>para un Registro de Propiedad con estas funcionalidades:</a:t>
            </a:r>
            <a:br/>
            <a:br/>
            <a:r>
              <a:t>1. CRUD completo de Property (id, address, owner, area,</a:t>
            </a:r>
            <a:br/>
            <a:r>
              <a:t>   propertyType, status, appraisalValue)</a:t>
            </a:r>
            <a:br/>
            <a:r>
              <a:t>2. Maquina de estados con transiciones validadas:</a:t>
            </a:r>
            <a:br/>
            <a:r>
              <a:t>   active &lt;-&gt; transferring, active &lt;-&gt; blocked</a:t>
            </a:r>
            <a:br/>
            <a:r>
              <a:t>3. Control de acceso por MSPID (solo el owner opera)</a:t>
            </a:r>
            <a:br/>
            <a:r>
              <a:t>   y por atributo "role=registrador" para confirmar</a:t>
            </a:r>
            <a:br/>
            <a:r>
              <a:t>4. Private Data Collection "priceAgreement" para el</a:t>
            </a:r>
            <a:br/>
            <a:r>
              <a:t>   precio de venta (solo comprador y vendedor)</a:t>
            </a:r>
            <a:br/>
            <a:r>
              <a:t>5. Eventos: PropertyCreated, PropertyTransferred</a:t>
            </a:r>
            <a:br/>
            <a:r>
              <a:t>6. Rich queries con CouchDB: buscar por tipo, por owner</a:t>
            </a:r>
            <a:br/>
            <a:br/>
            <a:r>
              <a:t>Incluye el collections_config.json y comentarios en espanol.</a:t>
            </a:r>
            <a:br/>
            <a:r>
              <a:t>Fabric 2.5.x con Contract API.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Logica de negocio en chaincodes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¿Cuanta logica debe ir en el chaincode vs en la app cliente?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¿Que pasa si necesitas cambiar la maquina de estados despues del despliegue?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Private Data: ¿es suficiente para cumplir GDPR? ¿Que limitaciones tiene?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¿Que ocurre si un registrador malicioso confirma transferencias falsas?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¿Como gestionariais los roles (registrador, autoridad) en un consorcio real?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65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1. Logica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chaincode</a:t>
            </a:r>
            <a:r>
              <a:rPr dirty="0"/>
              <a:t> vs app </a:t>
            </a:r>
            <a:r>
              <a:rPr dirty="0" err="1"/>
              <a:t>cliente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En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chaincode</a:t>
            </a:r>
            <a:r>
              <a:rPr sz="1600" dirty="0"/>
              <a:t>: </a:t>
            </a:r>
            <a:r>
              <a:rPr sz="1600" dirty="0" err="1"/>
              <a:t>reglas</a:t>
            </a:r>
            <a:r>
              <a:rPr sz="1600" dirty="0"/>
              <a:t> de </a:t>
            </a:r>
            <a:r>
              <a:rPr sz="1600" dirty="0" err="1"/>
              <a:t>negocio</a:t>
            </a:r>
            <a:r>
              <a:rPr sz="1600" dirty="0"/>
              <a:t> </a:t>
            </a:r>
            <a:r>
              <a:rPr sz="1600" dirty="0" err="1"/>
              <a:t>inmutables</a:t>
            </a:r>
            <a:r>
              <a:rPr sz="1600" dirty="0"/>
              <a:t> (</a:t>
            </a:r>
            <a:r>
              <a:rPr sz="1600" dirty="0" err="1"/>
              <a:t>saldos</a:t>
            </a:r>
            <a:r>
              <a:rPr sz="1600" dirty="0"/>
              <a:t>, </a:t>
            </a:r>
            <a:r>
              <a:rPr sz="1600" dirty="0" err="1"/>
              <a:t>permisos</a:t>
            </a:r>
            <a:r>
              <a:rPr sz="1600" dirty="0"/>
              <a:t>, </a:t>
            </a:r>
            <a:r>
              <a:rPr sz="1600" dirty="0" err="1"/>
              <a:t>transiciones</a:t>
            </a:r>
            <a:r>
              <a:rPr sz="1600" dirty="0"/>
              <a:t> </a:t>
            </a:r>
            <a:r>
              <a:rPr sz="1600" dirty="0" err="1"/>
              <a:t>validas</a:t>
            </a:r>
            <a:r>
              <a:rPr sz="1600"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En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cliente</a:t>
            </a:r>
            <a:r>
              <a:rPr sz="1600" dirty="0"/>
              <a:t>: UI, </a:t>
            </a:r>
            <a:r>
              <a:rPr sz="1600" dirty="0" err="1"/>
              <a:t>orquestacion</a:t>
            </a:r>
            <a:r>
              <a:rPr sz="1600" dirty="0"/>
              <a:t>, </a:t>
            </a:r>
            <a:r>
              <a:rPr sz="1600" dirty="0" err="1"/>
              <a:t>validaciones</a:t>
            </a:r>
            <a:r>
              <a:rPr sz="1600" dirty="0"/>
              <a:t> de </a:t>
            </a:r>
            <a:r>
              <a:rPr sz="1600" dirty="0" err="1"/>
              <a:t>formato</a:t>
            </a:r>
            <a:r>
              <a:rPr sz="1600" dirty="0"/>
              <a:t>, UX.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Regla: </a:t>
            </a:r>
            <a:r>
              <a:rPr sz="1600" dirty="0" err="1"/>
              <a:t>si</a:t>
            </a:r>
            <a:r>
              <a:rPr sz="1600" dirty="0"/>
              <a:t> se </a:t>
            </a:r>
            <a:r>
              <a:rPr sz="1600" dirty="0" err="1"/>
              <a:t>puede</a:t>
            </a:r>
            <a:r>
              <a:rPr sz="1600" dirty="0"/>
              <a:t> </a:t>
            </a:r>
            <a:r>
              <a:rPr sz="1600" dirty="0" err="1"/>
              <a:t>saltar</a:t>
            </a:r>
            <a:r>
              <a:rPr sz="1600" dirty="0"/>
              <a:t> </a:t>
            </a:r>
            <a:r>
              <a:rPr sz="1600" dirty="0" err="1"/>
              <a:t>desde</a:t>
            </a:r>
            <a:r>
              <a:rPr sz="1600" dirty="0"/>
              <a:t> </a:t>
            </a:r>
            <a:r>
              <a:rPr sz="1600" dirty="0" err="1"/>
              <a:t>otro</a:t>
            </a:r>
            <a:r>
              <a:rPr sz="1600" dirty="0"/>
              <a:t> </a:t>
            </a:r>
            <a:r>
              <a:rPr sz="1600" dirty="0" err="1"/>
              <a:t>cliente</a:t>
            </a:r>
            <a:r>
              <a:rPr sz="1600" dirty="0"/>
              <a:t>, NO es </a:t>
            </a:r>
            <a:r>
              <a:rPr sz="1600" dirty="0" err="1"/>
              <a:t>regla</a:t>
            </a:r>
            <a:r>
              <a:rPr sz="1600" dirty="0"/>
              <a:t> de </a:t>
            </a:r>
            <a:r>
              <a:rPr sz="1600" dirty="0" err="1"/>
              <a:t>negocio</a:t>
            </a:r>
            <a:r>
              <a:rPr sz="1600" dirty="0"/>
              <a:t> real.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Si la </a:t>
            </a:r>
            <a:r>
              <a:rPr sz="1600" dirty="0" err="1"/>
              <a:t>regla</a:t>
            </a:r>
            <a:r>
              <a:rPr sz="1600" dirty="0"/>
              <a:t> </a:t>
            </a:r>
            <a:r>
              <a:rPr sz="1600" dirty="0" err="1"/>
              <a:t>afecta</a:t>
            </a:r>
            <a:r>
              <a:rPr sz="1600" dirty="0"/>
              <a:t> al ledger (</a:t>
            </a:r>
            <a:r>
              <a:rPr sz="1600" dirty="0" err="1"/>
              <a:t>consistencia</a:t>
            </a:r>
            <a:r>
              <a:rPr sz="1600" dirty="0"/>
              <a:t> entre </a:t>
            </a:r>
            <a:r>
              <a:rPr sz="1600" dirty="0" err="1"/>
              <a:t>todos</a:t>
            </a:r>
            <a:r>
              <a:rPr sz="1600" dirty="0"/>
              <a:t> </a:t>
            </a:r>
            <a:r>
              <a:rPr sz="1600" dirty="0" err="1"/>
              <a:t>los</a:t>
            </a:r>
            <a:r>
              <a:rPr sz="1600" dirty="0"/>
              <a:t> peers) -&gt; </a:t>
            </a:r>
            <a:r>
              <a:rPr sz="1600" dirty="0" err="1"/>
              <a:t>chaincode</a:t>
            </a:r>
            <a:r>
              <a:rPr sz="1600"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2. Cambiar la </a:t>
            </a:r>
            <a:r>
              <a:rPr dirty="0" err="1"/>
              <a:t>maquina</a:t>
            </a:r>
            <a:r>
              <a:rPr dirty="0"/>
              <a:t> de </a:t>
            </a:r>
            <a:r>
              <a:rPr dirty="0" err="1"/>
              <a:t>estados</a:t>
            </a:r>
            <a:r>
              <a:rPr dirty="0"/>
              <a:t> </a:t>
            </a:r>
            <a:r>
              <a:rPr dirty="0" err="1"/>
              <a:t>despues</a:t>
            </a:r>
            <a:r>
              <a:rPr dirty="0"/>
              <a:t> del </a:t>
            </a:r>
            <a:r>
              <a:rPr dirty="0" err="1"/>
              <a:t>despliegue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Se </a:t>
            </a:r>
            <a:r>
              <a:rPr sz="1600" dirty="0" err="1"/>
              <a:t>despliega</a:t>
            </a:r>
            <a:r>
              <a:rPr sz="1600" dirty="0"/>
              <a:t> </a:t>
            </a:r>
            <a:r>
              <a:rPr sz="1600" dirty="0" err="1"/>
              <a:t>una</a:t>
            </a:r>
            <a:r>
              <a:rPr sz="1600" dirty="0"/>
              <a:t> </a:t>
            </a:r>
            <a:r>
              <a:rPr sz="1600" dirty="0" err="1"/>
              <a:t>nueva</a:t>
            </a:r>
            <a:r>
              <a:rPr sz="1600" dirty="0"/>
              <a:t> version del </a:t>
            </a:r>
            <a:r>
              <a:rPr sz="1600" dirty="0" err="1"/>
              <a:t>chaincode</a:t>
            </a:r>
            <a:r>
              <a:rPr sz="1600" dirty="0"/>
              <a:t> con sequence </a:t>
            </a:r>
            <a:r>
              <a:rPr sz="1600" dirty="0" err="1"/>
              <a:t>incrementado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El World State se </a:t>
            </a:r>
            <a:r>
              <a:rPr sz="1600" dirty="0" err="1"/>
              <a:t>preserva</a:t>
            </a:r>
            <a:r>
              <a:rPr sz="1600" dirty="0"/>
              <a:t> —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datos</a:t>
            </a:r>
            <a:r>
              <a:rPr sz="1600" dirty="0"/>
              <a:t> </a:t>
            </a:r>
            <a:r>
              <a:rPr sz="1600" dirty="0" err="1"/>
              <a:t>antiguos</a:t>
            </a:r>
            <a:r>
              <a:rPr sz="1600" dirty="0"/>
              <a:t> </a:t>
            </a:r>
            <a:r>
              <a:rPr sz="1600" dirty="0" err="1"/>
              <a:t>siguen</a:t>
            </a:r>
            <a:r>
              <a:rPr sz="1600" dirty="0"/>
              <a:t> ahi.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Estrategias</a:t>
            </a:r>
            <a:r>
              <a:rPr sz="1600" dirty="0"/>
              <a:t>: </a:t>
            </a:r>
            <a:r>
              <a:rPr sz="1600" dirty="0" err="1"/>
              <a:t>anadir</a:t>
            </a:r>
            <a:r>
              <a:rPr sz="1600" dirty="0"/>
              <a:t> </a:t>
            </a:r>
            <a:r>
              <a:rPr sz="1600" dirty="0" err="1"/>
              <a:t>estados</a:t>
            </a:r>
            <a:r>
              <a:rPr sz="1600" dirty="0"/>
              <a:t> </a:t>
            </a:r>
            <a:r>
              <a:rPr sz="1600" dirty="0" err="1"/>
              <a:t>nuevos</a:t>
            </a:r>
            <a:r>
              <a:rPr sz="1600" dirty="0"/>
              <a:t> sin romper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antiguos</a:t>
            </a:r>
            <a:r>
              <a:rPr sz="1600" dirty="0"/>
              <a:t> (</a:t>
            </a:r>
            <a:r>
              <a:rPr sz="1600" dirty="0" err="1"/>
              <a:t>retrocompatibilidad</a:t>
            </a:r>
            <a:r>
              <a:rPr sz="1600"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Si la </a:t>
            </a:r>
            <a:r>
              <a:rPr sz="1600" dirty="0" err="1"/>
              <a:t>transicion</a:t>
            </a:r>
            <a:r>
              <a:rPr sz="1600" dirty="0"/>
              <a:t> cambia </a:t>
            </a:r>
            <a:r>
              <a:rPr sz="1600" dirty="0" err="1"/>
              <a:t>radicalmente</a:t>
            </a:r>
            <a:r>
              <a:rPr sz="1600" dirty="0"/>
              <a:t>: </a:t>
            </a:r>
            <a:r>
              <a:rPr sz="1600" dirty="0" err="1"/>
              <a:t>migracion</a:t>
            </a:r>
            <a:r>
              <a:rPr sz="1600" dirty="0"/>
              <a:t> </a:t>
            </a:r>
            <a:r>
              <a:rPr sz="1600" dirty="0" err="1"/>
              <a:t>perezosa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lectura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Cuidado: </a:t>
            </a:r>
            <a:r>
              <a:rPr sz="1600" dirty="0" err="1"/>
              <a:t>nunca</a:t>
            </a:r>
            <a:r>
              <a:rPr sz="1600" dirty="0"/>
              <a:t> </a:t>
            </a:r>
            <a:r>
              <a:rPr sz="1600" dirty="0" err="1"/>
              <a:t>cambies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significado</a:t>
            </a:r>
            <a:r>
              <a:rPr sz="1600" dirty="0"/>
              <a:t> de un </a:t>
            </a:r>
            <a:r>
              <a:rPr sz="1600" dirty="0" err="1"/>
              <a:t>estado</a:t>
            </a:r>
            <a:r>
              <a:rPr sz="1600" dirty="0"/>
              <a:t> </a:t>
            </a:r>
            <a:r>
              <a:rPr sz="1600" dirty="0" err="1"/>
              <a:t>existente</a:t>
            </a:r>
            <a:r>
              <a:rPr sz="1600" dirty="0"/>
              <a:t>, </a:t>
            </a:r>
            <a:r>
              <a:rPr sz="1600" dirty="0" err="1"/>
              <a:t>crea</a:t>
            </a:r>
            <a:r>
              <a:rPr sz="1600" dirty="0"/>
              <a:t> uno nuevo.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3. Private Data y GDPR: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Private Data </a:t>
            </a:r>
            <a:r>
              <a:rPr sz="1600" dirty="0" err="1"/>
              <a:t>ayuda</a:t>
            </a:r>
            <a:r>
              <a:rPr sz="1600" dirty="0"/>
              <a:t> </a:t>
            </a:r>
            <a:r>
              <a:rPr sz="1600" dirty="0" err="1"/>
              <a:t>pero</a:t>
            </a:r>
            <a:r>
              <a:rPr sz="1600" dirty="0"/>
              <a:t> NO </a:t>
            </a:r>
            <a:r>
              <a:rPr sz="1600" dirty="0" err="1"/>
              <a:t>cumple</a:t>
            </a:r>
            <a:r>
              <a:rPr sz="1600" dirty="0"/>
              <a:t> GDPR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si</a:t>
            </a:r>
            <a:r>
              <a:rPr sz="1600" dirty="0"/>
              <a:t> solo.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El hash </a:t>
            </a:r>
            <a:r>
              <a:rPr sz="1600" dirty="0" err="1"/>
              <a:t>queda</a:t>
            </a:r>
            <a:r>
              <a:rPr sz="1600" dirty="0"/>
              <a:t> on-chain para </a:t>
            </a:r>
            <a:r>
              <a:rPr sz="1600" dirty="0" err="1"/>
              <a:t>siempre</a:t>
            </a:r>
            <a:r>
              <a:rPr sz="1600" dirty="0"/>
              <a:t> (</a:t>
            </a:r>
            <a:r>
              <a:rPr sz="1600" dirty="0" err="1"/>
              <a:t>inmutable</a:t>
            </a:r>
            <a:r>
              <a:rPr sz="1600" dirty="0"/>
              <a:t>) — </a:t>
            </a:r>
            <a:r>
              <a:rPr sz="1600" dirty="0" err="1"/>
              <a:t>potencialmente</a:t>
            </a:r>
            <a:r>
              <a:rPr sz="1600" dirty="0"/>
              <a:t> </a:t>
            </a:r>
            <a:r>
              <a:rPr sz="1600" dirty="0" err="1"/>
              <a:t>trazable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blockToLive</a:t>
            </a:r>
            <a:r>
              <a:rPr sz="1600" dirty="0"/>
              <a:t> </a:t>
            </a:r>
            <a:r>
              <a:rPr sz="1600" dirty="0" err="1"/>
              <a:t>permite</a:t>
            </a:r>
            <a:r>
              <a:rPr sz="1600" dirty="0"/>
              <a:t> </a:t>
            </a:r>
            <a:r>
              <a:rPr sz="1600" dirty="0" err="1"/>
              <a:t>caducar</a:t>
            </a:r>
            <a:r>
              <a:rPr sz="1600" dirty="0"/>
              <a:t> </a:t>
            </a:r>
            <a:r>
              <a:rPr sz="1600" dirty="0" err="1"/>
              <a:t>datos</a:t>
            </a:r>
            <a:r>
              <a:rPr sz="1600" dirty="0"/>
              <a:t> privados, </a:t>
            </a:r>
            <a:r>
              <a:rPr sz="1600" dirty="0" err="1"/>
              <a:t>pero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hash </a:t>
            </a:r>
            <a:r>
              <a:rPr sz="1600" dirty="0" err="1"/>
              <a:t>sigue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Mejor practica: </a:t>
            </a:r>
            <a:r>
              <a:rPr sz="1600" dirty="0" err="1"/>
              <a:t>datos</a:t>
            </a:r>
            <a:r>
              <a:rPr sz="1600" dirty="0"/>
              <a:t> </a:t>
            </a:r>
            <a:r>
              <a:rPr sz="1600" dirty="0" err="1"/>
              <a:t>personales</a:t>
            </a:r>
            <a:r>
              <a:rPr sz="1600" dirty="0"/>
              <a:t> OFF-CHAIN, solo hash/</a:t>
            </a:r>
            <a:r>
              <a:rPr sz="1600" dirty="0" err="1"/>
              <a:t>referencia</a:t>
            </a:r>
            <a:r>
              <a:rPr sz="1600" dirty="0"/>
              <a:t> on-chain.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Cuando borras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dato</a:t>
            </a:r>
            <a:r>
              <a:rPr sz="1600" dirty="0"/>
              <a:t> off-chain, </a:t>
            </a:r>
            <a:r>
              <a:rPr sz="1600" dirty="0" err="1"/>
              <a:t>el</a:t>
            </a:r>
            <a:r>
              <a:rPr sz="1600" dirty="0"/>
              <a:t> hash on-chain </a:t>
            </a:r>
            <a:r>
              <a:rPr sz="1600" dirty="0" err="1"/>
              <a:t>queda</a:t>
            </a:r>
            <a:r>
              <a:rPr sz="1600" dirty="0"/>
              <a:t> </a:t>
            </a:r>
            <a:r>
              <a:rPr sz="1600" dirty="0" err="1"/>
              <a:t>huerfano</a:t>
            </a:r>
            <a:r>
              <a:rPr sz="1600" dirty="0"/>
              <a:t> (</a:t>
            </a:r>
            <a:r>
              <a:rPr sz="1600" dirty="0" err="1"/>
              <a:t>pseudonimizacion</a:t>
            </a:r>
            <a:r>
              <a:rPr sz="1600" dirty="0"/>
              <a:t> </a:t>
            </a:r>
            <a:r>
              <a:rPr sz="1600" dirty="0" err="1"/>
              <a:t>efectiva</a:t>
            </a:r>
            <a:r>
              <a:rPr sz="1600" dirty="0"/>
              <a:t>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Registrador malicioso confirma transferencias falsas: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chaincode por si solo no lo evita — solo valida que tiene el atributo 'role=registrador'.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Mitigaciones en capas: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a) Multi-firma: transferencias criticas requieren N de M registradores (endorsement policy).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b) Auditoria externa: un rol 'auditor' revisa transacciones periodicamente.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c) Jurisdiccion legal: el certificado identifica a la persona, responsabilidad penal.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d) Revocacion rapida del certificado si se detecta fraude + CRL actualizada.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Ningun sistema es 100% a prueba de insider malicioso; blockchain reduce pero no elimina.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Gestion de roles (registrador, autoridad) en un consorcio real: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Registrar los roles como atributos del certificado X.509 via Fabric CA.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Separacion de funciones: quien otorga el rol NO puede usarlo.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Rotacion de roles: no dejar eternamente al mismo usuario con privilegios.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 clara: documento del consorcio define quien puede asignar cada rol.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Logs de auditoria: cada emisin/revocacion de rol queda registrada en Fabric CA.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Reglas en el chaincode: un rol solo puede hacer ciertas operaciones (ABAC).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¿Como se verifica la identidad del cliente en un chaincode?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¿Que diferencia hay entre GetMSPID() y AssertAttributeValue()?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¿Que es una maquina de estados y por que es util en chaincodes?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¿Que son las Private Data Collections?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¿Donde se almacenan los datos privados vs el hash?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¿Como se emite un evento desde un chaincode?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7. ¿Cuantos eventos se pueden emitir por transaccion?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Verificacion de identidad en un chaincode: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 traves de ctx.GetClientIdentity(), que devuelve datos del certificado X.509 del caller.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Metodos principales: GetID, GetMSPID, GetAttributeValue, AssertAttributeValue.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peer YA ha validado el certificado antes de llamar al chaincode (no tienes que validarlo tu).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Tu trabajo es decidir si ese cert autenticado puede hacer lo que pide (autorizacion).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GetMSPID() vs AssertAttributeValue():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GetMSPID(): devuelve la organizacion del caller ('Org1MSP', 'HotelMSP'...).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AssertAttributeValue(attr, value): comprueba un atributo custom del cert (devuelve error si no coincide).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GetMSPID: para controlar QUE ORG llama (Hotel vs Cafeteria).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AssertAttributeValue: para controlar QUE ROL tiene (registrador, auditor, admin).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Maquina de estados en chaincodes: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Conjunto de estados validos y transiciones permitidas entre ellos.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Ejemplo propiedad: active -&gt; transferring -&gt; active | blocked.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Util para: evitar estados imposibles, forzar orden correcto, claridad del dominio.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Implementacion: validar en cada funcion 'if currentStatus != X return error'.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Private Data Collections: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Mecanismo para compartir datos solo entre un subconjunto de orgs del canal.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 definen en collections_config.json: nombre, policy, blockToLive, miembros.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Ejemplo: priceAgreement visible solo entre comprador y vendedor, no otras orgs.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Donde se almacenan datos privados vs hash: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Datos privados: base de datos privada de cada peer autorizado (LevelDB/CouchDB del peer).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Hash: en el ledger publico del canal, visible para TODAS las orgs.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hash garantiza integridad sin revelar el contenido.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Emitir un evento desde chaincode: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ctx.GetStub().SetEvent(nombreEvento, payloadBytes).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Ejemplo: ctx.GetStub().SetEvent('PropertyTransferred', eventJSON).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clientes se suscriben con contract.addContractListener() o peer channel events.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Cuantos eventos por transaccion: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SOLO UNO por transaccion. Si llamas SetEvent dos veces, solo el ultimo prevalece.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necesitas notificar varias cosas, usa un JSON con multiples campos en el payload.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Alternativa: emitir un evento generico con 'type' dentro que indique que ha pasado.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3244</Words>
  <Application>Microsoft Office PowerPoint</Application>
  <PresentationFormat>Personalizado</PresentationFormat>
  <Paragraphs>198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3</cp:revision>
  <dcterms:created xsi:type="dcterms:W3CDTF">2013-01-27T09:14:16Z</dcterms:created>
  <dcterms:modified xsi:type="dcterms:W3CDTF">2026-04-23T11:04:30Z</dcterms:modified>
  <cp:category/>
</cp:coreProperties>
</file>