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7" d="100"/>
          <a:sy n="57" d="100"/>
        </p:scale>
        <p:origin x="948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22627E"/>
                </a:solidFill>
                <a:latin typeface="Calibri"/>
              </a:defRPr>
            </a:pPr>
            <a:r>
              <a:t>Modulo 4: Tokens y Smart Contracts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0972800" cy="2286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5400" b="1">
                <a:solidFill>
                  <a:srgbClr val="22627E"/>
                </a:solidFill>
                <a:latin typeface="Calibri"/>
              </a:defRPr>
            </a:pPr>
            <a:r>
              <a:t>Implementacion de Tokens</a:t>
            </a:r>
            <a:br/>
            <a:r>
              <a:t>en Fabric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0"/>
            <a:ext cx="109728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0">
                <a:solidFill>
                  <a:srgbClr val="333333"/>
                </a:solidFill>
                <a:latin typeface="Calibri"/>
              </a:defRPr>
            </a:pPr>
            <a:r>
              <a:t>Dia 4 - Tokens fungibles, no fungibles y trazabilidad alimentaria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Repaso del dia anterior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1. ¿Como se controla el acceso por organizacion en un chaincode?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2. ¿Que es ABAC y como se implementa?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3. ¿Para que sirven las Private Data Collections?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4. ¿Como se emiten eventos desde un chaincode?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3200400" cy="457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3200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CULTURA 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31920" y="228600"/>
            <a:ext cx="7772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333333"/>
                </a:solidFill>
                <a:latin typeface="Calibri"/>
              </a:defRPr>
            </a:pPr>
            <a:r>
              <a:t>Nick Szabo y los Smart Contracts (1994)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Nick Szabo es un informatico y criptografo que en 1994 propuso el concepto de 'smart contract'.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Su idea: codificar clausulas contractuales en software que se ejecute automaticamente.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El ejemplo que usaba: una maquina expendedora es un smart contract primitivo.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- Introduces monedas (input), seleccionas producto (condicion), recibes el producto (ejecucion).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- No necesitas un intermediario: la maquina ejecuta el contrato.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Szabo tambien propuso 'Bit Gold' en 1998, un precursor de Bitcoin.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Muchos especulan que podria ser Satoshi Nakamoto, aunque el lo ha negado.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Curiosidad: en Fabric los smart contracts se llaman 'chaincodes',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pero la idea subyacente es la misma que Szabo propuso hace 30 anos.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800" b="1">
                <a:solidFill>
                  <a:srgbClr val="FFFFFF"/>
                </a:solidFill>
                <a:latin typeface="Calibri"/>
              </a:defRPr>
            </a:pPr>
            <a:r>
              <a:t>Tokens Fungibles en Fabric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0">
                <a:solidFill>
                  <a:srgbClr val="FFFFFF"/>
                </a:solidFill>
                <a:latin typeface="Calibri"/>
              </a:defRPr>
            </a:pPr>
            <a:r>
              <a:t>Implementacion tipo ERC-20 con modelo de cuentas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Token fungible: diseno del modelo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Un token fungible en Fabric se implementa como un chaincode con: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Modelo de datos: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Un balance por cada participante (key: clientID, value: amount)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Un registro de allowances para delegacion (key: owner|spender, value: amount)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Metadata del token: nombre, simbolo, decimales, totalSupply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Funciones principales: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Mint(amount) - crear tokens (solo minter autorizado)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Burn(amount) - destruir tokens propios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Transfer(to, amount) - enviar tokens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BalanceOf(owner) - consultar saldo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Approve(spender, amount) + TransferFrom(from, to, amount) - delegacion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TotalSupply() - supply total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Identidad: el propietario se identifica por su certificado X.509, no por una direccion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22627E"/>
                </a:solidFill>
                <a:latin typeface="Calibri"/>
              </a:defRPr>
            </a:pPr>
            <a:r>
              <a:t>Token fungible: Mint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Crear tokens: verificar rol, actualizar balance y totalSupply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15600" y="320040"/>
            <a:ext cx="1188720" cy="365760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0" y="320040"/>
            <a:ext cx="1188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NODE.JS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11247120" cy="51206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600200"/>
            <a:ext cx="5490860" cy="4754880"/>
          </a:xfrm>
          <a:prstGeom prst="rect">
            <a:avLst/>
          </a:prstGeom>
          <a:noFill/>
        </p:spPr>
        <p:txBody>
          <a:bodyPr wrap="square"/>
          <a:lstStyle/>
          <a:p>
            <a:pPr/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async Mint(ctx, amount) {</a:t>
            </a:r>
          </a:p>
          <a:p>
            <a:pPr/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    // Solo el minter puede crear tokens</a:t>
            </a:r>
          </a:p>
          <a:p>
            <a:pPr/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    const ok = ctx.clientIdentity</a:t>
            </a:r>
          </a:p>
          <a:p>
            <a:pPr/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        .assertAttributeValue('role', 'minter');</a:t>
            </a:r>
          </a:p>
          <a:p>
            <a:pPr/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    if (!ok) {</a:t>
            </a:r>
          </a:p>
          <a:p>
            <a:pPr/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        throw new Error(</a:t>
            </a:r>
          </a:p>
          <a:p>
            <a:pPr/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            'solo el minter puede emitir tokens');</a:t>
            </a:r>
          </a:p>
          <a:p>
            <a:pPr/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    }</a:t>
            </a:r>
          </a:p>
          <a:p>
            <a:pPr/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    if (parseInt(amount) &lt;= 0) {</a:t>
            </a:r>
          </a:p>
          <a:p>
            <a:pPr/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        throw new Error('amount debe ser positivo');</a:t>
            </a:r>
          </a:p>
          <a:p>
            <a:pPr/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    }</a:t>
            </a:r>
          </a:p>
          <a:p>
            <a:pPr/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/>
            </a:r>
          </a:p>
          <a:p>
            <a:pPr/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    // Obtener ID del minter</a:t>
            </a:r>
          </a:p>
          <a:p>
            <a:pPr/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    const minterID = ctx.clientIdentity.getID();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A0833CF4-3AEC-0429-C6EF-06AFFBCE9597}"/>
              </a:ext>
            </a:extLst>
          </p:cNvPr>
          <p:cNvSpPr txBox="1"/>
          <p:nvPr/>
        </p:nvSpPr>
        <p:spPr>
          <a:xfrm>
            <a:off x="6050079" y="1791688"/>
            <a:ext cx="6138746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// Actualizar balance</a:t>
            </a:r>
          </a:p>
          <a:p>
            <a:pPr/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const currentBalance = await getBalance(ctx, minterID);</a:t>
            </a:r>
          </a:p>
          <a:p>
            <a:pPr/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const newBalance = currentBalance + parseInt(amount);</a:t>
            </a:r>
          </a:p>
          <a:p>
            <a:pPr/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await ctx.stub.putState(balanceKey(minterID),</a:t>
            </a:r>
          </a:p>
          <a:p>
            <a:pPr/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    Buffer.from(newBalance.toString()));</a:t>
            </a:r>
          </a:p>
          <a:p>
            <a:pPr/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/>
            </a:r>
          </a:p>
          <a:p>
            <a:pPr/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// Actualizar totalSupply</a:t>
            </a:r>
          </a:p>
          <a:p>
            <a:pPr/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const supply = await getTotalSupply(ctx);</a:t>
            </a:r>
          </a:p>
          <a:p>
            <a:pPr/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await ctx.stub.putState('totalSupply',</a:t>
            </a:r>
          </a:p>
          <a:p>
            <a:pPr/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    Buffer.from((supply + parseInt(amount)).toString()));</a:t>
            </a:r>
          </a:p>
          <a:p>
            <a:pPr/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/>
            </a:r>
          </a:p>
          <a:p>
            <a:pPr/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// Evento</a:t>
            </a:r>
          </a:p>
          <a:p>
            <a:pPr/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ctx.stub.setEvent('Mint', Buffer.from(JSON.stringify(</a:t>
            </a:r>
          </a:p>
          <a:p>
            <a:pPr/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    { minter: minterID, amount: parseInt(amount) })));</a:t>
            </a:r>
          </a:p>
          <a:p>
            <a:pPr/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}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843EAB80-456E-37DB-93DD-C908C846863C}"/>
              </a:ext>
            </a:extLst>
          </p:cNvPr>
          <p:cNvSpPr/>
          <p:nvPr/>
        </p:nvSpPr>
        <p:spPr>
          <a:xfrm>
            <a:off x="5953635" y="1417320"/>
            <a:ext cx="45719" cy="51206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22627E"/>
                </a:solidFill>
                <a:latin typeface="Calibri"/>
              </a:defRPr>
            </a:pPr>
            <a:r>
              <a:t>Token fungible: Transfer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Verificar saldo, restar y sumar atomicamente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15600" y="320040"/>
            <a:ext cx="1188720" cy="365760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0" y="320040"/>
            <a:ext cx="1188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NODE.JS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11247120" cy="51206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600200"/>
            <a:ext cx="5536023" cy="4754880"/>
          </a:xfrm>
          <a:prstGeom prst="rect">
            <a:avLst/>
          </a:prstGeom>
          <a:noFill/>
        </p:spPr>
        <p:txBody>
          <a:bodyPr wrap="square"/>
          <a:lstStyle/>
          <a:p>
            <a:pPr/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async Transfer(ctx, to, amount) {</a:t>
            </a:r>
          </a:p>
          <a:p>
            <a:pPr/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    amount = parseInt(amount);</a:t>
            </a:r>
          </a:p>
          <a:p>
            <a:pPr/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    if (amount &lt;= 0) {</a:t>
            </a:r>
          </a:p>
          <a:p>
            <a:pPr/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        throw new Error('amount debe ser positivo');</a:t>
            </a:r>
          </a:p>
          <a:p>
            <a:pPr/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    }</a:t>
            </a:r>
          </a:p>
          <a:p>
            <a:pPr/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/>
            </a:r>
          </a:p>
          <a:p>
            <a:pPr/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    const fromID = ctx.clientIdentity.getID();</a:t>
            </a:r>
          </a:p>
          <a:p>
            <a:pPr/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    if (fromID === to) {</a:t>
            </a:r>
          </a:p>
          <a:p>
            <a:pPr/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        throw new Error('no puedes transferirte a ti mismo');</a:t>
            </a:r>
          </a:p>
          <a:p>
            <a:pPr/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    }</a:t>
            </a:r>
          </a:p>
          <a:p>
            <a:pPr/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/>
            </a:r>
          </a:p>
          <a:p>
            <a:pPr/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    // Verificar saldo</a:t>
            </a:r>
          </a:p>
          <a:p>
            <a:pPr/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    const fromBalance = await getBalance(ctx, fromID);</a:t>
            </a:r>
          </a:p>
          <a:p>
            <a:pPr/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    if (fromBalance &lt; amount) {</a:t>
            </a:r>
          </a:p>
          <a:p>
            <a:pPr/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        throw new Error(</a:t>
            </a:r>
          </a:p>
          <a:p>
            <a:pPr/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            `saldo insuficiente: tiene ${fromBalance}, ` +</a:t>
            </a:r>
          </a:p>
          <a:p>
            <a:pPr/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            `necesita ${amount}`);</a:t>
            </a:r>
          </a:p>
          <a:p>
            <a:pPr/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    }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5D63C7A6-AC8A-A07A-A013-408910CEBE87}"/>
              </a:ext>
            </a:extLst>
          </p:cNvPr>
          <p:cNvSpPr txBox="1"/>
          <p:nvPr/>
        </p:nvSpPr>
        <p:spPr>
          <a:xfrm>
            <a:off x="6267543" y="1252728"/>
            <a:ext cx="6138746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// Actualizar balances</a:t>
            </a:r>
          </a:p>
          <a:p>
            <a:pPr/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const toBalance = await getBalance(ctx, to);</a:t>
            </a:r>
          </a:p>
          <a:p>
            <a:pPr/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await ctx.stub.putState(balanceKey(fromID),</a:t>
            </a:r>
          </a:p>
          <a:p>
            <a:pPr/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    Buffer.from((fromBalance - amount).toString()));</a:t>
            </a:r>
          </a:p>
          <a:p>
            <a:pPr/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await ctx.stub.putState(balanceKey(to),</a:t>
            </a:r>
          </a:p>
          <a:p>
            <a:pPr/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    Buffer.from((toBalance + amount).toString()));</a:t>
            </a:r>
          </a:p>
          <a:p>
            <a:pPr/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/>
            </a:r>
          </a:p>
          <a:p>
            <a:pPr/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// Evento</a:t>
            </a:r>
          </a:p>
          <a:p>
            <a:pPr/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ctx.stub.setEvent('Transfer', Buffer.from(JSON.stringify({</a:t>
            </a:r>
          </a:p>
          <a:p>
            <a:pPr/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    from: fromID, to, amount</a:t>
            </a:r>
          </a:p>
          <a:p>
            <a:pPr/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})));</a:t>
            </a:r>
          </a:p>
          <a:p>
            <a:pPr/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}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15A710AB-3478-9E7B-3851-8A80F7013D2D}"/>
              </a:ext>
            </a:extLst>
          </p:cNvPr>
          <p:cNvSpPr/>
          <p:nvPr/>
        </p:nvSpPr>
        <p:spPr>
          <a:xfrm>
            <a:off x="6094412" y="1417320"/>
            <a:ext cx="45719" cy="51663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22627E"/>
                </a:solidFill>
                <a:latin typeface="Calibri"/>
              </a:defRPr>
            </a:pPr>
            <a:r>
              <a:t>Token fungible en Node.js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Misma logica en JavaScript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15600" y="320040"/>
            <a:ext cx="1188720" cy="365760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0" y="320040"/>
            <a:ext cx="1188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NODE.JS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11247120" cy="51206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600200"/>
            <a:ext cx="5936909" cy="4754880"/>
          </a:xfrm>
          <a:prstGeom prst="rect">
            <a:avLst/>
          </a:prstGeom>
          <a:noFill/>
        </p:spPr>
        <p:txBody>
          <a:bodyPr wrap="square"/>
          <a:lstStyle/>
          <a:p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async Transfer(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ctx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, to, amount) {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amount =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parseInt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(amount);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if (amount &lt;= 0) throw new Error('Amount must be positive');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const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fromID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=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ctx.clientIdentity.getID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();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if (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fromID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=== to) throw new Error('Cannot transfer to yourself');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// Read balances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const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fromBalance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= await this._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getBalance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(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ctx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,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fromID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);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if (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fromBalance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&lt; amount) {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    throw new Error(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        `Insufficient balance: has ${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fromBalance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}, needs ${amount}`);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}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const 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toBalance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= await this._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getBalance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(</a:t>
            </a:r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ctx</a:t>
            </a:r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, to);</a:t>
            </a:r>
            <a:br>
              <a:rPr sz="1600" dirty="0">
                <a:solidFill>
                  <a:schemeClr val="bg1">
                    <a:lumMod val="95000"/>
                  </a:schemeClr>
                </a:solidFill>
              </a:rPr>
            </a:br>
            <a:endParaRPr sz="16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782AEF9D-4593-D93B-7A41-5025584B47F6}"/>
              </a:ext>
            </a:extLst>
          </p:cNvPr>
          <p:cNvSpPr txBox="1"/>
          <p:nvPr/>
        </p:nvSpPr>
        <p:spPr>
          <a:xfrm>
            <a:off x="6668429" y="1600200"/>
            <a:ext cx="5120625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s-ES"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//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Update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balances</a:t>
            </a:r>
            <a:br>
              <a:rPr lang="es-ES"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await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ctx.stub.putState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(</a:t>
            </a:r>
            <a:br>
              <a:rPr lang="es-ES"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   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this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._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balanceKey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(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fromID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),</a:t>
            </a:r>
            <a:br>
              <a:rPr lang="es-ES"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   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Buffer.from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((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fromBalance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-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amount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).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toString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()));</a:t>
            </a:r>
            <a:br>
              <a:rPr lang="es-ES"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await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ctx.stub.putState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(</a:t>
            </a:r>
            <a:br>
              <a:rPr lang="es-ES"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   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this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._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balanceKey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(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to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),</a:t>
            </a:r>
            <a:br>
              <a:rPr lang="es-ES"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   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Buffer.from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((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toBalance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+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amount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).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toString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()));</a:t>
            </a:r>
            <a:br>
              <a:rPr lang="es-ES" sz="1600" dirty="0">
                <a:solidFill>
                  <a:schemeClr val="bg1">
                    <a:lumMod val="95000"/>
                  </a:schemeClr>
                </a:solidFill>
              </a:rPr>
            </a:br>
            <a:br>
              <a:rPr lang="es-ES"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//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Emit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event</a:t>
            </a:r>
            <a:br>
              <a:rPr lang="es-ES"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ctx.stub.setEvent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('Transfer',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Buffer.from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(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JSON.stringify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({</a:t>
            </a:r>
            <a:br>
              <a:rPr lang="es-ES"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   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from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: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fromID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,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to</a:t>
            </a: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, </a:t>
            </a:r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amount</a:t>
            </a:r>
            <a:br>
              <a:rPr lang="es-ES"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})));</a:t>
            </a:r>
            <a:br>
              <a:rPr lang="es-ES" sz="16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}</a:t>
            </a:r>
            <a:endParaRPr lang="es-ES" sz="1600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5DC11265-3517-FC02-59FC-2CCF1389F8BA}"/>
              </a:ext>
            </a:extLst>
          </p:cNvPr>
          <p:cNvSpPr/>
          <p:nvPr/>
        </p:nvSpPr>
        <p:spPr>
          <a:xfrm>
            <a:off x="6622711" y="1417320"/>
            <a:ext cx="45719" cy="51206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800" b="1">
                <a:solidFill>
                  <a:srgbClr val="FFFFFF"/>
                </a:solidFill>
                <a:latin typeface="Calibri"/>
              </a:defRPr>
            </a:pPr>
            <a:r>
              <a:t>Tokens No Fungibles en Fabric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0">
                <a:solidFill>
                  <a:srgbClr val="FFFFFF"/>
                </a:solidFill>
                <a:latin typeface="Calibri"/>
              </a:defRPr>
            </a:pPr>
            <a:r>
              <a:t>Activos unicos con composite keys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Token no fungible: diseno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Cada token es un activo unico con su propia identidad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No se divide ni se suma: se transfiere entero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En Fabric se implementa con composite keys: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Key: nft~owner~tokenID (permite buscar por owner)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Key: nft~tokenID (permite buscar por ID directo)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Cada token tiene metadata unica (JSON)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Funciones tipicas: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MintNFT(tokenID, metadata) - crear un NFT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TransferNFT(tokenID, newOwner) - transferir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GetNFT(tokenID) - leer metadata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GetNFTsByOwner(owner) - listar NFTs de un propietario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Diferencia con ERC-721: en Fabric la identidad es un cert X.509, no una direccion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22627E"/>
                </a:solidFill>
                <a:latin typeface="Calibri"/>
              </a:defRPr>
            </a:pPr>
            <a:r>
              <a:t>NFT en Fabric: Mint y Transfer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15600" y="320040"/>
            <a:ext cx="1188720" cy="365760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15600" y="320040"/>
            <a:ext cx="1188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NODE.JS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11247120" cy="51206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5200929" cy="4754880"/>
          </a:xfrm>
          <a:prstGeom prst="rect">
            <a:avLst/>
          </a:prstGeom>
          <a:noFill/>
        </p:spPr>
        <p:txBody>
          <a:bodyPr wrap="square"/>
          <a:lstStyle/>
          <a:p>
            <a:pPr/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// NFT en JSON (no hay struct en JS)</a:t>
            </a:r>
          </a:p>
          <a:p>
            <a:pPr/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/**</a:t>
            </a:r>
          </a:p>
          <a:p>
            <a:pPr/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* @typedef {Object} NFT</a:t>
            </a:r>
          </a:p>
          <a:p>
            <a:pPr/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* @property {string} docType</a:t>
            </a:r>
          </a:p>
          <a:p>
            <a:pPr/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* @property {string} tokenID</a:t>
            </a:r>
          </a:p>
          <a:p>
            <a:pPr/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* @property {string} owner</a:t>
            </a:r>
          </a:p>
          <a:p>
            <a:pPr/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* @property {Object.&lt;string,string&gt;} metadata</a:t>
            </a:r>
          </a:p>
          <a:p>
            <a:pPr/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* @property {string} createdAt</a:t>
            </a:r>
          </a:p>
          <a:p>
            <a:pPr/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*/</a:t>
            </a:r>
          </a:p>
          <a:p>
            <a:pPr/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/>
            </a:r>
          </a:p>
          <a:p>
            <a:pPr/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async MintNFT(ctx, tokenID, metadataJSON) {</a:t>
            </a:r>
          </a:p>
          <a:p>
            <a:pPr/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// Verificar que no existe</a:t>
            </a:r>
          </a:p>
          <a:p>
            <a:pPr/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const existing = await ctx.stub.getState('nft_' + tokenID);</a:t>
            </a:r>
          </a:p>
          <a:p>
            <a:pPr/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if (existing &amp;&amp; existing.length &gt; 0) {</a:t>
            </a:r>
          </a:p>
          <a:p>
            <a:pPr/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    throw new Error(`NFT ${tokenID} ya existe`);</a:t>
            </a:r>
          </a:p>
          <a:p>
            <a:pPr/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}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0220001C-F923-39F5-373F-2A4A92BEDF53}"/>
              </a:ext>
            </a:extLst>
          </p:cNvPr>
          <p:cNvSpPr txBox="1"/>
          <p:nvPr/>
        </p:nvSpPr>
        <p:spPr>
          <a:xfrm>
            <a:off x="5932449" y="1417320"/>
            <a:ext cx="6138746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const ownerID = ctx.clientIdentity.getID();</a:t>
            </a:r>
          </a:p>
          <a:p>
            <a:pPr/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const metadata = JSON.parse(metadataJSON);</a:t>
            </a:r>
          </a:p>
          <a:p>
            <a:pPr/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/>
            </a:r>
          </a:p>
          <a:p>
            <a:pPr/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const nft = {</a:t>
            </a:r>
          </a:p>
          <a:p>
            <a:pPr/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    docType: 'nft',</a:t>
            </a:r>
          </a:p>
          <a:p>
            <a:pPr/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    tokenID,</a:t>
            </a:r>
          </a:p>
          <a:p>
            <a:pPr/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    owner: ownerID,</a:t>
            </a:r>
          </a:p>
          <a:p>
            <a:pPr/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    metadata</a:t>
            </a:r>
          </a:p>
          <a:p>
            <a:pPr/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};</a:t>
            </a:r>
          </a:p>
          <a:p>
            <a:pPr/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/>
            </a:r>
          </a:p>
          <a:p>
            <a:pPr/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// Guardar por tokenID y crear indice por owner</a:t>
            </a:r>
          </a:p>
          <a:p>
            <a:pPr/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await ctx.stub.putState('nft_' + tokenID,</a:t>
            </a:r>
          </a:p>
          <a:p>
            <a:pPr/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    Buffer.from(JSON.stringify(nft)));</a:t>
            </a:r>
          </a:p>
          <a:p>
            <a:pPr/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const ownerKey = ctx.stub.createCompositeKey(</a:t>
            </a:r>
          </a:p>
          <a:p>
            <a:pPr/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    'nftOwner', [ownerID, tokenID]);</a:t>
            </a:r>
          </a:p>
          <a:p>
            <a:pPr/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await ctx.stub.putState(ownerKey, Buffer.from([0x00]));</a:t>
            </a:r>
          </a:p>
          <a:p>
            <a:pPr/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}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CC99923C-36F4-08AA-12A7-5079A216CEF5}"/>
              </a:ext>
            </a:extLst>
          </p:cNvPr>
          <p:cNvSpPr/>
          <p:nvPr/>
        </p:nvSpPr>
        <p:spPr>
          <a:xfrm>
            <a:off x="5586761" y="1234440"/>
            <a:ext cx="45719" cy="51206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800" b="1">
                <a:solidFill>
                  <a:srgbClr val="FFFFFF"/>
                </a:solidFill>
                <a:latin typeface="Calibri"/>
              </a:defRPr>
            </a:pPr>
            <a:r>
              <a:t>Caso practico:</a:t>
            </a:r>
            <a:br/>
            <a:r>
              <a:t>Trazabilidad Alimentaria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400" b="0">
                <a:solidFill>
                  <a:srgbClr val="FFFFFF"/>
                </a:solidFill>
                <a:latin typeface="Calibri"/>
              </a:defRPr>
            </a:pPr>
            <a:r>
              <a:t>De la granja a la mesa con tokens en Fabric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Trazabilidad alimentaria: el problema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Un producto alimentario pasa por multiples etapas y actores: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Productor (granja) -&gt; Procesador -&gt; Distribuidor -&gt; Minorista -&gt; Consumidor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Cada actor es una organizacion distinta en la red Fabric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Problemas actuales: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Falta de visibilidad: ¿de donde viene este producto?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Lentitud en recalls: semanas para rastrear un lote contaminado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Fraude: etiquetas falsas de origen o de organico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Falta de confianza entre actores de la cadena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Blockchain Fabric resuelve: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Registro inmutable de cada movimiento del lote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Trazabilidad instantanea (caso Walmart: 7 dias -&gt; 2.2 segundos)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Cada organizacion mantiene su peer y valida las transacciones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Private Data para informacion comercial sensible (precios, margenes)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Diagrama: Red Fabric para trazabilidad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991A9080-8888-19F5-EB80-595D2FA8AE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8347" y="1710949"/>
            <a:ext cx="6612132" cy="441740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Modelo de datos: FoodLot (lote alimentario)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Cada lote de producto es un token no fungible con trazabilidad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Campos del lote: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lotID: identificador unico del lote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productType: tipo de producto (mango, lechuga, pollo...)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origin: pais/region de origen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currentHolder: organizacion que posee el lote actualmente (MSPID)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status: produced | processed | in_transit | delivered | recalled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temperature: ultima temperatura registrada (cold chain)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timestamps: fecha de cada transicion de estado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history: array de {org, action, timestamp} para trazabilidad completa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Key design: lot~productType~origin~lotID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Permite buscar: todos los lotes de un tipo, de un origen, o un lote especifico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22627E"/>
                </a:solidFill>
                <a:latin typeface="Calibri"/>
              </a:defRPr>
            </a:pPr>
            <a:r>
              <a:t>FoodLot: estructura y creacion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0515600" y="320040"/>
            <a:ext cx="1188720" cy="365760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515600" y="320040"/>
            <a:ext cx="1188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NODE.JS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11247120" cy="51206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5580070" cy="4754880"/>
          </a:xfrm>
          <a:prstGeom prst="rect">
            <a:avLst/>
          </a:prstGeom>
          <a:noFill/>
        </p:spPr>
        <p:txBody>
          <a:bodyPr wrap="square"/>
          <a:lstStyle/>
          <a:p>
            <a:pPr/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// FoodLot: objeto JSON (no hay struct en JS)</a:t>
            </a:r>
          </a:p>
          <a:p>
            <a:pPr/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/**</a:t>
            </a:r>
          </a:p>
          <a:p>
            <a:pPr/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* @typedef {Object} FoodLot</a:t>
            </a:r>
          </a:p>
          <a:p>
            <a:pPr/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* @property {string} docType</a:t>
            </a:r>
          </a:p>
          <a:p>
            <a:pPr/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* @property {string} lotID</a:t>
            </a:r>
          </a:p>
          <a:p>
            <a:pPr/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* @property {string} productType</a:t>
            </a:r>
          </a:p>
          <a:p>
            <a:pPr/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* @property {string} origin</a:t>
            </a:r>
          </a:p>
          <a:p>
            <a:pPr/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* @property {string} currentHolder</a:t>
            </a:r>
          </a:p>
          <a:p>
            <a:pPr/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* @property {string} status</a:t>
            </a:r>
          </a:p>
          <a:p>
            <a:pPr/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* @property {number} temperature</a:t>
            </a:r>
          </a:p>
          <a:p>
            <a:pPr/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* @property {number} weight</a:t>
            </a:r>
          </a:p>
          <a:p>
            <a:pPr/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* @property {HistEntry[]} history</a:t>
            </a:r>
          </a:p>
          <a:p>
            <a:pPr/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*/</a:t>
            </a:r>
          </a:p>
          <a:p>
            <a:pPr/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/>
            </a:r>
          </a:p>
          <a:p>
            <a:pPr/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/**</a:t>
            </a:r>
          </a:p>
          <a:p>
            <a:pPr/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* @typedef {Object} HistEntry</a:t>
            </a:r>
          </a:p>
          <a:p>
            <a:pPr/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* @property {string} org</a:t>
            </a:r>
          </a:p>
          <a:p>
            <a:pPr/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* @property {string} action</a:t>
            </a:r>
          </a:p>
          <a:p>
            <a:pPr/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* @property {string} timestamp</a:t>
            </a:r>
          </a:p>
          <a:p>
            <a:pPr/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* @property {string} location</a:t>
            </a:r>
          </a:p>
          <a:p>
            <a:pPr/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*/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69D52A57-F43F-3F89-CDD7-91FB6F6C6452}"/>
              </a:ext>
            </a:extLst>
          </p:cNvPr>
          <p:cNvSpPr txBox="1"/>
          <p:nvPr/>
        </p:nvSpPr>
        <p:spPr>
          <a:xfrm>
            <a:off x="5592879" y="1169389"/>
            <a:ext cx="6138746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async ProduceLot(ctx, lotID, productType, origin, weight) {</a:t>
            </a:r>
          </a:p>
          <a:p>
            <a:pPr/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    const producerMSP = ctx.clientIdentity.getMSPID();</a:t>
            </a:r>
          </a:p>
          <a:p>
            <a:pPr/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/>
            </a:r>
          </a:p>
          <a:p>
            <a:pPr/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    const lot = {</a:t>
            </a:r>
          </a:p>
          <a:p>
            <a:pPr/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        docType: 'foodlot',</a:t>
            </a:r>
          </a:p>
          <a:p>
            <a:pPr/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        lotID,</a:t>
            </a:r>
          </a:p>
          <a:p>
            <a:pPr/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        productType,</a:t>
            </a:r>
          </a:p>
          <a:p>
            <a:pPr/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        origin,</a:t>
            </a:r>
          </a:p>
          <a:p>
            <a:pPr/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        currentHolder: producerMSP,</a:t>
            </a:r>
          </a:p>
          <a:p>
            <a:pPr/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        status: 'produced',</a:t>
            </a:r>
          </a:p>
          <a:p>
            <a:pPr/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        weight: parseFloat(weight),</a:t>
            </a:r>
          </a:p>
          <a:p>
            <a:pPr/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        history: [{</a:t>
            </a:r>
          </a:p>
          <a:p>
            <a:pPr/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            org: producerMSP,</a:t>
            </a:r>
          </a:p>
          <a:p>
            <a:pPr/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            action: 'produced',</a:t>
            </a:r>
          </a:p>
          <a:p>
            <a:pPr/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            timestamp: new Date().toISOString()</a:t>
            </a:r>
          </a:p>
          <a:p>
            <a:pPr/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        }]</a:t>
            </a:r>
          </a:p>
          <a:p>
            <a:pPr/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    };</a:t>
            </a:r>
          </a:p>
          <a:p>
            <a:pPr/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/>
            </a:r>
          </a:p>
          <a:p>
            <a:pPr/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    await ctx.stub.putState('lot_' + lotID,</a:t>
            </a:r>
          </a:p>
          <a:p>
            <a:pPr/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        Buffer.from(JSON.stringify(lot)));</a:t>
            </a:r>
          </a:p>
          <a:p>
            <a:pPr/>
            <a:r>
              <a:rPr lang="es-ES" sz="1600" dirty="0" err="1">
                <a:solidFill>
                  <a:schemeClr val="bg1">
                    <a:lumMod val="95000"/>
                  </a:schemeClr>
                </a:solidFill>
              </a:rPr>
              <a:t>}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8BE9C19F-E97E-CE81-716B-7EED8FB52D18}"/>
              </a:ext>
            </a:extLst>
          </p:cNvPr>
          <p:cNvSpPr/>
          <p:nvPr/>
        </p:nvSpPr>
        <p:spPr>
          <a:xfrm>
            <a:off x="5252224" y="1234440"/>
            <a:ext cx="45719" cy="51206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22627E"/>
                </a:solidFill>
                <a:latin typeface="Calibri"/>
              </a:defRPr>
            </a:pPr>
            <a:r>
              <a:t>FoodLot: transferencia entre actores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Registrar cada movimiento con temperatura y ubicacion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15600" y="320040"/>
            <a:ext cx="1188720" cy="365760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0" y="320040"/>
            <a:ext cx="1188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NODE.JS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11247120" cy="51206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221059"/>
            <a:ext cx="5914607" cy="4754880"/>
          </a:xfrm>
          <a:prstGeom prst="rect">
            <a:avLst/>
          </a:prstGeom>
          <a:noFill/>
        </p:spPr>
        <p:txBody>
          <a:bodyPr wrap="square"/>
          <a:lstStyle/>
          <a:p>
            <a:pPr/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async TransferLot(ctx, lotID, newHolder, location, temp) {</a:t>
            </a:r>
          </a:p>
          <a:p>
            <a:pPr/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    const lot = await this.ReadLot(ctx, lotID);</a:t>
            </a:r>
          </a:p>
          <a:p>
            <a:pPr/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/>
            </a:r>
          </a:p>
          <a:p>
            <a:pPr/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    // Solo el holder actual puede transferir</a:t>
            </a:r>
          </a:p>
          <a:p>
            <a:pPr/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    const callerMSP = ctx.clientIdentity.getMSPID();</a:t>
            </a:r>
          </a:p>
          <a:p>
            <a:pPr/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    if (lot.currentHolder !== callerMSP) {</a:t>
            </a:r>
          </a:p>
          <a:p>
            <a:pPr/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        throw new Error(</a:t>
            </a:r>
          </a:p>
          <a:p>
            <a:pPr/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            `solo ${lot.currentHolder} puede transferir este lote`);</a:t>
            </a:r>
          </a:p>
          <a:p>
            <a:pPr/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    }</a:t>
            </a:r>
          </a:p>
          <a:p>
            <a:pPr/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/>
            </a:r>
          </a:p>
          <a:p>
            <a:pPr/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    // Validar cold chain: alerta si temperatura fuera de rango</a:t>
            </a:r>
          </a:p>
          <a:p>
            <a:pPr/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    const tempF = parseFloat(temp);</a:t>
            </a:r>
          </a:p>
          <a:p>
            <a:pPr/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    if (tempF &gt; 8.0) {</a:t>
            </a:r>
          </a:p>
          <a:p>
            <a:pPr/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        lot.status = 'temp_alert';</a:t>
            </a:r>
          </a:p>
          <a:p>
            <a:pPr/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        // No se bloquea, pero se registra la alerta</a:t>
            </a:r>
          </a:p>
          <a:p>
            <a:pPr/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    } else {</a:t>
            </a:r>
          </a:p>
          <a:p>
            <a:pPr/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        lot.status = 'in_transit';</a:t>
            </a:r>
          </a:p>
          <a:p>
            <a:pPr/>
            <a:r>
              <a:rPr sz="1600" dirty="0" err="1">
                <a:solidFill>
                  <a:schemeClr val="bg1">
                    <a:lumMod val="95000"/>
                  </a:schemeClr>
                </a:solidFill>
              </a:rPr>
              <a:t>    }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729D7F65-85C6-3F5C-64F6-63F7AE00717A}"/>
              </a:ext>
            </a:extLst>
          </p:cNvPr>
          <p:cNvSpPr txBox="1"/>
          <p:nvPr/>
        </p:nvSpPr>
        <p:spPr>
          <a:xfrm>
            <a:off x="6723349" y="1459452"/>
            <a:ext cx="4903749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// Actualizar holder y registrar en historial</a:t>
            </a:r>
          </a:p>
          <a:p>
            <a:pPr/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lot.currentHolder = newHolder;</a:t>
            </a:r>
          </a:p>
          <a:p>
            <a:pPr/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lot.temperature = tempF;</a:t>
            </a:r>
          </a:p>
          <a:p>
            <a:pPr/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lot.history.push({</a:t>
            </a:r>
          </a:p>
          <a:p>
            <a:pPr/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    org: callerMSP,</a:t>
            </a:r>
          </a:p>
          <a:p>
            <a:pPr/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    action: 'transferred_to_' + newHolder,</a:t>
            </a:r>
          </a:p>
          <a:p>
            <a:pPr/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    timestamp: new Date().toISOString(),</a:t>
            </a:r>
          </a:p>
          <a:p>
            <a:pPr/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    location</a:t>
            </a:r>
          </a:p>
          <a:p>
            <a:pPr/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});</a:t>
            </a:r>
          </a:p>
          <a:p>
            <a:pPr/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/>
            </a:r>
          </a:p>
          <a:p>
            <a:pPr/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ctx.stub.setEvent('LotTransferred',</a:t>
            </a:r>
          </a:p>
          <a:p>
            <a:pPr/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    Buffer.from(JSON.stringify({ lotID, to: newHolder })));</a:t>
            </a:r>
          </a:p>
          <a:p>
            <a:pPr/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/>
            </a:r>
          </a:p>
          <a:p>
            <a:pPr/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await ctx.stub.putState('lot_' + lotID,</a:t>
            </a:r>
          </a:p>
          <a:p>
            <a:pPr/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    Buffer.from(JSON.stringify(lot)));</a:t>
            </a:r>
          </a:p>
          <a:p>
            <a:pPr/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}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9A7412B9-A7E6-0790-00CA-B791143A8F6C}"/>
              </a:ext>
            </a:extLst>
          </p:cNvPr>
          <p:cNvSpPr/>
          <p:nvPr/>
        </p:nvSpPr>
        <p:spPr>
          <a:xfrm>
            <a:off x="6612670" y="1459452"/>
            <a:ext cx="55756" cy="507850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22627E"/>
                </a:solidFill>
                <a:latin typeface="Calibri"/>
              </a:defRPr>
            </a:pPr>
            <a:r>
              <a:t>FoodLot: trazabilidad completa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91440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Historial completo y recall por el regulador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15600" y="320040"/>
            <a:ext cx="1188720" cy="365760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0" y="320040"/>
            <a:ext cx="11887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NODE.JS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11247120" cy="512064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86554" y="1410630"/>
            <a:ext cx="6126480" cy="4754880"/>
          </a:xfrm>
          <a:prstGeom prst="rect">
            <a:avLst/>
          </a:prstGeom>
          <a:noFill/>
        </p:spPr>
        <p:txBody>
          <a:bodyPr wrap="square"/>
          <a:lstStyle/>
          <a:p>
            <a:pPr/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// Consultar la trazabilidad completa de un lote</a:t>
            </a:r>
          </a:p>
          <a:p>
            <a:pPr/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async GetLotHistory(ctx, lotID) {</a:t>
            </a:r>
          </a:p>
          <a:p>
            <a:pPr/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const lot = await this.ReadLot(ctx, lotID);</a:t>
            </a:r>
          </a:p>
          <a:p>
            <a:pPr/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return lot.history;</a:t>
            </a:r>
          </a:p>
          <a:p>
            <a:pPr/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}</a:t>
            </a:r>
          </a:p>
          <a:p>
            <a:pPr/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/>
            </a:r>
          </a:p>
          <a:p>
            <a:pPr/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// Recall: retirar un lote del mercado</a:t>
            </a:r>
          </a:p>
          <a:p>
            <a:pPr/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async RecallLot(ctx, lotID, reason) {</a:t>
            </a:r>
          </a:p>
          <a:p>
            <a:pPr/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// Solo el regulador puede hacer recall</a:t>
            </a:r>
          </a:p>
          <a:p>
            <a:pPr/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const ok = ctx.clientIdentity</a:t>
            </a:r>
          </a:p>
          <a:p>
            <a:pPr/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    .assertAttributeValue('role', 'regulador');</a:t>
            </a:r>
          </a:p>
          <a:p>
            <a:pPr/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if (!ok) {</a:t>
            </a:r>
          </a:p>
          <a:p>
            <a:pPr/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    throw new Error(</a:t>
            </a:r>
          </a:p>
          <a:p>
            <a:pPr/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        'solo el regulador puede retirar lotes');</a:t>
            </a:r>
          </a:p>
          <a:p>
            <a:pPr/>
            <a:r>
              <a:rPr sz="1600" dirty="0">
                <a:solidFill>
                  <a:schemeClr val="bg1">
                    <a:lumMod val="95000"/>
                  </a:schemeClr>
                </a:solidFill>
              </a:rPr>
              <a:t>    }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1C695200-3F45-CBF6-CD5A-CB2F1544A052}"/>
              </a:ext>
            </a:extLst>
          </p:cNvPr>
          <p:cNvSpPr txBox="1"/>
          <p:nvPr/>
        </p:nvSpPr>
        <p:spPr>
          <a:xfrm>
            <a:off x="6955013" y="2059826"/>
            <a:ext cx="4668443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const lot = await this.ReadLot(ctx, lotID);</a:t>
            </a:r>
          </a:p>
          <a:p>
            <a:pPr/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/>
            </a:r>
          </a:p>
          <a:p>
            <a:pPr/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lot.status = 'recalled';</a:t>
            </a:r>
          </a:p>
          <a:p>
            <a:pPr/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lot.history.push({</a:t>
            </a:r>
          </a:p>
          <a:p>
            <a:pPr/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    org: 'Regulador',</a:t>
            </a:r>
          </a:p>
          <a:p>
            <a:pPr/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    action: 'recalled: ' + reason,</a:t>
            </a:r>
          </a:p>
          <a:p>
            <a:pPr/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    timestamp: new Date().toISOString()</a:t>
            </a:r>
          </a:p>
          <a:p>
            <a:pPr/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});</a:t>
            </a:r>
          </a:p>
          <a:p>
            <a:pPr/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/>
            </a:r>
          </a:p>
          <a:p>
            <a:pPr/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ctx.stub.setEvent('LotRecalled',</a:t>
            </a:r>
          </a:p>
          <a:p>
            <a:pPr/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    Buffer.from(JSON.stringify({ lotID, reason })));</a:t>
            </a:r>
          </a:p>
          <a:p>
            <a:pPr/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/>
            </a:r>
          </a:p>
          <a:p>
            <a:pPr/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await ctx.stub.putState('lot_' + lotID,</a:t>
            </a:r>
          </a:p>
          <a:p>
            <a:pPr/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        Buffer.from(JSON.stringify(lot)));</a:t>
            </a:r>
          </a:p>
          <a:p>
            <a:pPr/>
            <a:r>
              <a:rPr lang="es-ES" sz="1600" dirty="0">
                <a:solidFill>
                  <a:schemeClr val="bg1">
                    <a:lumMod val="95000"/>
                  </a:schemeClr>
                </a:solidFill>
              </a:rPr>
              <a:t>}</a:t>
            </a: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AA6886F6-6098-EDB3-90A6-068A4DD21B62}"/>
              </a:ext>
            </a:extLst>
          </p:cNvPr>
          <p:cNvSpPr/>
          <p:nvPr/>
        </p:nvSpPr>
        <p:spPr>
          <a:xfrm>
            <a:off x="6813394" y="1417320"/>
            <a:ext cx="45719" cy="51206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D9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2286000" cy="457200"/>
          </a:xfrm>
          <a:prstGeom prst="rect">
            <a:avLst/>
          </a:prstGeom>
          <a:solidFill>
            <a:srgbClr val="0D9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22860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PRACTICA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274320"/>
            <a:ext cx="8686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333333"/>
                </a:solidFill>
                <a:latin typeface="Calibri"/>
              </a:defRPr>
            </a:pPr>
            <a:r>
              <a:t>Token de trazabilidad alimentaria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0D9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Objetivo: implementar el chaincode completo de FoodLot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Organizaciones en la test-network: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- Org1: Productor (granja)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- Org2: Distribuidor/Minorista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Flujo a implementar: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1. Org1 crea un lote (ProduceLot)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2. Org1 transfiere a Org2 (TransferLot) con temperatura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3. Org2 confirma recepcion (UpdateStatus -&gt; delivered)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4. Consultar trazabilidad completa del lote (GetLotHistory)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5. [Bonus] Implementar recall y busqueda por productType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Usar el prompt de IA para generar la base.</a:t>
            </a:r>
          </a:p>
          <a:p>
            <a:pPr>
              <a:spcAft>
                <a:spcPts val="10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Tiempo: 90 minutos.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800" b="1">
                <a:solidFill>
                  <a:srgbClr val="22627E"/>
                </a:solidFill>
                <a:latin typeface="Calibri"/>
              </a:defRPr>
            </a:pPr>
            <a:r>
              <a:t>Prompt IA: Chaincode de trazabilidad alimentaria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2011680" cy="4114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20116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PROMPT IA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011680"/>
            <a:ext cx="11247120" cy="4114800"/>
          </a:xfrm>
          <a:prstGeom prst="rect">
            <a:avLst/>
          </a:prstGeom>
          <a:solidFill>
            <a:srgbClr val="F8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10698480" cy="3749039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700" b="0">
                <a:solidFill>
                  <a:srgbClr val="333333"/>
                </a:solidFill>
                <a:latin typeface="Consolas"/>
              </a:defRPr>
            </a:pPr>
            <a:r>
              <a:t>Genera un chaincode de Hyperledger Fabric en [Go/Node.js]</a:t>
            </a:r>
            <a:br/>
            <a:r>
              <a:t>para trazabilidad alimentaria con estas especificaciones:</a:t>
            </a:r>
            <a:br/>
            <a:br/>
            <a:r>
              <a:t>- Modelo FoodLot: lotID, productType, origin, currentHolder,</a:t>
            </a:r>
            <a:br/>
            <a:r>
              <a:t>  status (produced|processed|in_transit|delivered|recalled),</a:t>
            </a:r>
            <a:br/>
            <a:r>
              <a:t>  temperature, weight, history (array de movimientos)</a:t>
            </a:r>
            <a:br/>
            <a:r>
              <a:t>- Funciones: ProduceLot, TransferLot (con temp y location),</a:t>
            </a:r>
            <a:br/>
            <a:r>
              <a:t>  UpdateStatus, GetLotHistory, RecallLot, QueryByProductType</a:t>
            </a:r>
            <a:br/>
            <a:r>
              <a:t>- Control de acceso: solo currentHolder transfiere,</a:t>
            </a:r>
            <a:br/>
            <a:r>
              <a:t>  solo role=regulador puede hacer recall</a:t>
            </a:r>
            <a:br/>
            <a:r>
              <a:t>- Eventos: LotProduced, LotTransferred, LotRecalled</a:t>
            </a:r>
            <a:br/>
            <a:r>
              <a:t>- Validacion de cold chain: alerta si temp &gt; 8 grados</a:t>
            </a:r>
            <a:br/>
            <a:r>
              <a:t>- Rich query CouchDB: buscar por productType y por status</a:t>
            </a:r>
            <a:br/>
            <a:r>
              <a:t>- Incluir comentarios en espanol. Fabric 2.5.x.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E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274320"/>
            <a:ext cx="1645920" cy="457200"/>
          </a:xfrm>
          <a:prstGeom prst="rect">
            <a:avLst/>
          </a:prstGeom>
          <a:solidFill>
            <a:srgbClr val="E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645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DEBATE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40" y="27432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333333"/>
                </a:solidFill>
                <a:latin typeface="Calibri"/>
              </a:defRPr>
            </a:pPr>
            <a:r>
              <a:t>Trazabilidad en blockchain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E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1. ¿Que pasa si alguien introduce datos falsos en el origen (basura in, basura out)?</a:t>
            </a:r>
          </a:p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2. ¿Como combinar Fabric con IoT (sensores de temperatura) para automatizar registros?</a:t>
            </a:r>
          </a:p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3. El consumidor final no tiene peer ni certificado. ¿Como verificaria el origen de su producto?</a:t>
            </a:r>
          </a:p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4. ¿Que datos deberian ser privados (Private Data) y cuales publicos en este caso?</a:t>
            </a:r>
          </a:p>
          <a:p>
            <a:pPr>
              <a:spcAft>
                <a:spcPts val="1600"/>
              </a:spcAft>
              <a:defRPr sz="2200">
                <a:solidFill>
                  <a:srgbClr val="333333"/>
                </a:solidFill>
                <a:latin typeface="Calibri"/>
              </a:defRPr>
            </a:pPr>
            <a:r>
              <a:t>5. ¿Tiene sentido usar tokens fungibles para representar kilos de producto? ¿O solo NFTs por lote?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Respuestas al debate (1/2)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1. Datos falsos en el origen (garbage in, garbage out):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Blockchain garantiza INTEGRIDAD (no modificable una vez registrado), NO VERACIDAD del dato inicial.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Si el productor miente al registrar, la mentira queda inmutable pero sigue siendo mentira.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Mitigaciones: auditorias fisicas, peritajes, validacion cruzada entre actores.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Sensores IoT reducen el problema: datos automaticos, no manuales.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Responsabilidad legal: el certificado identifica a la persona/empresa que firmo el dato.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2. Integracion con IoT (sensores de temperatura):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Los sensores IoT NO se conectan directamente al chaincode (no tienen cert X.509).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Patron: gateway IoT intermedio con certificado, firma y envia al chaincode.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El gateway valida firmas de los sensores (HMAC, TPM) antes de enviar al ledger.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El chaincode solo ve: 'gateway-X certifica que sensor-Y reporto temp=6.5°C a las 10:30'.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Responsabilidad del gateway: garantizar que no manipula los datos antes de enviarlos.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3. Verificacion por el consumidor final sin peer: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El consumidor NO necesita ser org ni tener certificado — es solo un lector.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Patron habitual: QR en el producto -&gt; web publica del consorcio -&gt; API REST -&gt; chaincode query.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La web usa una identidad de 'lector publico' con permisos de solo consulta.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El consumidor ve el historial pero no puede modificar nada.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Ejemplo real: Carrefour, Walmart — QR en envase con historial completo.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Respuestas al debate (2/2)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4. Datos publicos vs Private Data en trazabilidad: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Publicos (ledger del canal): ID del lote, origen, fechas, movimientos, status.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La trazabilidad NECESITA ser publica entre miembros del consorcio (es su razon de ser).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Privados (Private Data): precios entre actores, margenes, terminos comerciales.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Datos del consumidor final: OFF-CHAIN (solo hash si hace falta) — cumplimiento GDPR.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5. Tokens fungibles vs NFTs para productos alimentarios: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Un lote alimentario es UNICO: cada batch tiene su propia historia, temperatura, origen.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NFT por lote es lo logico: composite key 'lot~productType~origin~id', metadata propia.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Tokens fungibles tendrian sentido solo si tratas todo el producto como identico (granel).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Mixto: NFT para el lote + tokens fungibles para representar kilos extraidos del lote.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t>    Cuando el supermercado 'reparte' un lote en multiples envases, cada envase puede ser fungible.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Repaso del dia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1. ¿Como se implementa un token fungible en Fabric (tipo ERC-20)?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2. ¿Que funciones basicas tiene: Mint, Transfer, BalanceOf...?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3. ¿Como se diferencia un token no fungible de uno fungible en Fabric?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4. ¿Que es una composite key y como ayuda en NFTs?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5. Describe el flujo de trazabilidad de un lote alimentario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6. ¿Quien puede hacer recall y por que?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7. ¿Como se registra el historial de movimientos de un lote?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Respuestas al repaso (1/2)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rPr dirty="0"/>
              <a:t>1. </a:t>
            </a:r>
            <a:r>
              <a:rPr dirty="0" err="1"/>
              <a:t>Implementar</a:t>
            </a:r>
            <a:r>
              <a:rPr dirty="0"/>
              <a:t> un token fungible </a:t>
            </a:r>
            <a:r>
              <a:rPr dirty="0" err="1"/>
              <a:t>en</a:t>
            </a:r>
            <a:r>
              <a:rPr dirty="0"/>
              <a:t> Fabric: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dirty="0"/>
              <a:t>    </a:t>
            </a:r>
            <a:r>
              <a:rPr dirty="0" err="1"/>
              <a:t>Chaincode</a:t>
            </a:r>
            <a:r>
              <a:rPr dirty="0"/>
              <a:t> con un mapping balance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cliente</a:t>
            </a:r>
            <a:r>
              <a:rPr dirty="0"/>
              <a:t> (</a:t>
            </a:r>
            <a:r>
              <a:rPr dirty="0" err="1"/>
              <a:t>clientID</a:t>
            </a:r>
            <a:r>
              <a:rPr dirty="0"/>
              <a:t> -&gt; </a:t>
            </a:r>
            <a:r>
              <a:rPr dirty="0" err="1"/>
              <a:t>cantidad</a:t>
            </a:r>
            <a:r>
              <a:rPr dirty="0"/>
              <a:t>).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dirty="0"/>
              <a:t>    </a:t>
            </a:r>
            <a:r>
              <a:rPr dirty="0" err="1"/>
              <a:t>PutState</a:t>
            </a:r>
            <a:r>
              <a:rPr dirty="0"/>
              <a:t>('balance~' + </a:t>
            </a:r>
            <a:r>
              <a:rPr dirty="0" err="1"/>
              <a:t>clientID</a:t>
            </a:r>
            <a:r>
              <a:rPr dirty="0"/>
              <a:t>, amount) para </a:t>
            </a:r>
            <a:r>
              <a:rPr dirty="0" err="1"/>
              <a:t>cada</a:t>
            </a:r>
            <a:r>
              <a:rPr dirty="0"/>
              <a:t> </a:t>
            </a:r>
            <a:r>
              <a:rPr dirty="0" err="1"/>
              <a:t>propietario</a:t>
            </a:r>
            <a:r>
              <a:rPr dirty="0"/>
              <a:t>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dirty="0"/>
              <a:t>    </a:t>
            </a:r>
            <a:r>
              <a:rPr dirty="0" err="1"/>
              <a:t>Otra</a:t>
            </a:r>
            <a:r>
              <a:rPr dirty="0"/>
              <a:t> </a:t>
            </a:r>
            <a:r>
              <a:rPr dirty="0" err="1"/>
              <a:t>estructura</a:t>
            </a:r>
            <a:r>
              <a:rPr dirty="0"/>
              <a:t> para </a:t>
            </a:r>
            <a:r>
              <a:rPr dirty="0" err="1"/>
              <a:t>totalSupply</a:t>
            </a:r>
            <a:r>
              <a:rPr dirty="0"/>
              <a:t> global y metadata del token.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dirty="0"/>
              <a:t>    Tres </a:t>
            </a:r>
            <a:r>
              <a:rPr dirty="0" err="1"/>
              <a:t>opciones</a:t>
            </a:r>
            <a:r>
              <a:rPr dirty="0"/>
              <a:t>: custom </a:t>
            </a:r>
            <a:r>
              <a:rPr dirty="0" err="1"/>
              <a:t>desde</a:t>
            </a:r>
            <a:r>
              <a:rPr dirty="0"/>
              <a:t> cero, Fabric Token SDK, fabric-samples/token-erc-20.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rPr dirty="0"/>
              <a:t>2. </a:t>
            </a:r>
            <a:r>
              <a:rPr dirty="0" err="1"/>
              <a:t>Funciones</a:t>
            </a:r>
            <a:r>
              <a:rPr dirty="0"/>
              <a:t> </a:t>
            </a:r>
            <a:r>
              <a:rPr dirty="0" err="1"/>
              <a:t>basicas</a:t>
            </a:r>
            <a:r>
              <a:rPr dirty="0"/>
              <a:t> del token fungible: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dirty="0"/>
              <a:t>    Mint(to, amount): </a:t>
            </a:r>
            <a:r>
              <a:rPr dirty="0" err="1"/>
              <a:t>crear</a:t>
            </a:r>
            <a:r>
              <a:rPr dirty="0"/>
              <a:t> tokens (solo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emisor</a:t>
            </a:r>
            <a:r>
              <a:rPr dirty="0"/>
              <a:t> </a:t>
            </a:r>
            <a:r>
              <a:rPr dirty="0" err="1"/>
              <a:t>autorizado</a:t>
            </a:r>
            <a:r>
              <a:rPr dirty="0"/>
              <a:t>).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dirty="0"/>
              <a:t>    Burn(from, amount): </a:t>
            </a:r>
            <a:r>
              <a:rPr dirty="0" err="1"/>
              <a:t>destruir</a:t>
            </a:r>
            <a:r>
              <a:rPr dirty="0"/>
              <a:t> tokens </a:t>
            </a:r>
            <a:r>
              <a:rPr dirty="0" err="1"/>
              <a:t>propios</a:t>
            </a:r>
            <a:r>
              <a:rPr dirty="0"/>
              <a:t> o del </a:t>
            </a:r>
            <a:r>
              <a:rPr dirty="0" err="1"/>
              <a:t>sistema</a:t>
            </a:r>
            <a:r>
              <a:rPr dirty="0"/>
              <a:t>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dirty="0"/>
              <a:t>    Transfer(to, amount): </a:t>
            </a:r>
            <a:r>
              <a:rPr dirty="0" err="1"/>
              <a:t>enviar</a:t>
            </a:r>
            <a:r>
              <a:rPr dirty="0"/>
              <a:t> del caller al </a:t>
            </a:r>
            <a:r>
              <a:rPr dirty="0" err="1"/>
              <a:t>destinatario</a:t>
            </a:r>
            <a:r>
              <a:rPr dirty="0"/>
              <a:t>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dirty="0"/>
              <a:t>    </a:t>
            </a:r>
            <a:r>
              <a:rPr dirty="0" err="1"/>
              <a:t>BalanceOf</a:t>
            </a:r>
            <a:r>
              <a:rPr dirty="0"/>
              <a:t>(account): </a:t>
            </a:r>
            <a:r>
              <a:rPr dirty="0" err="1"/>
              <a:t>consultar</a:t>
            </a:r>
            <a:r>
              <a:rPr dirty="0"/>
              <a:t> </a:t>
            </a:r>
            <a:r>
              <a:rPr dirty="0" err="1"/>
              <a:t>saldo</a:t>
            </a:r>
            <a:r>
              <a:rPr dirty="0"/>
              <a:t>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dirty="0"/>
              <a:t>    Approve(spender, amount) + </a:t>
            </a:r>
            <a:r>
              <a:rPr dirty="0" err="1"/>
              <a:t>TransferFrom</a:t>
            </a:r>
            <a:r>
              <a:rPr dirty="0"/>
              <a:t>: </a:t>
            </a:r>
            <a:r>
              <a:rPr dirty="0" err="1"/>
              <a:t>delegacion</a:t>
            </a:r>
            <a:r>
              <a:rPr dirty="0"/>
              <a:t>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dirty="0"/>
              <a:t>    </a:t>
            </a:r>
            <a:r>
              <a:rPr dirty="0" err="1"/>
              <a:t>TotalSupply</a:t>
            </a:r>
            <a:r>
              <a:rPr dirty="0"/>
              <a:t>(): supply total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circulacion</a:t>
            </a:r>
            <a:r>
              <a:rPr dirty="0"/>
              <a:t>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rPr dirty="0"/>
              <a:t>3. Token fungible vs no fungible </a:t>
            </a:r>
            <a:r>
              <a:rPr dirty="0" err="1"/>
              <a:t>en</a:t>
            </a:r>
            <a:r>
              <a:rPr dirty="0"/>
              <a:t> Fabric: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dirty="0"/>
              <a:t>    Fungible: </a:t>
            </a:r>
            <a:r>
              <a:rPr dirty="0" err="1"/>
              <a:t>cada</a:t>
            </a:r>
            <a:r>
              <a:rPr dirty="0"/>
              <a:t> token es </a:t>
            </a:r>
            <a:r>
              <a:rPr dirty="0" err="1"/>
              <a:t>identico</a:t>
            </a:r>
            <a:r>
              <a:rPr dirty="0"/>
              <a:t> e </a:t>
            </a:r>
            <a:r>
              <a:rPr dirty="0" err="1"/>
              <a:t>intercambiable</a:t>
            </a:r>
            <a:r>
              <a:rPr dirty="0"/>
              <a:t> (1 FP vale </a:t>
            </a:r>
            <a:r>
              <a:rPr dirty="0" err="1"/>
              <a:t>igual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cualquier</a:t>
            </a:r>
            <a:r>
              <a:rPr dirty="0"/>
              <a:t> </a:t>
            </a:r>
            <a:r>
              <a:rPr dirty="0" err="1"/>
              <a:t>otro</a:t>
            </a:r>
            <a:r>
              <a:rPr dirty="0"/>
              <a:t> 1 FP).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dirty="0"/>
              <a:t>    No fungible: </a:t>
            </a:r>
            <a:r>
              <a:rPr dirty="0" err="1"/>
              <a:t>cada</a:t>
            </a:r>
            <a:r>
              <a:rPr dirty="0"/>
              <a:t> token </a:t>
            </a:r>
            <a:r>
              <a:rPr dirty="0" err="1"/>
              <a:t>tiene</a:t>
            </a:r>
            <a:r>
              <a:rPr dirty="0"/>
              <a:t> </a:t>
            </a:r>
            <a:r>
              <a:rPr dirty="0" err="1"/>
              <a:t>identidad</a:t>
            </a:r>
            <a:r>
              <a:rPr dirty="0"/>
              <a:t> unica (</a:t>
            </a:r>
            <a:r>
              <a:rPr dirty="0" err="1"/>
              <a:t>tokenID</a:t>
            </a:r>
            <a:r>
              <a:rPr dirty="0"/>
              <a:t>, metadata </a:t>
            </a:r>
            <a:r>
              <a:rPr dirty="0" err="1"/>
              <a:t>propia</a:t>
            </a:r>
            <a:r>
              <a:rPr dirty="0"/>
              <a:t>).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dirty="0"/>
              <a:t>    Fungible: balance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cuenta</a:t>
            </a:r>
            <a:r>
              <a:rPr dirty="0"/>
              <a:t>. NFT: </a:t>
            </a:r>
            <a:r>
              <a:rPr dirty="0" err="1"/>
              <a:t>registro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tokenID</a:t>
            </a:r>
            <a:r>
              <a:rPr dirty="0"/>
              <a:t> con metadata.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dirty="0"/>
              <a:t>    NFT: composite key '</a:t>
            </a:r>
            <a:r>
              <a:rPr dirty="0" err="1"/>
              <a:t>nft~owner~tokenID</a:t>
            </a:r>
            <a:r>
              <a:rPr dirty="0"/>
              <a:t>' </a:t>
            </a:r>
            <a:r>
              <a:rPr dirty="0" err="1"/>
              <a:t>permite</a:t>
            </a:r>
            <a:r>
              <a:rPr dirty="0"/>
              <a:t> </a:t>
            </a:r>
            <a:r>
              <a:rPr dirty="0" err="1"/>
              <a:t>buscar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dueno</a:t>
            </a:r>
            <a:r>
              <a:rPr dirty="0"/>
              <a:t>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rPr dirty="0"/>
              <a:t>4. Composite keys </a:t>
            </a:r>
            <a:r>
              <a:rPr dirty="0" err="1"/>
              <a:t>en</a:t>
            </a:r>
            <a:r>
              <a:rPr dirty="0"/>
              <a:t> NFTs: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dirty="0"/>
              <a:t>    Key = </a:t>
            </a:r>
            <a:r>
              <a:rPr dirty="0" err="1"/>
              <a:t>prefijo</a:t>
            </a:r>
            <a:r>
              <a:rPr dirty="0"/>
              <a:t> (</a:t>
            </a:r>
            <a:r>
              <a:rPr dirty="0" err="1"/>
              <a:t>tipo</a:t>
            </a:r>
            <a:r>
              <a:rPr dirty="0"/>
              <a:t> de </a:t>
            </a:r>
            <a:r>
              <a:rPr dirty="0" err="1"/>
              <a:t>objeto</a:t>
            </a:r>
            <a:r>
              <a:rPr dirty="0"/>
              <a:t>) + </a:t>
            </a:r>
            <a:r>
              <a:rPr dirty="0" err="1"/>
              <a:t>atributos</a:t>
            </a:r>
            <a:r>
              <a:rPr dirty="0"/>
              <a:t> (owner, </a:t>
            </a:r>
            <a:r>
              <a:rPr dirty="0" err="1"/>
              <a:t>categoria</a:t>
            </a:r>
            <a:r>
              <a:rPr dirty="0"/>
              <a:t>, id).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dirty="0"/>
              <a:t>    </a:t>
            </a:r>
            <a:r>
              <a:rPr dirty="0" err="1"/>
              <a:t>Permite</a:t>
            </a:r>
            <a:r>
              <a:rPr dirty="0"/>
              <a:t> </a:t>
            </a:r>
            <a:r>
              <a:rPr dirty="0" err="1"/>
              <a:t>GetStateByPartialCompositeKey</a:t>
            </a:r>
            <a:r>
              <a:rPr dirty="0"/>
              <a:t> — </a:t>
            </a:r>
            <a:r>
              <a:rPr dirty="0" err="1"/>
              <a:t>buscar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prefijo</a:t>
            </a:r>
            <a:r>
              <a:rPr dirty="0"/>
              <a:t> sin </a:t>
            </a:r>
            <a:r>
              <a:rPr dirty="0" err="1"/>
              <a:t>recorrer</a:t>
            </a:r>
            <a:r>
              <a:rPr dirty="0"/>
              <a:t> </a:t>
            </a:r>
            <a:r>
              <a:rPr dirty="0" err="1"/>
              <a:t>todo</a:t>
            </a:r>
            <a:r>
              <a:rPr dirty="0"/>
              <a:t>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dirty="0"/>
              <a:t>    </a:t>
            </a:r>
            <a:r>
              <a:rPr dirty="0" err="1"/>
              <a:t>Ejemplo</a:t>
            </a:r>
            <a:r>
              <a:rPr dirty="0"/>
              <a:t>: '</a:t>
            </a:r>
            <a:r>
              <a:rPr dirty="0" err="1"/>
              <a:t>nft~alice</a:t>
            </a:r>
            <a:r>
              <a:rPr dirty="0"/>
              <a:t>~*' </a:t>
            </a:r>
            <a:r>
              <a:rPr dirty="0" err="1"/>
              <a:t>devuelve</a:t>
            </a:r>
            <a:r>
              <a:rPr dirty="0"/>
              <a:t> </a:t>
            </a:r>
            <a:r>
              <a:rPr dirty="0" err="1"/>
              <a:t>todos</a:t>
            </a:r>
            <a:r>
              <a:rPr dirty="0"/>
              <a:t> </a:t>
            </a:r>
            <a:r>
              <a:rPr dirty="0" err="1"/>
              <a:t>los</a:t>
            </a:r>
            <a:r>
              <a:rPr dirty="0"/>
              <a:t> NFTs de Alice.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dirty="0"/>
              <a:t>    </a:t>
            </a:r>
            <a:r>
              <a:rPr dirty="0" err="1"/>
              <a:t>Eficiente</a:t>
            </a:r>
            <a:r>
              <a:rPr dirty="0"/>
              <a:t> sin CouchDB — solo con </a:t>
            </a:r>
            <a:r>
              <a:rPr dirty="0" err="1"/>
              <a:t>LevelDB</a:t>
            </a:r>
            <a:r>
              <a:rPr dirty="0"/>
              <a:t> </a:t>
            </a:r>
            <a:r>
              <a:rPr dirty="0" err="1"/>
              <a:t>ya</a:t>
            </a:r>
            <a:r>
              <a:rPr dirty="0"/>
              <a:t> </a:t>
            </a:r>
            <a:r>
              <a:rPr dirty="0" err="1"/>
              <a:t>funciona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200" b="1">
                <a:solidFill>
                  <a:srgbClr val="22627E"/>
                </a:solidFill>
                <a:latin typeface="Calibri"/>
              </a:defRPr>
            </a:pPr>
            <a:r>
              <a:t>Respuestas al repaso (2/2)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51560"/>
            <a:ext cx="10972800" cy="27432"/>
          </a:xfrm>
          <a:prstGeom prst="rect">
            <a:avLst/>
          </a:prstGeom>
          <a:solidFill>
            <a:srgbClr val="226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rPr dirty="0"/>
              <a:t>5. </a:t>
            </a:r>
            <a:r>
              <a:rPr dirty="0" err="1"/>
              <a:t>Flujo</a:t>
            </a:r>
            <a:r>
              <a:rPr dirty="0"/>
              <a:t> de </a:t>
            </a:r>
            <a:r>
              <a:rPr dirty="0" err="1"/>
              <a:t>trazabilidad</a:t>
            </a:r>
            <a:r>
              <a:rPr dirty="0"/>
              <a:t> de un </a:t>
            </a:r>
            <a:r>
              <a:rPr dirty="0" err="1"/>
              <a:t>lote</a:t>
            </a:r>
            <a:r>
              <a:rPr dirty="0"/>
              <a:t> </a:t>
            </a:r>
            <a:r>
              <a:rPr dirty="0" err="1"/>
              <a:t>alimentario</a:t>
            </a:r>
            <a:r>
              <a:rPr dirty="0"/>
              <a:t>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dirty="0"/>
              <a:t>    </a:t>
            </a:r>
            <a:r>
              <a:rPr dirty="0" err="1"/>
              <a:t>Produccion</a:t>
            </a:r>
            <a:r>
              <a:rPr dirty="0"/>
              <a:t>: </a:t>
            </a:r>
            <a:r>
              <a:rPr dirty="0" err="1"/>
              <a:t>ProductorMSP</a:t>
            </a:r>
            <a:r>
              <a:rPr dirty="0"/>
              <a:t> </a:t>
            </a:r>
            <a:r>
              <a:rPr dirty="0" err="1"/>
              <a:t>crea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lote</a:t>
            </a:r>
            <a:r>
              <a:rPr dirty="0"/>
              <a:t> con </a:t>
            </a:r>
            <a:r>
              <a:rPr dirty="0" err="1"/>
              <a:t>ProduceLot</a:t>
            </a:r>
            <a:r>
              <a:rPr dirty="0"/>
              <a:t> (</a:t>
            </a:r>
            <a:r>
              <a:rPr dirty="0" err="1"/>
              <a:t>origen</a:t>
            </a:r>
            <a:r>
              <a:rPr dirty="0"/>
              <a:t>, peso, </a:t>
            </a:r>
            <a:r>
              <a:rPr dirty="0" err="1"/>
              <a:t>tipo</a:t>
            </a:r>
            <a:r>
              <a:rPr dirty="0"/>
              <a:t>).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dirty="0"/>
              <a:t>    Transito: </a:t>
            </a:r>
            <a:r>
              <a:rPr dirty="0" err="1"/>
              <a:t>TransferLot</a:t>
            </a:r>
            <a:r>
              <a:rPr dirty="0"/>
              <a:t> cambia </a:t>
            </a:r>
            <a:r>
              <a:rPr dirty="0" err="1"/>
              <a:t>el</a:t>
            </a:r>
            <a:r>
              <a:rPr dirty="0"/>
              <a:t> holder (con </a:t>
            </a:r>
            <a:r>
              <a:rPr dirty="0" err="1"/>
              <a:t>ubicacion</a:t>
            </a:r>
            <a:r>
              <a:rPr dirty="0"/>
              <a:t> y </a:t>
            </a:r>
            <a:r>
              <a:rPr dirty="0" err="1"/>
              <a:t>temperatura</a:t>
            </a:r>
            <a:r>
              <a:rPr dirty="0"/>
              <a:t>).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dirty="0"/>
              <a:t>    Cada </a:t>
            </a:r>
            <a:r>
              <a:rPr dirty="0" err="1"/>
              <a:t>movimiento</a:t>
            </a:r>
            <a:r>
              <a:rPr dirty="0"/>
              <a:t> se </a:t>
            </a:r>
            <a:r>
              <a:rPr dirty="0" err="1"/>
              <a:t>anade</a:t>
            </a:r>
            <a:r>
              <a:rPr dirty="0"/>
              <a:t> al array 'history' del </a:t>
            </a:r>
            <a:r>
              <a:rPr dirty="0" err="1"/>
              <a:t>lote</a:t>
            </a:r>
            <a:r>
              <a:rPr dirty="0"/>
              <a:t>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dirty="0"/>
              <a:t>    Entrega: </a:t>
            </a:r>
            <a:r>
              <a:rPr dirty="0" err="1"/>
              <a:t>el</a:t>
            </a:r>
            <a:r>
              <a:rPr dirty="0"/>
              <a:t> ultimo holder </a:t>
            </a:r>
            <a:r>
              <a:rPr dirty="0" err="1"/>
              <a:t>marca</a:t>
            </a:r>
            <a:r>
              <a:rPr dirty="0"/>
              <a:t> </a:t>
            </a:r>
            <a:r>
              <a:rPr dirty="0" err="1"/>
              <a:t>UpdateStatus</a:t>
            </a:r>
            <a:r>
              <a:rPr dirty="0"/>
              <a:t> a 'delivered'.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dirty="0"/>
              <a:t>    En </a:t>
            </a:r>
            <a:r>
              <a:rPr dirty="0" err="1"/>
              <a:t>cualquier</a:t>
            </a:r>
            <a:r>
              <a:rPr dirty="0"/>
              <a:t> </a:t>
            </a:r>
            <a:r>
              <a:rPr dirty="0" err="1"/>
              <a:t>momento</a:t>
            </a:r>
            <a:r>
              <a:rPr dirty="0"/>
              <a:t>: </a:t>
            </a:r>
            <a:r>
              <a:rPr dirty="0" err="1"/>
              <a:t>GetLotHistory</a:t>
            </a:r>
            <a:r>
              <a:rPr dirty="0"/>
              <a:t> </a:t>
            </a:r>
            <a:r>
              <a:rPr dirty="0" err="1"/>
              <a:t>devuelve</a:t>
            </a:r>
            <a:r>
              <a:rPr dirty="0"/>
              <a:t> </a:t>
            </a:r>
            <a:r>
              <a:rPr dirty="0" err="1"/>
              <a:t>toda</a:t>
            </a:r>
            <a:r>
              <a:rPr dirty="0"/>
              <a:t> la </a:t>
            </a:r>
            <a:r>
              <a:rPr dirty="0" err="1"/>
              <a:t>cadena</a:t>
            </a:r>
            <a:r>
              <a:rPr dirty="0"/>
              <a:t> de custodia.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rPr dirty="0"/>
              <a:t>6. Quien </a:t>
            </a:r>
            <a:r>
              <a:rPr dirty="0" err="1"/>
              <a:t>puede</a:t>
            </a:r>
            <a:r>
              <a:rPr dirty="0"/>
              <a:t> </a:t>
            </a:r>
            <a:r>
              <a:rPr dirty="0" err="1"/>
              <a:t>hacer</a:t>
            </a:r>
            <a:r>
              <a:rPr dirty="0"/>
              <a:t> recall y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dirty="0"/>
              <a:t>    Solo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regulador</a:t>
            </a:r>
            <a:r>
              <a:rPr dirty="0"/>
              <a:t> (role=</a:t>
            </a:r>
            <a:r>
              <a:rPr dirty="0" err="1"/>
              <a:t>regulador</a:t>
            </a:r>
            <a:r>
              <a:rPr dirty="0"/>
              <a:t> via ABAC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certificado</a:t>
            </a:r>
            <a:r>
              <a:rPr dirty="0"/>
              <a:t> X.509).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dirty="0"/>
              <a:t>    Razon: </a:t>
            </a:r>
            <a:r>
              <a:rPr dirty="0" err="1"/>
              <a:t>el</a:t>
            </a:r>
            <a:r>
              <a:rPr dirty="0"/>
              <a:t> recall </a:t>
            </a:r>
            <a:r>
              <a:rPr dirty="0" err="1"/>
              <a:t>tiene</a:t>
            </a:r>
            <a:r>
              <a:rPr dirty="0"/>
              <a:t> </a:t>
            </a:r>
            <a:r>
              <a:rPr dirty="0" err="1"/>
              <a:t>implicaciones</a:t>
            </a:r>
            <a:r>
              <a:rPr dirty="0"/>
              <a:t> </a:t>
            </a:r>
            <a:r>
              <a:rPr dirty="0" err="1"/>
              <a:t>legales</a:t>
            </a:r>
            <a:r>
              <a:rPr dirty="0"/>
              <a:t> y </a:t>
            </a:r>
            <a:r>
              <a:rPr dirty="0" err="1"/>
              <a:t>sanitarias</a:t>
            </a:r>
            <a:r>
              <a:rPr dirty="0"/>
              <a:t> — no </a:t>
            </a:r>
            <a:r>
              <a:rPr dirty="0" err="1"/>
              <a:t>cualquiera</a:t>
            </a:r>
            <a:r>
              <a:rPr dirty="0"/>
              <a:t> decide </a:t>
            </a:r>
            <a:r>
              <a:rPr dirty="0" err="1"/>
              <a:t>retirar</a:t>
            </a:r>
            <a:r>
              <a:rPr dirty="0"/>
              <a:t> del mercado.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dirty="0"/>
              <a:t>    En </a:t>
            </a:r>
            <a:r>
              <a:rPr dirty="0" err="1"/>
              <a:t>produccion</a:t>
            </a:r>
            <a:r>
              <a:rPr dirty="0"/>
              <a:t>: AESAN (Espana), FDA (USA), EFSA (UE) </a:t>
            </a:r>
            <a:r>
              <a:rPr dirty="0" err="1"/>
              <a:t>tendrian</a:t>
            </a:r>
            <a:r>
              <a:rPr dirty="0"/>
              <a:t> </a:t>
            </a:r>
            <a:r>
              <a:rPr dirty="0" err="1"/>
              <a:t>este</a:t>
            </a:r>
            <a:r>
              <a:rPr dirty="0"/>
              <a:t> </a:t>
            </a:r>
            <a:r>
              <a:rPr dirty="0" err="1"/>
              <a:t>rol</a:t>
            </a:r>
            <a:r>
              <a:rPr dirty="0"/>
              <a:t>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dirty="0"/>
              <a:t>    El recall cambia status a 'recalled' y </a:t>
            </a:r>
            <a:r>
              <a:rPr dirty="0" err="1"/>
              <a:t>emite</a:t>
            </a:r>
            <a:r>
              <a:rPr dirty="0"/>
              <a:t> </a:t>
            </a:r>
            <a:r>
              <a:rPr dirty="0" err="1"/>
              <a:t>evento</a:t>
            </a:r>
            <a:r>
              <a:rPr dirty="0"/>
              <a:t> para </a:t>
            </a:r>
            <a:r>
              <a:rPr dirty="0" err="1"/>
              <a:t>notificar</a:t>
            </a:r>
            <a:r>
              <a:rPr dirty="0"/>
              <a:t> a </a:t>
            </a:r>
            <a:r>
              <a:rPr dirty="0" err="1"/>
              <a:t>todos</a:t>
            </a:r>
            <a:r>
              <a:rPr dirty="0"/>
              <a:t>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actores</a:t>
            </a:r>
            <a:r>
              <a:rPr dirty="0"/>
              <a:t>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dirty="0"/>
              <a:t>    Tras recall: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lote</a:t>
            </a:r>
            <a:r>
              <a:rPr dirty="0"/>
              <a:t> </a:t>
            </a:r>
            <a:r>
              <a:rPr dirty="0" err="1"/>
              <a:t>ya</a:t>
            </a:r>
            <a:r>
              <a:rPr dirty="0"/>
              <a:t> no se </a:t>
            </a:r>
            <a:r>
              <a:rPr dirty="0" err="1"/>
              <a:t>puede</a:t>
            </a:r>
            <a:r>
              <a:rPr dirty="0"/>
              <a:t> </a:t>
            </a:r>
            <a:r>
              <a:rPr dirty="0" err="1"/>
              <a:t>transferir</a:t>
            </a:r>
            <a:r>
              <a:rPr dirty="0"/>
              <a:t>, solo </a:t>
            </a:r>
            <a:r>
              <a:rPr dirty="0" err="1"/>
              <a:t>investigar</a:t>
            </a:r>
            <a:r>
              <a:rPr dirty="0"/>
              <a:t> y </a:t>
            </a:r>
            <a:r>
              <a:rPr dirty="0" err="1"/>
              <a:t>destruir</a:t>
            </a:r>
            <a:r>
              <a:rPr dirty="0"/>
              <a:t>.</a:t>
            </a:r>
          </a:p>
          <a:p>
            <a:pPr>
              <a:spcAft>
                <a:spcPts val="8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rPr dirty="0"/>
              <a:t>7. </a:t>
            </a:r>
            <a:r>
              <a:t>Registrar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historial</a:t>
            </a:r>
            <a:r>
              <a:rPr dirty="0"/>
              <a:t> de </a:t>
            </a:r>
            <a:r>
              <a:rPr dirty="0" err="1"/>
              <a:t>movimientos</a:t>
            </a:r>
            <a:r>
              <a:rPr dirty="0"/>
              <a:t>: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dirty="0"/>
              <a:t>    Array de </a:t>
            </a:r>
            <a:r>
              <a:rPr dirty="0" err="1"/>
              <a:t>HistEntry</a:t>
            </a:r>
            <a:r>
              <a:rPr dirty="0"/>
              <a:t> </a:t>
            </a:r>
            <a:r>
              <a:rPr dirty="0" err="1"/>
              <a:t>dentro</a:t>
            </a:r>
            <a:r>
              <a:rPr dirty="0"/>
              <a:t> del </a:t>
            </a:r>
            <a:r>
              <a:rPr dirty="0" err="1"/>
              <a:t>objeto</a:t>
            </a:r>
            <a:r>
              <a:rPr dirty="0"/>
              <a:t> </a:t>
            </a:r>
            <a:r>
              <a:rPr dirty="0" err="1"/>
              <a:t>FoodLot</a:t>
            </a:r>
            <a:r>
              <a:rPr dirty="0"/>
              <a:t> (</a:t>
            </a:r>
            <a:r>
              <a:rPr dirty="0" err="1"/>
              <a:t>serializado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JSON).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dirty="0"/>
              <a:t>    Cada entrada: org, action, timestamp (</a:t>
            </a:r>
            <a:r>
              <a:rPr dirty="0" err="1"/>
              <a:t>determinista</a:t>
            </a:r>
            <a:r>
              <a:rPr dirty="0"/>
              <a:t>), location.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dirty="0"/>
              <a:t>    Se </a:t>
            </a:r>
            <a:r>
              <a:rPr dirty="0" err="1"/>
              <a:t>va</a:t>
            </a:r>
            <a:r>
              <a:rPr dirty="0"/>
              <a:t> </a:t>
            </a:r>
            <a:r>
              <a:rPr dirty="0" err="1"/>
              <a:t>anadiendo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cada</a:t>
            </a:r>
            <a:r>
              <a:rPr dirty="0"/>
              <a:t> </a:t>
            </a:r>
            <a:r>
              <a:rPr dirty="0" err="1"/>
              <a:t>operacion</a:t>
            </a:r>
            <a:r>
              <a:rPr dirty="0"/>
              <a:t> (Produce, Transfer, Recall, Deliver).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dirty="0"/>
              <a:t>    Al ser </a:t>
            </a:r>
            <a:r>
              <a:rPr dirty="0" err="1"/>
              <a:t>parte</a:t>
            </a:r>
            <a:r>
              <a:rPr dirty="0"/>
              <a:t> del </a:t>
            </a:r>
            <a:r>
              <a:rPr dirty="0" err="1"/>
              <a:t>propio</a:t>
            </a:r>
            <a:r>
              <a:rPr dirty="0"/>
              <a:t> </a:t>
            </a:r>
            <a:r>
              <a:rPr dirty="0" err="1"/>
              <a:t>lote</a:t>
            </a:r>
            <a:r>
              <a:rPr dirty="0"/>
              <a:t>, se </a:t>
            </a:r>
            <a:r>
              <a:rPr dirty="0" err="1"/>
              <a:t>preserva</a:t>
            </a:r>
            <a:r>
              <a:rPr dirty="0"/>
              <a:t> al </a:t>
            </a:r>
            <a:r>
              <a:rPr dirty="0" err="1"/>
              <a:t>hacer</a:t>
            </a:r>
            <a:r>
              <a:rPr dirty="0"/>
              <a:t> updates.</a:t>
            </a:r>
          </a:p>
          <a:p>
            <a:pPr lvl="1">
              <a:spcAft>
                <a:spcPts val="400"/>
              </a:spcAft>
              <a:defRPr sz="1700">
                <a:solidFill>
                  <a:srgbClr val="666666"/>
                </a:solidFill>
                <a:latin typeface="Calibri"/>
              </a:defRPr>
            </a:pPr>
            <a:r>
              <a:rPr dirty="0"/>
              <a:t>    Alternativa: usar </a:t>
            </a:r>
            <a:r>
              <a:rPr dirty="0" err="1"/>
              <a:t>GetHistoryForKey</a:t>
            </a:r>
            <a:r>
              <a:rPr dirty="0"/>
              <a:t> para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historial</a:t>
            </a:r>
            <a:r>
              <a:rPr dirty="0"/>
              <a:t> de </a:t>
            </a:r>
            <a:r>
              <a:rPr dirty="0" err="1"/>
              <a:t>cambios</a:t>
            </a:r>
            <a:r>
              <a:rPr dirty="0"/>
              <a:t> de la </a:t>
            </a:r>
            <a:r>
              <a:rPr dirty="0" err="1"/>
              <a:t>propia</a:t>
            </a:r>
            <a:r>
              <a:rPr dirty="0"/>
              <a:t> key.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4264</Words>
  <Application>Microsoft Office PowerPoint</Application>
  <PresentationFormat>Personalizado</PresentationFormat>
  <Paragraphs>223</Paragraphs>
  <Slides>26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Javier Nieto</cp:lastModifiedBy>
  <cp:revision>5</cp:revision>
  <dcterms:created xsi:type="dcterms:W3CDTF">2013-01-27T09:14:16Z</dcterms:created>
  <dcterms:modified xsi:type="dcterms:W3CDTF">2026-04-23T10:22:21Z</dcterms:modified>
  <cp:category/>
</cp:coreProperties>
</file>